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de-DE"/>
    </a:defPPr>
    <a:lvl1pPr marL="0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1pPr>
    <a:lvl2pPr marL="1753660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2pPr>
    <a:lvl3pPr marL="3507318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3pPr>
    <a:lvl4pPr marL="5260978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4pPr>
    <a:lvl5pPr marL="7014636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5pPr>
    <a:lvl6pPr marL="8768296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6pPr>
    <a:lvl7pPr marL="10521956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7pPr>
    <a:lvl8pPr marL="12275613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8pPr>
    <a:lvl9pPr marL="14029273" algn="l" defTabSz="3507318" rtl="0">
      <a:defRPr sz="69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7">
          <p15:clr>
            <a:srgbClr val="A4A3A4"/>
          </p15:clr>
        </p15:guide>
        <p15:guide id="2" pos="1637">
          <p15:clr>
            <a:srgbClr val="A4A3A4"/>
          </p15:clr>
        </p15:guide>
        <p15:guide id="3" pos="16983">
          <p15:clr>
            <a:srgbClr val="A4A3A4"/>
          </p15:clr>
        </p15:guide>
        <p15:guide id="4" pos="7801">
          <p15:clr>
            <a:srgbClr val="A4A3A4"/>
          </p15:clr>
        </p15:guide>
        <p15:guide id="5" pos="110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814"/>
    <p:restoredTop sz="63200"/>
  </p:normalViewPr>
  <p:slideViewPr>
    <p:cSldViewPr snapToGrid="0" snapToObjects="1" showGuides="1">
      <p:cViewPr>
        <p:scale>
          <a:sx n="45" d="100"/>
          <a:sy n="45" d="100"/>
        </p:scale>
        <p:origin x="56" y="-1168"/>
      </p:cViewPr>
      <p:guideLst>
        <p:guide orient="horz" pos="1087"/>
        <p:guide pos="1637"/>
        <p:guide pos="16983"/>
        <p:guide pos="7801"/>
        <p:guide pos="110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rtl="0">
              <a:buNone/>
            </a:pPr>
            <a:r>
              <a:rPr lang="en-US" dirty="0"/>
              <a:t>Hello everyone. Let me introduce our paper, “Physics-Informed but Not Physics-Consistent: Error Geometry and Subspace Projection for Neural AC Power Flow.”</a:t>
            </a:r>
          </a:p>
          <a:p>
            <a:pPr rtl="0">
              <a:buNone/>
            </a:pPr>
            <a:endParaRPr lang="en-US" b="1" dirty="0"/>
          </a:p>
          <a:p>
            <a:pPr rtl="0">
              <a:buNone/>
            </a:pPr>
            <a:r>
              <a:rPr lang="en-US" b="1" dirty="0"/>
              <a:t>[Background]</a:t>
            </a:r>
            <a:r>
              <a:rPr lang="en-US" dirty="0"/>
              <a:t> Neural AC power-flow surrogates are trained with supervised losses on Newton–Raphson solutions. Foundation models such as </a:t>
            </a:r>
            <a:r>
              <a:rPr lang="en-US" dirty="0" err="1"/>
              <a:t>gridfm-graphkit</a:t>
            </a:r>
            <a:r>
              <a:rPr lang="en-US" dirty="0"/>
              <a:t>, </a:t>
            </a:r>
            <a:r>
              <a:rPr lang="en-US" dirty="0" err="1"/>
              <a:t>GridSFM</a:t>
            </a:r>
            <a:r>
              <a:rPr lang="en-US" dirty="0"/>
              <a:t> and LUMINA can add physics-informed losses as soft penalties. Feasibility-seeking methods also exist, and for exact consistency we can warm-start Newton–Raphson.</a:t>
            </a:r>
          </a:p>
          <a:p>
            <a:pPr rtl="0">
              <a:buNone/>
            </a:pPr>
            <a:endParaRPr lang="en-US" dirty="0"/>
          </a:p>
          <a:p>
            <a:pPr rtl="0">
              <a:buNone/>
            </a:pPr>
            <a:r>
              <a:rPr lang="en-US" b="1" dirty="0"/>
              <a:t>[Gap]</a:t>
            </a:r>
            <a:r>
              <a:rPr lang="en-US" dirty="0"/>
              <a:t> But even with both losses, small voltage errors don’t guarantee small power-balance residuals. Errors of the </a:t>
            </a:r>
            <a:r>
              <a:rPr lang="en-US" i="1" dirty="0"/>
              <a:t>same magnitude</a:t>
            </a:r>
            <a:r>
              <a:rPr lang="en-US" dirty="0"/>
              <a:t> can give very different residuals. We call this the accuracy–consistency gap.</a:t>
            </a:r>
          </a:p>
          <a:p>
            <a:pPr rtl="0">
              <a:buNone/>
            </a:pPr>
            <a:endParaRPr lang="en-US" b="1" dirty="0"/>
          </a:p>
          <a:p>
            <a:pPr rtl="0">
              <a:buNone/>
            </a:pPr>
            <a:r>
              <a:rPr lang="en-US" b="1" dirty="0"/>
              <a:t>[Hypothesis]</a:t>
            </a:r>
            <a:r>
              <a:rPr lang="en-US" dirty="0"/>
              <a:t> AC power-flow solutions are known to be low-dimensional; Park et al., for example, used PCA for AC-OPF. So we hypothesized that the error’s </a:t>
            </a:r>
            <a:r>
              <a:rPr lang="en-US" i="1" dirty="0"/>
              <a:t>direction</a:t>
            </a:r>
            <a:r>
              <a:rPr lang="en-US" dirty="0"/>
              <a:t> matters, especially the part outside the subspace of Newton–Raphson solutions.</a:t>
            </a:r>
          </a:p>
          <a:p>
            <a:pPr rtl="0">
              <a:buNone/>
            </a:pPr>
            <a:r>
              <a:rPr lang="en-US" dirty="0"/>
              <a:t>We make three contributions.</a:t>
            </a:r>
          </a:p>
          <a:p>
            <a:pPr rtl="0">
              <a:buNone/>
            </a:pPr>
            <a:endParaRPr lang="en-US" b="1" dirty="0"/>
          </a:p>
          <a:p>
            <a:pPr rtl="0">
              <a:buNone/>
            </a:pPr>
            <a:r>
              <a:rPr lang="en-US" b="1" dirty="0"/>
              <a:t>[C1]</a:t>
            </a:r>
            <a:r>
              <a:rPr lang="en-US" dirty="0"/>
              <a:t> First, we split each model’s error into in- and off-subspace parts using an SVD basis of the training solutions. Fixed-norm experiments and Jacobian analysis show that off-subspace errors dominate the residual.</a:t>
            </a:r>
          </a:p>
          <a:p>
            <a:pPr rtl="0">
              <a:buNone/>
            </a:pPr>
            <a:r>
              <a:rPr lang="en-US" b="1" dirty="0"/>
              <a:t>[C2]</a:t>
            </a:r>
            <a:r>
              <a:rPr lang="en-US" dirty="0"/>
              <a:t> Second, we propose CSP, Calibrated Solution-Subspace Projection. It removes the systematic bias, then suppresses the off-subspace components. It uses only training data, with no retraining.</a:t>
            </a:r>
          </a:p>
          <a:p>
            <a:pPr rtl="0">
              <a:buNone/>
            </a:pPr>
            <a:r>
              <a:rPr lang="en-US" b="1" dirty="0"/>
              <a:t>[C3]</a:t>
            </a:r>
            <a:r>
              <a:rPr lang="en-US" dirty="0"/>
              <a:t> Third, on the 2,224-bus GB network, CSP reduces both power-balance residuals and voltage-magnitude errors in all four models, and it gives a better starting point for one Newton step.</a:t>
            </a:r>
          </a:p>
          <a:p>
            <a:pPr rtl="0">
              <a:buNone/>
            </a:pPr>
            <a:endParaRPr lang="en-US" dirty="0"/>
          </a:p>
          <a:p>
            <a:pPr rtl="0"/>
            <a:r>
              <a:rPr lang="en-US" dirty="0"/>
              <a:t>So the error’s direction, not only its magnitude, explains the gap. Thank you.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C1B9BF-5DD9-6A96-2E19-02E9B0E75998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03874" name="Title 1"/>
          <p:cNvSpPr>
            <a:spLocks noGrp="1"/>
          </p:cNvSpPr>
          <p:nvPr>
            <p:ph type="ctrTitle"/>
          </p:nvPr>
        </p:nvSpPr>
        <p:spPr bwMode="auto"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5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772794431" name="Subtitle 2"/>
          <p:cNvSpPr>
            <a:spLocks noGrp="1"/>
          </p:cNvSpPr>
          <p:nvPr>
            <p:ph type="subTitle" idx="1"/>
          </p:nvPr>
        </p:nvSpPr>
        <p:spPr bwMode="auto"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50"/>
            </a:lvl1pPr>
            <a:lvl2pPr marL="1513743" indent="0" algn="ctr">
              <a:buNone/>
              <a:defRPr sz="6600"/>
            </a:lvl2pPr>
            <a:lvl3pPr marL="3027487" indent="0" algn="ctr">
              <a:buNone/>
              <a:defRPr sz="5950"/>
            </a:lvl3pPr>
            <a:lvl4pPr marL="4541230" indent="0" algn="ctr">
              <a:buNone/>
              <a:defRPr sz="5300"/>
            </a:lvl4pPr>
            <a:lvl5pPr marL="6054974" indent="0" algn="ctr">
              <a:buNone/>
              <a:defRPr sz="5300"/>
            </a:lvl5pPr>
            <a:lvl6pPr marL="7568717" indent="0" algn="ctr">
              <a:buNone/>
              <a:defRPr sz="5300"/>
            </a:lvl6pPr>
            <a:lvl7pPr marL="9082461" indent="0" algn="ctr">
              <a:buNone/>
              <a:defRPr sz="5300"/>
            </a:lvl7pPr>
            <a:lvl8pPr marL="10596204" indent="0" algn="ctr">
              <a:buNone/>
              <a:defRPr sz="5300"/>
            </a:lvl8pPr>
            <a:lvl9pPr marL="12109948" indent="0" algn="ctr">
              <a:buNone/>
              <a:defRPr sz="53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18624828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1093936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980441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4995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36130606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7689651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2705283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817623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194975" name="Title 1"/>
          <p:cNvSpPr>
            <a:spLocks noGrp="1"/>
          </p:cNvSpPr>
          <p:nvPr>
            <p:ph type="title"/>
          </p:nvPr>
        </p:nvSpPr>
        <p:spPr bwMode="auto"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5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0154749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50">
                <a:solidFill>
                  <a:schemeClr val="tx1"/>
                </a:solidFill>
              </a:defRPr>
            </a:lvl1pPr>
            <a:lvl2pPr marL="151374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5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7888219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5527128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483724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6537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52119640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081421" y="11394520"/>
            <a:ext cx="12866966" cy="27158594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2487454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326826" y="11394520"/>
            <a:ext cx="12866966" cy="27158594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8620045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34820155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415559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896264" name="Title 1"/>
          <p:cNvSpPr>
            <a:spLocks noGrp="1"/>
          </p:cNvSpPr>
          <p:nvPr>
            <p:ph type="title"/>
          </p:nvPr>
        </p:nvSpPr>
        <p:spPr bwMode="auto">
          <a:xfrm>
            <a:off x="2085364" y="2278913"/>
            <a:ext cx="26112371" cy="8273416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6939622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50" b="1"/>
            </a:lvl1pPr>
            <a:lvl2pPr marL="1513743" indent="0">
              <a:buNone/>
              <a:defRPr sz="6600" b="1"/>
            </a:lvl2pPr>
            <a:lvl3pPr marL="3027487" indent="0">
              <a:buNone/>
              <a:defRPr sz="5950" b="1"/>
            </a:lvl3pPr>
            <a:lvl4pPr marL="4541230" indent="0">
              <a:buNone/>
              <a:defRPr sz="5300" b="1"/>
            </a:lvl4pPr>
            <a:lvl5pPr marL="6054974" indent="0">
              <a:buNone/>
              <a:defRPr sz="5300" b="1"/>
            </a:lvl5pPr>
            <a:lvl6pPr marL="7568717" indent="0">
              <a:buNone/>
              <a:defRPr sz="5300" b="1"/>
            </a:lvl6pPr>
            <a:lvl7pPr marL="9082461" indent="0">
              <a:buNone/>
              <a:defRPr sz="5300" b="1"/>
            </a:lvl7pPr>
            <a:lvl8pPr marL="10596204" indent="0">
              <a:buNone/>
              <a:defRPr sz="5300" b="1"/>
            </a:lvl8pPr>
            <a:lvl9pPr marL="12109948" indent="0">
              <a:buNone/>
              <a:defRPr sz="53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9802818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085368" y="15635264"/>
            <a:ext cx="12807832" cy="22997117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75503392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7950" b="1"/>
            </a:lvl1pPr>
            <a:lvl2pPr marL="1513743" indent="0">
              <a:buNone/>
              <a:defRPr sz="6600" b="1"/>
            </a:lvl2pPr>
            <a:lvl3pPr marL="3027487" indent="0">
              <a:buNone/>
              <a:defRPr sz="5950" b="1"/>
            </a:lvl3pPr>
            <a:lvl4pPr marL="4541230" indent="0">
              <a:buNone/>
              <a:defRPr sz="5300" b="1"/>
            </a:lvl4pPr>
            <a:lvl5pPr marL="6054974" indent="0">
              <a:buNone/>
              <a:defRPr sz="5300" b="1"/>
            </a:lvl5pPr>
            <a:lvl6pPr marL="7568717" indent="0">
              <a:buNone/>
              <a:defRPr sz="5300" b="1"/>
            </a:lvl6pPr>
            <a:lvl7pPr marL="9082461" indent="0">
              <a:buNone/>
              <a:defRPr sz="5300" b="1"/>
            </a:lvl7pPr>
            <a:lvl8pPr marL="10596204" indent="0">
              <a:buNone/>
              <a:defRPr sz="5300" b="1"/>
            </a:lvl8pPr>
            <a:lvl9pPr marL="12109948" indent="0">
              <a:buNone/>
              <a:defRPr sz="53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9862986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15326827" y="15635264"/>
            <a:ext cx="12870909" cy="22997117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5837696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31822486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395852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1736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57613574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8428261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639012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31944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9191867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551023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22145" name="Title 1"/>
          <p:cNvSpPr>
            <a:spLocks noGrp="1"/>
          </p:cNvSpPr>
          <p:nvPr>
            <p:ph type="title"/>
          </p:nvPr>
        </p:nvSpPr>
        <p:spPr bwMode="auto"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6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959868974" name="Content Placeholder 2"/>
          <p:cNvSpPr>
            <a:spLocks noGrp="1"/>
          </p:cNvSpPr>
          <p:nvPr>
            <p:ph idx="1"/>
          </p:nvPr>
        </p:nvSpPr>
        <p:spPr bwMode="auto">
          <a:xfrm>
            <a:off x="12870909" y="6162959"/>
            <a:ext cx="15326827" cy="30418415"/>
          </a:xfrm>
        </p:spPr>
        <p:txBody>
          <a:bodyPr/>
          <a:lstStyle>
            <a:lvl1pPr>
              <a:defRPr sz="10600"/>
            </a:lvl1pPr>
            <a:lvl2pPr>
              <a:defRPr sz="9250"/>
            </a:lvl2pPr>
            <a:lvl3pPr>
              <a:defRPr sz="7950"/>
            </a:lvl3pPr>
            <a:lvl4pPr>
              <a:defRPr sz="6600"/>
            </a:lvl4pPr>
            <a:lvl5pPr>
              <a:defRPr sz="6600"/>
            </a:lvl5pPr>
            <a:lvl6pPr>
              <a:defRPr sz="6600"/>
            </a:lvl6pPr>
            <a:lvl7pPr>
              <a:defRPr sz="6600"/>
            </a:lvl7pPr>
            <a:lvl8pPr>
              <a:defRPr sz="6600"/>
            </a:lvl8pPr>
            <a:lvl9pPr>
              <a:defRPr sz="66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45293815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300"/>
            </a:lvl1pPr>
            <a:lvl2pPr marL="1513743" indent="0">
              <a:buNone/>
              <a:defRPr sz="4650"/>
            </a:lvl2pPr>
            <a:lvl3pPr marL="3027487" indent="0">
              <a:buNone/>
              <a:defRPr sz="3950"/>
            </a:lvl3pPr>
            <a:lvl4pPr marL="4541230" indent="0">
              <a:buNone/>
              <a:defRPr sz="3300"/>
            </a:lvl4pPr>
            <a:lvl5pPr marL="6054974" indent="0">
              <a:buNone/>
              <a:defRPr sz="3300"/>
            </a:lvl5pPr>
            <a:lvl6pPr marL="7568717" indent="0">
              <a:buNone/>
              <a:defRPr sz="3300"/>
            </a:lvl6pPr>
            <a:lvl7pPr marL="9082461" indent="0">
              <a:buNone/>
              <a:defRPr sz="3300"/>
            </a:lvl7pPr>
            <a:lvl8pPr marL="10596204" indent="0">
              <a:buNone/>
              <a:defRPr sz="3300"/>
            </a:lvl8pPr>
            <a:lvl9pPr marL="12109948" indent="0">
              <a:buNone/>
              <a:defRPr sz="33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5868372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8622356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762917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505935" name="Title 1"/>
          <p:cNvSpPr>
            <a:spLocks noGrp="1"/>
          </p:cNvSpPr>
          <p:nvPr>
            <p:ph type="title"/>
          </p:nvPr>
        </p:nvSpPr>
        <p:spPr bwMode="auto"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6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213138037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600"/>
            </a:lvl1pPr>
            <a:lvl2pPr marL="1513743" indent="0">
              <a:buNone/>
              <a:defRPr sz="9250"/>
            </a:lvl2pPr>
            <a:lvl3pPr marL="3027487" indent="0">
              <a:buNone/>
              <a:defRPr sz="7950"/>
            </a:lvl3pPr>
            <a:lvl4pPr marL="4541230" indent="0">
              <a:buNone/>
              <a:defRPr sz="6600"/>
            </a:lvl4pPr>
            <a:lvl5pPr marL="6054974" indent="0">
              <a:buNone/>
              <a:defRPr sz="6600"/>
            </a:lvl5pPr>
            <a:lvl6pPr marL="7568717" indent="0">
              <a:buNone/>
              <a:defRPr sz="6600"/>
            </a:lvl6pPr>
            <a:lvl7pPr marL="9082461" indent="0">
              <a:buNone/>
              <a:defRPr sz="6600"/>
            </a:lvl7pPr>
            <a:lvl8pPr marL="10596204" indent="0">
              <a:buNone/>
              <a:defRPr sz="6600"/>
            </a:lvl8pPr>
            <a:lvl9pPr marL="12109948" indent="0">
              <a:buNone/>
              <a:defRPr sz="6600"/>
            </a:lvl9pPr>
          </a:lstStyle>
          <a:p>
            <a:pPr>
              <a:defRPr/>
            </a:pPr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696151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300"/>
            </a:lvl1pPr>
            <a:lvl2pPr marL="1513743" indent="0">
              <a:buNone/>
              <a:defRPr sz="4650"/>
            </a:lvl2pPr>
            <a:lvl3pPr marL="3027487" indent="0">
              <a:buNone/>
              <a:defRPr sz="3950"/>
            </a:lvl3pPr>
            <a:lvl4pPr marL="4541230" indent="0">
              <a:buNone/>
              <a:defRPr sz="3300"/>
            </a:lvl4pPr>
            <a:lvl5pPr marL="6054974" indent="0">
              <a:buNone/>
              <a:defRPr sz="3300"/>
            </a:lvl5pPr>
            <a:lvl6pPr marL="7568717" indent="0">
              <a:buNone/>
              <a:defRPr sz="3300"/>
            </a:lvl6pPr>
            <a:lvl7pPr marL="9082461" indent="0">
              <a:buNone/>
              <a:defRPr sz="3300"/>
            </a:lvl7pPr>
            <a:lvl8pPr marL="10596204" indent="0">
              <a:buNone/>
              <a:defRPr sz="3300"/>
            </a:lvl8pPr>
            <a:lvl9pPr marL="12109948" indent="0">
              <a:buNone/>
              <a:defRPr sz="33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40072830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19198552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846435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9937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9569623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91835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2406236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185874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49230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21665701" y="2278904"/>
            <a:ext cx="6528093" cy="36274211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150176851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081423" y="2278904"/>
            <a:ext cx="19205838" cy="36274211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3194966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3342980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12690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455939" name="Title Placeholder 1"/>
          <p:cNvSpPr>
            <a:spLocks noGrp="1"/>
          </p:cNvSpPr>
          <p:nvPr>
            <p:ph type="title"/>
          </p:nvPr>
        </p:nvSpPr>
        <p:spPr bwMode="auto"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sp>
        <p:nvSpPr>
          <p:cNvPr id="207580736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br>
              <a:rPr lang="de-DE"/>
            </a:br>
            <a:r>
              <a:rPr lang="de-DE"/>
              <a:t>Zweite Ebene</a:t>
            </a:r>
            <a:br>
              <a:rPr lang="de-DE"/>
            </a:br>
            <a:r>
              <a:rPr lang="de-DE"/>
              <a:t>Dritte Ebene</a:t>
            </a:r>
            <a:br>
              <a:rPr lang="de-DE"/>
            </a:br>
            <a:r>
              <a:rPr lang="de-DE"/>
              <a:t>Vierte Ebene</a:t>
            </a:r>
            <a:br>
              <a:rPr lang="de-DE"/>
            </a:br>
            <a:r>
              <a:rPr lang="de-DE"/>
              <a:t>Fünfte Ebene</a:t>
            </a:r>
            <a:endParaRPr lang="en-US"/>
          </a:p>
        </p:txBody>
      </p:sp>
      <p:sp>
        <p:nvSpPr>
          <p:cNvPr id="167871624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794416-6EE1-5640-82E3-8C0364699CFF}" type="datetimeFigureOut">
              <a:rPr lang="de-DE"/>
              <a:t>22.10.26</a:t>
            </a:fld>
            <a:endParaRPr lang="de-DE"/>
          </a:p>
        </p:txBody>
      </p:sp>
      <p:sp>
        <p:nvSpPr>
          <p:cNvPr id="59631807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5250425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5250781-0F7C-434F-AF00-EA97928A26F2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027487" rtl="0">
        <a:lnSpc>
          <a:spcPct val="90000"/>
        </a:lnSpc>
        <a:spcBef>
          <a:spcPts val="0"/>
        </a:spcBef>
        <a:buNone/>
        <a:defRPr sz="145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>
        <a:lnSpc>
          <a:spcPct val="90000"/>
        </a:lnSpc>
        <a:spcBef>
          <a:spcPts val="3310"/>
        </a:spcBef>
        <a:buFont typeface="Arial"/>
        <a:buChar char="•"/>
        <a:defRPr sz="925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795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66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>
        <a:lnSpc>
          <a:spcPct val="90000"/>
        </a:lnSpc>
        <a:spcBef>
          <a:spcPts val="1655"/>
        </a:spcBef>
        <a:buFont typeface="Arial"/>
        <a:buChar char="•"/>
        <a:defRPr sz="5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>
        <a:defRPr sz="59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0D274FA-FD19-A075-2998-21CBDED48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77" y="585273"/>
            <a:ext cx="14753517" cy="2145754"/>
          </a:xfrm>
          <a:prstGeom prst="rect">
            <a:avLst/>
          </a:prstGeom>
        </p:spPr>
      </p:pic>
      <p:sp>
        <p:nvSpPr>
          <p:cNvPr id="6381760" name="Rechteck 3"/>
          <p:cNvSpPr/>
          <p:nvPr/>
        </p:nvSpPr>
        <p:spPr bwMode="auto">
          <a:xfrm>
            <a:off x="29609674" y="-120490"/>
            <a:ext cx="717406" cy="42990745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de-DE" sz="9750"/>
              <a:t>  </a:t>
            </a:r>
            <a:endParaRPr/>
          </a:p>
        </p:txBody>
      </p:sp>
      <p:pic>
        <p:nvPicPr>
          <p:cNvPr id="2126538906" name="Picture 51" descr="A picture containing text&#10;&#10;Description automatically generated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6403574" y="594360"/>
            <a:ext cx="4724399" cy="1653539"/>
          </a:xfrm>
          <a:prstGeom prst="rect">
            <a:avLst/>
          </a:prstGeom>
        </p:spPr>
      </p:pic>
      <p:sp>
        <p:nvSpPr>
          <p:cNvPr id="812309694" name="Textfeld 78"/>
          <p:cNvSpPr txBox="1"/>
          <p:nvPr/>
        </p:nvSpPr>
        <p:spPr bwMode="auto">
          <a:xfrm>
            <a:off x="905256" y="38450520"/>
            <a:ext cx="4320000" cy="792000"/>
          </a:xfrm>
          <a:prstGeom prst="rect">
            <a:avLst/>
          </a:prstGeom>
        </p:spPr>
        <p:txBody>
          <a:bodyPr wrap="square" rtlCol="0" anchor="t" anchorCtr="0">
            <a:normAutofit/>
          </a:bodyPr>
          <a:lstStyle/>
          <a:p>
            <a:pPr algn="l" defTabSz="4173538">
              <a:spcBef>
                <a:spcPts val="600"/>
              </a:spcBef>
              <a:spcAft>
                <a:spcPts val="0"/>
              </a:spcAft>
              <a:defRPr/>
            </a:pPr>
            <a:r>
              <a:rPr sz="3400" b="1" i="0">
                <a:solidFill>
                  <a:srgbClr val="003865"/>
                </a:solidFill>
                <a:latin typeface="Helvetica"/>
              </a:rPr>
              <a:t>Contact</a:t>
            </a:r>
            <a:endParaRPr/>
          </a:p>
        </p:txBody>
      </p:sp>
      <p:sp>
        <p:nvSpPr>
          <p:cNvPr id="10657378" name="직사각형 10657377"/>
          <p:cNvSpPr/>
          <p:nvPr/>
        </p:nvSpPr>
        <p:spPr bwMode="auto">
          <a:xfrm>
            <a:off x="905256" y="38176200"/>
            <a:ext cx="28483560" cy="201168"/>
          </a:xfrm>
          <a:prstGeom prst="rect">
            <a:avLst/>
          </a:prstGeom>
          <a:solidFill>
            <a:srgbClr val="8C9FB1"/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8284813" name="그림 14828481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3779906" y="38788200"/>
            <a:ext cx="4280400" cy="2138400"/>
          </a:xfrm>
          <a:prstGeom prst="rect">
            <a:avLst/>
          </a:prstGeom>
        </p:spPr>
      </p:pic>
      <p:sp>
        <p:nvSpPr>
          <p:cNvPr id="2126538937" name="Conference identification"/>
          <p:cNvSpPr txBox="1"/>
          <p:nvPr/>
        </p:nvSpPr>
        <p:spPr>
          <a:xfrm>
            <a:off x="15544800" y="2395728"/>
            <a:ext cx="138074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2400" b="1" i="0" dirty="0">
                <a:solidFill>
                  <a:srgbClr val="003865"/>
                </a:solidFill>
                <a:latin typeface="Helvetica"/>
              </a:rPr>
              <a:t>6th Workshop Conference on Foundation Models of the Electric Grid</a:t>
            </a:r>
          </a:p>
          <a:p>
            <a:pPr algn="r">
              <a:buNone/>
            </a:pPr>
            <a:r>
              <a:rPr sz="2400" b="0" i="0" dirty="0">
                <a:solidFill>
                  <a:srgbClr val="003865"/>
                </a:solidFill>
                <a:latin typeface="Helvetica"/>
              </a:rPr>
              <a:t>29–30 October 2026  ·  Porto, Portugal</a:t>
            </a:r>
          </a:p>
        </p:txBody>
      </p:sp>
      <p:sp>
        <p:nvSpPr>
          <p:cNvPr id="2126538938" name="Title block"/>
          <p:cNvSpPr txBox="1"/>
          <p:nvPr/>
        </p:nvSpPr>
        <p:spPr>
          <a:xfrm>
            <a:off x="905256" y="3703320"/>
            <a:ext cx="284835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  <a:buNone/>
            </a:pPr>
            <a:r>
              <a:rPr sz="8000" b="1" i="0" dirty="0">
                <a:solidFill>
                  <a:srgbClr val="003865"/>
                </a:solidFill>
                <a:latin typeface="Helvetica"/>
              </a:rPr>
              <a:t>Physics-Informed but Not Physics-Consistent:</a:t>
            </a:r>
          </a:p>
          <a:p>
            <a:pPr algn="l">
              <a:lnSpc>
                <a:spcPct val="95000"/>
              </a:lnSpc>
              <a:spcAft>
                <a:spcPts val="2200"/>
              </a:spcAft>
              <a:buNone/>
            </a:pPr>
            <a:r>
              <a:rPr sz="5600" b="1" i="0" dirty="0">
                <a:solidFill>
                  <a:srgbClr val="003865"/>
                </a:solidFill>
                <a:latin typeface="Helvetica"/>
              </a:rPr>
              <a:t>Error Geometry and Subspace Projection for Neural AC Power Flow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buNone/>
            </a:pPr>
            <a:r>
              <a:rPr sz="3800" b="1" i="0" dirty="0">
                <a:solidFill>
                  <a:srgbClr val="003865"/>
                </a:solidFill>
                <a:latin typeface="Helvetica"/>
              </a:rPr>
              <a:t>Changhun Kim¹</a:t>
            </a:r>
            <a:r>
              <a:rPr sz="3800" b="0" i="0" dirty="0">
                <a:solidFill>
                  <a:srgbClr val="003865"/>
                </a:solidFill>
                <a:latin typeface="Helvetica"/>
              </a:rPr>
              <a:t>, Timon Conrad², </a:t>
            </a:r>
            <a:r>
              <a:rPr sz="3800" b="0" i="0" dirty="0" err="1">
                <a:solidFill>
                  <a:srgbClr val="003865"/>
                </a:solidFill>
                <a:latin typeface="Helvetica"/>
              </a:rPr>
              <a:t>Redwanul</a:t>
            </a:r>
            <a:r>
              <a:rPr sz="3800" b="0" i="0" dirty="0">
                <a:solidFill>
                  <a:srgbClr val="003865"/>
                </a:solidFill>
                <a:latin typeface="Helvetica"/>
              </a:rPr>
              <a:t> Karim¹, Karan Pahlajani¹, Julian Oelhaf¹, David Riebesel², Tomás Arias-Vergara¹, Andreas Maier¹, Johann Jäger², Siming Bayer¹</a:t>
            </a:r>
          </a:p>
          <a:p>
            <a:pPr algn="l">
              <a:buNone/>
            </a:pPr>
            <a:r>
              <a:rPr sz="2800" b="0" i="0" dirty="0">
                <a:solidFill>
                  <a:srgbClr val="003865"/>
                </a:solidFill>
                <a:latin typeface="Helvetica"/>
              </a:rPr>
              <a:t>¹Pattern Recognition Lab  ·  ²Institute of Electrical Energy Systems  ·  Friedrich-Alexander-Universität Erlangen-Nürnberg, Germany</a:t>
            </a:r>
          </a:p>
        </p:txBody>
      </p:sp>
      <p:sp>
        <p:nvSpPr>
          <p:cNvPr id="2126538939" name="Key message"/>
          <p:cNvSpPr/>
          <p:nvPr/>
        </p:nvSpPr>
        <p:spPr>
          <a:xfrm>
            <a:off x="905256" y="8001000"/>
            <a:ext cx="28483560" cy="1874519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44450">
            <a:solidFill>
              <a:srgbClr val="D65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26538940" name="Key message text"/>
          <p:cNvSpPr txBox="1"/>
          <p:nvPr/>
        </p:nvSpPr>
        <p:spPr>
          <a:xfrm>
            <a:off x="1316736" y="8001000"/>
            <a:ext cx="27660600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0" i="0">
                <a:solidFill>
                  <a:srgbClr val="003865"/>
                </a:solidFill>
                <a:latin typeface="Helvetica"/>
              </a:rPr>
              <a:t>Small voltage errors ≠ small AC power-balance residuals — the error </a:t>
            </a:r>
            <a:r>
              <a:rPr sz="3400" b="1" i="1">
                <a:solidFill>
                  <a:srgbClr val="D65D12"/>
                </a:solidFill>
                <a:latin typeface="Helvetica"/>
              </a:rPr>
              <a:t>direction</a:t>
            </a:r>
            <a:r>
              <a:rPr sz="3400" b="0" i="0">
                <a:solidFill>
                  <a:srgbClr val="003865"/>
                </a:solidFill>
                <a:latin typeface="Helvetica"/>
              </a:rPr>
              <a:t> explains this accuracy–consistency gap.</a:t>
            </a:r>
          </a:p>
          <a:p>
            <a:pPr algn="l">
              <a:buNone/>
            </a:pPr>
            <a:r>
              <a:rPr sz="3000" b="0" i="0">
                <a:solidFill>
                  <a:srgbClr val="003865"/>
                </a:solidFill>
                <a:latin typeface="Helvetica"/>
              </a:rPr>
              <a:t>Calibrated solution-subspace projection (CSP) cuts power-balance residuals by </a:t>
            </a:r>
            <a:r>
              <a:rPr sz="3000" b="1" i="0">
                <a:solidFill>
                  <a:srgbClr val="D65D12"/>
                </a:solidFill>
                <a:latin typeface="Helvetica"/>
              </a:rPr>
              <a:t>38–69 %</a:t>
            </a:r>
            <a:r>
              <a:rPr sz="3000" b="0" i="0">
                <a:solidFill>
                  <a:srgbClr val="003865"/>
                </a:solidFill>
                <a:latin typeface="Helvetica"/>
              </a:rPr>
              <a:t> on four frozen neural solvers — </a:t>
            </a:r>
            <a:r>
              <a:rPr sz="3000" b="1" i="0">
                <a:solidFill>
                  <a:srgbClr val="003865"/>
                </a:solidFill>
                <a:latin typeface="Helvetica"/>
              </a:rPr>
              <a:t>without retraining.</a:t>
            </a:r>
          </a:p>
        </p:txBody>
      </p:sp>
      <p:sp>
        <p:nvSpPr>
          <p:cNvPr id="5001" name="hdr:Motivation &amp; Objective"/>
          <p:cNvSpPr>
            <a:spLocks noChangeArrowheads="1"/>
          </p:cNvSpPr>
          <p:nvPr/>
        </p:nvSpPr>
        <p:spPr bwMode="auto">
          <a:xfrm>
            <a:off x="905256" y="10241280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Motivation &amp; Objective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sp>
        <p:nvSpPr>
          <p:cNvPr id="2126538941" name="Motivation text"/>
          <p:cNvSpPr txBox="1"/>
          <p:nvPr/>
        </p:nvSpPr>
        <p:spPr>
          <a:xfrm>
            <a:off x="1069848" y="11247119"/>
            <a:ext cx="13743432" cy="3057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0000"/>
              </a:lnSpc>
              <a:spcAft>
                <a:spcPts val="1000"/>
              </a:spcAft>
              <a:buClr>
                <a:srgbClr val="003865"/>
              </a:buClr>
              <a:buFont typeface="Arial"/>
              <a:buChar char="•"/>
            </a:pPr>
            <a:r>
              <a:rPr sz="2600" b="0" i="0" dirty="0">
                <a:solidFill>
                  <a:srgbClr val="003865"/>
                </a:solidFill>
                <a:latin typeface="Helvetica"/>
              </a:rPr>
              <a:t>Neural AC power-flow surrogates use supervised losses on Newton–Raphson (NR) solutions; graph neural solvers and grid foundation models add </a:t>
            </a:r>
            <a:r>
              <a:rPr sz="2600" b="1" i="0" dirty="0">
                <a:solidFill>
                  <a:srgbClr val="003865"/>
                </a:solidFill>
                <a:latin typeface="Helvetica"/>
              </a:rPr>
              <a:t>physics-informed losses</a:t>
            </a:r>
            <a:r>
              <a:rPr sz="2600" b="0" i="0" dirty="0">
                <a:solidFill>
                  <a:srgbClr val="003865"/>
                </a:solidFill>
                <a:latin typeface="Helvetica"/>
              </a:rPr>
              <a:t> as soft penalties.</a:t>
            </a:r>
            <a:r>
              <a:rPr lang="en-US" sz="2600" b="0" i="0" dirty="0">
                <a:solidFill>
                  <a:srgbClr val="003865"/>
                </a:solidFill>
                <a:latin typeface="Helvetica"/>
              </a:rPr>
              <a:t> </a:t>
            </a:r>
            <a:r>
              <a:rPr lang="en-US" sz="2600" dirty="0">
                <a:solidFill>
                  <a:srgbClr val="003865"/>
                </a:solidFill>
                <a:latin typeface="Helvetica"/>
              </a:rPr>
              <a:t>Feasibility-seeking and NR warm starts also help.</a:t>
            </a:r>
            <a:endParaRPr sz="2600" b="0" i="0" dirty="0">
              <a:solidFill>
                <a:srgbClr val="003865"/>
              </a:solidFill>
              <a:latin typeface="Helvetica"/>
            </a:endParaRPr>
          </a:p>
          <a:p>
            <a:pPr marL="329184" indent="-329184" algn="l">
              <a:lnSpc>
                <a:spcPct val="100000"/>
              </a:lnSpc>
              <a:spcAft>
                <a:spcPts val="1000"/>
              </a:spcAft>
              <a:buClr>
                <a:srgbClr val="003865"/>
              </a:buClr>
              <a:buFont typeface="Arial"/>
              <a:buChar char="•"/>
            </a:pPr>
            <a:r>
              <a:rPr sz="2600" b="1" i="0" dirty="0">
                <a:solidFill>
                  <a:srgbClr val="003865"/>
                </a:solidFill>
                <a:latin typeface="Helvetica"/>
              </a:rPr>
              <a:t>Accuracy–consistency gap: </a:t>
            </a:r>
            <a:r>
              <a:rPr sz="2600" b="0" i="0" dirty="0">
                <a:solidFill>
                  <a:srgbClr val="003865"/>
                </a:solidFill>
                <a:latin typeface="Helvetica"/>
              </a:rPr>
              <a:t>small voltage errors do not imply small AC power-balance (PB) residuals; errors of the </a:t>
            </a:r>
            <a:r>
              <a:rPr sz="2600" b="1" i="0" dirty="0">
                <a:solidFill>
                  <a:srgbClr val="D65D12"/>
                </a:solidFill>
                <a:latin typeface="Helvetica"/>
              </a:rPr>
              <a:t>same magnitude</a:t>
            </a:r>
            <a:r>
              <a:rPr sz="2600" b="0" i="0" dirty="0">
                <a:solidFill>
                  <a:srgbClr val="003865"/>
                </a:solidFill>
                <a:latin typeface="Helvetica"/>
              </a:rPr>
              <a:t> can give very different residuals.</a:t>
            </a:r>
          </a:p>
          <a:p>
            <a:pPr marL="329184" indent="-329184" algn="l">
              <a:lnSpc>
                <a:spcPct val="100000"/>
              </a:lnSpc>
              <a:spcAft>
                <a:spcPts val="1000"/>
              </a:spcAft>
              <a:buClr>
                <a:srgbClr val="003865"/>
              </a:buClr>
              <a:buFont typeface="Arial"/>
              <a:buChar char="•"/>
            </a:pPr>
            <a:r>
              <a:rPr sz="2600" b="1" i="0" dirty="0">
                <a:solidFill>
                  <a:srgbClr val="D65D12"/>
                </a:solidFill>
                <a:latin typeface="Helvetica"/>
              </a:rPr>
              <a:t>Hypothesis: </a:t>
            </a:r>
            <a:r>
              <a:rPr sz="2600" b="0" i="0" dirty="0">
                <a:solidFill>
                  <a:srgbClr val="003865"/>
                </a:solidFill>
                <a:latin typeface="Helvetica"/>
              </a:rPr>
              <a:t>AC-PF solutions are low-dimensional [5, 6], so the error </a:t>
            </a:r>
            <a:r>
              <a:rPr sz="2600" b="1" i="1" dirty="0">
                <a:solidFill>
                  <a:srgbClr val="003865"/>
                </a:solidFill>
                <a:latin typeface="Helvetica"/>
              </a:rPr>
              <a:t>direction</a:t>
            </a:r>
            <a:r>
              <a:rPr sz="2600" b="0" i="0" dirty="0">
                <a:solidFill>
                  <a:srgbClr val="003865"/>
                </a:solidFill>
                <a:latin typeface="Helvetica"/>
              </a:rPr>
              <a:t> — its part outside the NR solution subspace — drives PB inconsistency.</a:t>
            </a:r>
          </a:p>
        </p:txBody>
      </p:sp>
      <p:sp>
        <p:nvSpPr>
          <p:cNvPr id="5002" name="hdr:C1 · Finding: Off-Subspa"/>
          <p:cNvSpPr>
            <a:spLocks noChangeArrowheads="1"/>
          </p:cNvSpPr>
          <p:nvPr/>
        </p:nvSpPr>
        <p:spPr bwMode="auto">
          <a:xfrm>
            <a:off x="905256" y="14538960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C1 · Finding: Off-Subspace Errors Drive Violations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sp>
        <p:nvSpPr>
          <p:cNvPr id="2126538942" name="Finding text"/>
          <p:cNvSpPr txBox="1"/>
          <p:nvPr/>
        </p:nvSpPr>
        <p:spPr>
          <a:xfrm>
            <a:off x="1069848" y="15563088"/>
            <a:ext cx="137434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500" b="0" i="0">
                <a:solidFill>
                  <a:srgbClr val="003865"/>
                </a:solidFill>
                <a:latin typeface="Helvetica"/>
              </a:rPr>
              <a:t>Errors are split into </a:t>
            </a:r>
            <a:r>
              <a:rPr sz="2500" b="1" i="0">
                <a:solidFill>
                  <a:srgbClr val="003865"/>
                </a:solidFill>
                <a:latin typeface="Helvetica"/>
              </a:rPr>
              <a:t>in-</a:t>
            </a:r>
            <a:r>
              <a:rPr sz="2500" b="0" i="0">
                <a:solidFill>
                  <a:srgbClr val="003865"/>
                </a:solidFill>
                <a:latin typeface="Helvetica"/>
              </a:rPr>
              <a:t> and </a:t>
            </a:r>
            <a:r>
              <a:rPr sz="2500" b="1" i="0">
                <a:solidFill>
                  <a:srgbClr val="003865"/>
                </a:solidFill>
                <a:latin typeface="Helvetica"/>
              </a:rPr>
              <a:t>off-subspace</a:t>
            </a:r>
            <a:r>
              <a:rPr sz="2500" b="0" i="0">
                <a:solidFill>
                  <a:srgbClr val="003865"/>
                </a:solidFill>
                <a:latin typeface="Helvetica"/>
              </a:rPr>
              <a:t> parts (rank-16 SVD basis of training NR solutions). At fixed norm, removing the off-subspace part lowers PB in all four models; removing the in-subspace part raises it.</a:t>
            </a:r>
          </a:p>
        </p:txBody>
      </p:sp>
      <p:pic>
        <p:nvPicPr>
          <p:cNvPr id="2126538943" name="Fig fixed-norm" descr="fixednorm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644" y="16934688"/>
            <a:ext cx="12435840" cy="6823204"/>
          </a:xfrm>
          <a:prstGeom prst="rect">
            <a:avLst/>
          </a:prstGeom>
        </p:spPr>
      </p:pic>
      <p:sp>
        <p:nvSpPr>
          <p:cNvPr id="2126538944" name="Jacobian text"/>
          <p:cNvSpPr txBox="1"/>
          <p:nvPr/>
        </p:nvSpPr>
        <p:spPr>
          <a:xfrm>
            <a:off x="1069848" y="23803612"/>
            <a:ext cx="137434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400" b="0" i="0">
                <a:solidFill>
                  <a:srgbClr val="003865"/>
                </a:solidFill>
                <a:latin typeface="Helvetica"/>
              </a:rPr>
              <a:t>Local AC Jacobian: off-subspace directions are </a:t>
            </a:r>
            <a:r>
              <a:rPr sz="3000" b="1" i="0">
                <a:solidFill>
                  <a:srgbClr val="D65D12"/>
                </a:solidFill>
                <a:latin typeface="Helvetica"/>
              </a:rPr>
              <a:t>1,563×</a:t>
            </a:r>
            <a:r>
              <a:rPr sz="2400" b="0" i="0">
                <a:solidFill>
                  <a:srgbClr val="003865"/>
                </a:solidFill>
                <a:latin typeface="Helvetica"/>
              </a:rPr>
              <a:t> more residual-sensitive than in-subspace ones (median gain ratio).</a:t>
            </a:r>
          </a:p>
        </p:txBody>
      </p:sp>
      <p:sp>
        <p:nvSpPr>
          <p:cNvPr id="5003" name="hdr:C2 · Method: Calibrated "/>
          <p:cNvSpPr>
            <a:spLocks noChangeArrowheads="1"/>
          </p:cNvSpPr>
          <p:nvPr/>
        </p:nvSpPr>
        <p:spPr bwMode="auto">
          <a:xfrm>
            <a:off x="905256" y="25054560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C2 · Method: Calibrated Subspace Projection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pic>
        <p:nvPicPr>
          <p:cNvPr id="2126538945" name="Fig CSP diagram" descr="csp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724" y="26078688"/>
            <a:ext cx="11155680" cy="8151044"/>
          </a:xfrm>
          <a:prstGeom prst="rect">
            <a:avLst/>
          </a:prstGeom>
        </p:spPr>
      </p:pic>
      <p:pic>
        <p:nvPicPr>
          <p:cNvPr id="2126538946" name="Eq CSP" descr="eq_cs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9644" y="34321172"/>
            <a:ext cx="7863840" cy="792198"/>
          </a:xfrm>
          <a:prstGeom prst="rect">
            <a:avLst/>
          </a:prstGeom>
        </p:spPr>
      </p:pic>
      <p:sp>
        <p:nvSpPr>
          <p:cNvPr id="2126538947" name="Method text"/>
          <p:cNvSpPr txBox="1"/>
          <p:nvPr/>
        </p:nvSpPr>
        <p:spPr>
          <a:xfrm>
            <a:off x="1069848" y="35277963"/>
            <a:ext cx="13743432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20624" indent="-420624" algn="l">
              <a:lnSpc>
                <a:spcPct val="100000"/>
              </a:lnSpc>
              <a:spcAft>
                <a:spcPts val="600"/>
              </a:spcAft>
              <a:buClr>
                <a:srgbClr val="003865"/>
              </a:buClr>
              <a:buFont typeface="Arial"/>
              <a:buChar char="①"/>
            </a:pPr>
            <a:r>
              <a:rPr sz="2500" b="1" i="0">
                <a:solidFill>
                  <a:srgbClr val="003865"/>
                </a:solidFill>
                <a:latin typeface="Helvetica"/>
              </a:rPr>
              <a:t>Calibrate: </a:t>
            </a:r>
            <a:r>
              <a:rPr sz="2500" b="0" i="0">
                <a:solidFill>
                  <a:srgbClr val="003865"/>
                </a:solidFill>
                <a:latin typeface="Helvetica"/>
              </a:rPr>
              <a:t>remove the systematic, train-estimated bias b̂.</a:t>
            </a:r>
          </a:p>
          <a:p>
            <a:pPr marL="420624" indent="-420624" algn="l">
              <a:lnSpc>
                <a:spcPct val="100000"/>
              </a:lnSpc>
              <a:spcAft>
                <a:spcPts val="600"/>
              </a:spcAft>
              <a:buClr>
                <a:srgbClr val="003865"/>
              </a:buClr>
              <a:buFont typeface="Arial"/>
              <a:buChar char="②"/>
            </a:pPr>
            <a:r>
              <a:rPr sz="2500" b="1" i="0">
                <a:solidFill>
                  <a:srgbClr val="003865"/>
                </a:solidFill>
                <a:latin typeface="Helvetica"/>
              </a:rPr>
              <a:t>Project: </a:t>
            </a:r>
            <a:r>
              <a:rPr sz="2500" b="0" i="0">
                <a:solidFill>
                  <a:srgbClr val="003865"/>
                </a:solidFill>
                <a:latin typeface="Helvetica"/>
              </a:rPr>
              <a:t>suppress off-subspace components (top-16 SVD directions).</a:t>
            </a:r>
          </a:p>
          <a:p>
            <a:pPr marL="420624" indent="-420624" algn="l">
              <a:lnSpc>
                <a:spcPct val="100000"/>
              </a:lnSpc>
              <a:spcAft>
                <a:spcPts val="1000"/>
              </a:spcAft>
              <a:buClr>
                <a:srgbClr val="003865"/>
              </a:buClr>
              <a:buFont typeface="Arial"/>
              <a:buChar char="•"/>
            </a:pPr>
            <a:r>
              <a:rPr sz="2500" b="0" i="1">
                <a:solidFill>
                  <a:srgbClr val="003865"/>
                </a:solidFill>
                <a:latin typeface="Helvetica"/>
              </a:rPr>
              <a:t>Lightweight post-processing · training data only · no retraining</a:t>
            </a:r>
          </a:p>
        </p:txBody>
      </p:sp>
      <p:sp>
        <p:nvSpPr>
          <p:cNvPr id="5004" name="hdr:C3 · Results: Four Froze"/>
          <p:cNvSpPr>
            <a:spLocks noChangeArrowheads="1"/>
          </p:cNvSpPr>
          <p:nvPr/>
        </p:nvSpPr>
        <p:spPr bwMode="auto">
          <a:xfrm>
            <a:off x="15316200" y="10241280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C3 · Results: Four Frozen Neural Solvers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sp>
        <p:nvSpPr>
          <p:cNvPr id="2126538948" name="Results intro"/>
          <p:cNvSpPr txBox="1"/>
          <p:nvPr/>
        </p:nvSpPr>
        <p:spPr>
          <a:xfrm>
            <a:off x="15480792" y="11247119"/>
            <a:ext cx="137434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00" b="0" i="0">
                <a:solidFill>
                  <a:srgbClr val="003865"/>
                </a:solidFill>
                <a:latin typeface="Helvetica"/>
              </a:rPr>
              <a:t>2224-bus GB network · 37k NR operating points · Mean PB reduction of CSP (k = 16) vs. calibrated output</a:t>
            </a:r>
          </a:p>
        </p:txBody>
      </p:sp>
      <p:sp>
        <p:nvSpPr>
          <p:cNvPr id="2126538949" name="tile PIGNN-GC"/>
          <p:cNvSpPr/>
          <p:nvPr/>
        </p:nvSpPr>
        <p:spPr>
          <a:xfrm>
            <a:off x="15480792" y="11978640"/>
            <a:ext cx="3284982" cy="201168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D65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D65D12"/>
                </a:solidFill>
                <a:latin typeface="Helvetica"/>
              </a:rPr>
              <a:t>−67.0 %</a:t>
            </a:r>
          </a:p>
          <a:p>
            <a:pPr algn="ctr">
              <a:lnSpc>
                <a:spcPct val="95000"/>
              </a:lnSpc>
            </a:pPr>
            <a:r>
              <a:rPr sz="2300" b="1" i="0">
                <a:solidFill>
                  <a:srgbClr val="003865"/>
                </a:solidFill>
                <a:latin typeface="Helvetica"/>
              </a:rPr>
              <a:t>PIGNN-GC</a:t>
            </a:r>
          </a:p>
        </p:txBody>
      </p:sp>
      <p:sp>
        <p:nvSpPr>
          <p:cNvPr id="2126538950" name="tile GridSFM"/>
          <p:cNvSpPr/>
          <p:nvPr/>
        </p:nvSpPr>
        <p:spPr>
          <a:xfrm>
            <a:off x="18966942" y="11978640"/>
            <a:ext cx="3284982" cy="201168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D65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D65D12"/>
                </a:solidFill>
                <a:latin typeface="Helvetica"/>
              </a:rPr>
              <a:t>−37.8 %</a:t>
            </a:r>
          </a:p>
          <a:p>
            <a:pPr algn="ctr">
              <a:lnSpc>
                <a:spcPct val="95000"/>
              </a:lnSpc>
            </a:pPr>
            <a:r>
              <a:rPr sz="2300" b="1" i="0">
                <a:solidFill>
                  <a:srgbClr val="003865"/>
                </a:solidFill>
                <a:latin typeface="Helvetica"/>
              </a:rPr>
              <a:t>GridSFM</a:t>
            </a:r>
          </a:p>
        </p:txBody>
      </p:sp>
      <p:sp>
        <p:nvSpPr>
          <p:cNvPr id="2126538951" name="tile gridfm-graphkit"/>
          <p:cNvSpPr/>
          <p:nvPr/>
        </p:nvSpPr>
        <p:spPr>
          <a:xfrm>
            <a:off x="22453092" y="11978640"/>
            <a:ext cx="3284982" cy="201168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D65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D65D12"/>
                </a:solidFill>
                <a:latin typeface="Helvetica"/>
              </a:rPr>
              <a:t>−40.5 %</a:t>
            </a:r>
          </a:p>
          <a:p>
            <a:pPr algn="ctr">
              <a:lnSpc>
                <a:spcPct val="95000"/>
              </a:lnSpc>
            </a:pPr>
            <a:r>
              <a:rPr sz="2300" b="1" i="0">
                <a:solidFill>
                  <a:srgbClr val="003865"/>
                </a:solidFill>
                <a:latin typeface="Helvetica"/>
              </a:rPr>
              <a:t>gridfm-graphkit</a:t>
            </a:r>
          </a:p>
        </p:txBody>
      </p:sp>
      <p:sp>
        <p:nvSpPr>
          <p:cNvPr id="2126538952" name="tile LUMINA"/>
          <p:cNvSpPr/>
          <p:nvPr/>
        </p:nvSpPr>
        <p:spPr>
          <a:xfrm>
            <a:off x="25939242" y="11978640"/>
            <a:ext cx="3284982" cy="201168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D65D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D65D12"/>
                </a:solidFill>
                <a:latin typeface="Helvetica"/>
              </a:rPr>
              <a:t>−68.9 %</a:t>
            </a:r>
          </a:p>
          <a:p>
            <a:pPr algn="ctr">
              <a:lnSpc>
                <a:spcPct val="95000"/>
              </a:lnSpc>
            </a:pPr>
            <a:r>
              <a:rPr sz="2300" b="1" i="0">
                <a:solidFill>
                  <a:srgbClr val="003865"/>
                </a:solidFill>
                <a:latin typeface="Helvetica"/>
              </a:rPr>
              <a:t>LUMINA</a:t>
            </a:r>
          </a:p>
        </p:txBody>
      </p:sp>
      <p:graphicFrame>
        <p:nvGraphicFramePr>
          <p:cNvPr id="2126538953" name="Results table"/>
          <p:cNvGraphicFramePr>
            <a:graphicFrameLocks noGrp="1"/>
          </p:cNvGraphicFramePr>
          <p:nvPr/>
        </p:nvGraphicFramePr>
        <p:xfrm>
          <a:off x="15480792" y="14218920"/>
          <a:ext cx="13743432" cy="3529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l"/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Model</a:t>
                      </a:r>
                    </a:p>
                  </a:txBody>
                  <a:tcPr marT="27432" marB="27432" anchor="ctr"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Mean PB ↓</a:t>
                      </a:r>
                    </a:p>
                    <a:p>
                      <a:pPr algn="ctr"/>
                      <a:r>
                        <a:rPr sz="2000" b="0" i="0">
                          <a:solidFill>
                            <a:srgbClr val="FFFFFF"/>
                          </a:solidFill>
                          <a:latin typeface="Helvetica"/>
                        </a:rPr>
                        <a:t>C → CSP</a:t>
                      </a:r>
                    </a:p>
                  </a:txBody>
                  <a:tcPr marT="27432" marB="27432" anchor="ctr"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Max PB ↓</a:t>
                      </a:r>
                    </a:p>
                    <a:p>
                      <a:pPr algn="ctr"/>
                      <a:r>
                        <a:rPr sz="2000" b="0" i="0">
                          <a:solidFill>
                            <a:srgbClr val="FFFFFF"/>
                          </a:solidFill>
                          <a:latin typeface="Helvetica"/>
                        </a:rPr>
                        <a:t>C → CSP</a:t>
                      </a:r>
                    </a:p>
                  </a:txBody>
                  <a:tcPr marT="27432" marB="27432" anchor="ctr"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V RMSE ↓</a:t>
                      </a:r>
                    </a:p>
                    <a:p>
                      <a:pPr algn="ctr"/>
                      <a:r>
                        <a:rPr sz="2000" b="0" i="0">
                          <a:solidFill>
                            <a:srgbClr val="FFFFFF"/>
                          </a:solidFill>
                          <a:latin typeface="Helvetica"/>
                        </a:rPr>
                        <a:t>C → CSP  (×10⁻³)</a:t>
                      </a:r>
                    </a:p>
                  </a:txBody>
                  <a:tcPr marT="27432" marB="27432" anchor="ctr">
                    <a:solidFill>
                      <a:srgbClr val="0038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R</a:t>
                      </a:r>
                      <a:r>
                        <a:rPr sz="2200" b="1" i="0" baseline="30000">
                          <a:solidFill>
                            <a:srgbClr val="FFFFFF"/>
                          </a:solidFill>
                          <a:latin typeface="Helvetica"/>
                        </a:rPr>
                        <a:t>2</a:t>
                      </a:r>
                      <a:r>
                        <a:rPr sz="2200" b="1" i="0" baseline="-25000">
                          <a:solidFill>
                            <a:srgbClr val="FFFFFF"/>
                          </a:solidFill>
                          <a:latin typeface="Helvetica"/>
                        </a:rPr>
                        <a:t>w</a:t>
                      </a:r>
                      <a:r>
                        <a:rPr sz="2200" b="1" i="0">
                          <a:solidFill>
                            <a:srgbClr val="FFFFFF"/>
                          </a:solidFill>
                          <a:latin typeface="Helvetica"/>
                        </a:rPr>
                        <a:t> ↑</a:t>
                      </a:r>
                    </a:p>
                    <a:p>
                      <a:pPr algn="ctr"/>
                      <a:r>
                        <a:rPr sz="2000" b="0" i="0">
                          <a:solidFill>
                            <a:srgbClr val="FFFFFF"/>
                          </a:solidFill>
                          <a:latin typeface="Helvetica"/>
                        </a:rPr>
                        <a:t>C → CSP</a:t>
                      </a:r>
                    </a:p>
                  </a:txBody>
                  <a:tcPr marT="27432" marB="27432" anchor="ctr">
                    <a:solidFill>
                      <a:srgbClr val="0038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03865"/>
                          </a:solidFill>
                          <a:latin typeface="Helvetica"/>
                        </a:rPr>
                        <a:t>PIGNN-GC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.167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.055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190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3.9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13.9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12.2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.67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03865"/>
                          </a:solidFill>
                          <a:latin typeface="Helvetica"/>
                        </a:rPr>
                        <a:t>GridSFM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.083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.051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7.3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4.9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10.9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7.8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.77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.94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03865"/>
                          </a:solidFill>
                          <a:latin typeface="Helvetica"/>
                        </a:rPr>
                        <a:t>gridfm-graphkit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.077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.046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18.9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5.1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7.5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6.1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.91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.96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2300" b="1" i="0">
                          <a:solidFill>
                            <a:srgbClr val="003865"/>
                          </a:solidFill>
                          <a:latin typeface="Helvetica"/>
                        </a:rPr>
                        <a:t>LUMINA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.214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.067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20.7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4.6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17.8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15.7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0" i="0">
                          <a:solidFill>
                            <a:srgbClr val="003865"/>
                          </a:solidFill>
                          <a:latin typeface="Helvetica"/>
                        </a:rPr>
                        <a:t>.44 → </a:t>
                      </a:r>
                      <a:r>
                        <a:rPr sz="2300" b="1" i="0">
                          <a:solidFill>
                            <a:srgbClr val="D65D12"/>
                          </a:solidFill>
                          <a:latin typeface="Helvetica"/>
                        </a:rPr>
                        <a:t>.91</a:t>
                      </a:r>
                    </a:p>
                  </a:txBody>
                  <a:tcPr marT="27432" marB="27432" anchor="ctr">
                    <a:solidFill>
                      <a:srgbClr val="DD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6538954" name="Results caption"/>
          <p:cNvSpPr txBox="1"/>
          <p:nvPr/>
        </p:nvSpPr>
        <p:spPr>
          <a:xfrm>
            <a:off x="15480792" y="17885664"/>
            <a:ext cx="137434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0" i="0">
                <a:solidFill>
                  <a:srgbClr val="003865"/>
                </a:solidFill>
                <a:latin typeface="Helvetica"/>
              </a:rPr>
              <a:t>Mean over 3 seeds; PB in p.u. (100 MVA). C = train-only bias calibration. R²w = tracking of scenario-dependent voltage variation. Inference cost unchanged.</a:t>
            </a:r>
          </a:p>
        </p:txBody>
      </p:sp>
      <p:sp>
        <p:nvSpPr>
          <p:cNvPr id="5005" name="hdr:Generalization: 31 Grids"/>
          <p:cNvSpPr>
            <a:spLocks noChangeArrowheads="1"/>
          </p:cNvSpPr>
          <p:nvPr/>
        </p:nvSpPr>
        <p:spPr bwMode="auto">
          <a:xfrm>
            <a:off x="15316200" y="18882360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Generalization: 31 Grids &amp; Newton Warm Start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pic>
        <p:nvPicPr>
          <p:cNvPr id="2126538955" name="Fig cross-grid" descr="crossgrid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77388" y="19906488"/>
            <a:ext cx="13350240" cy="7876337"/>
          </a:xfrm>
          <a:prstGeom prst="rect">
            <a:avLst/>
          </a:prstGeom>
        </p:spPr>
      </p:pic>
      <p:sp>
        <p:nvSpPr>
          <p:cNvPr id="2126538956" name="Cross-grid caption"/>
          <p:cNvSpPr txBox="1"/>
          <p:nvPr/>
        </p:nvSpPr>
        <p:spPr>
          <a:xfrm>
            <a:off x="15480792" y="27828545"/>
            <a:ext cx="1374343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2000" b="0" i="0" dirty="0" err="1">
                <a:solidFill>
                  <a:srgbClr val="003865"/>
                </a:solidFill>
                <a:latin typeface="Helvetica"/>
              </a:rPr>
              <a:t>GridSFM</a:t>
            </a:r>
            <a:r>
              <a:rPr sz="2000" b="0" i="0" dirty="0">
                <a:solidFill>
                  <a:srgbClr val="003865"/>
                </a:solidFill>
                <a:latin typeface="Helvetica"/>
              </a:rPr>
              <a:t> raw vs. with CSP (k = 16) on 31 systems (IEEE, PEGASE, RTE, GB, CIM; s</a:t>
            </a:r>
            <a:r>
              <a:rPr lang="en-US" sz="2000" b="0" i="0" dirty="0">
                <a:solidFill>
                  <a:srgbClr val="003865"/>
                </a:solidFill>
                <a:latin typeface="Helvetica"/>
              </a:rPr>
              <a:t> </a:t>
            </a:r>
            <a:r>
              <a:rPr sz="2000" b="0" i="0" dirty="0" err="1">
                <a:solidFill>
                  <a:srgbClr val="003865"/>
                </a:solidFill>
                <a:latin typeface="Helvetica"/>
              </a:rPr>
              <a:t>ub</a:t>
            </a:r>
            <a:r>
              <a:rPr sz="2000" b="0" i="0" dirty="0">
                <a:solidFill>
                  <a:srgbClr val="003865"/>
                </a:solidFill>
                <a:latin typeface="Helvetica"/>
              </a:rPr>
              <a:t>-kV to 750 kV), log scale.</a:t>
            </a:r>
          </a:p>
        </p:txBody>
      </p:sp>
      <p:sp>
        <p:nvSpPr>
          <p:cNvPr id="2126538957" name="tile grids"/>
          <p:cNvSpPr/>
          <p:nvPr/>
        </p:nvSpPr>
        <p:spPr>
          <a:xfrm>
            <a:off x="15480792" y="28651505"/>
            <a:ext cx="6734556" cy="210312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0038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>
                <a:solidFill>
                  <a:srgbClr val="003865"/>
                </a:solidFill>
                <a:latin typeface="Helvetica"/>
              </a:rPr>
              <a:t>31 / 31</a:t>
            </a:r>
          </a:p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003865"/>
                </a:solidFill>
                <a:latin typeface="Helvetica"/>
              </a:rPr>
              <a:t>grids with lower Mean PB</a:t>
            </a:r>
          </a:p>
          <a:p>
            <a:pPr algn="ctr">
              <a:lnSpc>
                <a:spcPct val="95000"/>
              </a:lnSpc>
            </a:pPr>
            <a:r>
              <a:rPr sz="2200" b="0" i="0">
                <a:solidFill>
                  <a:srgbClr val="003865"/>
                </a:solidFill>
                <a:latin typeface="Helvetica"/>
              </a:rPr>
              <a:t>(4 – 9,241 buses)</a:t>
            </a:r>
          </a:p>
        </p:txBody>
      </p:sp>
      <p:sp>
        <p:nvSpPr>
          <p:cNvPr id="2126538958" name="tile newton"/>
          <p:cNvSpPr/>
          <p:nvPr/>
        </p:nvSpPr>
        <p:spPr>
          <a:xfrm>
            <a:off x="22489668" y="28651505"/>
            <a:ext cx="6734556" cy="2103120"/>
          </a:xfrm>
          <a:prstGeom prst="roundRect">
            <a:avLst>
              <a:gd name="adj" fmla="val 14000"/>
            </a:avLst>
          </a:prstGeom>
          <a:solidFill>
            <a:srgbClr val="EBECEE"/>
          </a:solidFill>
          <a:ln w="38100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200"/>
              </a:spcAft>
            </a:pPr>
            <a:r>
              <a:rPr sz="5000" b="1" i="0" dirty="0">
                <a:solidFill>
                  <a:srgbClr val="2E8B3E"/>
                </a:solidFill>
                <a:latin typeface="Helvetica"/>
              </a:rPr>
              <a:t>21</a:t>
            </a:r>
            <a:r>
              <a:rPr lang="en-US" altLang="ko-KR" sz="5000" b="1" i="0" dirty="0">
                <a:solidFill>
                  <a:srgbClr val="2E8B3E"/>
                </a:solidFill>
                <a:latin typeface="Helvetica"/>
              </a:rPr>
              <a:t>–</a:t>
            </a:r>
            <a:r>
              <a:rPr sz="5000" b="1" i="0" dirty="0">
                <a:solidFill>
                  <a:srgbClr val="2E8B3E"/>
                </a:solidFill>
                <a:latin typeface="Helvetica"/>
              </a:rPr>
              <a:t>96 %</a:t>
            </a:r>
          </a:p>
          <a:p>
            <a:pPr algn="ctr">
              <a:lnSpc>
                <a:spcPct val="95000"/>
              </a:lnSpc>
            </a:pPr>
            <a:r>
              <a:rPr sz="2200" b="0" i="0" dirty="0">
                <a:solidFill>
                  <a:srgbClr val="003865"/>
                </a:solidFill>
                <a:latin typeface="Helvetica"/>
              </a:rPr>
              <a:t>lower PB after one Newton</a:t>
            </a:r>
          </a:p>
          <a:p>
            <a:pPr algn="ctr">
              <a:lnSpc>
                <a:spcPct val="95000"/>
              </a:lnSpc>
            </a:pPr>
            <a:r>
              <a:rPr sz="2200" b="0" i="0" dirty="0">
                <a:solidFill>
                  <a:srgbClr val="003865"/>
                </a:solidFill>
                <a:latin typeface="Helvetica"/>
              </a:rPr>
              <a:t>step started from CSP</a:t>
            </a:r>
          </a:p>
        </p:txBody>
      </p:sp>
      <p:sp>
        <p:nvSpPr>
          <p:cNvPr id="5006" name="hdr:Conclusion"/>
          <p:cNvSpPr>
            <a:spLocks noChangeArrowheads="1"/>
          </p:cNvSpPr>
          <p:nvPr/>
        </p:nvSpPr>
        <p:spPr bwMode="auto">
          <a:xfrm>
            <a:off x="15316200" y="31166105"/>
            <a:ext cx="14072616" cy="868680"/>
          </a:xfrm>
          <a:prstGeom prst="roundRect">
            <a:avLst>
              <a:gd name="adj" fmla="val 0"/>
            </a:avLst>
          </a:prstGeom>
          <a:solidFill>
            <a:srgbClr val="003865"/>
          </a:solidFill>
          <a:ln w="9525">
            <a:noFill/>
            <a:round/>
            <a:headEnd/>
            <a:tailEnd/>
          </a:ln>
        </p:spPr>
        <p:txBody>
          <a:bodyPr wrap="square" lIns="180000" tIns="7200" rIns="180000" bIns="7200" anchor="ctr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>
              <a:defRPr sz="8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17353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800" b="1" i="0">
                <a:solidFill>
                  <a:srgbClr val="FFFFFF"/>
                </a:solidFill>
                <a:latin typeface="Helvetica"/>
              </a:rPr>
              <a:t>Conclusion</a:t>
            </a:r>
            <a:endParaRPr lang="en-US" sz="3600" b="0" i="0" u="none" strike="noStrike" cap="none" spc="0">
              <a:solidFill>
                <a:srgbClr val="003865"/>
              </a:solidFill>
              <a:latin typeface="Helvetica"/>
              <a:cs typeface="Helvetica"/>
            </a:endParaRPr>
          </a:p>
        </p:txBody>
      </p:sp>
      <p:sp>
        <p:nvSpPr>
          <p:cNvPr id="2126538959" name="Conclusion text"/>
          <p:cNvSpPr txBox="1"/>
          <p:nvPr/>
        </p:nvSpPr>
        <p:spPr>
          <a:xfrm>
            <a:off x="15480792" y="32171945"/>
            <a:ext cx="13743432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29184" indent="-329184" algn="l">
              <a:lnSpc>
                <a:spcPct val="100000"/>
              </a:lnSpc>
              <a:spcAft>
                <a:spcPts val="2200"/>
              </a:spcAft>
              <a:buClr>
                <a:srgbClr val="003865"/>
              </a:buClr>
              <a:buFont typeface="Arial"/>
              <a:buChar char="•"/>
            </a:pPr>
            <a:r>
              <a:rPr sz="2600" b="1" i="0">
                <a:solidFill>
                  <a:srgbClr val="003865"/>
                </a:solidFill>
                <a:latin typeface="Helvetica"/>
              </a:rPr>
              <a:t>Error direction, not only magnitude, </a:t>
            </a:r>
            <a:r>
              <a:rPr sz="2600" b="0" i="0">
                <a:solidFill>
                  <a:srgbClr val="003865"/>
                </a:solidFill>
                <a:latin typeface="Helvetica"/>
              </a:rPr>
              <a:t>explains the accuracy–consistency gap: off-subspace errors drive PB violations.</a:t>
            </a:r>
          </a:p>
          <a:p>
            <a:pPr marL="329184" indent="-329184" algn="l">
              <a:lnSpc>
                <a:spcPct val="100000"/>
              </a:lnSpc>
              <a:spcAft>
                <a:spcPts val="2200"/>
              </a:spcAft>
              <a:buClr>
                <a:srgbClr val="003865"/>
              </a:buClr>
              <a:buFont typeface="Arial"/>
              <a:buChar char="•"/>
            </a:pPr>
            <a:r>
              <a:rPr sz="2600" b="1" i="0">
                <a:solidFill>
                  <a:srgbClr val="003865"/>
                </a:solidFill>
                <a:latin typeface="Helvetica"/>
              </a:rPr>
              <a:t>CSP is a plug-in correction: </a:t>
            </a:r>
            <a:r>
              <a:rPr sz="2600" b="0" i="0">
                <a:solidFill>
                  <a:srgbClr val="003865"/>
                </a:solidFill>
                <a:latin typeface="Helvetica"/>
              </a:rPr>
              <a:t>training data only, no retraining, negligible cost.</a:t>
            </a:r>
          </a:p>
          <a:p>
            <a:pPr marL="329184" indent="-329184" algn="l">
              <a:lnSpc>
                <a:spcPct val="100000"/>
              </a:lnSpc>
              <a:spcAft>
                <a:spcPts val="2200"/>
              </a:spcAft>
              <a:buClr>
                <a:srgbClr val="003865"/>
              </a:buClr>
              <a:buFont typeface="Arial"/>
              <a:buChar char="•"/>
            </a:pPr>
            <a:r>
              <a:rPr sz="2600" b="0" i="0">
                <a:solidFill>
                  <a:srgbClr val="003865"/>
                </a:solidFill>
                <a:latin typeface="Helvetica"/>
              </a:rPr>
              <a:t>Lower PB </a:t>
            </a:r>
            <a:r>
              <a:rPr sz="2600" b="0" i="1">
                <a:solidFill>
                  <a:srgbClr val="003865"/>
                </a:solidFill>
                <a:latin typeface="Helvetica"/>
              </a:rPr>
              <a:t>and</a:t>
            </a:r>
            <a:r>
              <a:rPr sz="2600" b="0" i="0">
                <a:solidFill>
                  <a:srgbClr val="003865"/>
                </a:solidFill>
                <a:latin typeface="Helvetica"/>
              </a:rPr>
              <a:t> lower V RMSE on all four surrogates; gains carry over to 31 grids and Newton warm starts.</a:t>
            </a:r>
          </a:p>
          <a:p>
            <a:pPr marL="329184" indent="-329184" algn="l">
              <a:lnSpc>
                <a:spcPct val="100000"/>
              </a:lnSpc>
              <a:spcAft>
                <a:spcPts val="1000"/>
              </a:spcAft>
              <a:buClr>
                <a:srgbClr val="003865"/>
              </a:buClr>
              <a:buFont typeface="Arial"/>
              <a:buChar char="•"/>
            </a:pPr>
            <a:r>
              <a:rPr sz="2600" b="1" i="0">
                <a:solidFill>
                  <a:srgbClr val="D65D12"/>
                </a:solidFill>
                <a:latin typeface="Helvetica"/>
              </a:rPr>
              <a:t>For grid foundation models: </a:t>
            </a:r>
            <a:r>
              <a:rPr sz="2600" b="0" i="0">
                <a:solidFill>
                  <a:srgbClr val="003865"/>
                </a:solidFill>
                <a:latin typeface="Helvetica"/>
              </a:rPr>
              <a:t>evaluate and design for error direction, not only magnitude.</a:t>
            </a:r>
          </a:p>
        </p:txBody>
      </p:sp>
      <p:sp>
        <p:nvSpPr>
          <p:cNvPr id="2126538960" name="References"/>
          <p:cNvSpPr txBox="1"/>
          <p:nvPr/>
        </p:nvSpPr>
        <p:spPr>
          <a:xfrm>
            <a:off x="15480792" y="36530280"/>
            <a:ext cx="137434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800" b="1" i="0">
                <a:solidFill>
                  <a:srgbClr val="003865"/>
                </a:solidFill>
                <a:latin typeface="Helvetica"/>
              </a:rPr>
              <a:t>References  </a:t>
            </a:r>
            <a:r>
              <a:rPr sz="1800" b="0" i="0">
                <a:solidFill>
                  <a:srgbClr val="003865"/>
                </a:solidFill>
                <a:latin typeface="Helvetica"/>
              </a:rPr>
              <a:t>[1] C. Kim et al., PIGNN-Attn-LS, ICASSP 2026.  [2] W. Yang et al., GridSFM, MSR white paper, 2026.  [3] GridFM Team, gridfm-graphkit v0.9.0, 2026.  [4] Y. Li et al., LUMINA, arXiv:2603.04300.  [5] S. Park et al., IEEE Trans. Power Syst., 2024.  [6] S. Chevalier et al., IEEE Trans. Power Syst., 2022.</a:t>
            </a:r>
          </a:p>
        </p:txBody>
      </p:sp>
      <p:pic>
        <p:nvPicPr>
          <p:cNvPr id="2126538965" name="QR code Scholar" descr="qr_schol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128" y="39273480"/>
            <a:ext cx="2651760" cy="2651760"/>
          </a:xfrm>
          <a:prstGeom prst="rect">
            <a:avLst/>
          </a:prstGeom>
        </p:spPr>
      </p:pic>
      <p:sp>
        <p:nvSpPr>
          <p:cNvPr id="2126538962" name="Contact text"/>
          <p:cNvSpPr txBox="1"/>
          <p:nvPr/>
        </p:nvSpPr>
        <p:spPr>
          <a:xfrm>
            <a:off x="3977639" y="39273480"/>
            <a:ext cx="9326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800" b="1" i="0">
                <a:solidFill>
                  <a:srgbClr val="003865"/>
                </a:solidFill>
                <a:latin typeface="Helvetica"/>
              </a:rPr>
              <a:t>Changhun Kim</a:t>
            </a:r>
          </a:p>
          <a:p>
            <a:pPr algn="l">
              <a:spcAft>
                <a:spcPts val="200"/>
              </a:spcAft>
              <a:buNone/>
            </a:pPr>
            <a:r>
              <a:rPr sz="2200" b="0" i="0">
                <a:solidFill>
                  <a:srgbClr val="003865"/>
                </a:solidFill>
                <a:latin typeface="Helvetica"/>
              </a:rPr>
              <a:t>Pattern Recognition Lab, FAU Erlangen-Nürnberg</a:t>
            </a:r>
          </a:p>
          <a:p>
            <a:pPr algn="l">
              <a:spcAft>
                <a:spcPts val="200"/>
              </a:spcAft>
              <a:buNone/>
            </a:pPr>
            <a:r>
              <a:rPr sz="2200" b="0" i="0">
                <a:solidFill>
                  <a:srgbClr val="003865"/>
                </a:solidFill>
                <a:latin typeface="Helvetica"/>
              </a:rPr>
              <a:t>✉  changhun.kim@fau.de</a:t>
            </a:r>
          </a:p>
          <a:p>
            <a:pPr algn="l">
              <a:spcAft>
                <a:spcPts val="200"/>
              </a:spcAft>
              <a:buNone/>
            </a:pPr>
            <a:r>
              <a:rPr sz="2000" b="0" i="0">
                <a:solidFill>
                  <a:srgbClr val="003865"/>
                </a:solidFill>
                <a:latin typeface="Helvetica"/>
              </a:rPr>
              <a:t>Code:  github.com/Kimchangheon/neural-acpf-error-geometry</a:t>
            </a:r>
          </a:p>
          <a:p>
            <a:pPr algn="l">
              <a:buNone/>
            </a:pPr>
            <a:r>
              <a:rPr sz="2000" b="0" i="0">
                <a:solidFill>
                  <a:srgbClr val="003865"/>
                </a:solidFill>
                <a:latin typeface="Helvetica"/>
              </a:rPr>
              <a:t>Paper:  arXiv:2610.05959</a:t>
            </a:r>
          </a:p>
        </p:txBody>
      </p:sp>
      <p:sp>
        <p:nvSpPr>
          <p:cNvPr id="2126538963" name="Acknowledgement"/>
          <p:cNvSpPr txBox="1"/>
          <p:nvPr/>
        </p:nvSpPr>
        <p:spPr>
          <a:xfrm>
            <a:off x="13716000" y="41193720"/>
            <a:ext cx="1563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buNone/>
            </a:pPr>
            <a:r>
              <a:rPr sz="1800" b="0" i="1">
                <a:solidFill>
                  <a:srgbClr val="003865"/>
                </a:solidFill>
                <a:latin typeface="Helvetica"/>
              </a:rPr>
              <a:t>Supported by the GridAssist project under the “OptiNetD” initiative of the German Federal Ministry for Economic Affairs and Energy (BMWE), and by HPC resources from NHR@FAU, partially funded by the DFG.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300C66B-34EF-E92A-6C3C-4012B21D00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521191" y="320040"/>
            <a:ext cx="6776185" cy="2011680"/>
          </a:xfrm>
          <a:prstGeom prst="rect">
            <a:avLst/>
          </a:prstGeom>
        </p:spPr>
      </p:pic>
      <p:pic>
        <p:nvPicPr>
          <p:cNvPr id="4" name="Picture 3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3DDAD74F-EDFB-0191-283B-9945D97EC2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21118" y="38738757"/>
            <a:ext cx="5904960" cy="22372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4E3716-5739-F8D9-7375-B6D1D9B278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267638" y="39172485"/>
            <a:ext cx="3525790" cy="1707804"/>
          </a:xfrm>
          <a:prstGeom prst="rect">
            <a:avLst/>
          </a:prstGeom>
        </p:spPr>
      </p:pic>
      <p:sp>
        <p:nvSpPr>
          <p:cNvPr id="2126538966" name="QR caption"/>
          <p:cNvSpPr txBox="1"/>
          <p:nvPr/>
        </p:nvSpPr>
        <p:spPr>
          <a:xfrm>
            <a:off x="749808" y="41943528"/>
            <a:ext cx="3200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000">
                <a:solidFill>
                  <a:srgbClr val="003865"/>
                </a:solidFill>
                <a:latin typeface="Helvetica"/>
              </a:rPr>
              <a:t>Scan: Google Scholar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633</TotalTime>
  <Words>1096</Words>
  <Application>Microsoft Macintosh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but Not Physics-Consistent — GridFM 2026 poster (v3)</dc:title>
  <dc:creator>Changhun Kim</dc:creator>
  <cp:lastModifiedBy>Changhun Kim</cp:lastModifiedBy>
  <cp:revision>23</cp:revision>
  <dcterms:created xsi:type="dcterms:W3CDTF">2022-03-21T15:00:25Z</dcterms:created>
  <dcterms:modified xsi:type="dcterms:W3CDTF">2026-10-22T14:15:03Z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6dbec8-95a8-4638-9f5f-bd076536645c_Enabled">
    <vt:lpwstr>true</vt:lpwstr>
  </property>
  <property fmtid="{D5CDD505-2E9C-101B-9397-08002B2CF9AE}" pid="3" name="MSIP_Label_ff6dbec8-95a8-4638-9f5f-bd076536645c_SetDate">
    <vt:lpwstr>2022-06-22T07:48:58Z</vt:lpwstr>
  </property>
  <property fmtid="{D5CDD505-2E9C-101B-9397-08002B2CF9AE}" pid="4" name="MSIP_Label_ff6dbec8-95a8-4638-9f5f-bd076536645c_Method">
    <vt:lpwstr>Standard</vt:lpwstr>
  </property>
  <property fmtid="{D5CDD505-2E9C-101B-9397-08002B2CF9AE}" pid="5" name="MSIP_Label_ff6dbec8-95a8-4638-9f5f-bd076536645c_Name">
    <vt:lpwstr>Restricted - Default</vt:lpwstr>
  </property>
  <property fmtid="{D5CDD505-2E9C-101B-9397-08002B2CF9AE}" pid="6" name="MSIP_Label_ff6dbec8-95a8-4638-9f5f-bd076536645c_SiteId">
    <vt:lpwstr>5dbf1add-202a-4b8d-815b-bf0fb024e033</vt:lpwstr>
  </property>
  <property fmtid="{D5CDD505-2E9C-101B-9397-08002B2CF9AE}" pid="7" name="MSIP_Label_ff6dbec8-95a8-4638-9f5f-bd076536645c_ActionId">
    <vt:lpwstr>fa889cf3-31d3-4f12-9da2-53b0cd794bef</vt:lpwstr>
  </property>
  <property fmtid="{D5CDD505-2E9C-101B-9397-08002B2CF9AE}" pid="8" name="MSIP_Label_ff6dbec8-95a8-4638-9f5f-bd076536645c_ContentBits">
    <vt:lpwstr>0</vt:lpwstr>
  </property>
</Properties>
</file>