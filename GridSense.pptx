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0275213" cy="42803763"/>
  <p:notesSz cx="6792913" cy="9925050"/>
  <p:defaultTextStyle>
    <a:defPPr>
      <a:defRPr lang="de-DE"/>
    </a:defPPr>
    <a:lvl1pPr marL="0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660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318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0978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4636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8296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1956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5613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29273" algn="l" defTabSz="3507318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7" userDrawn="1">
          <p15:clr>
            <a:srgbClr val="A4A3A4"/>
          </p15:clr>
        </p15:guide>
        <p15:guide id="2" pos="1637" userDrawn="1">
          <p15:clr>
            <a:srgbClr val="A4A3A4"/>
          </p15:clr>
        </p15:guide>
        <p15:guide id="3" pos="16983" userDrawn="1">
          <p15:clr>
            <a:srgbClr val="A4A3A4"/>
          </p15:clr>
        </p15:guide>
        <p15:guide id="4" pos="7801" userDrawn="1">
          <p15:clr>
            <a:srgbClr val="A4A3A4"/>
          </p15:clr>
        </p15:guide>
        <p15:guide id="5" pos="110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6A"/>
    <a:srgbClr val="ED7D31"/>
    <a:srgbClr val="70AD47"/>
    <a:srgbClr val="4472C4"/>
    <a:srgbClr val="FFC000"/>
    <a:srgbClr val="204251"/>
    <a:srgbClr val="8C9FB1"/>
    <a:srgbClr val="18B4F1"/>
    <a:srgbClr val="C50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4" autoAdjust="0"/>
    <p:restoredTop sz="96149" autoAdjust="0"/>
  </p:normalViewPr>
  <p:slideViewPr>
    <p:cSldViewPr snapToObjects="1" showGuides="1">
      <p:cViewPr>
        <p:scale>
          <a:sx n="25" d="100"/>
          <a:sy n="25" d="100"/>
        </p:scale>
        <p:origin x="3736" y="-168"/>
      </p:cViewPr>
      <p:guideLst>
        <p:guide orient="horz" pos="1087"/>
        <p:guide pos="1637"/>
        <p:guide pos="16983"/>
        <p:guide pos="7801"/>
        <p:guide pos="110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23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271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14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38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550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8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79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37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17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64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92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4416-6EE1-5640-82E3-8C0364699CFF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50781-0F7C-434F-AF00-EA97928A26F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35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emf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78FC8F2-6C60-B94E-BD24-2CD3C0C1A9F7}"/>
              </a:ext>
            </a:extLst>
          </p:cNvPr>
          <p:cNvSpPr>
            <a:spLocks/>
          </p:cNvSpPr>
          <p:nvPr/>
        </p:nvSpPr>
        <p:spPr>
          <a:xfrm>
            <a:off x="29532045" y="-93492"/>
            <a:ext cx="717406" cy="42990745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759" dirty="0"/>
              <a:t>  </a:t>
            </a:r>
          </a:p>
        </p:txBody>
      </p:sp>
      <p:pic>
        <p:nvPicPr>
          <p:cNvPr id="52" name="Picture 51" descr="A picture containing text&#10;&#10;Description automatically generated">
            <a:extLst>
              <a:ext uri="{FF2B5EF4-FFF2-40B4-BE49-F238E27FC236}">
                <a16:creationId xmlns:a16="http://schemas.microsoft.com/office/drawing/2014/main" id="{A07FA9AA-307D-48FA-BCC8-302C7DC30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787" y="39800284"/>
            <a:ext cx="5162110" cy="1806738"/>
          </a:xfrm>
          <a:prstGeom prst="rect">
            <a:avLst/>
          </a:prstGeom>
        </p:spPr>
      </p:pic>
      <p:sp>
        <p:nvSpPr>
          <p:cNvPr id="53" name="Textfeld 78">
            <a:extLst>
              <a:ext uri="{FF2B5EF4-FFF2-40B4-BE49-F238E27FC236}">
                <a16:creationId xmlns:a16="http://schemas.microsoft.com/office/drawing/2014/main" id="{F85D9E9C-E0FA-4F29-B4CA-89729CEF371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5057" y="38900590"/>
            <a:ext cx="3276654" cy="791323"/>
          </a:xfrm>
          <a:prstGeom prst="rect">
            <a:avLst/>
          </a:prstGeom>
        </p:spPr>
        <p:txBody>
          <a:bodyPr wrap="square" rtlCol="0" anchor="t" anchorCtr="0">
            <a:normAutofit/>
          </a:bodyPr>
          <a:lstStyle/>
          <a:p>
            <a:pPr algn="ctr" defTabSz="4173538">
              <a:spcBef>
                <a:spcPts val="600"/>
              </a:spcBef>
            </a:pP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Contact</a:t>
            </a:r>
          </a:p>
        </p:txBody>
      </p:sp>
      <p:sp>
        <p:nvSpPr>
          <p:cNvPr id="54" name="Textfeld 79">
            <a:extLst>
              <a:ext uri="{FF2B5EF4-FFF2-40B4-BE49-F238E27FC236}">
                <a16:creationId xmlns:a16="http://schemas.microsoft.com/office/drawing/2014/main" id="{83B2D146-55C1-4B52-BC7A-F7C18F824C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24316" y="39703644"/>
            <a:ext cx="9523384" cy="2179095"/>
          </a:xfrm>
          <a:prstGeom prst="rect">
            <a:avLst/>
          </a:prstGeom>
        </p:spPr>
        <p:txBody>
          <a:bodyPr wrap="square" lIns="0" tIns="0" rIns="0" bIns="0" rtlCol="0" anchor="t" anchorCtr="0">
            <a:normAutofit/>
          </a:bodyPr>
          <a:lstStyle/>
          <a:p>
            <a:pPr defTabSz="4173538">
              <a:spcBef>
                <a:spcPts val="600"/>
              </a:spcBef>
              <a:spcAft>
                <a:spcPts val="1800"/>
              </a:spcAft>
            </a:pPr>
            <a:r>
              <a:rPr lang="en-U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Changhun Kim</a:t>
            </a:r>
            <a:b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Pattern Recognition Lab, Department of Computer Science,</a:t>
            </a:r>
            <a:b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Friedrich-Alexander University Erlangen-Nürnberg, Erlangen, Germany</a:t>
            </a:r>
          </a:p>
          <a:p>
            <a:pPr marL="285750" indent="-285750" defTabSz="4173538">
              <a:spcBef>
                <a:spcPts val="600"/>
              </a:spcBef>
              <a:buFont typeface="Wingdings" panose="05000000000000000000" pitchFamily="2" charset="2"/>
              <a:buChar char="*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Changhun.kim@fau.de</a:t>
            </a: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defTabSz="4173538">
              <a:spcBef>
                <a:spcPts val="600"/>
              </a:spcBef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 +49 9131 85-27872</a:t>
            </a:r>
            <a:endParaRPr lang="en-U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Titel 1">
            <a:extLst>
              <a:ext uri="{FF2B5EF4-FFF2-40B4-BE49-F238E27FC236}">
                <a16:creationId xmlns:a16="http://schemas.microsoft.com/office/drawing/2014/main" id="{5AB8BD1A-8855-423D-881B-D42867CBE948}"/>
              </a:ext>
            </a:extLst>
          </p:cNvPr>
          <p:cNvSpPr txBox="1">
            <a:spLocks/>
          </p:cNvSpPr>
          <p:nvPr/>
        </p:nvSpPr>
        <p:spPr>
          <a:xfrm>
            <a:off x="818675" y="3846265"/>
            <a:ext cx="28464477" cy="52181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ctr" defTabSz="41735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7200" b="1" dirty="0" err="1">
                <a:solidFill>
                  <a:srgbClr val="00386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GridSense</a:t>
            </a:r>
            <a:r>
              <a:rPr lang="en-US" sz="7200" b="1" dirty="0">
                <a:solidFill>
                  <a:srgbClr val="00386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Ask your Power Grid</a:t>
            </a:r>
            <a:br>
              <a:rPr lang="en-US" sz="7200" b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</a:br>
            <a:r>
              <a:rPr lang="en-US" sz="4500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Changhun Kim¹, </a:t>
            </a:r>
            <a:r>
              <a:rPr lang="en-US" sz="4500" dirty="0" err="1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Redwanul</a:t>
            </a:r>
            <a:r>
              <a:rPr lang="en-US" sz="4500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Karim¹, Julian Oelhaf¹, Nora Gourmelon¹, Tomás Arias Vergara¹, Timon Conrad², David Riebesel², Lukas Mayerhofer³, Fabian Mengele³, Michael Jaworski³, Johann Jäger², Andreas Maier¹, and Siming Bayer¹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800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¹ 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Pattern Recognition Lab, Department of Computer Science, 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Friedrich-Alexander University Erlangen-Nürnberg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, Erlangen, Germany 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800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² 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Institute of Electrical Energy Systems, Department of Electrical Engineering,  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Friedrich-Alexander University Erlangen-Nürnberg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, Erlangen, Germany 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800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³ LEW 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Distribution Grid GmbH, </a:t>
            </a:r>
            <a:r>
              <a:rPr lang="en-US" sz="2800" i="1" dirty="0" err="1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Lechwerke</a:t>
            </a:r>
            <a:r>
              <a:rPr lang="en-US" sz="2800" i="1" dirty="0">
                <a:solidFill>
                  <a:srgbClr val="003865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AG, Augsburg, Germany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endParaRPr lang="en-US" sz="2800" i="1" dirty="0">
              <a:solidFill>
                <a:srgbClr val="003865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endParaRPr lang="en-US" sz="2800" i="1" dirty="0">
              <a:solidFill>
                <a:srgbClr val="003865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endParaRPr lang="en-US" sz="2800" i="1" dirty="0">
              <a:solidFill>
                <a:srgbClr val="003865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defRPr/>
            </a:pPr>
            <a:endParaRPr lang="en-US" sz="2500" b="1" spc="-150" dirty="0">
              <a:solidFill>
                <a:srgbClr val="003865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40" name="AutoShape 406">
            <a:extLst>
              <a:ext uri="{FF2B5EF4-FFF2-40B4-BE49-F238E27FC236}">
                <a16:creationId xmlns:a16="http://schemas.microsoft.com/office/drawing/2014/main" id="{CEA8E988-1ADE-81F1-398F-CF87C922F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52" y="15717203"/>
            <a:ext cx="28297874" cy="714566"/>
          </a:xfrm>
          <a:prstGeom prst="roundRect">
            <a:avLst>
              <a:gd name="adj" fmla="val 0"/>
            </a:avLst>
          </a:prstGeom>
          <a:solidFill>
            <a:srgbClr val="8C9FB1"/>
          </a:solidFill>
          <a:ln w="9525">
            <a:noFill/>
            <a:round/>
            <a:headEnd/>
            <a:tailEnd/>
          </a:ln>
        </p:spPr>
        <p:txBody>
          <a:bodyPr wrap="none" lIns="180000" tIns="180000" rIns="91386" bIns="1800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73538"/>
            <a:r>
              <a:rPr lang="en-US" sz="45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GridAssist</a:t>
            </a:r>
            <a:r>
              <a:rPr lang="en-US" sz="45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AI + Knowledge Graphs for Safter, Faster Power Grid Operations</a:t>
            </a:r>
          </a:p>
        </p:txBody>
      </p:sp>
      <p:sp>
        <p:nvSpPr>
          <p:cNvPr id="35" name="AutoShape 406">
            <a:extLst>
              <a:ext uri="{FF2B5EF4-FFF2-40B4-BE49-F238E27FC236}">
                <a16:creationId xmlns:a16="http://schemas.microsoft.com/office/drawing/2014/main" id="{2042C44B-1C4B-05F5-A401-8F02FA18D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65" y="27018505"/>
            <a:ext cx="28299144" cy="720000"/>
          </a:xfrm>
          <a:prstGeom prst="roundRect">
            <a:avLst>
              <a:gd name="adj" fmla="val 0"/>
            </a:avLst>
          </a:prstGeom>
          <a:solidFill>
            <a:srgbClr val="8C9FB1"/>
          </a:solidFill>
          <a:ln w="9525">
            <a:noFill/>
            <a:round/>
            <a:headEnd/>
            <a:tailEnd/>
          </a:ln>
        </p:spPr>
        <p:txBody>
          <a:bodyPr wrap="none" lIns="180000" tIns="180000" rIns="91386" bIns="1800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73538"/>
            <a:r>
              <a:rPr lang="en-US" sz="45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GridSense</a:t>
            </a:r>
            <a:r>
              <a:rPr lang="en-US" sz="45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Live Demo Scenarios</a:t>
            </a:r>
          </a:p>
        </p:txBody>
      </p:sp>
      <p:pic>
        <p:nvPicPr>
          <p:cNvPr id="12" name="Grafik 4">
            <a:extLst>
              <a:ext uri="{FF2B5EF4-FFF2-40B4-BE49-F238E27FC236}">
                <a16:creationId xmlns:a16="http://schemas.microsoft.com/office/drawing/2014/main" id="{61186A15-3790-07BF-E095-DFF2EE0E1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962" y="1276654"/>
            <a:ext cx="9955728" cy="1497454"/>
          </a:xfrm>
          <a:prstGeom prst="rect">
            <a:avLst/>
          </a:prstGeom>
        </p:spPr>
      </p:pic>
      <p:sp>
        <p:nvSpPr>
          <p:cNvPr id="14" name="AutoShape 406">
            <a:extLst>
              <a:ext uri="{FF2B5EF4-FFF2-40B4-BE49-F238E27FC236}">
                <a16:creationId xmlns:a16="http://schemas.microsoft.com/office/drawing/2014/main" id="{10258A35-24DA-40B1-C3CC-DF0B60587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52" y="9052059"/>
            <a:ext cx="28297874" cy="714566"/>
          </a:xfrm>
          <a:prstGeom prst="roundRect">
            <a:avLst>
              <a:gd name="adj" fmla="val 0"/>
            </a:avLst>
          </a:prstGeom>
          <a:solidFill>
            <a:srgbClr val="8C9FB1"/>
          </a:solidFill>
          <a:ln w="9525">
            <a:noFill/>
            <a:round/>
            <a:headEnd/>
            <a:tailEnd/>
          </a:ln>
        </p:spPr>
        <p:txBody>
          <a:bodyPr wrap="none" lIns="180000" tIns="180000" rIns="91386" bIns="1800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73538"/>
            <a:r>
              <a:rPr lang="en-US" sz="45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Germany's Energy Transition: Transforming Power Generation, Transmission, and Distribution.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D688BE1-94C5-DE24-E969-BC7D0B382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253" y="10996211"/>
            <a:ext cx="5562424" cy="171463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583119C-4637-6D74-9D81-3EACAAE22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1322" y="13242179"/>
            <a:ext cx="4202286" cy="188378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A7ED178-CA0C-DF85-4C5F-04913D3652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2147" y="11028115"/>
            <a:ext cx="5319315" cy="165082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E7463EA-D694-6C08-2D04-980B2EE4F8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18113" y="13334308"/>
            <a:ext cx="5127383" cy="16995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33CB64A-D36D-1D4F-A4F5-13DEFDE30B58}"/>
              </a:ext>
            </a:extLst>
          </p:cNvPr>
          <p:cNvSpPr/>
          <p:nvPr/>
        </p:nvSpPr>
        <p:spPr>
          <a:xfrm>
            <a:off x="6461000" y="11636177"/>
            <a:ext cx="1849722" cy="434698"/>
          </a:xfrm>
          <a:prstGeom prst="rect">
            <a:avLst/>
          </a:prstGeom>
          <a:solidFill>
            <a:srgbClr val="20425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Production</a:t>
            </a:r>
            <a:endParaRPr kumimoji="0" lang="en-D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B9C37-F010-F16E-E3B2-83948EE7FEA2}"/>
              </a:ext>
            </a:extLst>
          </p:cNvPr>
          <p:cNvSpPr/>
          <p:nvPr/>
        </p:nvSpPr>
        <p:spPr>
          <a:xfrm>
            <a:off x="6587929" y="14016192"/>
            <a:ext cx="1595865" cy="335756"/>
          </a:xfrm>
          <a:prstGeom prst="rect">
            <a:avLst/>
          </a:prstGeom>
          <a:solidFill>
            <a:srgbClr val="20425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</a:t>
            </a:r>
            <a:endParaRPr kumimoji="0" lang="en-D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EEB26D-6C57-4640-AF30-55EFCF036C74}"/>
              </a:ext>
            </a:extLst>
          </p:cNvPr>
          <p:cNvSpPr txBox="1"/>
          <p:nvPr/>
        </p:nvSpPr>
        <p:spPr>
          <a:xfrm>
            <a:off x="2603351" y="9925564"/>
            <a:ext cx="1398228" cy="499689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THEN</a:t>
            </a:r>
            <a:endParaRPr kumimoji="0" lang="en-DE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879A4A-844A-08C4-3350-27EC2AFD7116}"/>
              </a:ext>
            </a:extLst>
          </p:cNvPr>
          <p:cNvSpPr txBox="1"/>
          <p:nvPr/>
        </p:nvSpPr>
        <p:spPr>
          <a:xfrm>
            <a:off x="10538410" y="9953140"/>
            <a:ext cx="1286788" cy="499689"/>
          </a:xfrm>
          <a:prstGeom prst="rect">
            <a:avLst/>
          </a:pr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NOW</a:t>
            </a:r>
            <a:endParaRPr kumimoji="0" lang="en-DE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2013DC-8C30-E234-A069-D12072FE1C1E}"/>
              </a:ext>
            </a:extLst>
          </p:cNvPr>
          <p:cNvSpPr/>
          <p:nvPr/>
        </p:nvSpPr>
        <p:spPr>
          <a:xfrm>
            <a:off x="20715261" y="13853215"/>
            <a:ext cx="2817574" cy="479009"/>
          </a:xfrm>
          <a:prstGeom prst="rect">
            <a:avLst/>
          </a:prstGeom>
          <a:solidFill>
            <a:srgbClr val="20425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Power Flow Direction </a:t>
            </a:r>
            <a:endParaRPr kumimoji="0" lang="en-D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B14AB219-4F6D-7F4A-51F7-C2B3DD7F0A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285458" y="13413021"/>
            <a:ext cx="4048640" cy="135939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57AD873-3E46-CEF6-5BEB-5FE626570466}"/>
              </a:ext>
            </a:extLst>
          </p:cNvPr>
          <p:cNvGrpSpPr/>
          <p:nvPr/>
        </p:nvGrpSpPr>
        <p:grpSpPr>
          <a:xfrm>
            <a:off x="23906661" y="13616832"/>
            <a:ext cx="4559318" cy="951775"/>
            <a:chOff x="7362702" y="1661114"/>
            <a:chExt cx="4293594" cy="1260000"/>
          </a:xfrm>
        </p:grpSpPr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43B2137E-A5A4-8E4D-1D90-C6967AB27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362702" y="1661114"/>
              <a:ext cx="3738914" cy="1260000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847DDE10-85A6-7EAC-74BC-CE5C43242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V="1">
              <a:off x="7917382" y="1661114"/>
              <a:ext cx="3738914" cy="1260000"/>
            </a:xfrm>
            <a:prstGeom prst="rect">
              <a:avLst/>
            </a:prstGeom>
          </p:spPr>
        </p:pic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C2CEE682-27CC-E628-FC38-A0D5E7F0114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670044" y="11125148"/>
            <a:ext cx="3279469" cy="1548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1D98FC6-CEB8-45FA-F72B-8B88EA7A39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686743" y="11075423"/>
            <a:ext cx="4999155" cy="164745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2D8358B-D9BF-0F41-4367-A2C099039234}"/>
              </a:ext>
            </a:extLst>
          </p:cNvPr>
          <p:cNvSpPr/>
          <p:nvPr/>
        </p:nvSpPr>
        <p:spPr>
          <a:xfrm>
            <a:off x="20964970" y="11731270"/>
            <a:ext cx="2298700" cy="335756"/>
          </a:xfrm>
          <a:prstGeom prst="rect">
            <a:avLst/>
          </a:prstGeom>
          <a:solidFill>
            <a:srgbClr val="20425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16D72F-18CE-96FE-F7A0-8FF55BD82D05}"/>
              </a:ext>
            </a:extLst>
          </p:cNvPr>
          <p:cNvSpPr txBox="1"/>
          <p:nvPr/>
        </p:nvSpPr>
        <p:spPr>
          <a:xfrm>
            <a:off x="17503312" y="9953140"/>
            <a:ext cx="1612933" cy="499689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THEN</a:t>
            </a:r>
            <a:endParaRPr kumimoji="0" lang="en-DE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9550E1-7C4B-0618-EA6C-56626248B8B0}"/>
              </a:ext>
            </a:extLst>
          </p:cNvPr>
          <p:cNvSpPr txBox="1"/>
          <p:nvPr/>
        </p:nvSpPr>
        <p:spPr>
          <a:xfrm>
            <a:off x="25542926" y="9952400"/>
            <a:ext cx="1286788" cy="499689"/>
          </a:xfrm>
          <a:prstGeom prst="rect">
            <a:avLst/>
          </a:pr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NOW</a:t>
            </a:r>
            <a:endParaRPr kumimoji="0" lang="en-DE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C60BEF-C023-B560-AF14-F9B7CBDFBC8E}"/>
              </a:ext>
            </a:extLst>
          </p:cNvPr>
          <p:cNvCxnSpPr>
            <a:cxnSpLocks/>
          </p:cNvCxnSpPr>
          <p:nvPr/>
        </p:nvCxnSpPr>
        <p:spPr>
          <a:xfrm>
            <a:off x="15137606" y="10091778"/>
            <a:ext cx="0" cy="4963064"/>
          </a:xfrm>
          <a:prstGeom prst="line">
            <a:avLst/>
          </a:prstGeom>
          <a:ln w="76200">
            <a:solidFill>
              <a:srgbClr val="8C9F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5" name="Picture 434">
            <a:extLst>
              <a:ext uri="{FF2B5EF4-FFF2-40B4-BE49-F238E27FC236}">
                <a16:creationId xmlns:a16="http://schemas.microsoft.com/office/drawing/2014/main" id="{2C4D45EF-33CC-3EE6-8BFA-F335400A053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533629" y="39733941"/>
            <a:ext cx="3730041" cy="180673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88EA298-24D6-FB6F-F4A5-30AEA831CBD9}"/>
              </a:ext>
            </a:extLst>
          </p:cNvPr>
          <p:cNvPicPr/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0022" y="16756915"/>
            <a:ext cx="27211314" cy="9973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BFC0E7-373E-3025-70BF-977FC5BBD2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376" y="28049320"/>
            <a:ext cx="12734512" cy="10646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5D2275-40FA-34DD-352B-238D9E4CD35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440927" y="27754006"/>
            <a:ext cx="15357638" cy="8569032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80D928-3522-7CEF-95AD-A33E8EFE6A37}"/>
              </a:ext>
            </a:extLst>
          </p:cNvPr>
          <p:cNvSpPr>
            <a:spLocks noGrp="1"/>
          </p:cNvSpPr>
          <p:nvPr/>
        </p:nvSpPr>
        <p:spPr>
          <a:xfrm>
            <a:off x="13480626" y="36370639"/>
            <a:ext cx="15205271" cy="2895590"/>
          </a:xfrm>
          <a:prstGeom prst="roundRect">
            <a:avLst>
              <a:gd name="adj" fmla="val 889"/>
            </a:avLst>
          </a:prstGeom>
          <a:solidFill>
            <a:srgbClr val="EAF2FF"/>
          </a:solidFill>
          <a:ln w="1905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AD6FEE-90A2-FE2E-224E-0F0E1C5E469C}"/>
              </a:ext>
            </a:extLst>
          </p:cNvPr>
          <p:cNvSpPr txBox="1"/>
          <p:nvPr/>
        </p:nvSpPr>
        <p:spPr>
          <a:xfrm>
            <a:off x="13832547" y="36622534"/>
            <a:ext cx="151322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316A"/>
                </a:solidFill>
                <a:latin typeface="Helvetica" pitchFamily="2" charset="0"/>
              </a:rPr>
              <a:t>Power Grid Graph Database based on Neo4j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rgbClr val="00316A"/>
                </a:solidFill>
                <a:latin typeface="Helvetica" pitchFamily="2" charset="0"/>
              </a:rPr>
              <a:t>Static Common Information Model Knowledge Graph (Hierarchy + Topology + Equipment)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rgbClr val="00316A"/>
                </a:solidFill>
                <a:latin typeface="Helvetica" pitchFamily="2" charset="0"/>
              </a:rPr>
              <a:t>Dynamic Snapshot Overlay (Snapshot nodes + state relationships)</a:t>
            </a:r>
          </a:p>
        </p:txBody>
      </p:sp>
      <p:pic>
        <p:nvPicPr>
          <p:cNvPr id="22" name="Grafik 10">
            <a:extLst>
              <a:ext uri="{FF2B5EF4-FFF2-40B4-BE49-F238E27FC236}">
                <a16:creationId xmlns:a16="http://schemas.microsoft.com/office/drawing/2014/main" id="{0E86977E-2EB2-D581-C90D-DE75171EB0F1}"/>
              </a:ext>
            </a:extLst>
          </p:cNvPr>
          <p:cNvPicPr/>
          <p:nvPr/>
        </p:nvPicPr>
        <p:blipFill>
          <a:blip r:embed="rId25"/>
          <a:stretch>
            <a:fillRect/>
          </a:stretch>
        </p:blipFill>
        <p:spPr>
          <a:xfrm>
            <a:off x="2154392" y="771650"/>
            <a:ext cx="6212331" cy="24737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1354794-B50E-7397-B67A-193265DC9AC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27114" y="39565725"/>
            <a:ext cx="6583245" cy="2494273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F9A2F33-F269-58D2-FEDB-041FA97B181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814277" y="39565725"/>
            <a:ext cx="2487104" cy="248710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30D16A3-1207-C9E7-7175-9846DBA1E2E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73174" y="39581009"/>
            <a:ext cx="2487168" cy="24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8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201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Wingdings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</dc:title>
  <dc:creator>Julian Oelhaf</dc:creator>
  <cp:lastModifiedBy>Changhun Kim</cp:lastModifiedBy>
  <cp:revision>30</cp:revision>
  <dcterms:created xsi:type="dcterms:W3CDTF">2022-03-21T15:00:25Z</dcterms:created>
  <dcterms:modified xsi:type="dcterms:W3CDTF">2026-04-27T12:48:51Z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6dbec8-95a8-4638-9f5f-bd076536645c_Enabled">
    <vt:lpwstr>true</vt:lpwstr>
  </property>
  <property fmtid="{D5CDD505-2E9C-101B-9397-08002B2CF9AE}" pid="3" name="MSIP_Label_ff6dbec8-95a8-4638-9f5f-bd076536645c_SetDate">
    <vt:lpwstr>2022-06-22T07:48:58Z</vt:lpwstr>
  </property>
  <property fmtid="{D5CDD505-2E9C-101B-9397-08002B2CF9AE}" pid="4" name="MSIP_Label_ff6dbec8-95a8-4638-9f5f-bd076536645c_Method">
    <vt:lpwstr>Standard</vt:lpwstr>
  </property>
  <property fmtid="{D5CDD505-2E9C-101B-9397-08002B2CF9AE}" pid="5" name="MSIP_Label_ff6dbec8-95a8-4638-9f5f-bd076536645c_Name">
    <vt:lpwstr>Restricted - Default</vt:lpwstr>
  </property>
  <property fmtid="{D5CDD505-2E9C-101B-9397-08002B2CF9AE}" pid="6" name="MSIP_Label_ff6dbec8-95a8-4638-9f5f-bd076536645c_SiteId">
    <vt:lpwstr>5dbf1add-202a-4b8d-815b-bf0fb024e033</vt:lpwstr>
  </property>
  <property fmtid="{D5CDD505-2E9C-101B-9397-08002B2CF9AE}" pid="7" name="MSIP_Label_ff6dbec8-95a8-4638-9f5f-bd076536645c_ActionId">
    <vt:lpwstr>fa889cf3-31d3-4f12-9da2-53b0cd794bef</vt:lpwstr>
  </property>
  <property fmtid="{D5CDD505-2E9C-101B-9397-08002B2CF9AE}" pid="8" name="MSIP_Label_ff6dbec8-95a8-4638-9f5f-bd076536645c_ContentBits">
    <vt:lpwstr>0</vt:lpwstr>
  </property>
</Properties>
</file>