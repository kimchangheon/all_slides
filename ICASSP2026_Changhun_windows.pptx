
<file path=[Content_Types].xml><?xml version="1.0" encoding="utf-8"?>
<Types xmlns="http://schemas.openxmlformats.org/package/2006/content-types">
  <Default Extension="fntdata" ContentType="application/x-fontdata"/>
  <Default Extension="jpeg" ContentType="image/jpeg"/>
  <Default Extension="jp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56" r:id="rId4"/>
  </p:sldMasterIdLst>
  <p:notesMasterIdLst>
    <p:notesMasterId r:id="rId24"/>
  </p:notesMasterIdLst>
  <p:handoutMasterIdLst>
    <p:handoutMasterId r:id="rId25"/>
  </p:handoutMasterIdLst>
  <p:sldIdLst>
    <p:sldId id="4798" r:id="rId5"/>
    <p:sldId id="4799" r:id="rId6"/>
    <p:sldId id="4802" r:id="rId7"/>
    <p:sldId id="4805" r:id="rId8"/>
    <p:sldId id="4800" r:id="rId9"/>
    <p:sldId id="4803" r:id="rId10"/>
    <p:sldId id="4810" r:id="rId11"/>
    <p:sldId id="4811" r:id="rId12"/>
    <p:sldId id="4831" r:id="rId13"/>
    <p:sldId id="4836" r:id="rId14"/>
    <p:sldId id="4835" r:id="rId15"/>
    <p:sldId id="4833" r:id="rId16"/>
    <p:sldId id="4834" r:id="rId17"/>
    <p:sldId id="4823" r:id="rId18"/>
    <p:sldId id="4812" r:id="rId19"/>
    <p:sldId id="4828" r:id="rId20"/>
    <p:sldId id="4816" r:id="rId21"/>
    <p:sldId id="4817" r:id="rId22"/>
    <p:sldId id="4820" r:id="rId23"/>
  </p:sldIdLst>
  <p:sldSz cx="12192000" cy="6858000"/>
  <p:notesSz cx="6858000" cy="9144000"/>
  <p:embeddedFontLst>
    <p:embeddedFont>
      <p:font typeface="Google Sans" panose="020B0604020202020204" charset="0"/>
      <p:regular r:id="rId26"/>
      <p:bold r:id="rId27"/>
      <p:italic r:id="rId28"/>
      <p:boldItalic r:id="rId29"/>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E9E2"/>
    <a:srgbClr val="C026D3"/>
    <a:srgbClr val="FF8311"/>
    <a:srgbClr val="D9D9D9"/>
    <a:srgbClr val="04316A"/>
    <a:srgbClr val="7F682C"/>
    <a:srgbClr val="DCECEF"/>
    <a:srgbClr val="F4E6CF"/>
    <a:srgbClr val="D9EBE8"/>
    <a:srgbClr val="EEF0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1" autoAdjust="0"/>
    <p:restoredTop sz="67750" autoAdjust="0"/>
  </p:normalViewPr>
  <p:slideViewPr>
    <p:cSldViewPr snapToGrid="0" showGuides="1">
      <p:cViewPr varScale="1">
        <p:scale>
          <a:sx n="48" d="100"/>
          <a:sy n="48" d="100"/>
        </p:scale>
        <p:origin x="3066" y="78"/>
      </p:cViewPr>
      <p:guideLst/>
    </p:cSldViewPr>
  </p:slideViewPr>
  <p:outlineViewPr>
    <p:cViewPr>
      <p:scale>
        <a:sx n="33" d="100"/>
        <a:sy n="33" d="100"/>
      </p:scale>
      <p:origin x="0" y="-27840"/>
    </p:cViewPr>
  </p:outlineViewPr>
  <p:notesTextViewPr>
    <p:cViewPr>
      <p:scale>
        <a:sx n="125" d="100"/>
        <a:sy n="125" d="100"/>
      </p:scale>
      <p:origin x="0" y="0"/>
    </p:cViewPr>
  </p:notesTextViewPr>
  <p:sorterViewPr>
    <p:cViewPr>
      <p:scale>
        <a:sx n="33" d="100"/>
        <a:sy n="33" d="100"/>
      </p:scale>
      <p:origin x="0" y="0"/>
    </p:cViewPr>
  </p:sorterViewPr>
  <p:notesViewPr>
    <p:cSldViewPr snapToGrid="0"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2C9555C-46DE-4406-8ABE-45349F5208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4F3B590-57A4-4D61-9607-3C2EA36AB1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t>30.04.2026</a:t>
            </a:fld>
            <a:endParaRPr lang="de-DE"/>
          </a:p>
        </p:txBody>
      </p:sp>
      <p:sp>
        <p:nvSpPr>
          <p:cNvPr id="4" name="Fußzeilenplatzhalter 3">
            <a:extLst>
              <a:ext uri="{FF2B5EF4-FFF2-40B4-BE49-F238E27FC236}">
                <a16:creationId xmlns:a16="http://schemas.microsoft.com/office/drawing/2014/main" id="{4C6DC5A1-1CCC-484A-AB24-DCA2F05D5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4041CFA-48F6-4759-86C7-790FC637E9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t>‹#›</a:t>
            </a:fld>
            <a:endParaRPr lang="de-DE"/>
          </a:p>
        </p:txBody>
      </p:sp>
    </p:spTree>
    <p:extLst>
      <p:ext uri="{BB962C8B-B14F-4D97-AF65-F5344CB8AC3E}">
        <p14:creationId xmlns:p14="http://schemas.microsoft.com/office/powerpoint/2010/main" val="144183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t>30.04.2026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t>‹#›</a:t>
            </a:fld>
            <a:endParaRPr lang="de-DE"/>
          </a:p>
        </p:txBody>
      </p:sp>
    </p:spTree>
    <p:extLst>
      <p:ext uri="{BB962C8B-B14F-4D97-AF65-F5344CB8AC3E}">
        <p14:creationId xmlns:p14="http://schemas.microsoft.com/office/powerpoint/2010/main" val="115331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291F6-F325-6173-A1D7-65CE154F8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CCF42-5DA1-3C84-E740-456F2B0C9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12AB4-4A32-9B1C-2D6A-56A20248EE0B}"/>
              </a:ext>
            </a:extLst>
          </p:cNvPr>
          <p:cNvSpPr>
            <a:spLocks noGrp="1"/>
          </p:cNvSpPr>
          <p:nvPr>
            <p:ph type="body" idx="1"/>
          </p:nvPr>
        </p:nvSpPr>
        <p:spPr/>
        <p:txBody>
          <a:bodyPr/>
          <a:lstStyle/>
          <a:p>
            <a:r>
              <a:rPr lang="en-US" dirty="0"/>
              <a:t>Good morning, I’m presenting our work on physics-informed graph neural networks for medium-high voltage AC power flow with Edge-Award Attention and Line Search Correction Operator. This topic is basically about addressing limits of vanilla graph neural networks by adding task-specific structure for a certain domain which is here the electrical power system.</a:t>
            </a:r>
          </a:p>
          <a:p>
            <a:r>
              <a:rPr lang="en-US" dirty="0"/>
              <a:t>So let’s dive together into this topic.</a:t>
            </a:r>
          </a:p>
          <a:p>
            <a:endParaRPr lang="en-US" dirty="0"/>
          </a:p>
          <a:p>
            <a:r>
              <a:rPr lang="en-US" dirty="0"/>
              <a:t> a structure-aware and inference-correctable GNN surrogate to solve underdetermined non-linear equations in the power system.</a:t>
            </a:r>
          </a:p>
        </p:txBody>
      </p:sp>
      <p:sp>
        <p:nvSpPr>
          <p:cNvPr id="4" name="Slide Number Placeholder 3">
            <a:extLst>
              <a:ext uri="{FF2B5EF4-FFF2-40B4-BE49-F238E27FC236}">
                <a16:creationId xmlns:a16="http://schemas.microsoft.com/office/drawing/2014/main" id="{264D82A2-668A-FE5F-3DE0-FB455A57B685}"/>
              </a:ext>
            </a:extLst>
          </p:cNvPr>
          <p:cNvSpPr>
            <a:spLocks noGrp="1"/>
          </p:cNvSpPr>
          <p:nvPr>
            <p:ph type="sldNum" sz="quarter" idx="5"/>
          </p:nvPr>
        </p:nvSpPr>
        <p:spPr/>
        <p:txBody>
          <a:bodyPr/>
          <a:lstStyle/>
          <a:p>
            <a:fld id="{E1F93703-73BA-47D5-8B02-C172375928DA}" type="slidenum">
              <a:rPr lang="de-DE" smtClean="0"/>
              <a:t>1</a:t>
            </a:fld>
            <a:endParaRPr lang="de-DE"/>
          </a:p>
        </p:txBody>
      </p:sp>
    </p:spTree>
    <p:extLst>
      <p:ext uri="{BB962C8B-B14F-4D97-AF65-F5344CB8AC3E}">
        <p14:creationId xmlns:p14="http://schemas.microsoft.com/office/powerpoint/2010/main" val="85221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Time: 1 min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pPr>
              <a:buNone/>
            </a:pPr>
            <a:r>
              <a:rPr lang="en-US" dirty="0"/>
              <a:t>First, let me introduce the problem behind this work: AC power flow.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recent German power grid, the increasing penetration of renewable energy and various types of loads are causing grid congestion, often due to voltage overloads at certain nodes.”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managing this congestion requires solving thousands of AC power flow scenarios in few seconds.</a:t>
            </a:r>
          </a:p>
          <a:p>
            <a:pPr>
              <a:buNone/>
            </a:pPr>
            <a:r>
              <a:rPr lang="en-US" dirty="0"/>
              <a:t>So in practice, the speed of the solver is very important.</a:t>
            </a:r>
          </a:p>
          <a:p>
            <a:r>
              <a:rPr lang="en-US" dirty="0"/>
              <a:t>But Speed is useful only if the predictions stay physical.</a:t>
            </a:r>
          </a:p>
          <a:p>
            <a:endParaRPr lang="en-US" dirty="0"/>
          </a:p>
          <a:p>
            <a:r>
              <a:rPr lang="en-US" dirty="0"/>
              <a:t>But speed alone is not enough. The predictions also need to remain physically meaningful.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B647A"/>
                </a:solidFill>
                <a:latin typeface="Avenir Next"/>
              </a:rPr>
              <a:t>---</a:t>
            </a:r>
          </a:p>
          <a:p>
            <a:r>
              <a:rPr lang="en-US" dirty="0"/>
              <a:t>First, let me introduce the problem behind this work: AC power flow simulation.</a:t>
            </a:r>
            <a:br>
              <a:rPr lang="en-US" dirty="0"/>
            </a:br>
            <a:r>
              <a:rPr lang="en-US" dirty="0"/>
              <a:t>Grid operators need to solve many AC power flow cases, especially for congestion management in medium- and high-voltage grids.</a:t>
            </a:r>
          </a:p>
          <a:p>
            <a:r>
              <a:rPr lang="en-US" dirty="0"/>
              <a:t>Which detects and relieve overloaded nodes before security limits are violated</a:t>
            </a:r>
          </a:p>
          <a:p>
            <a:br>
              <a:rPr lang="en-US" dirty="0"/>
            </a:br>
            <a:r>
              <a:rPr lang="en-US" dirty="0"/>
              <a:t>Here, congestion management means detecting and relieving overloaded lines before security limits are violated, and faster physically reliable AC power-flow screening helps operators evaluate more corrective actions, reduce curtailment and redispatch effort, and therefore lower operating costs.</a:t>
            </a:r>
            <a:br>
              <a:rPr lang="en-US" dirty="0"/>
            </a:br>
            <a:r>
              <a:rPr lang="en-US" dirty="0"/>
              <a:t>So in practice, for the fast screening the speed of the solver is very important.</a:t>
            </a:r>
            <a:br>
              <a:rPr lang="en-US" dirty="0"/>
            </a:br>
            <a:r>
              <a:rPr lang="en-US" dirty="0"/>
              <a:t>But speed is useful only if the predictions stay physical.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B647A"/>
                </a:solidFill>
                <a:latin typeface="Avenir Next"/>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B647A"/>
                </a:solidFill>
                <a:latin typeface="Avenir Next"/>
              </a:rPr>
              <a:t>First of all, we need</a:t>
            </a:r>
            <a:r>
              <a:rPr lang="ko-KR" altLang="en-US" sz="1200" b="0" i="0" dirty="0">
                <a:solidFill>
                  <a:srgbClr val="4B647A"/>
                </a:solidFill>
                <a:latin typeface="Avenir Next"/>
              </a:rPr>
              <a:t> </a:t>
            </a:r>
            <a:r>
              <a:rPr lang="en-US" altLang="ko-KR" sz="1200" b="0" i="0" dirty="0">
                <a:solidFill>
                  <a:srgbClr val="4B647A"/>
                </a:solidFill>
                <a:latin typeface="Avenir Next"/>
              </a:rPr>
              <a:t>to</a:t>
            </a:r>
            <a:r>
              <a:rPr lang="en-US" sz="1200" b="0" i="0" dirty="0">
                <a:solidFill>
                  <a:srgbClr val="4B647A"/>
                </a:solidFill>
                <a:latin typeface="Avenir Next"/>
              </a:rPr>
              <a:t> understand the problem that GNN aims to solve.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B647A"/>
                </a:solidFill>
                <a:latin typeface="Avenir Next"/>
              </a:rPr>
              <a:t>The answer is AC power-flow simulation.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B647A"/>
                </a:solidFill>
                <a:latin typeface="Avenir Next"/>
              </a:rPr>
              <a:t>This is a task that solves a </a:t>
            </a:r>
            <a:r>
              <a:rPr lang="en-US" dirty="0"/>
              <a:t>non-linear equation which is “underdetermined” in a power grid.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Grid Operators need to solve thousands of ac power flow scenarios across high voltage and medium voltage grids for congestion management. So the throughput of an algorithm to solve is really important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traditional iterative solver such as newton Raphson are slow and not naturally </a:t>
            </a:r>
            <a:r>
              <a:rPr lang="en-US" dirty="0" err="1"/>
              <a:t>gpu</a:t>
            </a:r>
            <a:r>
              <a:rPr lang="en-US" dirty="0"/>
              <a:t> friendly.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4B647A"/>
                </a:solidFill>
                <a:latin typeface="Avenir Next"/>
              </a:rPr>
              <a:t> So neural network based leaned surrogate are attractive because it can be ran fast in </a:t>
            </a:r>
            <a:r>
              <a:rPr lang="en-US" sz="1200" b="0" i="0" dirty="0" err="1">
                <a:solidFill>
                  <a:srgbClr val="4B647A"/>
                </a:solidFill>
                <a:latin typeface="Avenir Next"/>
              </a:rPr>
              <a:t>gpu</a:t>
            </a:r>
            <a:endParaRPr lang="en-US" sz="1200" b="0" i="0" dirty="0">
              <a:solidFill>
                <a:srgbClr val="4B647A"/>
              </a:solidFill>
              <a:latin typeface="Avenir Next"/>
            </a:endParaRPr>
          </a:p>
          <a:p>
            <a:r>
              <a:rPr lang="de-DE" dirty="0"/>
              <a:t>But </a:t>
            </a:r>
            <a:r>
              <a:rPr lang="de-DE" dirty="0" err="1"/>
              <a:t>speed</a:t>
            </a:r>
            <a:r>
              <a:rPr lang="de-DE" dirty="0"/>
              <a:t> </a:t>
            </a:r>
            <a:r>
              <a:rPr lang="de-DE" dirty="0" err="1"/>
              <a:t>alone</a:t>
            </a:r>
            <a:r>
              <a:rPr lang="de-DE" dirty="0"/>
              <a:t> </a:t>
            </a:r>
            <a:r>
              <a:rPr lang="de-DE" dirty="0" err="1"/>
              <a:t>is</a:t>
            </a:r>
            <a:r>
              <a:rPr lang="de-DE" dirty="0"/>
              <a:t> not </a:t>
            </a:r>
            <a:r>
              <a:rPr lang="de-DE" dirty="0" err="1"/>
              <a:t>enough</a:t>
            </a:r>
            <a:r>
              <a:rPr lang="de-DE" dirty="0"/>
              <a:t>: </a:t>
            </a:r>
            <a:r>
              <a:rPr lang="de-DE" dirty="0" err="1"/>
              <a:t>predictions</a:t>
            </a:r>
            <a:r>
              <a:rPr lang="de-DE" dirty="0"/>
              <a:t> </a:t>
            </a:r>
            <a:r>
              <a:rPr lang="de-DE" dirty="0" err="1"/>
              <a:t>must</a:t>
            </a:r>
            <a:r>
              <a:rPr lang="de-DE" dirty="0"/>
              <a:t> </a:t>
            </a:r>
            <a:r>
              <a:rPr lang="de-DE" dirty="0" err="1"/>
              <a:t>remain</a:t>
            </a:r>
            <a:r>
              <a:rPr lang="de-DE" dirty="0"/>
              <a:t> </a:t>
            </a:r>
            <a:r>
              <a:rPr lang="de-DE" dirty="0" err="1"/>
              <a:t>physically</a:t>
            </a:r>
            <a:r>
              <a:rPr lang="de-DE" dirty="0"/>
              <a:t> </a:t>
            </a:r>
            <a:r>
              <a:rPr lang="de-DE" dirty="0" err="1"/>
              <a:t>meaningful</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4B647A"/>
              </a:solidFill>
              <a:latin typeface="Avenir Next"/>
            </a:endParaRPr>
          </a:p>
          <a:p>
            <a:endParaRPr lang="en-US" dirty="0"/>
          </a:p>
        </p:txBody>
      </p:sp>
      <p:sp>
        <p:nvSpPr>
          <p:cNvPr id="4" name="Slide Number Placeholder 3"/>
          <p:cNvSpPr>
            <a:spLocks noGrp="1"/>
          </p:cNvSpPr>
          <p:nvPr>
            <p:ph type="sldNum" sz="quarter" idx="5"/>
          </p:nvPr>
        </p:nvSpPr>
        <p:spPr/>
        <p:txBody>
          <a:bodyPr/>
          <a:lstStyle/>
          <a:p>
            <a:fld id="{E1F93703-73BA-47D5-8B02-C172375928DA}" type="slidenum">
              <a:rPr lang="de-DE" smtClean="0"/>
              <a:t>2</a:t>
            </a:fld>
            <a:endParaRPr lang="de-DE"/>
          </a:p>
        </p:txBody>
      </p:sp>
    </p:spTree>
    <p:extLst>
      <p:ext uri="{BB962C8B-B14F-4D97-AF65-F5344CB8AC3E}">
        <p14:creationId xmlns:p14="http://schemas.microsoft.com/office/powerpoint/2010/main" val="1432657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E9696-C0F3-CFBF-E742-841C00FBA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2AF3C-F909-F966-2317-AB2FE825F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99D702-F336-8B90-B05E-5A7C96C42E8A}"/>
              </a:ext>
            </a:extLst>
          </p:cNvPr>
          <p:cNvSpPr>
            <a:spLocks noGrp="1"/>
          </p:cNvSpPr>
          <p:nvPr>
            <p:ph type="body" idx="1"/>
          </p:nvPr>
        </p:nvSpPr>
        <p:spPr/>
        <p:txBody>
          <a:bodyPr/>
          <a:lstStyle/>
          <a:p>
            <a:pPr>
              <a:buNone/>
            </a:pPr>
            <a:r>
              <a:rPr lang="en-US" dirty="0"/>
              <a:t>Let me first formulate the AC power flow problem as a graph problem.</a:t>
            </a:r>
          </a:p>
          <a:p>
            <a:pPr>
              <a:buNone/>
            </a:pPr>
            <a:br>
              <a:rPr lang="en-US" dirty="0"/>
            </a:br>
            <a:endParaRPr lang="en-US" dirty="0"/>
          </a:p>
          <a:p>
            <a:pPr>
              <a:buNone/>
            </a:pPr>
            <a:r>
              <a:rPr lang="en-US" dirty="0"/>
              <a:t>Each node is one of the following types: slack, generator, or load, and each edge is a transmission line with admittance features. Each node has four features: active power, reactive power, voltage magnitude, and angle.</a:t>
            </a:r>
          </a:p>
          <a:p>
            <a:pPr>
              <a:buNone/>
            </a:pPr>
            <a:br>
              <a:rPr lang="en-US" dirty="0"/>
            </a:br>
            <a:endParaRPr lang="en-US" dirty="0"/>
          </a:p>
          <a:p>
            <a:pPr>
              <a:buNone/>
            </a:pPr>
            <a:r>
              <a:rPr lang="en-US" dirty="0"/>
              <a:t>The goal of AC power flow is to find the unknown voltage states at all nodes by solving the nonlinear power-flow equations for P and Q in terms of voltage and admittance.</a:t>
            </a:r>
          </a:p>
          <a:p>
            <a:pPr>
              <a:buNone/>
            </a:pPr>
            <a:br>
              <a:rPr lang="en-US" dirty="0"/>
            </a:br>
            <a:endParaRPr lang="en-US" dirty="0"/>
          </a:p>
          <a:p>
            <a:r>
              <a:rPr lang="en-US" dirty="0"/>
              <a:t>To solve this, we use either Newton–Raphson or a graph neural solver, which replaces the Jacobian matrix with a graph neural network.</a:t>
            </a:r>
          </a:p>
        </p:txBody>
      </p:sp>
      <p:sp>
        <p:nvSpPr>
          <p:cNvPr id="4" name="Slide Number Placeholder 3">
            <a:extLst>
              <a:ext uri="{FF2B5EF4-FFF2-40B4-BE49-F238E27FC236}">
                <a16:creationId xmlns:a16="http://schemas.microsoft.com/office/drawing/2014/main" id="{81C7DCC6-A0C8-27CE-C51C-A72317C6B3EA}"/>
              </a:ext>
            </a:extLst>
          </p:cNvPr>
          <p:cNvSpPr>
            <a:spLocks noGrp="1"/>
          </p:cNvSpPr>
          <p:nvPr>
            <p:ph type="sldNum" sz="quarter" idx="5"/>
          </p:nvPr>
        </p:nvSpPr>
        <p:spPr/>
        <p:txBody>
          <a:bodyPr/>
          <a:lstStyle/>
          <a:p>
            <a:fld id="{E1F93703-73BA-47D5-8B02-C172375928DA}" type="slidenum">
              <a:rPr lang="de-DE" smtClean="0"/>
              <a:t>3</a:t>
            </a:fld>
            <a:endParaRPr lang="de-DE"/>
          </a:p>
        </p:txBody>
      </p:sp>
    </p:spTree>
    <p:extLst>
      <p:ext uri="{BB962C8B-B14F-4D97-AF65-F5344CB8AC3E}">
        <p14:creationId xmlns:p14="http://schemas.microsoft.com/office/powerpoint/2010/main" val="3092580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678C6-4577-F413-325D-1602D2ACE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BCA2F-ABC5-0BC7-6FBC-4274B6B9B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B4B60-040D-0BEF-0A82-75E68FD697E9}"/>
              </a:ext>
            </a:extLst>
          </p:cNvPr>
          <p:cNvSpPr>
            <a:spLocks noGrp="1"/>
          </p:cNvSpPr>
          <p:nvPr>
            <p:ph type="body" idx="1"/>
          </p:nvPr>
        </p:nvSpPr>
        <p:spPr/>
        <p:txBody>
          <a:bodyPr/>
          <a:lstStyle/>
          <a:p>
            <a:r>
              <a:rPr lang="en-US" dirty="0"/>
              <a:t>Time: 1 min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There are the limitations of newton-Raphson and existing graph neural network based ac-power flow solver. First, Newton-</a:t>
            </a:r>
            <a:r>
              <a:rPr lang="en-US" dirty="0" err="1"/>
              <a:t>Rapshon</a:t>
            </a:r>
            <a:r>
              <a:rPr lang="en-US" dirty="0"/>
              <a:t> is slow due to the computation of </a:t>
            </a:r>
            <a:r>
              <a:rPr lang="en-US" dirty="0" err="1"/>
              <a:t>jacobian</a:t>
            </a:r>
            <a:r>
              <a:rPr lang="en-US" dirty="0"/>
              <a:t> matrix and its inverse by repeated sparse factorization which is not </a:t>
            </a:r>
            <a:r>
              <a:rPr lang="en-US" dirty="0" err="1"/>
              <a:t>gpu</a:t>
            </a:r>
            <a:r>
              <a:rPr lang="en-US" dirty="0"/>
              <a:t> friendly. Second, Supervised GNN is fast enough because it can utilize the </a:t>
            </a:r>
            <a:r>
              <a:rPr lang="en-US" dirty="0" err="1"/>
              <a:t>gpu’s</a:t>
            </a:r>
            <a:r>
              <a:rPr lang="en-US" dirty="0"/>
              <a:t> computational power. But it requires labeled training data from Newton–Raphson and is not physically grounded, since the physical equations are incorporated neither through the model structure nor through the loss function. Third recent physics informed GNN somehow successfully </a:t>
            </a:r>
            <a:r>
              <a:rPr lang="en-US" dirty="0" err="1"/>
              <a:t>incorperted</a:t>
            </a:r>
            <a:r>
              <a:rPr lang="en-US" dirty="0"/>
              <a:t> physics equations but the structure awareness is still limited and there is no mechanism that </a:t>
            </a:r>
            <a:r>
              <a:rPr lang="en-US" dirty="0" err="1"/>
              <a:t>gurantee</a:t>
            </a:r>
            <a:r>
              <a:rPr lang="en-US" dirty="0"/>
              <a:t> the </a:t>
            </a:r>
            <a:r>
              <a:rPr lang="en-US" dirty="0" err="1"/>
              <a:t>phsycially</a:t>
            </a:r>
            <a:r>
              <a:rPr lang="en-US" dirty="0"/>
              <a:t> </a:t>
            </a:r>
            <a:r>
              <a:rPr lang="en-US" dirty="0" err="1"/>
              <a:t>paulsible</a:t>
            </a:r>
            <a:r>
              <a:rPr lang="en-US" dirty="0"/>
              <a:t> behavior during inference. </a:t>
            </a:r>
          </a:p>
          <a:p>
            <a:endParaRPr lang="en-US" dirty="0"/>
          </a:p>
          <a:p>
            <a:endParaRPr lang="en-US" dirty="0"/>
          </a:p>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before going to our work, let me briefly compare the existing method families. Newton–Raphson is physically grounded and accurate, but repeated sparse factorization limits throughput. Plain GNN surrogates are fast and can generalize across graph sizes, but they need require Newton-Raphson labels, so that important physical structure is mostly </a:t>
            </a:r>
            <a:r>
              <a:rPr lang="en-US" dirty="0" err="1"/>
              <a:t>implict</a:t>
            </a:r>
            <a:r>
              <a:rPr lang="en-US" dirty="0"/>
              <a:t>. Existing physics-informed GNNs improve learning by penalizing the violation of physical equations as a </a:t>
            </a:r>
            <a:r>
              <a:rPr lang="en-US" dirty="0" err="1"/>
              <a:t>regularizer</a:t>
            </a:r>
            <a:r>
              <a:rPr lang="en-US" dirty="0"/>
              <a:t> during training, but there is no </a:t>
            </a:r>
            <a:r>
              <a:rPr lang="en-US" dirty="0" err="1"/>
              <a:t>mechanim</a:t>
            </a:r>
            <a:r>
              <a:rPr lang="en-US" dirty="0"/>
              <a:t> that guarantees physically plausible behavior at inference time. So none of these options fully gives us both fast inference and trustworthy physical behavior.</a:t>
            </a:r>
          </a:p>
          <a:p>
            <a:endParaRPr lang="en-US" dirty="0"/>
          </a:p>
          <a:p>
            <a:r>
              <a:rPr lang="en-US" dirty="0"/>
              <a:t>---</a:t>
            </a:r>
          </a:p>
          <a:p>
            <a:r>
              <a:rPr lang="en-US" dirty="0"/>
              <a:t>This slide positions our method relative to the main families. Newton-Raphson is physically grounded, but repeated sparse factorization limits throughput. Plain GNN surrogates transfer across graph sizes, but they do not encode enough physics. Existing PIGNNs improve training with physics losses, yet those losses become inoperative at inference. Our method keeps the surrogate speed advantage while adding explicit line physics in the forward pass and a corrective decrease criterion at deployment.</a:t>
            </a:r>
          </a:p>
          <a:p>
            <a:endParaRPr lang="en-US" dirty="0"/>
          </a:p>
          <a:p>
            <a:endParaRPr lang="en-US" dirty="0"/>
          </a:p>
        </p:txBody>
      </p:sp>
      <p:sp>
        <p:nvSpPr>
          <p:cNvPr id="4" name="Slide Number Placeholder 3">
            <a:extLst>
              <a:ext uri="{FF2B5EF4-FFF2-40B4-BE49-F238E27FC236}">
                <a16:creationId xmlns:a16="http://schemas.microsoft.com/office/drawing/2014/main" id="{4D527FA3-D5E9-320D-7FB0-37FBE241675E}"/>
              </a:ext>
            </a:extLst>
          </p:cNvPr>
          <p:cNvSpPr>
            <a:spLocks noGrp="1"/>
          </p:cNvSpPr>
          <p:nvPr>
            <p:ph type="sldNum" sz="quarter" idx="5"/>
          </p:nvPr>
        </p:nvSpPr>
        <p:spPr/>
        <p:txBody>
          <a:bodyPr/>
          <a:lstStyle/>
          <a:p>
            <a:fld id="{E1F93703-73BA-47D5-8B02-C172375928DA}" type="slidenum">
              <a:rPr lang="de-DE" smtClean="0"/>
              <a:t>4</a:t>
            </a:fld>
            <a:endParaRPr lang="de-DE"/>
          </a:p>
        </p:txBody>
      </p:sp>
    </p:spTree>
    <p:extLst>
      <p:ext uri="{BB962C8B-B14F-4D97-AF65-F5344CB8AC3E}">
        <p14:creationId xmlns:p14="http://schemas.microsoft.com/office/powerpoint/2010/main" val="431188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FF0A4-7268-7A4F-E3DA-5B2D78FA2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2B005-2B17-09B9-F76F-B6CB8F32C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1DCC2A-CB2A-581F-A56A-AAA8154C05BD}"/>
              </a:ext>
            </a:extLst>
          </p:cNvPr>
          <p:cNvSpPr>
            <a:spLocks noGrp="1"/>
          </p:cNvSpPr>
          <p:nvPr>
            <p:ph type="body" idx="1"/>
          </p:nvPr>
        </p:nvSpPr>
        <p:spPr/>
        <p:txBody>
          <a:bodyPr/>
          <a:lstStyle/>
          <a:p>
            <a:r>
              <a:rPr lang="en-US" dirty="0"/>
              <a:t>Time: 1 min</a:t>
            </a:r>
          </a:p>
          <a:p>
            <a:pPr>
              <a:buNone/>
            </a:pPr>
            <a:r>
              <a:rPr lang="en-US" dirty="0"/>
              <a:t>This leads to our research question: can we design a more trustworthy physics-informed GNN solver with greater structural awareness and an inference-correctable mechanism?</a:t>
            </a:r>
          </a:p>
          <a:p>
            <a:pPr>
              <a:buNone/>
            </a:pPr>
            <a:r>
              <a:rPr lang="en-US" dirty="0"/>
              <a:t>These questions arise from the two main gaps in previous methods.</a:t>
            </a:r>
            <a:br>
              <a:rPr lang="en-US" dirty="0"/>
            </a:br>
            <a:endParaRPr lang="en-US" dirty="0"/>
          </a:p>
          <a:p>
            <a:pPr>
              <a:buNone/>
            </a:pPr>
            <a:r>
              <a:rPr lang="en-US" dirty="0"/>
              <a:t>The first is the representation gap, which is caused by uniform message aggregation through a multi-layer perceptron.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models the influence of each neighbor differently based on the line parameters.</a:t>
            </a:r>
          </a:p>
          <a:p>
            <a:pPr>
              <a:buNone/>
            </a:pPr>
            <a:r>
              <a:rPr lang="en-US" dirty="0"/>
              <a:t>in </a:t>
            </a:r>
            <a:r>
              <a:rPr lang="en-US" dirty="0" err="1"/>
              <a:t>reailty</a:t>
            </a:r>
            <a:endParaRPr lang="en-US" dirty="0"/>
          </a:p>
          <a:p>
            <a:r>
              <a:rPr lang="en-US" dirty="0"/>
              <a:t>The second is the inference gap, which arises because physics-informed enters only through the training objective as a </a:t>
            </a:r>
            <a:r>
              <a:rPr lang="en-US" dirty="0" err="1"/>
              <a:t>regularizer</a:t>
            </a:r>
            <a:r>
              <a:rPr lang="en-US" dirty="0"/>
              <a:t>, but becomes inoperative during inference.</a:t>
            </a:r>
          </a:p>
          <a:p>
            <a:r>
              <a:rPr lang="en-US" dirty="0"/>
              <a:t>in </a:t>
            </a:r>
            <a:r>
              <a:rPr lang="en-US" dirty="0" err="1"/>
              <a:t>reaility</a:t>
            </a:r>
            <a:endParaRPr lang="en-US" dirty="0"/>
          </a:p>
          <a:p>
            <a:endParaRPr lang="en-US" dirty="0"/>
          </a:p>
          <a:p>
            <a:pPr>
              <a:buNone/>
            </a:pPr>
            <a:r>
              <a:rPr lang="en-US" dirty="0"/>
              <a:t>First, there is a representation gap in the existing method that utilize standard message passing </a:t>
            </a:r>
            <a:r>
              <a:rPr lang="en-US" dirty="0" err="1"/>
              <a:t>gnn</a:t>
            </a:r>
            <a:r>
              <a:rPr lang="en-US" dirty="0"/>
              <a:t>. it treats neighbors uniformly and underuses line-specific electrical information.</a:t>
            </a:r>
          </a:p>
          <a:p>
            <a:pPr>
              <a:buNone/>
            </a:pPr>
            <a:r>
              <a:rPr lang="en-US" dirty="0"/>
              <a:t>Second, there is an inference gap: physics is usually introduced only through the training loss, so it becomes inactive once the model is deployed.</a:t>
            </a:r>
          </a:p>
          <a:p>
            <a:pPr>
              <a:buNone/>
            </a:pPr>
            <a:r>
              <a:rPr lang="en-US" dirty="0"/>
              <a:t>As a result, existing models are physics-informed during training, but not necessarily physics-guided at inference.</a:t>
            </a:r>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leads to our research question: can we design a physics informed GNN surrogate that not only enforce physics through loss function but also structurally captures line-specific electrical interactions? We define this representation gap that is </a:t>
            </a:r>
            <a:r>
              <a:rPr lang="en-US" dirty="0" err="1"/>
              <a:t>devired</a:t>
            </a:r>
            <a:r>
              <a:rPr lang="en-US" dirty="0"/>
              <a:t> from standard message passing which treats neighbors too uniformly and </a:t>
            </a:r>
            <a:r>
              <a:rPr lang="en-US" dirty="0" err="1"/>
              <a:t>undersues</a:t>
            </a:r>
            <a:r>
              <a:rPr lang="en-US" dirty="0"/>
              <a:t> line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the other question was can we make the predictions still correctable at inference time? So we define this as a inference gap to compensate inoperative loss during inference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and still remains correctable at inference time? We identify two main gaps. First, there is a representation gap, because standard message passing underuses admittance-dependent edge structure. Second, there is a trust gap, because the physics loss helps only during training and does not actively improve behavior at deployment. Our method is designed to address both.</a:t>
            </a:r>
          </a:p>
          <a:p>
            <a:r>
              <a:rPr lang="en-US" dirty="0"/>
              <a:t>---</a:t>
            </a:r>
          </a:p>
          <a:p>
            <a:endParaRPr lang="en-US" dirty="0"/>
          </a:p>
          <a:p>
            <a:endParaRPr lang="en-US" dirty="0"/>
          </a:p>
          <a:p>
            <a:r>
              <a:rPr lang="en-US" dirty="0"/>
              <a:t>The research question is whether we can design a GNN surrogate that captures line-specific electrical interactions better and remains correctable at inference time. Existing PIGNNs already use physics-informed training, but two gaps remain. First, standard message passing underuses admittance-dependent edge structure. Second, the physics loss is only active during training, so it does not enforce better behavior once the model is deployed. That creates both a representation gap and a trust gap.</a:t>
            </a:r>
          </a:p>
          <a:p>
            <a:endParaRPr lang="en-US" dirty="0"/>
          </a:p>
          <a:p>
            <a:endParaRPr lang="en-US" dirty="0"/>
          </a:p>
          <a:p>
            <a:endParaRPr lang="en-US" dirty="0"/>
          </a:p>
          <a:p>
            <a:endParaRPr lang="en-US" dirty="0"/>
          </a:p>
          <a:p>
            <a:r>
              <a:rPr lang="en-US" dirty="0"/>
              <a:t>The research question is simple. Can we design a GNN surrogate that better captures line-specific electrical structure and also behaves more reliably at inference time? Existing approaches already use physics-informed learning, but there are still two gaps. First, message passing often treats neighboring interactions too uniformly. Second, the physics term often helps only during training, not during deployment. So there is a representation gap and an inference gap.</a:t>
            </a:r>
          </a:p>
        </p:txBody>
      </p:sp>
      <p:sp>
        <p:nvSpPr>
          <p:cNvPr id="4" name="Slide Number Placeholder 3">
            <a:extLst>
              <a:ext uri="{FF2B5EF4-FFF2-40B4-BE49-F238E27FC236}">
                <a16:creationId xmlns:a16="http://schemas.microsoft.com/office/drawing/2014/main" id="{D6D3D6E3-6F46-6B03-78F0-E0ED471B59C4}"/>
              </a:ext>
            </a:extLst>
          </p:cNvPr>
          <p:cNvSpPr>
            <a:spLocks noGrp="1"/>
          </p:cNvSpPr>
          <p:nvPr>
            <p:ph type="sldNum" sz="quarter" idx="5"/>
          </p:nvPr>
        </p:nvSpPr>
        <p:spPr/>
        <p:txBody>
          <a:bodyPr/>
          <a:lstStyle/>
          <a:p>
            <a:fld id="{E1F93703-73BA-47D5-8B02-C172375928DA}" type="slidenum">
              <a:rPr lang="de-DE" smtClean="0"/>
              <a:t>5</a:t>
            </a:fld>
            <a:endParaRPr lang="de-DE"/>
          </a:p>
        </p:txBody>
      </p:sp>
    </p:spTree>
    <p:extLst>
      <p:ext uri="{BB962C8B-B14F-4D97-AF65-F5344CB8AC3E}">
        <p14:creationId xmlns:p14="http://schemas.microsoft.com/office/powerpoint/2010/main" val="4120102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A4A0F-813B-D384-5B33-95A5B6768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4BF09-1175-DCF1-AB21-DDDD1B9AD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E45415-F140-359E-409F-B045F41E5CF8}"/>
              </a:ext>
            </a:extLst>
          </p:cNvPr>
          <p:cNvSpPr>
            <a:spLocks noGrp="1"/>
          </p:cNvSpPr>
          <p:nvPr>
            <p:ph type="body" idx="1"/>
          </p:nvPr>
        </p:nvSpPr>
        <p:spPr/>
        <p:txBody>
          <a:bodyPr/>
          <a:lstStyle/>
          <a:p>
            <a:pPr>
              <a:buNone/>
            </a:pPr>
            <a:r>
              <a:rPr lang="en-US" dirty="0"/>
              <a:t>Our method is designed to close both gaps with two main components.</a:t>
            </a:r>
          </a:p>
          <a:p>
            <a:pPr>
              <a:buNone/>
            </a:pPr>
            <a:endParaRPr lang="en-US" dirty="0"/>
          </a:p>
          <a:p>
            <a:pPr>
              <a:buNone/>
            </a:pPr>
            <a:r>
              <a:rPr lang="en-US" dirty="0"/>
              <a:t>First, for the representation gap, we use a</a:t>
            </a:r>
            <a:r>
              <a:rPr lang="ko-KR" altLang="en-US" dirty="0"/>
              <a:t> </a:t>
            </a:r>
            <a:r>
              <a:rPr lang="en-US" dirty="0"/>
              <a:t>transformer-style edge aware-attention message aggregator that models the </a:t>
            </a:r>
            <a:r>
              <a:rPr lang="en-US" dirty="0" err="1"/>
              <a:t>influcne</a:t>
            </a:r>
            <a:r>
              <a:rPr lang="en-US" dirty="0"/>
              <a:t> of each neighbors differently based on the line parameters,</a:t>
            </a:r>
          </a:p>
          <a:p>
            <a:pPr>
              <a:buNone/>
            </a:pPr>
            <a:endParaRPr lang="en-US" dirty="0"/>
          </a:p>
          <a:p>
            <a:pPr>
              <a:buNone/>
            </a:pPr>
            <a:r>
              <a:rPr lang="en-US" dirty="0"/>
              <a:t>Second for the </a:t>
            </a:r>
            <a:r>
              <a:rPr lang="en-US" dirty="0" err="1"/>
              <a:t>infernce</a:t>
            </a:r>
            <a:r>
              <a:rPr lang="en-US" dirty="0"/>
              <a:t> gap, we use a backtracking line search based </a:t>
            </a:r>
            <a:r>
              <a:rPr lang="en-US" dirty="0" err="1"/>
              <a:t>correcction</a:t>
            </a:r>
            <a:r>
              <a:rPr lang="en-US" dirty="0"/>
              <a:t> mechanism instead of directly accept5ing the raw update proposal.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next 2 slides, we will take a closer look at the two main components.</a:t>
            </a:r>
          </a:p>
          <a:p>
            <a:pPr>
              <a:buNone/>
            </a:pPr>
            <a:endParaRPr lang="en-US" dirty="0"/>
          </a:p>
          <a:p>
            <a:pPr>
              <a:buNone/>
            </a:pPr>
            <a:r>
              <a:rPr lang="en-US" dirty="0"/>
              <a:t>---</a:t>
            </a:r>
          </a:p>
          <a:p>
            <a:pPr>
              <a:buNone/>
            </a:pPr>
            <a:endParaRPr lang="en-US" dirty="0"/>
          </a:p>
          <a:p>
            <a:pPr>
              <a:buNone/>
            </a:pPr>
            <a:r>
              <a:rPr lang="en-US" dirty="0"/>
              <a:t>First, to better capture the physical laws during message aggregation, we use a transformer-style edge aware-attention aggregator instead of using multi-layer perception aggregator</a:t>
            </a:r>
          </a:p>
          <a:p>
            <a:pPr>
              <a:buNone/>
            </a:pPr>
            <a:endParaRPr lang="en-US" dirty="0"/>
          </a:p>
          <a:p>
            <a:pPr>
              <a:buNone/>
            </a:pPr>
            <a:r>
              <a:rPr lang="en-US" dirty="0"/>
              <a:t>that models the influence of each neighbor differently based on the line parameters.</a:t>
            </a:r>
          </a:p>
          <a:p>
            <a:pPr>
              <a:buNone/>
            </a:pPr>
            <a:endParaRPr lang="en-US" dirty="0"/>
          </a:p>
          <a:p>
            <a:r>
              <a:rPr lang="en-US" dirty="0"/>
              <a:t>Second, at inference time, we apply a backtracking line-search based correction mechanism instead of directly accepting the raw update proposal.</a:t>
            </a:r>
          </a:p>
          <a:p>
            <a:endParaRPr lang="en-US" dirty="0"/>
          </a:p>
          <a:p>
            <a:pPr marL="0" marR="0" lvl="0" indent="0" algn="l" defTabSz="914400" rtl="0" eaLnBrk="1" fontAlgn="auto" latinLnBrk="0" hangingPunct="1">
              <a:lnSpc>
                <a:spcPct val="100000"/>
              </a:lnSpc>
              <a:spcBef>
                <a:spcPts val="0"/>
              </a:spcBef>
              <a:spcAft>
                <a:spcPts val="500"/>
              </a:spcAft>
              <a:buClrTx/>
              <a:buSzTx/>
              <a:buFontTx/>
              <a:buNone/>
              <a:tabLst/>
              <a:defRPr/>
            </a:pPr>
            <a:r>
              <a:rPr lang="en-US" b="0" i="0" dirty="0">
                <a:solidFill>
                  <a:srgbClr val="0D0D0D"/>
                </a:solidFill>
                <a:effectLst/>
                <a:latin typeface="-apple-system"/>
              </a:rPr>
              <a:t>---</a:t>
            </a:r>
            <a:r>
              <a:rPr lang="en-US" dirty="0"/>
              <a:t>For next 2 slides, we will take a closer look at the two main components.</a:t>
            </a:r>
          </a:p>
          <a:p>
            <a:pPr algn="l">
              <a:spcAft>
                <a:spcPts val="500"/>
              </a:spcAft>
            </a:pPr>
            <a:endParaRPr lang="en-US" b="0" i="0" dirty="0">
              <a:solidFill>
                <a:srgbClr val="0D0D0D"/>
              </a:solidFill>
              <a:effectLst/>
              <a:latin typeface="-apple-system"/>
            </a:endParaRPr>
          </a:p>
          <a:p>
            <a:pPr algn="l">
              <a:spcAft>
                <a:spcPts val="500"/>
              </a:spcAft>
            </a:pPr>
            <a:endParaRPr lang="en-US" b="0" i="0" dirty="0">
              <a:solidFill>
                <a:srgbClr val="0D0D0D"/>
              </a:solidFill>
              <a:effectLst/>
              <a:latin typeface="-apple-system"/>
            </a:endParaRPr>
          </a:p>
          <a:p>
            <a:pPr algn="l">
              <a:spcAft>
                <a:spcPts val="500"/>
              </a:spcAft>
            </a:pPr>
            <a:r>
              <a:rPr lang="en-US" b="0" i="0" dirty="0">
                <a:solidFill>
                  <a:srgbClr val="0D0D0D"/>
                </a:solidFill>
                <a:effectLst/>
                <a:latin typeface="-apple-system"/>
              </a:rPr>
              <a:t>we run a physics-informed graph network on the grid, where edge-aware self-attention lets each transmission line influence the buses differently. At each iteration, the model uses both the current state and the physical mismatch to propose updates for voltage and angle. Second, at inference time, we apply a line-search correction instead of directly trusting the raw prediction. This ensures that the final update actually reduces the power-flow residual. So representation is improved by attention, and trustworthiness is improved by line search.</a:t>
            </a:r>
            <a:endParaRPr lang="en-US" sz="1200" b="1" i="0" dirty="0">
              <a:solidFill>
                <a:srgbClr val="17324D"/>
              </a:solidFill>
              <a:latin typeface="Avenir Next"/>
            </a:endParaRPr>
          </a:p>
        </p:txBody>
      </p:sp>
      <p:sp>
        <p:nvSpPr>
          <p:cNvPr id="4" name="Slide Number Placeholder 3">
            <a:extLst>
              <a:ext uri="{FF2B5EF4-FFF2-40B4-BE49-F238E27FC236}">
                <a16:creationId xmlns:a16="http://schemas.microsoft.com/office/drawing/2014/main" id="{7DE0E8B1-2694-5291-F3B7-53D1AB12A627}"/>
              </a:ext>
            </a:extLst>
          </p:cNvPr>
          <p:cNvSpPr>
            <a:spLocks noGrp="1"/>
          </p:cNvSpPr>
          <p:nvPr>
            <p:ph type="sldNum" sz="quarter" idx="5"/>
          </p:nvPr>
        </p:nvSpPr>
        <p:spPr/>
        <p:txBody>
          <a:bodyPr/>
          <a:lstStyle/>
          <a:p>
            <a:fld id="{E1F93703-73BA-47D5-8B02-C172375928DA}" type="slidenum">
              <a:rPr lang="de-DE" smtClean="0"/>
              <a:t>6</a:t>
            </a:fld>
            <a:endParaRPr lang="de-DE"/>
          </a:p>
        </p:txBody>
      </p:sp>
    </p:spTree>
    <p:extLst>
      <p:ext uri="{BB962C8B-B14F-4D97-AF65-F5344CB8AC3E}">
        <p14:creationId xmlns:p14="http://schemas.microsoft.com/office/powerpoint/2010/main" val="370120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DFACC-6025-AA5B-820B-EE4C23AD2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6D56C-430F-186D-BC79-7D284A877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99261-4194-93C2-DAE3-929802C39AA9}"/>
              </a:ext>
            </a:extLst>
          </p:cNvPr>
          <p:cNvSpPr>
            <a:spLocks noGrp="1"/>
          </p:cNvSpPr>
          <p:nvPr>
            <p:ph type="body" idx="1"/>
          </p:nvPr>
        </p:nvSpPr>
        <p:spPr/>
        <p:txBody>
          <a:bodyPr/>
          <a:lstStyle/>
          <a:p>
            <a:r>
              <a:rPr lang="en-US" dirty="0"/>
              <a:t>Time: 2 min</a:t>
            </a:r>
          </a:p>
          <a:p>
            <a:endParaRPr lang="en-US" dirty="0"/>
          </a:p>
          <a:p>
            <a:pPr>
              <a:buNone/>
            </a:pPr>
            <a:r>
              <a:rPr lang="en-US" dirty="0"/>
              <a:t>So in Edge-Aware Attention, the query is the projection of the target node i’s features, while the keys and values are the projections of the neighboring nodes j’s features.</a:t>
            </a:r>
          </a:p>
          <a:p>
            <a:pPr>
              <a:buNone/>
            </a:pPr>
            <a:endParaRPr lang="en-US" dirty="0"/>
          </a:p>
          <a:p>
            <a:pPr>
              <a:buNone/>
            </a:pPr>
            <a:r>
              <a:rPr lang="en-US" dirty="0"/>
              <a:t>And at the </a:t>
            </a:r>
            <a:r>
              <a:rPr lang="en-US" dirty="0" err="1"/>
              <a:t>sacled</a:t>
            </a:r>
            <a:r>
              <a:rPr lang="en-US" dirty="0"/>
              <a:t> dot project q ,k we add a physics-based edge bias</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gives us an edge-conditioned attention score, so it basically moves from an isotropic to an anisotropic graph filter that models the influence of each neighbor differently based on the line parameters.</a:t>
            </a:r>
          </a:p>
          <a:p>
            <a:pPr>
              <a:buNone/>
            </a:pPr>
            <a:r>
              <a:rPr lang="en-US" dirty="0"/>
              <a:t>.</a:t>
            </a:r>
            <a:br>
              <a:rPr lang="en-US" dirty="0"/>
            </a:br>
            <a:endParaRPr lang="en-US" dirty="0"/>
          </a:p>
          <a:p>
            <a:r>
              <a:rPr lang="en-US" dirty="0"/>
              <a:t>Additionally, it </a:t>
            </a:r>
            <a:r>
              <a:rPr lang="en-US" dirty="0" err="1"/>
              <a:t>acheives</a:t>
            </a:r>
            <a:r>
              <a:rPr lang="en-US" dirty="0"/>
              <a:t> the greater </a:t>
            </a:r>
            <a:r>
              <a:rPr lang="en-US" dirty="0" err="1"/>
              <a:t>strucutre</a:t>
            </a:r>
            <a:r>
              <a:rPr lang="en-US" dirty="0"/>
              <a:t>-awareness, since this edge-aware attention works as a fully differentiable known-operator layer that makes edge coupling explicit in the forward pass, unlike MLP-style aggregation, where it is only implicit through node features.</a:t>
            </a:r>
          </a:p>
          <a:p>
            <a:endParaRPr lang="en-US" dirty="0"/>
          </a:p>
          <a:p>
            <a:endParaRPr lang="en-US" dirty="0"/>
          </a:p>
          <a:p>
            <a:endParaRPr lang="en-US" dirty="0"/>
          </a:p>
          <a:p>
            <a:r>
              <a:rPr lang="en-US" dirty="0"/>
              <a:t> first project the physics informed node features x = [del P, </a:t>
            </a:r>
            <a:r>
              <a:rPr lang="en-US" dirty="0" err="1"/>
              <a:t>delQ</a:t>
            </a:r>
            <a:r>
              <a:rPr lang="en-US" dirty="0"/>
              <a:t>, V, </a:t>
            </a:r>
            <a:r>
              <a:rPr lang="en-US" dirty="0" err="1"/>
              <a:t>thetha</a:t>
            </a:r>
            <a:r>
              <a:rPr lang="en-US" dirty="0"/>
              <a:t> and the </a:t>
            </a:r>
            <a:r>
              <a:rPr lang="en-US" dirty="0" err="1"/>
              <a:t>meesage</a:t>
            </a:r>
            <a:r>
              <a:rPr lang="en-US" dirty="0"/>
              <a:t>] of node I</a:t>
            </a:r>
          </a:p>
          <a:p>
            <a:endParaRPr lang="en-US" dirty="0"/>
          </a:p>
          <a:p>
            <a:r>
              <a:rPr lang="en-US" dirty="0"/>
              <a:t>Add a physics-based edge bias from $\ell_{</a:t>
            </a:r>
            <a:r>
              <a:rPr lang="en-US" dirty="0" err="1"/>
              <a:t>i</a:t>
            </a:r>
            <a:r>
              <a:rPr lang="en-US" dirty="0"/>
              <a:t> j}$</a:t>
            </a:r>
          </a:p>
          <a:p>
            <a:r>
              <a:rPr lang="en-US" dirty="0"/>
              <a:t>and normalize over incoming neighbors of $</a:t>
            </a:r>
            <a:r>
              <a:rPr lang="en-US" dirty="0" err="1"/>
              <a:t>i</a:t>
            </a:r>
            <a:r>
              <a:rPr lang="en-US" dirty="0"/>
              <a:t>$ :</a:t>
            </a:r>
          </a:p>
          <a:p>
            <a:endParaRPr lang="en-US" dirty="0"/>
          </a:p>
          <a:p>
            <a:r>
              <a:rPr lang="en-US" dirty="0"/>
              <a:t>---</a:t>
            </a:r>
          </a:p>
          <a:p>
            <a:r>
              <a:rPr lang="en-US" dirty="0"/>
              <a:t>This is the first main technical idea. Rather than aggregating neighbors uniformly, we score each interaction with attention that includes an explicit edge-dependent bias term. That bias is computed from line features, so the model directly injects admittance information into the forward pass. In known-operator learning language, this behaves like a lightweight differentiable operator layer. It also allows directional asymmetry, because </a:t>
            </a:r>
            <a:r>
              <a:rPr lang="en-US" dirty="0" err="1"/>
              <a:t>alpha_ij</a:t>
            </a:r>
            <a:r>
              <a:rPr lang="en-US" dirty="0"/>
              <a:t> does not need to equal </a:t>
            </a:r>
            <a:r>
              <a:rPr lang="en-US" dirty="0" err="1"/>
              <a:t>alpha_ji</a:t>
            </a:r>
            <a:r>
              <a:rPr lang="en-US" dirty="0"/>
              <a:t>, which matches the anisotropic structure of the power-flow Jacobian. The result is a more faithful approximation of the local inverse-Jacobian action than isotropic aggregation.</a:t>
            </a:r>
          </a:p>
        </p:txBody>
      </p:sp>
      <p:sp>
        <p:nvSpPr>
          <p:cNvPr id="4" name="Slide Number Placeholder 3">
            <a:extLst>
              <a:ext uri="{FF2B5EF4-FFF2-40B4-BE49-F238E27FC236}">
                <a16:creationId xmlns:a16="http://schemas.microsoft.com/office/drawing/2014/main" id="{0D2B0C4A-B2AF-74E4-EB13-7C9147B22ABD}"/>
              </a:ext>
            </a:extLst>
          </p:cNvPr>
          <p:cNvSpPr>
            <a:spLocks noGrp="1"/>
          </p:cNvSpPr>
          <p:nvPr>
            <p:ph type="sldNum" sz="quarter" idx="5"/>
          </p:nvPr>
        </p:nvSpPr>
        <p:spPr/>
        <p:txBody>
          <a:bodyPr/>
          <a:lstStyle/>
          <a:p>
            <a:fld id="{E1F93703-73BA-47D5-8B02-C172375928DA}" type="slidenum">
              <a:rPr lang="de-DE" smtClean="0"/>
              <a:t>7</a:t>
            </a:fld>
            <a:endParaRPr lang="de-DE"/>
          </a:p>
        </p:txBody>
      </p:sp>
    </p:spTree>
    <p:extLst>
      <p:ext uri="{BB962C8B-B14F-4D97-AF65-F5344CB8AC3E}">
        <p14:creationId xmlns:p14="http://schemas.microsoft.com/office/powerpoint/2010/main" val="2102526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11880-6D75-32CA-23E2-8D5F9DD7E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87871-2B5B-D095-207F-93FFFC3EA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00611-B697-1B63-35A6-CA0E56F1683B}"/>
              </a:ext>
            </a:extLst>
          </p:cNvPr>
          <p:cNvSpPr>
            <a:spLocks noGrp="1"/>
          </p:cNvSpPr>
          <p:nvPr>
            <p:ph type="body" idx="1"/>
          </p:nvPr>
        </p:nvSpPr>
        <p:spPr/>
        <p:txBody>
          <a:bodyPr/>
          <a:lstStyle/>
          <a:p>
            <a:r>
              <a:rPr lang="en-US" dirty="0"/>
              <a:t>Time: 2 min</a:t>
            </a:r>
          </a:p>
          <a:p>
            <a:endParaRPr lang="en-US" dirty="0"/>
          </a:p>
          <a:p>
            <a:pPr>
              <a:buNone/>
            </a:pPr>
            <a:r>
              <a:rPr lang="en-US" dirty="0"/>
              <a:t>Time: 2 min</a:t>
            </a:r>
          </a:p>
          <a:p>
            <a:pPr>
              <a:buNone/>
            </a:pPr>
            <a:br>
              <a:rPr lang="en-US" dirty="0"/>
            </a:br>
            <a:endParaRPr lang="en-US" dirty="0"/>
          </a:p>
          <a:p>
            <a:pPr>
              <a:buNone/>
            </a:pPr>
            <a:r>
              <a:rPr lang="en-US" dirty="0"/>
              <a:t>The backtracking line search works as a update-correction mechanism at each message-passing step k.</a:t>
            </a:r>
          </a:p>
          <a:p>
            <a:pPr>
              <a:buNone/>
            </a:pPr>
            <a:br>
              <a:rPr lang="en-US" dirty="0"/>
            </a:br>
            <a:endParaRPr lang="en-US" dirty="0"/>
          </a:p>
          <a:p>
            <a:pPr>
              <a:buNone/>
            </a:pPr>
            <a:r>
              <a:rPr lang="en-US" dirty="0"/>
              <a:t>We define a merit function as the infinity norm of the P and Q residuals over all nodes. </a:t>
            </a:r>
            <a:r>
              <a:rPr lang="en-US" dirty="0" err="1"/>
              <a:t>Iff</a:t>
            </a:r>
            <a:r>
              <a:rPr lang="en-US" dirty="0"/>
              <a:t> the current step size does not reduce the value of the merit function sufficiently, the method backtracks to one step before, reduces the step size, and checks again whether the merit function decreases enough.</a:t>
            </a:r>
            <a:br>
              <a:rPr lang="en-US" dirty="0"/>
            </a:br>
            <a:endParaRPr lang="en-US" dirty="0"/>
          </a:p>
          <a:p>
            <a:r>
              <a:rPr lang="en-US" dirty="0"/>
              <a:t>By doing so, we can compensate for the inoperative physics loss during inference, resulting in more stable and physically plausible behavior.</a:t>
            </a:r>
          </a:p>
          <a:p>
            <a:endParaRPr lang="en-US" dirty="0"/>
          </a:p>
          <a:p>
            <a:r>
              <a:rPr lang="en-US" dirty="0"/>
              <a:t>---</a:t>
            </a:r>
          </a:p>
          <a:p>
            <a:endParaRPr lang="en-US" dirty="0"/>
          </a:p>
          <a:p>
            <a:r>
              <a:rPr lang="en-US" dirty="0"/>
              <a:t>This slide is a simplified oral version of Algorithm 1. The merit function is the maximum of the active- and reactive-power mismatch infinity norms. We start with the full neural update, set alpha equal to one, and test whether the trial step reduces the mismatch enough according to the Armijo condition. If it does not, we shrink alpha by rho and try again. Once a step passes, we apply it to theta, V, and the latent state m. For presentation clarity, this slide omits the explicit update caps and wrap or clip operators, but the backtracking logic matches the paper.</a:t>
            </a:r>
          </a:p>
        </p:txBody>
      </p:sp>
      <p:sp>
        <p:nvSpPr>
          <p:cNvPr id="4" name="Slide Number Placeholder 3">
            <a:extLst>
              <a:ext uri="{FF2B5EF4-FFF2-40B4-BE49-F238E27FC236}">
                <a16:creationId xmlns:a16="http://schemas.microsoft.com/office/drawing/2014/main" id="{3415B03B-06E6-9C7B-6AED-E92EFC19FED1}"/>
              </a:ext>
            </a:extLst>
          </p:cNvPr>
          <p:cNvSpPr>
            <a:spLocks noGrp="1"/>
          </p:cNvSpPr>
          <p:nvPr>
            <p:ph type="sldNum" sz="quarter" idx="5"/>
          </p:nvPr>
        </p:nvSpPr>
        <p:spPr/>
        <p:txBody>
          <a:bodyPr/>
          <a:lstStyle/>
          <a:p>
            <a:fld id="{E1F93703-73BA-47D5-8B02-C172375928DA}" type="slidenum">
              <a:rPr lang="de-DE" smtClean="0"/>
              <a:t>8</a:t>
            </a:fld>
            <a:endParaRPr lang="de-DE"/>
          </a:p>
        </p:txBody>
      </p:sp>
    </p:spTree>
    <p:extLst>
      <p:ext uri="{BB962C8B-B14F-4D97-AF65-F5344CB8AC3E}">
        <p14:creationId xmlns:p14="http://schemas.microsoft.com/office/powerpoint/2010/main" val="710989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6ADA8-C02B-0CA9-12AE-155559C57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65454-E2BD-32B2-3562-2611EB93F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DF669-A6AB-8FBB-9ECE-AD044D8424F5}"/>
              </a:ext>
            </a:extLst>
          </p:cNvPr>
          <p:cNvSpPr>
            <a:spLocks noGrp="1"/>
          </p:cNvSpPr>
          <p:nvPr>
            <p:ph type="body" idx="1"/>
          </p:nvPr>
        </p:nvSpPr>
        <p:spPr/>
        <p:txBody>
          <a:bodyPr/>
          <a:lstStyle/>
          <a:p>
            <a:r>
              <a:rPr lang="en-US" dirty="0"/>
              <a:t>Time: 2 min</a:t>
            </a:r>
          </a:p>
          <a:p>
            <a:endParaRPr lang="en-US" dirty="0"/>
          </a:p>
          <a:p>
            <a:pPr>
              <a:buNone/>
            </a:pPr>
            <a:r>
              <a:rPr lang="en-US" dirty="0"/>
              <a:t>Time: 2 min</a:t>
            </a:r>
          </a:p>
          <a:p>
            <a:pPr>
              <a:buNone/>
            </a:pPr>
            <a:br>
              <a:rPr lang="en-US" dirty="0"/>
            </a:br>
            <a:endParaRPr lang="en-US" dirty="0"/>
          </a:p>
          <a:p>
            <a:pPr>
              <a:buNone/>
            </a:pPr>
            <a:r>
              <a:rPr lang="en-US" dirty="0"/>
              <a:t>The backtracking line search works as a update-correction mechanism at each message-passing step k.</a:t>
            </a:r>
          </a:p>
          <a:p>
            <a:pPr>
              <a:buNone/>
            </a:pPr>
            <a:br>
              <a:rPr lang="en-US" dirty="0"/>
            </a:br>
            <a:endParaRPr lang="en-US" dirty="0"/>
          </a:p>
          <a:p>
            <a:pPr>
              <a:buNone/>
            </a:pPr>
            <a:r>
              <a:rPr lang="en-US" dirty="0"/>
              <a:t>We define a merit function as the infinity norm of the P and Q residuals over all nodes. </a:t>
            </a:r>
            <a:r>
              <a:rPr lang="en-US" dirty="0" err="1"/>
              <a:t>Iff</a:t>
            </a:r>
            <a:r>
              <a:rPr lang="en-US" dirty="0"/>
              <a:t> the current step size does not reduce the value of the merit function sufficiently, the method backtracks to one step before, reduces the step size, and checks again whether the merit function decreases enough.</a:t>
            </a:r>
            <a:br>
              <a:rPr lang="en-US" dirty="0"/>
            </a:br>
            <a:endParaRPr lang="en-US" dirty="0"/>
          </a:p>
          <a:p>
            <a:r>
              <a:rPr lang="en-US" dirty="0"/>
              <a:t>By doing so, we can compensate for the inoperative physics loss during inference, resulting in more stable and physically plausible behavior.</a:t>
            </a:r>
          </a:p>
          <a:p>
            <a:endParaRPr lang="en-US" dirty="0"/>
          </a:p>
          <a:p>
            <a:r>
              <a:rPr lang="en-US" dirty="0"/>
              <a:t>---</a:t>
            </a:r>
          </a:p>
          <a:p>
            <a:endParaRPr lang="en-US" dirty="0"/>
          </a:p>
          <a:p>
            <a:r>
              <a:rPr lang="en-US" dirty="0"/>
              <a:t>This slide is a simplified oral version of Algorithm 1. The merit function is the maximum of the active- and reactive-power mismatch infinity norms. We start with the full neural update, set alpha equal to one, and test whether the trial step reduces the mismatch enough according to the Armijo condition. If it does not, we shrink alpha by rho and try again. Once a step passes, we apply it to theta, V, and the latent state m. For presentation clarity, this slide omits the explicit update caps and wrap or clip operators, but the backtracking logic matches the paper.</a:t>
            </a:r>
          </a:p>
        </p:txBody>
      </p:sp>
      <p:sp>
        <p:nvSpPr>
          <p:cNvPr id="4" name="Slide Number Placeholder 3">
            <a:extLst>
              <a:ext uri="{FF2B5EF4-FFF2-40B4-BE49-F238E27FC236}">
                <a16:creationId xmlns:a16="http://schemas.microsoft.com/office/drawing/2014/main" id="{B99502F7-1F8E-2FDA-D04A-8AC52AB1FB71}"/>
              </a:ext>
            </a:extLst>
          </p:cNvPr>
          <p:cNvSpPr>
            <a:spLocks noGrp="1"/>
          </p:cNvSpPr>
          <p:nvPr>
            <p:ph type="sldNum" sz="quarter" idx="5"/>
          </p:nvPr>
        </p:nvSpPr>
        <p:spPr/>
        <p:txBody>
          <a:bodyPr/>
          <a:lstStyle/>
          <a:p>
            <a:fld id="{E1F93703-73BA-47D5-8B02-C172375928DA}" type="slidenum">
              <a:rPr lang="de-DE" smtClean="0"/>
              <a:t>9</a:t>
            </a:fld>
            <a:endParaRPr lang="de-DE"/>
          </a:p>
        </p:txBody>
      </p:sp>
    </p:spTree>
    <p:extLst>
      <p:ext uri="{BB962C8B-B14F-4D97-AF65-F5344CB8AC3E}">
        <p14:creationId xmlns:p14="http://schemas.microsoft.com/office/powerpoint/2010/main" val="2549577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6BB70-96A0-C94E-27E2-CD36EA1C4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CB8C3-D6BD-CDDE-9A00-0F41423A8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6A932-60A7-1C8B-50CA-5762FB5B38E6}"/>
              </a:ext>
            </a:extLst>
          </p:cNvPr>
          <p:cNvSpPr>
            <a:spLocks noGrp="1"/>
          </p:cNvSpPr>
          <p:nvPr>
            <p:ph type="body" idx="1"/>
          </p:nvPr>
        </p:nvSpPr>
        <p:spPr/>
        <p:txBody>
          <a:bodyPr/>
          <a:lstStyle/>
          <a:p>
            <a:r>
              <a:rPr lang="en-US" dirty="0"/>
              <a:t>Time: 2 min</a:t>
            </a:r>
          </a:p>
          <a:p>
            <a:endParaRPr lang="en-US" dirty="0"/>
          </a:p>
          <a:p>
            <a:pPr>
              <a:buNone/>
            </a:pPr>
            <a:r>
              <a:rPr lang="en-US" dirty="0"/>
              <a:t>Time: 2 min</a:t>
            </a:r>
          </a:p>
          <a:p>
            <a:pPr>
              <a:buNone/>
            </a:pPr>
            <a:br>
              <a:rPr lang="en-US" dirty="0"/>
            </a:br>
            <a:endParaRPr lang="en-US" dirty="0"/>
          </a:p>
          <a:p>
            <a:pPr>
              <a:buNone/>
            </a:pPr>
            <a:r>
              <a:rPr lang="en-US" dirty="0"/>
              <a:t>The backtracking line search works as a update-correction mechanism at each message-passing step k.</a:t>
            </a:r>
          </a:p>
          <a:p>
            <a:pPr>
              <a:buNone/>
            </a:pPr>
            <a:br>
              <a:rPr lang="en-US" dirty="0"/>
            </a:br>
            <a:endParaRPr lang="en-US" dirty="0"/>
          </a:p>
          <a:p>
            <a:pPr>
              <a:buNone/>
            </a:pPr>
            <a:r>
              <a:rPr lang="en-US" dirty="0"/>
              <a:t>We define a merit function as the infinity norm of the P and Q residuals over all nodes. </a:t>
            </a:r>
            <a:r>
              <a:rPr lang="en-US" dirty="0" err="1"/>
              <a:t>Iff</a:t>
            </a:r>
            <a:r>
              <a:rPr lang="en-US" dirty="0"/>
              <a:t> the current step size does not reduce the value of the merit function sufficiently, the method backtracks to one step before, reduces the step size, and checks again whether the merit function decreases enough.</a:t>
            </a:r>
            <a:br>
              <a:rPr lang="en-US" dirty="0"/>
            </a:br>
            <a:endParaRPr lang="en-US" dirty="0"/>
          </a:p>
          <a:p>
            <a:r>
              <a:rPr lang="en-US" dirty="0"/>
              <a:t>By doing so, we can compensate for the inoperative physics loss during inference, resulting in more stable and physically plausible behavior.</a:t>
            </a:r>
          </a:p>
          <a:p>
            <a:endParaRPr lang="en-US" dirty="0"/>
          </a:p>
          <a:p>
            <a:r>
              <a:rPr lang="en-US" dirty="0"/>
              <a:t>---</a:t>
            </a:r>
          </a:p>
          <a:p>
            <a:endParaRPr lang="en-US" dirty="0"/>
          </a:p>
          <a:p>
            <a:r>
              <a:rPr lang="en-US" dirty="0"/>
              <a:t>This slide is a simplified oral version of Algorithm 1. The merit function is the maximum of the active- and reactive-power mismatch infinity norms. We start with the full neural update, set alpha equal to one, and test whether the trial step reduces the mismatch enough according to the Armijo condition. If it does not, we shrink alpha by rho and try again. Once a step passes, we apply it to theta, V, and the latent state m. For presentation clarity, this slide omits the explicit update caps and wrap or clip operators, but the backtracking logic matches the paper.</a:t>
            </a:r>
          </a:p>
        </p:txBody>
      </p:sp>
      <p:sp>
        <p:nvSpPr>
          <p:cNvPr id="4" name="Slide Number Placeholder 3">
            <a:extLst>
              <a:ext uri="{FF2B5EF4-FFF2-40B4-BE49-F238E27FC236}">
                <a16:creationId xmlns:a16="http://schemas.microsoft.com/office/drawing/2014/main" id="{27F83BDC-D7D3-AEAE-61FC-6D9985D9EC6C}"/>
              </a:ext>
            </a:extLst>
          </p:cNvPr>
          <p:cNvSpPr>
            <a:spLocks noGrp="1"/>
          </p:cNvSpPr>
          <p:nvPr>
            <p:ph type="sldNum" sz="quarter" idx="5"/>
          </p:nvPr>
        </p:nvSpPr>
        <p:spPr/>
        <p:txBody>
          <a:bodyPr/>
          <a:lstStyle/>
          <a:p>
            <a:fld id="{E1F93703-73BA-47D5-8B02-C172375928DA}" type="slidenum">
              <a:rPr lang="de-DE" smtClean="0"/>
              <a:t>10</a:t>
            </a:fld>
            <a:endParaRPr lang="de-DE"/>
          </a:p>
        </p:txBody>
      </p:sp>
    </p:spTree>
    <p:extLst>
      <p:ext uri="{BB962C8B-B14F-4D97-AF65-F5344CB8AC3E}">
        <p14:creationId xmlns:p14="http://schemas.microsoft.com/office/powerpoint/2010/main" val="2983234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2F9B-EEAD-A9FC-47DD-A1EA9A9F5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D5640-312C-13E3-56FA-C125CE5AD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07E29-E229-4CB7-68C5-1AD2C566F246}"/>
              </a:ext>
            </a:extLst>
          </p:cNvPr>
          <p:cNvSpPr>
            <a:spLocks noGrp="1"/>
          </p:cNvSpPr>
          <p:nvPr>
            <p:ph type="body" idx="1"/>
          </p:nvPr>
        </p:nvSpPr>
        <p:spPr/>
        <p:txBody>
          <a:bodyPr/>
          <a:lstStyle/>
          <a:p>
            <a:r>
              <a:rPr lang="en-US" dirty="0"/>
              <a:t>Time: 2 min</a:t>
            </a:r>
          </a:p>
          <a:p>
            <a:endParaRPr lang="en-US" dirty="0"/>
          </a:p>
          <a:p>
            <a:pPr>
              <a:buNone/>
            </a:pPr>
            <a:r>
              <a:rPr lang="en-US" dirty="0"/>
              <a:t>Time: 2 min</a:t>
            </a:r>
          </a:p>
          <a:p>
            <a:pPr>
              <a:buNone/>
            </a:pPr>
            <a:br>
              <a:rPr lang="en-US" dirty="0"/>
            </a:br>
            <a:endParaRPr lang="en-US" dirty="0"/>
          </a:p>
          <a:p>
            <a:pPr>
              <a:buNone/>
            </a:pPr>
            <a:r>
              <a:rPr lang="en-US" dirty="0"/>
              <a:t>The backtracking line search works as a update-correction mechanism at each message-passing step k.</a:t>
            </a:r>
          </a:p>
          <a:p>
            <a:pPr>
              <a:buNone/>
            </a:pPr>
            <a:br>
              <a:rPr lang="en-US" dirty="0"/>
            </a:br>
            <a:endParaRPr lang="en-US" dirty="0"/>
          </a:p>
          <a:p>
            <a:pPr>
              <a:buNone/>
            </a:pPr>
            <a:r>
              <a:rPr lang="en-US" dirty="0"/>
              <a:t>We define a merit function as the infinity norm of the P and Q residuals over all nodes. </a:t>
            </a:r>
            <a:r>
              <a:rPr lang="en-US" dirty="0" err="1"/>
              <a:t>Iff</a:t>
            </a:r>
            <a:r>
              <a:rPr lang="en-US" dirty="0"/>
              <a:t> the current step size does not reduce the value of the merit function sufficiently, the method backtracks to one step before, reduces the step size, and checks again whether the merit function decreases enough.</a:t>
            </a:r>
            <a:br>
              <a:rPr lang="en-US" dirty="0"/>
            </a:br>
            <a:endParaRPr lang="en-US" dirty="0"/>
          </a:p>
          <a:p>
            <a:r>
              <a:rPr lang="en-US" dirty="0"/>
              <a:t>By doing so, we can compensate for the inoperative physics loss during inference, resulting in more stable and physically plausible behavior.</a:t>
            </a:r>
          </a:p>
          <a:p>
            <a:endParaRPr lang="en-US" dirty="0"/>
          </a:p>
          <a:p>
            <a:r>
              <a:rPr lang="en-US" dirty="0"/>
              <a:t>---</a:t>
            </a:r>
          </a:p>
          <a:p>
            <a:endParaRPr lang="en-US" dirty="0"/>
          </a:p>
          <a:p>
            <a:r>
              <a:rPr lang="en-US" dirty="0"/>
              <a:t>This slide is a simplified oral version of Algorithm 1. The merit function is the maximum of the active- and reactive-power mismatch infinity norms. We start with the full neural update, set alpha equal to one, and test whether the trial step reduces the mismatch enough according to the Armijo condition. If it does not, we shrink alpha by rho and try again. Once a step passes, we apply it to theta, V, and the latent state m. For presentation clarity, this slide omits the explicit update caps and wrap or clip operators, but the backtracking logic matches the paper.</a:t>
            </a:r>
          </a:p>
        </p:txBody>
      </p:sp>
      <p:sp>
        <p:nvSpPr>
          <p:cNvPr id="4" name="Slide Number Placeholder 3">
            <a:extLst>
              <a:ext uri="{FF2B5EF4-FFF2-40B4-BE49-F238E27FC236}">
                <a16:creationId xmlns:a16="http://schemas.microsoft.com/office/drawing/2014/main" id="{13778F92-3F97-A7A4-434A-E24AA9BF0502}"/>
              </a:ext>
            </a:extLst>
          </p:cNvPr>
          <p:cNvSpPr>
            <a:spLocks noGrp="1"/>
          </p:cNvSpPr>
          <p:nvPr>
            <p:ph type="sldNum" sz="quarter" idx="5"/>
          </p:nvPr>
        </p:nvSpPr>
        <p:spPr/>
        <p:txBody>
          <a:bodyPr/>
          <a:lstStyle/>
          <a:p>
            <a:fld id="{E1F93703-73BA-47D5-8B02-C172375928DA}" type="slidenum">
              <a:rPr lang="de-DE" smtClean="0"/>
              <a:t>11</a:t>
            </a:fld>
            <a:endParaRPr lang="de-DE"/>
          </a:p>
        </p:txBody>
      </p:sp>
    </p:spTree>
    <p:extLst>
      <p:ext uri="{BB962C8B-B14F-4D97-AF65-F5344CB8AC3E}">
        <p14:creationId xmlns:p14="http://schemas.microsoft.com/office/powerpoint/2010/main" val="3701488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6A263-6E31-22F6-9D96-B1A428D76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CCA18-4DDC-A0EB-34AD-1637F38C2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61CBB-5712-DD51-2F74-659FEC6068F6}"/>
              </a:ext>
            </a:extLst>
          </p:cNvPr>
          <p:cNvSpPr>
            <a:spLocks noGrp="1"/>
          </p:cNvSpPr>
          <p:nvPr>
            <p:ph type="body" idx="1"/>
          </p:nvPr>
        </p:nvSpPr>
        <p:spPr/>
        <p:txBody>
          <a:bodyPr/>
          <a:lstStyle/>
          <a:p>
            <a:r>
              <a:rPr lang="en-US" dirty="0"/>
              <a:t>Time: 2 min</a:t>
            </a:r>
          </a:p>
          <a:p>
            <a:endParaRPr lang="en-US" dirty="0"/>
          </a:p>
          <a:p>
            <a:pPr>
              <a:buNone/>
            </a:pPr>
            <a:r>
              <a:rPr lang="en-US" dirty="0"/>
              <a:t>Time: 2 min</a:t>
            </a:r>
          </a:p>
          <a:p>
            <a:pPr>
              <a:buNone/>
            </a:pPr>
            <a:br>
              <a:rPr lang="en-US" dirty="0"/>
            </a:br>
            <a:endParaRPr lang="en-US" dirty="0"/>
          </a:p>
          <a:p>
            <a:pPr>
              <a:buNone/>
            </a:pPr>
            <a:r>
              <a:rPr lang="en-US" dirty="0"/>
              <a:t>The backtracking line search works as a update-correction mechanism at each message-passing step k.</a:t>
            </a:r>
          </a:p>
          <a:p>
            <a:pPr>
              <a:buNone/>
            </a:pPr>
            <a:br>
              <a:rPr lang="en-US" dirty="0"/>
            </a:br>
            <a:endParaRPr lang="en-US" dirty="0"/>
          </a:p>
          <a:p>
            <a:pPr>
              <a:buNone/>
            </a:pPr>
            <a:r>
              <a:rPr lang="en-US" dirty="0"/>
              <a:t>We define a merit function as the infinity norm of the P and Q residuals over all nodes. </a:t>
            </a:r>
            <a:r>
              <a:rPr lang="en-US" dirty="0" err="1"/>
              <a:t>Iff</a:t>
            </a:r>
            <a:r>
              <a:rPr lang="en-US" dirty="0"/>
              <a:t> the current step size does not reduce the value of the merit function sufficiently, the method backtracks to one step before, reduces the step size, and checks again whether the merit function decreases enough.</a:t>
            </a:r>
            <a:br>
              <a:rPr lang="en-US" dirty="0"/>
            </a:br>
            <a:endParaRPr lang="en-US" dirty="0"/>
          </a:p>
          <a:p>
            <a:r>
              <a:rPr lang="en-US" dirty="0"/>
              <a:t>By doing so, we can compensate for the inoperative physics loss during inference, resulting in more stable and physically plausible behavior.</a:t>
            </a:r>
          </a:p>
          <a:p>
            <a:endParaRPr lang="en-US" dirty="0"/>
          </a:p>
          <a:p>
            <a:r>
              <a:rPr lang="en-US" dirty="0"/>
              <a:t>---</a:t>
            </a:r>
          </a:p>
          <a:p>
            <a:endParaRPr lang="en-US" dirty="0"/>
          </a:p>
          <a:p>
            <a:r>
              <a:rPr lang="en-US" dirty="0"/>
              <a:t>This slide is a simplified oral version of Algorithm 1. The merit function is the maximum of the active- and reactive-power mismatch infinity norms. We start with the full neural update, set alpha equal to one, and test whether the trial step reduces the mismatch enough according to the Armijo condition. If it does not, we shrink alpha by rho and try again. Once a step passes, we apply it to theta, V, and the latent state m. For presentation clarity, this slide omits the explicit update caps and wrap or clip operators, but the backtracking logic matches the paper.</a:t>
            </a:r>
          </a:p>
        </p:txBody>
      </p:sp>
      <p:sp>
        <p:nvSpPr>
          <p:cNvPr id="4" name="Slide Number Placeholder 3">
            <a:extLst>
              <a:ext uri="{FF2B5EF4-FFF2-40B4-BE49-F238E27FC236}">
                <a16:creationId xmlns:a16="http://schemas.microsoft.com/office/drawing/2014/main" id="{974F5694-D917-3C78-B071-C65451D5F05C}"/>
              </a:ext>
            </a:extLst>
          </p:cNvPr>
          <p:cNvSpPr>
            <a:spLocks noGrp="1"/>
          </p:cNvSpPr>
          <p:nvPr>
            <p:ph type="sldNum" sz="quarter" idx="5"/>
          </p:nvPr>
        </p:nvSpPr>
        <p:spPr/>
        <p:txBody>
          <a:bodyPr/>
          <a:lstStyle/>
          <a:p>
            <a:fld id="{E1F93703-73BA-47D5-8B02-C172375928DA}" type="slidenum">
              <a:rPr lang="de-DE" smtClean="0"/>
              <a:t>12</a:t>
            </a:fld>
            <a:endParaRPr lang="de-DE"/>
          </a:p>
        </p:txBody>
      </p:sp>
    </p:spTree>
    <p:extLst>
      <p:ext uri="{BB962C8B-B14F-4D97-AF65-F5344CB8AC3E}">
        <p14:creationId xmlns:p14="http://schemas.microsoft.com/office/powerpoint/2010/main" val="618052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549DB-DF1A-F93B-CB2F-876CED4B7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B7B45-6B2F-9FB3-1EEF-2449FE8A9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4BB02-0BDB-3FC6-1542-9B82B70F80B8}"/>
              </a:ext>
            </a:extLst>
          </p:cNvPr>
          <p:cNvSpPr>
            <a:spLocks noGrp="1"/>
          </p:cNvSpPr>
          <p:nvPr>
            <p:ph type="body" idx="1"/>
          </p:nvPr>
        </p:nvSpPr>
        <p:spPr/>
        <p:txBody>
          <a:bodyPr/>
          <a:lstStyle/>
          <a:p>
            <a:r>
              <a:rPr lang="en-US" dirty="0"/>
              <a:t>Time: 2 min</a:t>
            </a:r>
          </a:p>
          <a:p>
            <a:endParaRPr lang="en-US" dirty="0"/>
          </a:p>
          <a:p>
            <a:pPr>
              <a:buNone/>
            </a:pPr>
            <a:r>
              <a:rPr lang="en-US" dirty="0"/>
              <a:t>Time: 2 min</a:t>
            </a:r>
          </a:p>
          <a:p>
            <a:pPr>
              <a:buNone/>
            </a:pPr>
            <a:br>
              <a:rPr lang="en-US" dirty="0"/>
            </a:br>
            <a:endParaRPr lang="en-US" dirty="0"/>
          </a:p>
          <a:p>
            <a:pPr>
              <a:buNone/>
            </a:pPr>
            <a:r>
              <a:rPr lang="en-US" dirty="0"/>
              <a:t>The backtracking line search works as a update-correction mechanism at each message-passing step k.</a:t>
            </a:r>
          </a:p>
          <a:p>
            <a:pPr>
              <a:buNone/>
            </a:pPr>
            <a:br>
              <a:rPr lang="en-US" dirty="0"/>
            </a:br>
            <a:endParaRPr lang="en-US" dirty="0"/>
          </a:p>
          <a:p>
            <a:pPr>
              <a:buNone/>
            </a:pPr>
            <a:r>
              <a:rPr lang="en-US" dirty="0"/>
              <a:t>We define a merit function as the infinity norm of the P and Q residuals over all nodes. </a:t>
            </a:r>
            <a:r>
              <a:rPr lang="en-US" dirty="0" err="1"/>
              <a:t>Iff</a:t>
            </a:r>
            <a:r>
              <a:rPr lang="en-US" dirty="0"/>
              <a:t> the current step size does not reduce the value of the merit function sufficiently, the method backtracks to one step before, reduces the step size, and checks again whether the merit function decreases enough.</a:t>
            </a:r>
            <a:br>
              <a:rPr lang="en-US" dirty="0"/>
            </a:br>
            <a:endParaRPr lang="en-US" dirty="0"/>
          </a:p>
          <a:p>
            <a:r>
              <a:rPr lang="en-US" dirty="0"/>
              <a:t>By doing so, we can compensate for the inoperative physics loss during inference, resulting in more stable and physically plausible behavior.</a:t>
            </a:r>
          </a:p>
          <a:p>
            <a:endParaRPr lang="en-US" dirty="0"/>
          </a:p>
          <a:p>
            <a:r>
              <a:rPr lang="en-US" dirty="0"/>
              <a:t>---</a:t>
            </a:r>
          </a:p>
          <a:p>
            <a:endParaRPr lang="en-US" dirty="0"/>
          </a:p>
          <a:p>
            <a:r>
              <a:rPr lang="en-US" dirty="0"/>
              <a:t>This slide is a simplified oral version of Algorithm 1. The merit function is the maximum of the active- and reactive-power mismatch infinity norms. We start with the full neural update, set alpha equal to one, and test whether the trial step reduces the mismatch enough according to the Armijo condition. If it does not, we shrink alpha by rho and try again. Once a step passes, we apply it to theta, V, and the latent state m. For presentation clarity, this slide omits the explicit update caps and wrap or clip operators, but the backtracking logic matches the paper.</a:t>
            </a:r>
          </a:p>
        </p:txBody>
      </p:sp>
      <p:sp>
        <p:nvSpPr>
          <p:cNvPr id="4" name="Slide Number Placeholder 3">
            <a:extLst>
              <a:ext uri="{FF2B5EF4-FFF2-40B4-BE49-F238E27FC236}">
                <a16:creationId xmlns:a16="http://schemas.microsoft.com/office/drawing/2014/main" id="{C7AEC9BB-2EA9-7B97-6572-3B44A8CD0F13}"/>
              </a:ext>
            </a:extLst>
          </p:cNvPr>
          <p:cNvSpPr>
            <a:spLocks noGrp="1"/>
          </p:cNvSpPr>
          <p:nvPr>
            <p:ph type="sldNum" sz="quarter" idx="5"/>
          </p:nvPr>
        </p:nvSpPr>
        <p:spPr/>
        <p:txBody>
          <a:bodyPr/>
          <a:lstStyle/>
          <a:p>
            <a:fld id="{E1F93703-73BA-47D5-8B02-C172375928DA}" type="slidenum">
              <a:rPr lang="de-DE" smtClean="0"/>
              <a:t>13</a:t>
            </a:fld>
            <a:endParaRPr lang="de-DE"/>
          </a:p>
        </p:txBody>
      </p:sp>
    </p:spTree>
    <p:extLst>
      <p:ext uri="{BB962C8B-B14F-4D97-AF65-F5344CB8AC3E}">
        <p14:creationId xmlns:p14="http://schemas.microsoft.com/office/powerpoint/2010/main" val="698337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17ABE-62F5-B443-CDA6-BF0F7B409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A227A-84AC-6D9D-EAE9-E829B6293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0751A9-AE2C-4044-47BA-8BD85D018296}"/>
              </a:ext>
            </a:extLst>
          </p:cNvPr>
          <p:cNvSpPr>
            <a:spLocks noGrp="1"/>
          </p:cNvSpPr>
          <p:nvPr>
            <p:ph type="body" idx="1"/>
          </p:nvPr>
        </p:nvSpPr>
        <p:spPr/>
        <p:txBody>
          <a:bodyPr/>
          <a:lstStyle/>
          <a:p>
            <a:r>
              <a:rPr lang="en-US" dirty="0"/>
              <a:t>Time: 2 min</a:t>
            </a:r>
          </a:p>
          <a:p>
            <a:endParaRPr lang="en-US" dirty="0"/>
          </a:p>
          <a:p>
            <a:pPr>
              <a:buNone/>
            </a:pPr>
            <a:r>
              <a:rPr lang="en-US" dirty="0"/>
              <a:t>And the experiments were conducted with the following settings.</a:t>
            </a:r>
            <a:br>
              <a:rPr lang="en-US" dirty="0"/>
            </a:br>
            <a:endParaRPr lang="en-US" dirty="0"/>
          </a:p>
          <a:p>
            <a:pPr>
              <a:buNone/>
            </a:pPr>
            <a:r>
              <a:rPr lang="en-US" dirty="0"/>
              <a:t>First, for the dataset, we generated diverse grid scenarios using European- and German-inspired medium- and high-voltage parameter ranges for both node and edge features. After removing outliers, the dataset consists of about 30,000 scenarios. All training cases use grid sizes from 4 to 32 nodes with various topologies.</a:t>
            </a:r>
            <a:br>
              <a:rPr lang="en-US" dirty="0"/>
            </a:br>
            <a:endParaRPr lang="en-US" dirty="0"/>
          </a:p>
          <a:p>
            <a:pPr>
              <a:buNone/>
            </a:pPr>
            <a:r>
              <a:rPr lang="en-US" dirty="0"/>
              <a:t>Second, for training, we used only the physics loss, discounted over k message-passing correction steps, without any supervised loss based on Newton–Raphson labels. We used </a:t>
            </a:r>
            <a:r>
              <a:rPr lang="en-US" dirty="0" err="1"/>
              <a:t>AdamW</a:t>
            </a:r>
            <a:r>
              <a:rPr lang="en-US" dirty="0"/>
              <a:t> with a cosine learning-rate schedule. The training and test sets were split equally, since we could generate sufficient data from the given parameter ranges. The experiments were run on an RTX 3070 8GB GPU with an i7 CPU with 20 cores, and the batching strategy was block-diagonal batching rather than same-size batching.</a:t>
            </a:r>
            <a:br>
              <a:rPr lang="en-US" dirty="0"/>
            </a:br>
            <a:endParaRPr lang="en-US" dirty="0"/>
          </a:p>
          <a:p>
            <a:pPr>
              <a:buNone/>
            </a:pPr>
            <a:r>
              <a:rPr lang="en-US" dirty="0"/>
              <a:t>For evaluation, we used Newton–Raphson solutions only as reference labels to measure the RMSE of the voltage and angle outputs from the physics-informed method.</a:t>
            </a:r>
            <a:br>
              <a:rPr lang="en-US" dirty="0"/>
            </a:br>
            <a:endParaRPr lang="en-US" dirty="0"/>
          </a:p>
          <a:p>
            <a:r>
              <a:rPr lang="en-US" dirty="0"/>
              <a:t>We also evaluated both single-scenario and multi-scenario throughput against Newton–Raphson.</a:t>
            </a:r>
          </a:p>
        </p:txBody>
      </p:sp>
      <p:sp>
        <p:nvSpPr>
          <p:cNvPr id="4" name="Slide Number Placeholder 3">
            <a:extLst>
              <a:ext uri="{FF2B5EF4-FFF2-40B4-BE49-F238E27FC236}">
                <a16:creationId xmlns:a16="http://schemas.microsoft.com/office/drawing/2014/main" id="{45C6E0FF-05A0-25D4-1B29-C97B790F78FB}"/>
              </a:ext>
            </a:extLst>
          </p:cNvPr>
          <p:cNvSpPr>
            <a:spLocks noGrp="1"/>
          </p:cNvSpPr>
          <p:nvPr>
            <p:ph type="sldNum" sz="quarter" idx="5"/>
          </p:nvPr>
        </p:nvSpPr>
        <p:spPr/>
        <p:txBody>
          <a:bodyPr/>
          <a:lstStyle/>
          <a:p>
            <a:fld id="{E1F93703-73BA-47D5-8B02-C172375928DA}" type="slidenum">
              <a:rPr lang="de-DE" smtClean="0"/>
              <a:t>15</a:t>
            </a:fld>
            <a:endParaRPr lang="de-DE"/>
          </a:p>
        </p:txBody>
      </p:sp>
    </p:spTree>
    <p:extLst>
      <p:ext uri="{BB962C8B-B14F-4D97-AF65-F5344CB8AC3E}">
        <p14:creationId xmlns:p14="http://schemas.microsoft.com/office/powerpoint/2010/main" val="2276601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9FF31-893A-37B8-00BD-2F5FEDA3E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024DE-F661-A7C1-B820-2638D96B5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47B46-10F9-3D96-ABCD-7454FC3DDC6C}"/>
              </a:ext>
            </a:extLst>
          </p:cNvPr>
          <p:cNvSpPr>
            <a:spLocks noGrp="1"/>
          </p:cNvSpPr>
          <p:nvPr>
            <p:ph type="body" idx="1"/>
          </p:nvPr>
        </p:nvSpPr>
        <p:spPr/>
        <p:txBody>
          <a:bodyPr/>
          <a:lstStyle/>
          <a:p>
            <a:r>
              <a:rPr lang="en-US" dirty="0"/>
              <a:t>Time: 2 min</a:t>
            </a:r>
          </a:p>
          <a:p>
            <a:endParaRPr lang="en-US" dirty="0"/>
          </a:p>
          <a:p>
            <a:pPr>
              <a:buNone/>
            </a:pPr>
            <a:r>
              <a:rPr lang="en-US" dirty="0"/>
              <a:t>This is the main results table with the ablation study.</a:t>
            </a:r>
          </a:p>
          <a:p>
            <a:pPr>
              <a:buNone/>
            </a:pPr>
            <a:endParaRPr lang="en-US" dirty="0"/>
          </a:p>
          <a:p>
            <a:pPr>
              <a:buNone/>
            </a:pPr>
            <a:r>
              <a:rPr lang="en-US" dirty="0"/>
              <a:t>We report test RMSE for voltage magnitude and angle on the high-voltage, medium-voltage, and the combined dataset.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voltage update cap bounds the maximum update at each iteration k.</a:t>
            </a:r>
          </a:p>
          <a:p>
            <a:pPr>
              <a:buNone/>
            </a:pPr>
            <a:endParaRPr lang="en-US" dirty="0"/>
          </a:p>
          <a:p>
            <a:pPr>
              <a:buNone/>
            </a:pPr>
            <a:r>
              <a:rPr lang="en-US" dirty="0"/>
              <a:t>The ablation compares two things: first, MLP versus attention-based aggregation, and second, the effect of the inference correction mechanism, namely voltage update caps and line search.</a:t>
            </a:r>
            <a:br>
              <a:rPr lang="en-US" dirty="0"/>
            </a:br>
            <a:endParaRPr lang="en-US" dirty="0"/>
          </a:p>
          <a:p>
            <a:pPr>
              <a:buNone/>
            </a:pPr>
            <a:r>
              <a:rPr lang="en-US" dirty="0"/>
              <a:t>Overall, the attention-based aggregator performs better than the MLP-based one in most settings. This gain is especially clear in the medium-voltage case, where the grid is more anisotropic.</a:t>
            </a:r>
            <a:br>
              <a:rPr lang="en-US" dirty="0"/>
            </a:br>
            <a:endParaRPr lang="en-US" dirty="0"/>
          </a:p>
          <a:p>
            <a:pPr>
              <a:buNone/>
            </a:pPr>
            <a:r>
              <a:rPr lang="en-US" dirty="0"/>
              <a:t>We also find that voltage update caps and line search improve performance consistently across almost all cases. For the high-voltage dataset, the best result comes from PIGNN-Attn with both voltage caps and line search. For the medium-voltage dataset, the variant without voltage caps performs slightly better. And for the combined HV+MV dataset, the full model again performs best overall.</a:t>
            </a:r>
            <a:br>
              <a:rPr lang="en-US" dirty="0"/>
            </a:br>
            <a:endParaRPr lang="en-US" dirty="0"/>
          </a:p>
          <a:p>
            <a:r>
              <a:rPr lang="en-US" dirty="0"/>
              <a:t>So the main takeaway is that edge-aware attention improves the representation, and line search improves robustness. Together, they reduce the voltage RMSE to 3.3 \times 10^{-4} and the angle RMSE to 0.08, which is 99.5% and 87.1% lower than the PIGNN-MLP baseline.</a:t>
            </a:r>
          </a:p>
          <a:p>
            <a:endParaRPr lang="en-US" dirty="0"/>
          </a:p>
          <a:p>
            <a:r>
              <a:rPr lang="en-US" dirty="0"/>
              <a:t>---</a:t>
            </a:r>
          </a:p>
          <a:p>
            <a:endParaRPr lang="en-US" dirty="0"/>
          </a:p>
          <a:p>
            <a:r>
              <a:rPr lang="en-US" dirty="0"/>
              <a:t>And this is the main result table with ablation study. </a:t>
            </a:r>
          </a:p>
          <a:p>
            <a:r>
              <a:rPr lang="en-US" dirty="0"/>
              <a:t>We reported test RMSE of voltage magnitude and Angle across Hight voltage dataset and Medium voltage dataset and the combined dataset of High voltage and medium voltage.</a:t>
            </a:r>
          </a:p>
          <a:p>
            <a:r>
              <a:rPr lang="en-US" dirty="0"/>
              <a:t>And the </a:t>
            </a:r>
            <a:r>
              <a:rPr lang="en-US" dirty="0" err="1"/>
              <a:t>abalation</a:t>
            </a:r>
            <a:r>
              <a:rPr lang="en-US" dirty="0"/>
              <a:t> is basically test the MLP vs attention based aggregator and  the effect of update correction method the voltage update caps and line search.</a:t>
            </a:r>
          </a:p>
          <a:p>
            <a:r>
              <a:rPr lang="en-US" dirty="0"/>
              <a:t>For most of the cases attn aggregator outperform </a:t>
            </a:r>
            <a:r>
              <a:rPr lang="en-US" dirty="0" err="1"/>
              <a:t>mlp</a:t>
            </a:r>
            <a:r>
              <a:rPr lang="en-US" dirty="0"/>
              <a:t> aggregator and especially in the medium voltage attn aggregator is </a:t>
            </a:r>
            <a:r>
              <a:rPr lang="en-US" dirty="0" err="1"/>
              <a:t>notablely</a:t>
            </a:r>
            <a:r>
              <a:rPr lang="en-US" dirty="0"/>
              <a:t> better as it has more anisotropy in the grid</a:t>
            </a:r>
          </a:p>
          <a:p>
            <a:endParaRPr lang="en-US" dirty="0"/>
          </a:p>
          <a:p>
            <a:r>
              <a:rPr lang="en-US" dirty="0"/>
              <a:t>and voltage update caps and line search is significantly  improve the result across all over the result as the best performer of HV is PIGNN-Attn with voltage update caps and line </a:t>
            </a:r>
            <a:r>
              <a:rPr lang="en-US" dirty="0" err="1"/>
              <a:t>seasrch</a:t>
            </a:r>
            <a:r>
              <a:rPr lang="en-US" dirty="0"/>
              <a:t> and for medium voltage without voltage update caps is slightly better </a:t>
            </a:r>
            <a:r>
              <a:rPr lang="en-US" dirty="0" err="1"/>
              <a:t>performce</a:t>
            </a:r>
            <a:r>
              <a:rPr lang="en-US" dirty="0"/>
              <a:t> and for HV+MV the full model also best performed </a:t>
            </a:r>
            <a:r>
              <a:rPr lang="en-US" dirty="0" err="1"/>
              <a:t>aomong</a:t>
            </a:r>
            <a:r>
              <a:rPr lang="en-US" dirty="0"/>
              <a:t> all other settings.</a:t>
            </a:r>
          </a:p>
          <a:p>
            <a:endParaRPr lang="en-US" dirty="0"/>
          </a:p>
          <a:p>
            <a:r>
              <a:rPr lang="en-US" dirty="0"/>
              <a:t>So to summarize the result the edge aware attention improves the representation and </a:t>
            </a:r>
            <a:r>
              <a:rPr lang="en-US" dirty="0" err="1"/>
              <a:t>lin</a:t>
            </a:r>
            <a:r>
              <a:rPr lang="en-US" dirty="0"/>
              <a:t> search drives robustness resulting in 3.3eto the 04 voltage </a:t>
            </a:r>
            <a:r>
              <a:rPr lang="en-US" dirty="0" err="1"/>
              <a:t>rmse</a:t>
            </a:r>
            <a:r>
              <a:rPr lang="en-US" dirty="0"/>
              <a:t> and 0.08 angle </a:t>
            </a:r>
            <a:r>
              <a:rPr lang="en-US" dirty="0" err="1"/>
              <a:t>rmse</a:t>
            </a:r>
            <a:r>
              <a:rPr lang="en-US" dirty="0"/>
              <a:t> which is 99.5 and 87.1 percent lower than PIGNN-MLP baseline.</a:t>
            </a:r>
          </a:p>
          <a:p>
            <a:endParaRPr lang="en-US" dirty="0"/>
          </a:p>
          <a:p>
            <a:r>
              <a:rPr lang="en-US" dirty="0"/>
              <a:t>Here we compared our PIGNN(physics informed graph neural network) with Attention aggregator to the baseline PIGNN with MLP aggregator</a:t>
            </a:r>
          </a:p>
          <a:p>
            <a:r>
              <a:rPr lang="en-US" dirty="0"/>
              <a:t>And for ablation we tested 3 mechanism first </a:t>
            </a:r>
            <a:r>
              <a:rPr lang="en-US" dirty="0" err="1"/>
              <a:t>aagregator</a:t>
            </a:r>
            <a:r>
              <a:rPr lang="en-US" dirty="0"/>
              <a:t> MLP vs attention, second per-iteration voltage update caps and third backtracking line search.</a:t>
            </a:r>
          </a:p>
          <a:p>
            <a:r>
              <a:rPr lang="en-US" dirty="0"/>
              <a:t>And the </a:t>
            </a:r>
            <a:r>
              <a:rPr lang="en-US" dirty="0" err="1"/>
              <a:t>resulst</a:t>
            </a:r>
            <a:r>
              <a:rPr lang="en-US" dirty="0"/>
              <a:t> consistently show attn aggregator outperform the </a:t>
            </a:r>
            <a:r>
              <a:rPr lang="en-US" dirty="0" err="1"/>
              <a:t>mlp</a:t>
            </a:r>
            <a:r>
              <a:rPr lang="en-US" dirty="0"/>
              <a:t> aggregator all over the cases and voltage update </a:t>
            </a:r>
            <a:r>
              <a:rPr lang="en-US" dirty="0" err="1"/>
              <a:t>cpas</a:t>
            </a:r>
            <a:r>
              <a:rPr lang="en-US" dirty="0"/>
              <a:t> and line search is </a:t>
            </a:r>
            <a:r>
              <a:rPr lang="en-US" dirty="0" err="1"/>
              <a:t>particually</a:t>
            </a:r>
            <a:r>
              <a:rPr lang="en-US" dirty="0"/>
              <a:t> helpful to reduce the </a:t>
            </a:r>
            <a:r>
              <a:rPr lang="en-US" dirty="0" err="1"/>
              <a:t>rmse</a:t>
            </a:r>
            <a:r>
              <a:rPr lang="en-US" dirty="0"/>
              <a:t> of both voltage </a:t>
            </a:r>
            <a:r>
              <a:rPr lang="en-US" dirty="0" err="1"/>
              <a:t>mangnitude</a:t>
            </a:r>
            <a:r>
              <a:rPr lang="en-US" dirty="0"/>
              <a:t> and angle.</a:t>
            </a:r>
          </a:p>
          <a:p>
            <a:endParaRPr lang="en-US" dirty="0"/>
          </a:p>
          <a:p>
            <a:r>
              <a:rPr lang="en-US" dirty="0"/>
              <a:t> we start from base model without any update correction mechanism to adding both voltage update caps or line search.</a:t>
            </a:r>
          </a:p>
          <a:p>
            <a:r>
              <a:rPr lang="en-US" dirty="0"/>
              <a:t> </a:t>
            </a:r>
          </a:p>
          <a:p>
            <a:endParaRPr lang="en-US" dirty="0"/>
          </a:p>
          <a:p>
            <a:r>
              <a:rPr lang="en-US" dirty="0"/>
              <a:t>This slide is a simplified oral version of Algorithm 1. The merit function is the maximum of the active- and reactive-power mismatch infinity norms. We start with the full neural update, set alpha equal to one, and test whether the trial step reduces the mismatch enough according to the Armijo condition. If it does not, we shrink alpha by rho and try again. Once a step passes, we apply it to theta, V, and the latent state m. For presentation clarity, this slide omits the explicit update caps and wrap or clip operators, but the backtracking logic matches the paper.</a:t>
            </a:r>
          </a:p>
        </p:txBody>
      </p:sp>
      <p:sp>
        <p:nvSpPr>
          <p:cNvPr id="4" name="Slide Number Placeholder 3">
            <a:extLst>
              <a:ext uri="{FF2B5EF4-FFF2-40B4-BE49-F238E27FC236}">
                <a16:creationId xmlns:a16="http://schemas.microsoft.com/office/drawing/2014/main" id="{3713F764-E06A-4F90-9257-74D96BEB9D8F}"/>
              </a:ext>
            </a:extLst>
          </p:cNvPr>
          <p:cNvSpPr>
            <a:spLocks noGrp="1"/>
          </p:cNvSpPr>
          <p:nvPr>
            <p:ph type="sldNum" sz="quarter" idx="5"/>
          </p:nvPr>
        </p:nvSpPr>
        <p:spPr/>
        <p:txBody>
          <a:bodyPr/>
          <a:lstStyle/>
          <a:p>
            <a:fld id="{E1F93703-73BA-47D5-8B02-C172375928DA}" type="slidenum">
              <a:rPr lang="de-DE" smtClean="0"/>
              <a:t>16</a:t>
            </a:fld>
            <a:endParaRPr lang="de-DE"/>
          </a:p>
        </p:txBody>
      </p:sp>
    </p:spTree>
    <p:extLst>
      <p:ext uri="{BB962C8B-B14F-4D97-AF65-F5344CB8AC3E}">
        <p14:creationId xmlns:p14="http://schemas.microsoft.com/office/powerpoint/2010/main" val="4182036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C6328-0670-4CEF-C48D-04D5A7CDC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E80993-C997-D6A6-2CDD-DF8E617F6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75D94-2461-018E-F3A7-D13D90B124B6}"/>
              </a:ext>
            </a:extLst>
          </p:cNvPr>
          <p:cNvSpPr>
            <a:spLocks noGrp="1"/>
          </p:cNvSpPr>
          <p:nvPr>
            <p:ph type="body" idx="1"/>
          </p:nvPr>
        </p:nvSpPr>
        <p:spPr/>
        <p:txBody>
          <a:bodyPr/>
          <a:lstStyle/>
          <a:p>
            <a:r>
              <a:rPr lang="en-US" dirty="0"/>
              <a:t>Time: 1 min</a:t>
            </a:r>
          </a:p>
          <a:p>
            <a:endParaRPr lang="en-US" dirty="0"/>
          </a:p>
          <a:p>
            <a:pPr>
              <a:buNone/>
            </a:pPr>
            <a:r>
              <a:rPr lang="en-US" dirty="0"/>
              <a:t>We benchmark the throughput of our PIGNN, implemented in </a:t>
            </a:r>
            <a:r>
              <a:rPr lang="en-US" dirty="0" err="1"/>
              <a:t>PyTorch</a:t>
            </a:r>
            <a:r>
              <a:rPr lang="en-US" dirty="0"/>
              <a:t>, against a Newton–Raphson baseline implemented as an optimized, vectorized NumPy solver.</a:t>
            </a:r>
            <a:br>
              <a:rPr lang="en-US" dirty="0"/>
            </a:br>
            <a:endParaRPr lang="en-US" dirty="0"/>
          </a:p>
          <a:p>
            <a:r>
              <a:rPr lang="en-US" dirty="0"/>
              <a:t>The results are reported as the median inference time over multiple runs, with 2 warmup and 5 repeat cycles.</a:t>
            </a:r>
          </a:p>
          <a:p>
            <a:pPr>
              <a:buNone/>
            </a:pPr>
            <a:endParaRPr lang="en-US" dirty="0"/>
          </a:p>
          <a:p>
            <a:pPr>
              <a:buNone/>
            </a:pPr>
            <a:r>
              <a:rPr lang="en-US" dirty="0"/>
              <a:t>In both regimes, the Newton–Raphson increases </a:t>
            </a:r>
            <a:r>
              <a:rPr lang="en-US" dirty="0" err="1"/>
              <a:t>superlinearly</a:t>
            </a:r>
            <a:r>
              <a:rPr lang="en-US" dirty="0"/>
              <a:t> but </a:t>
            </a:r>
            <a:r>
              <a:rPr lang="en-US" dirty="0" err="1"/>
              <a:t>polynominally</a:t>
            </a:r>
            <a:r>
              <a:rPr lang="en-US" dirty="0"/>
              <a:t>, while the PIGNN grows more gently.</a:t>
            </a:r>
          </a:p>
          <a:p>
            <a:pPr>
              <a:buNone/>
            </a:pPr>
            <a:endParaRPr lang="en-US" dirty="0"/>
          </a:p>
          <a:p>
            <a:pPr>
              <a:buNone/>
            </a:pPr>
            <a:r>
              <a:rPr lang="en-US" dirty="0"/>
              <a:t>In single-scenario runs, Newton–Raphson is competitive for smaller grid size, but PIGNN becomes faster as N increases.</a:t>
            </a:r>
            <a:br>
              <a:rPr lang="en-US" dirty="0"/>
            </a:br>
            <a:endParaRPr lang="en-US" dirty="0"/>
          </a:p>
          <a:p>
            <a:r>
              <a:rPr lang="en-US" dirty="0"/>
              <a:t>In multi-scenario runs, PIGNN is consistently faster across all grid sizes.</a:t>
            </a:r>
          </a:p>
          <a:p>
            <a:endParaRPr lang="en-US" dirty="0"/>
          </a:p>
          <a:p>
            <a:endParaRPr lang="en-US" dirty="0"/>
          </a:p>
          <a:p>
            <a:r>
              <a:rPr lang="en-US" dirty="0"/>
              <a:t>---</a:t>
            </a:r>
          </a:p>
          <a:p>
            <a:r>
              <a:rPr lang="en-US" dirty="0"/>
              <a:t>We benchmark the throughput of our PIGNN, implemented in </a:t>
            </a:r>
            <a:r>
              <a:rPr lang="en-US" dirty="0" err="1"/>
              <a:t>PyTorch</a:t>
            </a:r>
            <a:r>
              <a:rPr lang="en-US" dirty="0"/>
              <a:t>, against a Newton-Raphson baseline coded as an optimized, vectorized NumPy solver.</a:t>
            </a:r>
          </a:p>
          <a:p>
            <a:r>
              <a:rPr lang="en-US" dirty="0"/>
              <a:t>Results are reported as median inference time over multiple runs with 2 warmup and 5 repeat cycles.</a:t>
            </a:r>
          </a:p>
          <a:p>
            <a:r>
              <a:rPr lang="en-US" dirty="0"/>
              <a:t>As you can see across both regimes NR time scales super-linearly but </a:t>
            </a:r>
            <a:r>
              <a:rPr lang="en-US" b="0" i="0" dirty="0" err="1">
                <a:solidFill>
                  <a:srgbClr val="0A0A0A"/>
                </a:solidFill>
                <a:effectLst/>
                <a:latin typeface="Google Sans"/>
              </a:rPr>
              <a:t>polynomially</a:t>
            </a:r>
            <a:r>
              <a:rPr lang="en-US" dirty="0"/>
              <a:t> with N while PIGNN grows more gentle.</a:t>
            </a:r>
          </a:p>
          <a:p>
            <a:r>
              <a:rPr lang="en-US" dirty="0"/>
              <a:t>IN single-scenario run, NR is competitive for N &lt; 200 but PIGNN becomes faster as N increase. In multi-scenario runs PIGNN </a:t>
            </a:r>
            <a:r>
              <a:rPr lang="en-US" dirty="0" err="1"/>
              <a:t>acheives</a:t>
            </a:r>
            <a:r>
              <a:rPr lang="en-US" dirty="0"/>
              <a:t> about 3x higher throughput than NR on average and is consistently faster across all gird sizes</a:t>
            </a:r>
          </a:p>
          <a:p>
            <a:endParaRPr lang="en-US" dirty="0"/>
          </a:p>
          <a:p>
            <a:r>
              <a:rPr lang="en-US" dirty="0"/>
              <a:t>This slide should not repeat Table 2. Instead, it explains why the pattern in Table 2 happens. Attention improves the quality of the learned correction direction by making aggregation edge-aware. Update caps prevent overly aggressive moves, but on their own they are not the main source of robustness. The line search is the dominant inference-time mechanism: it controls how much of the proposed step is actually applied and enforces residual decrease. So the clean message is that attention improves the proposal, while line search and caps stabilize its execution.</a:t>
            </a:r>
          </a:p>
        </p:txBody>
      </p:sp>
      <p:sp>
        <p:nvSpPr>
          <p:cNvPr id="4" name="Slide Number Placeholder 3">
            <a:extLst>
              <a:ext uri="{FF2B5EF4-FFF2-40B4-BE49-F238E27FC236}">
                <a16:creationId xmlns:a16="http://schemas.microsoft.com/office/drawing/2014/main" id="{5C61D446-8525-DEEB-1E2D-6731A6F616AD}"/>
              </a:ext>
            </a:extLst>
          </p:cNvPr>
          <p:cNvSpPr>
            <a:spLocks noGrp="1"/>
          </p:cNvSpPr>
          <p:nvPr>
            <p:ph type="sldNum" sz="quarter" idx="5"/>
          </p:nvPr>
        </p:nvSpPr>
        <p:spPr/>
        <p:txBody>
          <a:bodyPr/>
          <a:lstStyle/>
          <a:p>
            <a:fld id="{E1F93703-73BA-47D5-8B02-C172375928DA}" type="slidenum">
              <a:rPr lang="de-DE" smtClean="0"/>
              <a:t>17</a:t>
            </a:fld>
            <a:endParaRPr lang="de-DE"/>
          </a:p>
        </p:txBody>
      </p:sp>
    </p:spTree>
    <p:extLst>
      <p:ext uri="{BB962C8B-B14F-4D97-AF65-F5344CB8AC3E}">
        <p14:creationId xmlns:p14="http://schemas.microsoft.com/office/powerpoint/2010/main" val="6193228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7E91E-7806-6959-2477-F3FDCEE38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B92F5-F4E9-FE12-B674-F8E18E2BB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21249-7A90-5068-43A6-C03DABEBE58B}"/>
              </a:ext>
            </a:extLst>
          </p:cNvPr>
          <p:cNvSpPr>
            <a:spLocks noGrp="1"/>
          </p:cNvSpPr>
          <p:nvPr>
            <p:ph type="body" idx="1"/>
          </p:nvPr>
        </p:nvSpPr>
        <p:spPr/>
        <p:txBody>
          <a:bodyPr/>
          <a:lstStyle/>
          <a:p>
            <a:r>
              <a:rPr lang="en-US" dirty="0"/>
              <a:t>Time: 1 min</a:t>
            </a:r>
          </a:p>
          <a:p>
            <a:endParaRPr lang="en-US" dirty="0"/>
          </a:p>
          <a:p>
            <a:pPr>
              <a:buNone/>
            </a:pPr>
            <a:r>
              <a:rPr lang="en-US" dirty="0"/>
              <a:t>Now we can conclude this work by revisiting the two key priors we addressed.</a:t>
            </a:r>
          </a:p>
          <a:p>
            <a:pPr>
              <a:buNone/>
            </a:pPr>
            <a:br>
              <a:rPr lang="en-US" dirty="0"/>
            </a:br>
            <a:endParaRPr lang="en-US" dirty="0"/>
          </a:p>
          <a:p>
            <a:pPr>
              <a:buNone/>
            </a:pPr>
            <a:r>
              <a:rPr lang="en-US" dirty="0"/>
              <a:t>At the representation level, edge-aware attention brings line physics directly into the aggregation operator. This makes the layer a fully differentiable known-operator layer inside the computational graph, while also capturing the anisotropy of the grid.</a:t>
            </a:r>
          </a:p>
          <a:p>
            <a:pPr>
              <a:buNone/>
            </a:pPr>
            <a:br>
              <a:rPr lang="en-US" dirty="0"/>
            </a:br>
            <a:endParaRPr lang="en-US" dirty="0"/>
          </a:p>
          <a:p>
            <a:pPr>
              <a:buNone/>
            </a:pPr>
            <a:r>
              <a:rPr lang="en-US" dirty="0"/>
              <a:t>At the inference level, backtracking line search restores the physical decrease criterion operative again during inference.</a:t>
            </a:r>
          </a:p>
          <a:p>
            <a:pPr>
              <a:buNone/>
            </a:pPr>
            <a:br>
              <a:rPr lang="en-US" dirty="0"/>
            </a:br>
            <a:endParaRPr lang="en-US" dirty="0"/>
          </a:p>
          <a:p>
            <a:r>
              <a:rPr lang="en-US" dirty="0"/>
              <a:t>Together, these changes provide Newton–Raphson-level accuracy with meaningful throughput advantages. This highlights the promise of graph representation learning for power systems and motivates future work on broader scalability, more rigorous benchmarking, and integration into operational systems.</a:t>
            </a:r>
          </a:p>
          <a:p>
            <a:endParaRPr lang="en-US" dirty="0"/>
          </a:p>
          <a:p>
            <a:endParaRPr lang="en-US" dirty="0"/>
          </a:p>
          <a:p>
            <a:r>
              <a:rPr lang="en-US" dirty="0"/>
              <a:t>---</a:t>
            </a:r>
          </a:p>
          <a:p>
            <a:endParaRPr lang="en-US" dirty="0"/>
          </a:p>
          <a:p>
            <a:pPr>
              <a:buNone/>
            </a:pPr>
            <a:r>
              <a:rPr lang="en-US" dirty="0"/>
              <a:t>Now we can conclude this work by revisiting the two important priors that we tackled.</a:t>
            </a:r>
          </a:p>
          <a:p>
            <a:pPr>
              <a:buNone/>
            </a:pPr>
            <a:endParaRPr lang="en-US" dirty="0"/>
          </a:p>
          <a:p>
            <a:pPr>
              <a:buNone/>
            </a:pPr>
            <a:r>
              <a:rPr lang="en-US" dirty="0"/>
              <a:t>At the representation level, edge-aware attention brings the line physics directly into the aggregation operator, resulting in a fully differentiable known-operator layer inside the computational graph, while also capturing the grid’s anisotropy.</a:t>
            </a:r>
            <a:br>
              <a:rPr lang="en-US" dirty="0"/>
            </a:br>
            <a:endParaRPr lang="en-US" dirty="0"/>
          </a:p>
          <a:p>
            <a:pPr>
              <a:buNone/>
            </a:pPr>
            <a:r>
              <a:rPr lang="en-US" dirty="0"/>
              <a:t>At the inference level, backtracking line search makes the physical decrease criterion operative again at deployment.</a:t>
            </a:r>
            <a:br>
              <a:rPr lang="en-US" dirty="0"/>
            </a:br>
            <a:endParaRPr lang="en-US" dirty="0"/>
          </a:p>
          <a:p>
            <a:r>
              <a:rPr lang="en-US" dirty="0"/>
              <a:t>Together, these changes give NR-level accuracy with meaningful throughput advantages, which highlight the promise of neural-network-based solvers for power systems and motivate future work on broader scalability, rigorous benchmarking, and integration into operational systems.</a:t>
            </a:r>
          </a:p>
          <a:p>
            <a:endParaRPr lang="en-US" dirty="0"/>
          </a:p>
          <a:p>
            <a:r>
              <a:rPr lang="en-US" dirty="0"/>
              <a:t>To conclude, the paper's message is that two priors matter. At the representation level, edge-aware attention brings line physics directly into the aggregation operator. At the inference level, backtracking line search makes the physical decrease criterion operative again at deployment. Together these changes give NR-level accuracy with meaningful throughput advantages, which supports the broader case for neural-network-based solvers in power systems.</a:t>
            </a:r>
          </a:p>
        </p:txBody>
      </p:sp>
      <p:sp>
        <p:nvSpPr>
          <p:cNvPr id="4" name="Slide Number Placeholder 3">
            <a:extLst>
              <a:ext uri="{FF2B5EF4-FFF2-40B4-BE49-F238E27FC236}">
                <a16:creationId xmlns:a16="http://schemas.microsoft.com/office/drawing/2014/main" id="{70AAB40D-B32B-CE35-F74E-1BD52CC30538}"/>
              </a:ext>
            </a:extLst>
          </p:cNvPr>
          <p:cNvSpPr>
            <a:spLocks noGrp="1"/>
          </p:cNvSpPr>
          <p:nvPr>
            <p:ph type="sldNum" sz="quarter" idx="5"/>
          </p:nvPr>
        </p:nvSpPr>
        <p:spPr/>
        <p:txBody>
          <a:bodyPr/>
          <a:lstStyle/>
          <a:p>
            <a:fld id="{E1F93703-73BA-47D5-8B02-C172375928DA}" type="slidenum">
              <a:rPr lang="de-DE" smtClean="0"/>
              <a:t>18</a:t>
            </a:fld>
            <a:endParaRPr lang="de-DE"/>
          </a:p>
        </p:txBody>
      </p:sp>
    </p:spTree>
    <p:extLst>
      <p:ext uri="{BB962C8B-B14F-4D97-AF65-F5344CB8AC3E}">
        <p14:creationId xmlns:p14="http://schemas.microsoft.com/office/powerpoint/2010/main" val="1708866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93703-73BA-47D5-8B02-C172375928DA}" type="slidenum">
              <a:rPr lang="de-DE" smtClean="0"/>
              <a:t>19</a:t>
            </a:fld>
            <a:endParaRPr lang="de-DE"/>
          </a:p>
        </p:txBody>
      </p:sp>
    </p:spTree>
    <p:extLst>
      <p:ext uri="{BB962C8B-B14F-4D97-AF65-F5344CB8AC3E}">
        <p14:creationId xmlns:p14="http://schemas.microsoft.com/office/powerpoint/2010/main" val="1796903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168" name="Textplatzhalter 167">
            <a:extLst>
              <a:ext uri="{FF2B5EF4-FFF2-40B4-BE49-F238E27FC236}">
                <a16:creationId xmlns:a16="http://schemas.microsoft.com/office/drawing/2014/main" id="{91CA67B1-C872-42F5-99A5-C31B319F69AF}"/>
              </a:ext>
            </a:extLst>
          </p:cNvPr>
          <p:cNvSpPr>
            <a:spLocks noGrp="1"/>
          </p:cNvSpPr>
          <p:nvPr>
            <p:ph type="body" sz="quarter" idx="11"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165" name="Bildplatzhalter 60">
            <a:extLst>
              <a:ext uri="{FF2B5EF4-FFF2-40B4-BE49-F238E27FC236}">
                <a16:creationId xmlns:a16="http://schemas.microsoft.com/office/drawing/2014/main" id="{F018B551-27B5-4B00-BF39-7527999917AE}"/>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520163" y="2913731"/>
            <a:ext cx="4979505" cy="1030539"/>
          </a:xfrm>
        </p:spPr>
        <p:txBody>
          <a:bodyPr wrap="none" tIns="0" rIns="0"/>
          <a:lstStyle>
            <a:lvl1pPr algn="l">
              <a:lnSpc>
                <a:spcPct val="110000"/>
              </a:lnSpc>
              <a:defRPr sz="6600">
                <a:solidFill>
                  <a:schemeClr val="tx1"/>
                </a:solidFill>
              </a:defRPr>
            </a:lvl1pPr>
          </a:lstStyle>
          <a:p>
            <a:r>
              <a:rPr lang="de-DE" dirty="0"/>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390525" y="160153"/>
            <a:ext cx="333375"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390525" y="1131703"/>
            <a:ext cx="333375"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390525" y="1491963"/>
            <a:ext cx="333375"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390525" y="3292188"/>
            <a:ext cx="333375"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390525" y="6063963"/>
            <a:ext cx="333375"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390525" y="6495763"/>
            <a:ext cx="333375"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281643" y="-299136"/>
            <a:ext cx="333375" cy="136808"/>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5752963" y="-299136"/>
            <a:ext cx="333375" cy="136804"/>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6203950" y="-397424"/>
            <a:ext cx="124906" cy="333375"/>
            <a:chOff x="6416680" y="-397424"/>
            <a:chExt cx="124906"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11447325" y="-299139"/>
            <a:ext cx="333375" cy="1368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 name="Gruppieren 2">
            <a:extLst>
              <a:ext uri="{FF2B5EF4-FFF2-40B4-BE49-F238E27FC236}">
                <a16:creationId xmlns:a16="http://schemas.microsoft.com/office/drawing/2014/main" id="{2ED5713B-0A5B-5944-BEBB-63C8BF5985F2}"/>
              </a:ext>
            </a:extLst>
          </p:cNvPr>
          <p:cNvGrpSpPr/>
          <p:nvPr userDrawn="1"/>
        </p:nvGrpSpPr>
        <p:grpSpPr>
          <a:xfrm>
            <a:off x="510639" y="293096"/>
            <a:ext cx="2388067" cy="301237"/>
            <a:chOff x="510639" y="293688"/>
            <a:chExt cx="2594512" cy="327279"/>
          </a:xfrm>
        </p:grpSpPr>
        <p:sp>
          <p:nvSpPr>
            <p:cNvPr id="140" name="Freihandform: Form 139">
              <a:extLst>
                <a:ext uri="{FF2B5EF4-FFF2-40B4-BE49-F238E27FC236}">
                  <a16:creationId xmlns:a16="http://schemas.microsoft.com/office/drawing/2014/main" id="{437E43AF-FE61-4974-AF5C-89AC3C8150FD}"/>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41" name="Freihandform: Form 140">
              <a:extLst>
                <a:ext uri="{FF2B5EF4-FFF2-40B4-BE49-F238E27FC236}">
                  <a16:creationId xmlns:a16="http://schemas.microsoft.com/office/drawing/2014/main" id="{B5C643AC-A2D8-483C-9099-467ED404B78A}"/>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2" name="Freihandform: Form 141">
              <a:extLst>
                <a:ext uri="{FF2B5EF4-FFF2-40B4-BE49-F238E27FC236}">
                  <a16:creationId xmlns:a16="http://schemas.microsoft.com/office/drawing/2014/main" id="{DC1A9518-9882-4BEE-9042-98771FD22461}"/>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43" name="Freihandform: Form 142">
              <a:extLst>
                <a:ext uri="{FF2B5EF4-FFF2-40B4-BE49-F238E27FC236}">
                  <a16:creationId xmlns:a16="http://schemas.microsoft.com/office/drawing/2014/main" id="{CB6A9836-D16F-4BD4-B96F-43DCD4A1ADD1}"/>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144" name="Freihandform: Form 143">
              <a:extLst>
                <a:ext uri="{FF2B5EF4-FFF2-40B4-BE49-F238E27FC236}">
                  <a16:creationId xmlns:a16="http://schemas.microsoft.com/office/drawing/2014/main" id="{ABBE1A7C-C42E-43DA-AC68-19B53213BFEA}"/>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45" name="Freihandform: Form 144">
              <a:extLst>
                <a:ext uri="{FF2B5EF4-FFF2-40B4-BE49-F238E27FC236}">
                  <a16:creationId xmlns:a16="http://schemas.microsoft.com/office/drawing/2014/main" id="{36C1CDBB-E0C9-4C76-AEE4-24D676B22582}"/>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6" name="Freihandform: Form 145">
              <a:extLst>
                <a:ext uri="{FF2B5EF4-FFF2-40B4-BE49-F238E27FC236}">
                  <a16:creationId xmlns:a16="http://schemas.microsoft.com/office/drawing/2014/main" id="{867D40B8-3DC0-48CD-8C10-83ACD74CC070}"/>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47" name="Freihandform: Form 146">
              <a:extLst>
                <a:ext uri="{FF2B5EF4-FFF2-40B4-BE49-F238E27FC236}">
                  <a16:creationId xmlns:a16="http://schemas.microsoft.com/office/drawing/2014/main" id="{5E72B66D-AA60-4159-88C6-253B8BCA5544}"/>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48" name="Freihandform: Form 147">
              <a:extLst>
                <a:ext uri="{FF2B5EF4-FFF2-40B4-BE49-F238E27FC236}">
                  <a16:creationId xmlns:a16="http://schemas.microsoft.com/office/drawing/2014/main" id="{F4BEF0C1-E2DD-43FB-8B64-132092CB0783}"/>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49" name="Freihandform: Form 148">
              <a:extLst>
                <a:ext uri="{FF2B5EF4-FFF2-40B4-BE49-F238E27FC236}">
                  <a16:creationId xmlns:a16="http://schemas.microsoft.com/office/drawing/2014/main" id="{7943A356-FF21-4F42-A98E-DC40CF938137}"/>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50" name="Freihandform: Form 149">
              <a:extLst>
                <a:ext uri="{FF2B5EF4-FFF2-40B4-BE49-F238E27FC236}">
                  <a16:creationId xmlns:a16="http://schemas.microsoft.com/office/drawing/2014/main" id="{5414F293-7400-4F17-8C14-513181D5C558}"/>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DF9046FE-F7DE-4669-A7FF-9C4BB6220EF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17E9EBD2-1308-471A-9C37-29FF027D0A14}"/>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3" name="Freihandform: Form 152">
              <a:extLst>
                <a:ext uri="{FF2B5EF4-FFF2-40B4-BE49-F238E27FC236}">
                  <a16:creationId xmlns:a16="http://schemas.microsoft.com/office/drawing/2014/main" id="{84D6E57D-0E5B-43A4-8081-53B3E5629513}"/>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54" name="Freihandform: Form 153">
              <a:extLst>
                <a:ext uri="{FF2B5EF4-FFF2-40B4-BE49-F238E27FC236}">
                  <a16:creationId xmlns:a16="http://schemas.microsoft.com/office/drawing/2014/main" id="{0A41A31B-8432-4CD9-B0E9-2DA62432F17C}"/>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55" name="Freihandform: Form 154">
              <a:extLst>
                <a:ext uri="{FF2B5EF4-FFF2-40B4-BE49-F238E27FC236}">
                  <a16:creationId xmlns:a16="http://schemas.microsoft.com/office/drawing/2014/main" id="{46FF8D8D-5FE8-43E4-A552-F9B3C3353B29}"/>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56" name="Freihandform: Form 155">
              <a:extLst>
                <a:ext uri="{FF2B5EF4-FFF2-40B4-BE49-F238E27FC236}">
                  <a16:creationId xmlns:a16="http://schemas.microsoft.com/office/drawing/2014/main" id="{7AA2D936-8A2E-448A-A3FE-121C90D55E4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57" name="Freihandform: Form 156">
              <a:extLst>
                <a:ext uri="{FF2B5EF4-FFF2-40B4-BE49-F238E27FC236}">
                  <a16:creationId xmlns:a16="http://schemas.microsoft.com/office/drawing/2014/main" id="{7D614E3F-8E38-48A8-A892-90F1BE5DFC41}"/>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8" name="Freihandform: Form 157">
              <a:extLst>
                <a:ext uri="{FF2B5EF4-FFF2-40B4-BE49-F238E27FC236}">
                  <a16:creationId xmlns:a16="http://schemas.microsoft.com/office/drawing/2014/main" id="{EB14B71E-9496-43D9-A4EC-B717F5048611}"/>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59" name="Freihandform: Form 158">
              <a:extLst>
                <a:ext uri="{FF2B5EF4-FFF2-40B4-BE49-F238E27FC236}">
                  <a16:creationId xmlns:a16="http://schemas.microsoft.com/office/drawing/2014/main" id="{790BD971-8810-42D7-9C91-5E31E7DE2C4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0" name="Freihandform: Form 159">
              <a:extLst>
                <a:ext uri="{FF2B5EF4-FFF2-40B4-BE49-F238E27FC236}">
                  <a16:creationId xmlns:a16="http://schemas.microsoft.com/office/drawing/2014/main" id="{32DC33CF-54F4-4299-82CD-B2375462167E}"/>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1" name="Freihandform: Form 160">
              <a:extLst>
                <a:ext uri="{FF2B5EF4-FFF2-40B4-BE49-F238E27FC236}">
                  <a16:creationId xmlns:a16="http://schemas.microsoft.com/office/drawing/2014/main" id="{28E7B4C3-0E3A-4A63-A15B-FBBF0A790C9D}"/>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2" name="Freihandform: Form 161">
              <a:extLst>
                <a:ext uri="{FF2B5EF4-FFF2-40B4-BE49-F238E27FC236}">
                  <a16:creationId xmlns:a16="http://schemas.microsoft.com/office/drawing/2014/main" id="{DE83242C-3DAB-4186-A2CF-ABC5CE556834}"/>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3" name="Freihandform: Form 162">
              <a:extLst>
                <a:ext uri="{FF2B5EF4-FFF2-40B4-BE49-F238E27FC236}">
                  <a16:creationId xmlns:a16="http://schemas.microsoft.com/office/drawing/2014/main" id="{CE94665A-1959-4E8D-8843-30D9AA88A120}"/>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4" name="Freihandform: Form 163">
              <a:extLst>
                <a:ext uri="{FF2B5EF4-FFF2-40B4-BE49-F238E27FC236}">
                  <a16:creationId xmlns:a16="http://schemas.microsoft.com/office/drawing/2014/main" id="{6D37DE7E-42BD-43AE-AD54-7C9257288F3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A89A64B-C979-45EC-B4F6-949EB2001B5D}"/>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D8F4E6F5-DCF7-4013-87A5-43A2566A3AD9}"/>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08B40D83-75AF-478E-9E62-44910A1F67F1}"/>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4450C88D-A2CC-4995-B198-B8121FB36D4E}"/>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170097FC-1C77-4FDF-AEC4-E77CD945C51D}"/>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9C6AC2B-710E-4330-AC9D-A8316145CCED}"/>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A44EACAA-23D2-4B0E-A7A5-160CBF43FAA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C1445E99-D980-4FC1-8219-60CB5C0DAA20}"/>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8F5B513C-3EB1-4F96-AE3F-FA2E5E55A04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60BC311B-E1F4-4DE2-B87A-9DAD7B90EA03}"/>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6D220A37-F8FD-4C97-B886-3789AD45A1C3}"/>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7618119C-41E9-43BA-92E1-7139F37520B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A5F874B1-F5C4-402C-9749-2AB3C2EAFCFC}"/>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169F6428-4F5D-4675-B468-7AAA6EA2A8D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6ECA4213-C333-492A-8271-46DBC688C852}"/>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CA31CA87-30A7-4449-9783-8DC969F2EACE}"/>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7C37FD0D-D89F-431F-9478-9D2638DB850F}"/>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9A1255C6-12A9-459B-843F-7294ADDC1C1B}"/>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BD88DE7C-655E-4731-99FA-B7E34983EC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F31C4EAF-8B93-4132-872E-D12B732A4099}"/>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02DF8183-C86A-43FA-8D36-ACC72C3197B3}"/>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E6503672-A51F-4F6C-A4CF-65F4050E558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96BAB337-D064-4F11-8A5E-31DBC2E4704B}"/>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1AE128CD-EB21-4D9D-BBA0-37A4055A2285}"/>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200" name="Freihandform: Form 87">
            <a:extLst>
              <a:ext uri="{FF2B5EF4-FFF2-40B4-BE49-F238E27FC236}">
                <a16:creationId xmlns:a16="http://schemas.microsoft.com/office/drawing/2014/main" id="{FEE9A2C3-D2A4-EF45-896D-DC8FC14D6C80}"/>
              </a:ext>
            </a:extLst>
          </p:cNvPr>
          <p:cNvSpPr/>
          <p:nvPr userDrawn="1"/>
        </p:nvSpPr>
        <p:spPr>
          <a:xfrm>
            <a:off x="1033773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4" name="Grafik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6" name="Bildplatzhalter 5"/>
          <p:cNvSpPr>
            <a:spLocks noGrp="1"/>
          </p:cNvSpPr>
          <p:nvPr>
            <p:ph type="pic" sz="quarter" idx="12"/>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9236061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F8D2C6F2-BFE9-4DA1-8335-8212BBEBDEDB}"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6636190" y="1632184"/>
            <a:ext cx="5039873" cy="281103"/>
          </a:xfrm>
        </p:spPr>
        <p:txBody>
          <a:bodyPr wrap="square">
            <a:noAutofit/>
          </a:bodyPr>
          <a:lstStyle>
            <a:lvl1pPr>
              <a:defRPr sz="1800"/>
            </a:lvl1pPr>
          </a:lstStyle>
          <a:p>
            <a:pPr lvl="0"/>
            <a:r>
              <a:rPr lang="de-DE"/>
              <a:t>Agendapunkt / Kapitelthema</a:t>
            </a:r>
            <a:endParaRPr lang="de-DE" dirty="0"/>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6206332" y="1632184"/>
            <a:ext cx="320601" cy="281103"/>
          </a:xfrm>
        </p:spPr>
        <p:txBody>
          <a:bodyPr wrap="none" rIns="0">
            <a:noAutofit/>
          </a:bodyPr>
          <a:lstStyle>
            <a:lvl1pPr>
              <a:defRPr sz="1800" b="1">
                <a:solidFill>
                  <a:srgbClr val="8C9FB1"/>
                </a:solidFill>
              </a:defRPr>
            </a:lvl1pPr>
          </a:lstStyle>
          <a:p>
            <a:pPr lvl="0"/>
            <a:r>
              <a:rPr lang="de-DE" dirty="0"/>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6636190" y="2355533"/>
            <a:ext cx="5039873" cy="281103"/>
          </a:xfrm>
        </p:spPr>
        <p:txBody>
          <a:bodyPr wrap="square">
            <a:noAutofit/>
          </a:bodyPr>
          <a:lstStyle>
            <a:lvl1pPr>
              <a:defRPr sz="1800"/>
            </a:lvl1pPr>
          </a:lstStyle>
          <a:p>
            <a:pPr lvl="0"/>
            <a:r>
              <a:rPr lang="de-DE"/>
              <a:t>Agendapunkt / Kapitelthema</a:t>
            </a:r>
            <a:endParaRPr lang="de-DE" dirty="0"/>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6206332" y="2355533"/>
            <a:ext cx="320601" cy="281103"/>
          </a:xfrm>
        </p:spPr>
        <p:txBody>
          <a:bodyPr wrap="none" rIns="0">
            <a:noAutofit/>
          </a:bodyPr>
          <a:lstStyle>
            <a:lvl1pPr>
              <a:defRPr sz="1800" b="1">
                <a:solidFill>
                  <a:srgbClr val="8C9FB1"/>
                </a:solidFill>
              </a:defRPr>
            </a:lvl1pPr>
          </a:lstStyle>
          <a:p>
            <a:pPr lvl="0"/>
            <a:r>
              <a:rPr lang="de-DE" dirty="0"/>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6636190" y="4525580"/>
            <a:ext cx="5039873" cy="281103"/>
          </a:xfrm>
        </p:spPr>
        <p:txBody>
          <a:bodyPr wrap="square">
            <a:noAutofit/>
          </a:bodyPr>
          <a:lstStyle>
            <a:lvl1pPr>
              <a:defRPr sz="1800"/>
            </a:lvl1pPr>
          </a:lstStyle>
          <a:p>
            <a:pPr lvl="0"/>
            <a:r>
              <a:rPr lang="de-DE"/>
              <a:t>Agendapunkt / Kapitelthema</a:t>
            </a:r>
            <a:endParaRPr lang="de-DE" dirty="0"/>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6206332" y="4525580"/>
            <a:ext cx="307841" cy="281103"/>
          </a:xfrm>
        </p:spPr>
        <p:txBody>
          <a:bodyPr wrap="none" rIns="0">
            <a:noAutofit/>
          </a:bodyPr>
          <a:lstStyle>
            <a:lvl1pPr>
              <a:defRPr sz="1800" b="1">
                <a:solidFill>
                  <a:srgbClr val="8C9FB1"/>
                </a:solidFill>
              </a:defRPr>
            </a:lvl1pPr>
          </a:lstStyle>
          <a:p>
            <a:pPr lvl="0"/>
            <a:r>
              <a:rPr lang="de-DE" dirty="0"/>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6636190" y="3078882"/>
            <a:ext cx="5039873" cy="281103"/>
          </a:xfrm>
        </p:spPr>
        <p:txBody>
          <a:bodyPr wrap="square">
            <a:noAutofit/>
          </a:bodyPr>
          <a:lstStyle>
            <a:lvl1pPr>
              <a:defRPr sz="1800"/>
            </a:lvl1pPr>
          </a:lstStyle>
          <a:p>
            <a:pPr lvl="0"/>
            <a:r>
              <a:rPr lang="de-DE"/>
              <a:t>Agendapunkt / Kapitelthema</a:t>
            </a:r>
            <a:endParaRPr lang="de-DE" dirty="0"/>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6206332" y="3078882"/>
            <a:ext cx="320601" cy="281103"/>
          </a:xfrm>
        </p:spPr>
        <p:txBody>
          <a:bodyPr wrap="none" rIns="0">
            <a:noAutofit/>
          </a:bodyPr>
          <a:lstStyle>
            <a:lvl1pPr>
              <a:defRPr sz="1800" b="1">
                <a:solidFill>
                  <a:srgbClr val="8C9FB1"/>
                </a:solidFill>
              </a:defRPr>
            </a:lvl1pPr>
          </a:lstStyle>
          <a:p>
            <a:pPr lvl="0"/>
            <a:r>
              <a:rPr lang="de-DE" dirty="0"/>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6636190" y="3802231"/>
            <a:ext cx="5039873" cy="281103"/>
          </a:xfrm>
        </p:spPr>
        <p:txBody>
          <a:bodyPr wrap="square">
            <a:noAutofit/>
          </a:bodyPr>
          <a:lstStyle>
            <a:lvl1pPr>
              <a:defRPr sz="1800"/>
            </a:lvl1pPr>
          </a:lstStyle>
          <a:p>
            <a:pPr lvl="0"/>
            <a:r>
              <a:rPr lang="de-DE"/>
              <a:t>Agendapunkt / Kapitelthema</a:t>
            </a:r>
            <a:endParaRPr lang="de-DE" dirty="0"/>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6206332" y="3802231"/>
            <a:ext cx="320601" cy="281103"/>
          </a:xfrm>
        </p:spPr>
        <p:txBody>
          <a:bodyPr wrap="none" rIns="0">
            <a:noAutofit/>
          </a:bodyPr>
          <a:lstStyle>
            <a:lvl1pPr>
              <a:defRPr sz="1800" b="1">
                <a:solidFill>
                  <a:srgbClr val="8C9FB1"/>
                </a:solidFill>
              </a:defRPr>
            </a:lvl1pPr>
          </a:lstStyle>
          <a:p>
            <a:pPr lvl="0"/>
            <a:r>
              <a:rPr lang="de-DE" dirty="0"/>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6636190" y="5248930"/>
            <a:ext cx="5039873" cy="281103"/>
          </a:xfrm>
        </p:spPr>
        <p:txBody>
          <a:bodyPr wrap="square">
            <a:noAutofit/>
          </a:bodyPr>
          <a:lstStyle>
            <a:lvl1pPr>
              <a:defRPr sz="1800"/>
            </a:lvl1pPr>
          </a:lstStyle>
          <a:p>
            <a:pPr lvl="0"/>
            <a:r>
              <a:rPr lang="de-DE"/>
              <a:t>Agendapunkt / Kapitelthema</a:t>
            </a:r>
            <a:endParaRPr lang="de-DE" dirty="0"/>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6206332" y="5248930"/>
            <a:ext cx="320601" cy="281103"/>
          </a:xfrm>
        </p:spPr>
        <p:txBody>
          <a:bodyPr wrap="none" rIns="0">
            <a:noAutofit/>
          </a:bodyPr>
          <a:lstStyle>
            <a:lvl1pPr>
              <a:defRPr sz="1800" b="1">
                <a:solidFill>
                  <a:srgbClr val="8C9FB1"/>
                </a:solidFill>
              </a:defRPr>
            </a:lvl1pPr>
          </a:lstStyle>
          <a:p>
            <a:pPr lvl="0"/>
            <a:r>
              <a:rPr lang="de-DE" dirty="0"/>
              <a:t>12 </a:t>
            </a:r>
          </a:p>
        </p:txBody>
      </p:sp>
      <p:sp>
        <p:nvSpPr>
          <p:cNvPr id="6" name="Titel 5">
            <a:extLst>
              <a:ext uri="{FF2B5EF4-FFF2-40B4-BE49-F238E27FC236}">
                <a16:creationId xmlns:a16="http://schemas.microsoft.com/office/drawing/2014/main" id="{B83D1D4D-3108-48AF-9002-E2787CA11C49}"/>
              </a:ext>
            </a:extLst>
          </p:cNvPr>
          <p:cNvSpPr>
            <a:spLocks noGrp="1"/>
          </p:cNvSpPr>
          <p:nvPr>
            <p:ph type="title"/>
          </p:nvPr>
        </p:nvSpPr>
        <p:spPr>
          <a:xfrm>
            <a:off x="518318" y="301185"/>
            <a:ext cx="6844385" cy="332399"/>
          </a:xfrm>
        </p:spPr>
        <p:txBody>
          <a:bodyPr/>
          <a:lstStyle>
            <a:lvl1pPr>
              <a:defRPr>
                <a:solidFill>
                  <a:srgbClr val="041E42"/>
                </a:solidFill>
              </a:defRPr>
            </a:lvl1pPr>
          </a:lstStyle>
          <a:p>
            <a:r>
              <a:rPr lang="de-DE" dirty="0"/>
              <a:t>Mastertitelformat bearbeiten</a:t>
            </a:r>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41"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2" name="Grafik 4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65101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8180691-36C4-442B-801E-F5F906A331D4}"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6206329" y="1631156"/>
            <a:ext cx="5469732"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6206329"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2" name="Titel 1">
            <a:extLst>
              <a:ext uri="{FF2B5EF4-FFF2-40B4-BE49-F238E27FC236}">
                <a16:creationId xmlns:a16="http://schemas.microsoft.com/office/drawing/2014/main" id="{365D3C98-AF8F-400F-858D-1D6CD4B95DDE}"/>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24" name="Textplatzhalter 9">
            <a:extLst>
              <a:ext uri="{FF2B5EF4-FFF2-40B4-BE49-F238E27FC236}">
                <a16:creationId xmlns:a16="http://schemas.microsoft.com/office/drawing/2014/main" id="{E94ED47E-AE0F-46CF-A861-AA42DCC1736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2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25" name="Grafik 2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159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518318" y="2875002"/>
            <a:ext cx="11157743" cy="1107996"/>
          </a:xfrm>
        </p:spPr>
        <p:txBody>
          <a:bodyPr anchor="ctr" anchorCtr="0"/>
          <a:lstStyle>
            <a:lvl1pPr>
              <a:defRPr sz="4000">
                <a:solidFill>
                  <a:schemeClr val="tx1"/>
                </a:solidFill>
              </a:defRPr>
            </a:lvl1pPr>
          </a:lstStyle>
          <a:p>
            <a:r>
              <a:rPr lang="de-DE" dirty="0"/>
              <a:t>Kapiteltrenner</a:t>
            </a:r>
            <a:br>
              <a:rPr lang="de-DE" dirty="0"/>
            </a:br>
            <a:r>
              <a:rPr lang="de-DE" dirty="0"/>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25DBE663-8CF8-4EA4-AF83-5C771F9A06FE}"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7987594-F169-42FB-8839-77BF8D405E37}"/>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390525" y="160153"/>
            <a:ext cx="333375"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390525" y="1131703"/>
            <a:ext cx="333375"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390525" y="1491963"/>
            <a:ext cx="333375"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390525" y="3292188"/>
            <a:ext cx="333375"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390525" y="6063963"/>
            <a:ext cx="333375"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390525" y="6495763"/>
            <a:ext cx="333375"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281643" y="-299136"/>
            <a:ext cx="333375" cy="136808"/>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5752963" y="-299136"/>
            <a:ext cx="333375" cy="136804"/>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6203950" y="-397424"/>
            <a:ext cx="124906" cy="333375"/>
            <a:chOff x="6416680" y="-397424"/>
            <a:chExt cx="124906"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11447325" y="-299139"/>
            <a:ext cx="333375" cy="1368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1" name="Gruppieren 90">
            <a:extLst>
              <a:ext uri="{FF2B5EF4-FFF2-40B4-BE49-F238E27FC236}">
                <a16:creationId xmlns:a16="http://schemas.microsoft.com/office/drawing/2014/main" id="{AAA9021C-F612-7A45-9064-2DAABFCA9C99}"/>
              </a:ext>
            </a:extLst>
          </p:cNvPr>
          <p:cNvGrpSpPr/>
          <p:nvPr userDrawn="1"/>
        </p:nvGrpSpPr>
        <p:grpSpPr>
          <a:xfrm>
            <a:off x="510639" y="293096"/>
            <a:ext cx="2388067" cy="301237"/>
            <a:chOff x="510639" y="293688"/>
            <a:chExt cx="2594512" cy="327279"/>
          </a:xfrm>
        </p:grpSpPr>
        <p:sp>
          <p:nvSpPr>
            <p:cNvPr id="92" name="Freihandform: Form 139">
              <a:extLst>
                <a:ext uri="{FF2B5EF4-FFF2-40B4-BE49-F238E27FC236}">
                  <a16:creationId xmlns:a16="http://schemas.microsoft.com/office/drawing/2014/main" id="{239FEB29-764E-D84F-A6B9-E572E9BA35FA}"/>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3" name="Freihandform: Form 140">
              <a:extLst>
                <a:ext uri="{FF2B5EF4-FFF2-40B4-BE49-F238E27FC236}">
                  <a16:creationId xmlns:a16="http://schemas.microsoft.com/office/drawing/2014/main" id="{30E07473-1FE4-ED4D-ABDA-C4460B82C76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4" name="Freihandform: Form 141">
              <a:extLst>
                <a:ext uri="{FF2B5EF4-FFF2-40B4-BE49-F238E27FC236}">
                  <a16:creationId xmlns:a16="http://schemas.microsoft.com/office/drawing/2014/main" id="{ACFFFEA1-E2B9-BF4B-8614-D4E5B5F85F27}"/>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5" name="Freihandform: Form 142">
              <a:extLst>
                <a:ext uri="{FF2B5EF4-FFF2-40B4-BE49-F238E27FC236}">
                  <a16:creationId xmlns:a16="http://schemas.microsoft.com/office/drawing/2014/main" id="{DCFE20F4-1FAA-3B4B-AFD3-FE5FED6F8703}"/>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6" name="Freihandform: Form 143">
              <a:extLst>
                <a:ext uri="{FF2B5EF4-FFF2-40B4-BE49-F238E27FC236}">
                  <a16:creationId xmlns:a16="http://schemas.microsoft.com/office/drawing/2014/main" id="{3D433F7E-E5FB-4B45-87E4-D54E97FD3DEE}"/>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7" name="Freihandform: Form 144">
              <a:extLst>
                <a:ext uri="{FF2B5EF4-FFF2-40B4-BE49-F238E27FC236}">
                  <a16:creationId xmlns:a16="http://schemas.microsoft.com/office/drawing/2014/main" id="{39EB8253-0480-F945-BF50-3C39BC415AEF}"/>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8" name="Freihandform: Form 145">
              <a:extLst>
                <a:ext uri="{FF2B5EF4-FFF2-40B4-BE49-F238E27FC236}">
                  <a16:creationId xmlns:a16="http://schemas.microsoft.com/office/drawing/2014/main" id="{3C3CAEA5-31EB-6B48-8A0B-FDDA4E37BB49}"/>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99" name="Freihandform: Form 146">
              <a:extLst>
                <a:ext uri="{FF2B5EF4-FFF2-40B4-BE49-F238E27FC236}">
                  <a16:creationId xmlns:a16="http://schemas.microsoft.com/office/drawing/2014/main" id="{6BF62CD0-F5B5-8845-8426-81D7F83163CB}"/>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0" name="Freihandform: Form 147">
              <a:extLst>
                <a:ext uri="{FF2B5EF4-FFF2-40B4-BE49-F238E27FC236}">
                  <a16:creationId xmlns:a16="http://schemas.microsoft.com/office/drawing/2014/main" id="{74F82E2E-2B50-F84C-8BD0-1F0FD1E8B441}"/>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1" name="Freihandform: Form 148">
              <a:extLst>
                <a:ext uri="{FF2B5EF4-FFF2-40B4-BE49-F238E27FC236}">
                  <a16:creationId xmlns:a16="http://schemas.microsoft.com/office/drawing/2014/main" id="{764A666C-D860-AD49-B7E5-01027DAF2F9E}"/>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2" name="Freihandform: Form 149">
              <a:extLst>
                <a:ext uri="{FF2B5EF4-FFF2-40B4-BE49-F238E27FC236}">
                  <a16:creationId xmlns:a16="http://schemas.microsoft.com/office/drawing/2014/main" id="{A60FAD8F-356D-9A49-8917-F8D75E39E254}"/>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3" name="Freihandform: Form 150">
              <a:extLst>
                <a:ext uri="{FF2B5EF4-FFF2-40B4-BE49-F238E27FC236}">
                  <a16:creationId xmlns:a16="http://schemas.microsoft.com/office/drawing/2014/main" id="{2122BFDD-4180-3242-9DE6-1722C6BB87E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4" name="Freihandform: Form 151">
              <a:extLst>
                <a:ext uri="{FF2B5EF4-FFF2-40B4-BE49-F238E27FC236}">
                  <a16:creationId xmlns:a16="http://schemas.microsoft.com/office/drawing/2014/main" id="{A137BDFA-16B4-5E4D-90CA-25E45475E283}"/>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5" name="Freihandform: Form 152">
              <a:extLst>
                <a:ext uri="{FF2B5EF4-FFF2-40B4-BE49-F238E27FC236}">
                  <a16:creationId xmlns:a16="http://schemas.microsoft.com/office/drawing/2014/main" id="{51BC45C2-1274-BB42-B2FF-655E609A4F3F}"/>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6" name="Freihandform: Form 153">
              <a:extLst>
                <a:ext uri="{FF2B5EF4-FFF2-40B4-BE49-F238E27FC236}">
                  <a16:creationId xmlns:a16="http://schemas.microsoft.com/office/drawing/2014/main" id="{039CA6A1-8CFA-4A4B-9F23-2BB7B0C89625}"/>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4">
              <a:extLst>
                <a:ext uri="{FF2B5EF4-FFF2-40B4-BE49-F238E27FC236}">
                  <a16:creationId xmlns:a16="http://schemas.microsoft.com/office/drawing/2014/main" id="{ED05D2C0-4637-7549-888A-5A0ED2277201}"/>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08" name="Freihandform: Form 155">
              <a:extLst>
                <a:ext uri="{FF2B5EF4-FFF2-40B4-BE49-F238E27FC236}">
                  <a16:creationId xmlns:a16="http://schemas.microsoft.com/office/drawing/2014/main" id="{E19058B0-7775-D44E-B670-ABF807D028C6}"/>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6">
              <a:extLst>
                <a:ext uri="{FF2B5EF4-FFF2-40B4-BE49-F238E27FC236}">
                  <a16:creationId xmlns:a16="http://schemas.microsoft.com/office/drawing/2014/main" id="{B494CC1A-A672-C84F-986B-05A683E0AF13}"/>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0" name="Freihandform: Form 157">
              <a:extLst>
                <a:ext uri="{FF2B5EF4-FFF2-40B4-BE49-F238E27FC236}">
                  <a16:creationId xmlns:a16="http://schemas.microsoft.com/office/drawing/2014/main" id="{3FA5D363-CFB8-0746-97D7-B5D03E23E745}"/>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8">
              <a:extLst>
                <a:ext uri="{FF2B5EF4-FFF2-40B4-BE49-F238E27FC236}">
                  <a16:creationId xmlns:a16="http://schemas.microsoft.com/office/drawing/2014/main" id="{61F52BFA-2C47-174A-AD0B-49737BCE47CD}"/>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1" name="Freihandform: Form 159">
              <a:extLst>
                <a:ext uri="{FF2B5EF4-FFF2-40B4-BE49-F238E27FC236}">
                  <a16:creationId xmlns:a16="http://schemas.microsoft.com/office/drawing/2014/main" id="{56D89971-3BAE-8B48-8779-9659478A6E33}"/>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2" name="Freihandform: Form 160">
              <a:extLst>
                <a:ext uri="{FF2B5EF4-FFF2-40B4-BE49-F238E27FC236}">
                  <a16:creationId xmlns:a16="http://schemas.microsoft.com/office/drawing/2014/main" id="{5BFB40D3-0C94-C34E-8D0C-BA37CE64A2A6}"/>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3" name="Freihandform: Form 161">
              <a:extLst>
                <a:ext uri="{FF2B5EF4-FFF2-40B4-BE49-F238E27FC236}">
                  <a16:creationId xmlns:a16="http://schemas.microsoft.com/office/drawing/2014/main" id="{5F3B670D-3F4C-EB46-B888-A17039EC5DA8}"/>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4" name="Freihandform: Form 162">
              <a:extLst>
                <a:ext uri="{FF2B5EF4-FFF2-40B4-BE49-F238E27FC236}">
                  <a16:creationId xmlns:a16="http://schemas.microsoft.com/office/drawing/2014/main" id="{1AC6A114-F6C4-A44F-82C1-746D659D92E5}"/>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5" name="Freihandform: Form 163">
              <a:extLst>
                <a:ext uri="{FF2B5EF4-FFF2-40B4-BE49-F238E27FC236}">
                  <a16:creationId xmlns:a16="http://schemas.microsoft.com/office/drawing/2014/main" id="{6C84A291-9A88-BC46-9243-A5BDAD73E70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D77166F-3C93-3744-9927-37978A728989}"/>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407D65A0-6EC3-0D4A-8197-FB6484487BE4}"/>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8" name="Freihandform: Form 168">
              <a:extLst>
                <a:ext uri="{FF2B5EF4-FFF2-40B4-BE49-F238E27FC236}">
                  <a16:creationId xmlns:a16="http://schemas.microsoft.com/office/drawing/2014/main" id="{F67E5B46-C275-4F48-A09F-54D35BC6A4BF}"/>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9" name="Freihandform: Form 169">
              <a:extLst>
                <a:ext uri="{FF2B5EF4-FFF2-40B4-BE49-F238E27FC236}">
                  <a16:creationId xmlns:a16="http://schemas.microsoft.com/office/drawing/2014/main" id="{909E25E7-19E2-8747-9126-F1AB3D631F78}"/>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0" name="Freihandform: Form 170">
              <a:extLst>
                <a:ext uri="{FF2B5EF4-FFF2-40B4-BE49-F238E27FC236}">
                  <a16:creationId xmlns:a16="http://schemas.microsoft.com/office/drawing/2014/main" id="{EAC5A913-E03E-7D4D-9078-FE9CA24554F9}"/>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1">
              <a:extLst>
                <a:ext uri="{FF2B5EF4-FFF2-40B4-BE49-F238E27FC236}">
                  <a16:creationId xmlns:a16="http://schemas.microsoft.com/office/drawing/2014/main" id="{8FABF0FD-F7EF-5349-A2E7-C349C225F8D4}"/>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2">
              <a:extLst>
                <a:ext uri="{FF2B5EF4-FFF2-40B4-BE49-F238E27FC236}">
                  <a16:creationId xmlns:a16="http://schemas.microsoft.com/office/drawing/2014/main" id="{691B08B6-CE79-0F4B-B988-B7D1CEE53D89}"/>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3" name="Freihandform: Form 173">
              <a:extLst>
                <a:ext uri="{FF2B5EF4-FFF2-40B4-BE49-F238E27FC236}">
                  <a16:creationId xmlns:a16="http://schemas.microsoft.com/office/drawing/2014/main" id="{618EC208-E675-F54F-926D-39AE3A23A938}"/>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4" name="Freihandform: Form 174">
              <a:extLst>
                <a:ext uri="{FF2B5EF4-FFF2-40B4-BE49-F238E27FC236}">
                  <a16:creationId xmlns:a16="http://schemas.microsoft.com/office/drawing/2014/main" id="{F3D8309A-1653-614D-A944-931615072E3B}"/>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5" name="Freihandform: Form 175">
              <a:extLst>
                <a:ext uri="{FF2B5EF4-FFF2-40B4-BE49-F238E27FC236}">
                  <a16:creationId xmlns:a16="http://schemas.microsoft.com/office/drawing/2014/main" id="{717FDDCD-E871-BB4D-B232-2CEF5564DDCE}"/>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6" name="Freihandform: Form 176">
              <a:extLst>
                <a:ext uri="{FF2B5EF4-FFF2-40B4-BE49-F238E27FC236}">
                  <a16:creationId xmlns:a16="http://schemas.microsoft.com/office/drawing/2014/main" id="{C8995C5D-7CC7-2E42-B769-E20C40839485}"/>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7" name="Freihandform: Form 177">
              <a:extLst>
                <a:ext uri="{FF2B5EF4-FFF2-40B4-BE49-F238E27FC236}">
                  <a16:creationId xmlns:a16="http://schemas.microsoft.com/office/drawing/2014/main" id="{F0031B75-0C69-0A40-8402-DC1DE0934A9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8" name="Freihandform: Form 178">
              <a:extLst>
                <a:ext uri="{FF2B5EF4-FFF2-40B4-BE49-F238E27FC236}">
                  <a16:creationId xmlns:a16="http://schemas.microsoft.com/office/drawing/2014/main" id="{A0198E80-4FED-D345-A056-52D3E6BA6E76}"/>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79" name="Freihandform: Form 179">
              <a:extLst>
                <a:ext uri="{FF2B5EF4-FFF2-40B4-BE49-F238E27FC236}">
                  <a16:creationId xmlns:a16="http://schemas.microsoft.com/office/drawing/2014/main" id="{77DC6720-D7A3-F240-A035-723109FD216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0" name="Freihandform: Form 180">
              <a:extLst>
                <a:ext uri="{FF2B5EF4-FFF2-40B4-BE49-F238E27FC236}">
                  <a16:creationId xmlns:a16="http://schemas.microsoft.com/office/drawing/2014/main" id="{113741B5-0862-1B40-9D96-56B2A9E93BF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1" name="Freihandform: Form 181">
              <a:extLst>
                <a:ext uri="{FF2B5EF4-FFF2-40B4-BE49-F238E27FC236}">
                  <a16:creationId xmlns:a16="http://schemas.microsoft.com/office/drawing/2014/main" id="{DAB37A08-003F-3245-8E24-7AF93F705B58}"/>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2" name="Freihandform: Form 182">
              <a:extLst>
                <a:ext uri="{FF2B5EF4-FFF2-40B4-BE49-F238E27FC236}">
                  <a16:creationId xmlns:a16="http://schemas.microsoft.com/office/drawing/2014/main" id="{FCFDE7EE-E7D1-544E-A701-3197B56FF0AD}"/>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3" name="Freihandform: Form 183">
              <a:extLst>
                <a:ext uri="{FF2B5EF4-FFF2-40B4-BE49-F238E27FC236}">
                  <a16:creationId xmlns:a16="http://schemas.microsoft.com/office/drawing/2014/main" id="{23158B01-DBA4-4448-A419-B1488105410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4" name="Freihandform: Form 184">
              <a:extLst>
                <a:ext uri="{FF2B5EF4-FFF2-40B4-BE49-F238E27FC236}">
                  <a16:creationId xmlns:a16="http://schemas.microsoft.com/office/drawing/2014/main" id="{F738BA72-6FA5-A340-A4D3-82C845D364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5" name="Freihandform: Form 185">
              <a:extLst>
                <a:ext uri="{FF2B5EF4-FFF2-40B4-BE49-F238E27FC236}">
                  <a16:creationId xmlns:a16="http://schemas.microsoft.com/office/drawing/2014/main" id="{A6D2746E-5F24-D745-A2A3-D0ADEEF336B5}"/>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6" name="Freihandform: Form 186">
              <a:extLst>
                <a:ext uri="{FF2B5EF4-FFF2-40B4-BE49-F238E27FC236}">
                  <a16:creationId xmlns:a16="http://schemas.microsoft.com/office/drawing/2014/main" id="{F365F04E-F6F3-EC40-8AF7-457F234C8148}"/>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7" name="Freihandform: Form 187">
              <a:extLst>
                <a:ext uri="{FF2B5EF4-FFF2-40B4-BE49-F238E27FC236}">
                  <a16:creationId xmlns:a16="http://schemas.microsoft.com/office/drawing/2014/main" id="{E795987B-C466-AF4D-91C5-7C0A403A567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8" name="Freihandform: Form 188">
              <a:extLst>
                <a:ext uri="{FF2B5EF4-FFF2-40B4-BE49-F238E27FC236}">
                  <a16:creationId xmlns:a16="http://schemas.microsoft.com/office/drawing/2014/main" id="{03A27536-9171-8D4E-A050-974D975CBA72}"/>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89" name="Freihandform: Form 189">
              <a:extLst>
                <a:ext uri="{FF2B5EF4-FFF2-40B4-BE49-F238E27FC236}">
                  <a16:creationId xmlns:a16="http://schemas.microsoft.com/office/drawing/2014/main" id="{D643B2AE-9BD8-2447-B0FE-BFB5EF735DB4}"/>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1" name="Freihandform: Form 87">
            <a:extLst>
              <a:ext uri="{FF2B5EF4-FFF2-40B4-BE49-F238E27FC236}">
                <a16:creationId xmlns:a16="http://schemas.microsoft.com/office/drawing/2014/main" id="{DEFECFB7-4BFC-2143-8119-7CD966471870}"/>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2" name="Grafik 1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3" name="Bildplatzhalter 5"/>
          <p:cNvSpPr>
            <a:spLocks noGrp="1"/>
          </p:cNvSpPr>
          <p:nvPr>
            <p:ph type="pic" sz="quarter" idx="13"/>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31109205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B4FCF17-48A0-4939-9B86-4A0E590241E6}"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7" y="1631156"/>
            <a:ext cx="11157745"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F5C59997-58CB-4A34-A7D6-744D4117FF64}"/>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28AE96D7-C3C8-4590-B13B-86D938A7890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2" name="Grafik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5432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871C8739-BFB7-40C2-B28E-69BB709E9C11}"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6206329" y="1631156"/>
            <a:ext cx="5469732" cy="456961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BAC64890-C924-4759-9B9B-7DE74E38C4A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430288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7B6080-B214-4A27-A13D-95A31493955D}"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636A777D-D5C6-4E84-A9C9-D0F4836A4C4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518318"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8107242"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4312780"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Textplatzhalter 9">
            <a:extLst>
              <a:ext uri="{FF2B5EF4-FFF2-40B4-BE49-F238E27FC236}">
                <a16:creationId xmlns:a16="http://schemas.microsoft.com/office/drawing/2014/main" id="{7A7A670F-933B-48F3-B921-A1B739D6C9D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669183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4E4BF54-E288-44CA-9624-72B71A8A42AB}"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6206329" y="1631155"/>
            <a:ext cx="5469732" cy="4569619"/>
          </a:xfrm>
          <a:solidFill>
            <a:schemeClr val="bg1">
              <a:lumMod val="95000"/>
            </a:schemeClr>
          </a:solidFill>
        </p:spPr>
        <p:txBody>
          <a:bodyPr/>
          <a:lstStyle/>
          <a:p>
            <a:r>
              <a:rPr lang="de-DE"/>
              <a:t> </a:t>
            </a:r>
          </a:p>
        </p:txBody>
      </p:sp>
      <p:sp>
        <p:nvSpPr>
          <p:cNvPr id="12" name="Textplatzhalter 9">
            <a:extLst>
              <a:ext uri="{FF2B5EF4-FFF2-40B4-BE49-F238E27FC236}">
                <a16:creationId xmlns:a16="http://schemas.microsoft.com/office/drawing/2014/main" id="{97A335FC-7B0F-4DB2-A1F6-1DF21639819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15395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518318" y="1631155"/>
            <a:ext cx="5469732"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2055A8-E7B1-419D-84AA-0C89B698BF26}"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6206331"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2" name="Textplatzhalter 9">
            <a:extLst>
              <a:ext uri="{FF2B5EF4-FFF2-40B4-BE49-F238E27FC236}">
                <a16:creationId xmlns:a16="http://schemas.microsoft.com/office/drawing/2014/main" id="{D7BA2DC0-EE95-4994-AD5A-8F6A7D106E5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04713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12192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518319" y="3431381"/>
            <a:ext cx="3571200" cy="2769394"/>
          </a:xfrm>
          <a:solidFill>
            <a:schemeClr val="bg1"/>
          </a:solidFill>
        </p:spPr>
        <p:txBody>
          <a:bodyPr wrap="square" lIns="180000" tIns="180000" rIns="360000" bIns="18000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390525" y="160153"/>
            <a:ext cx="333375"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390525" y="1131703"/>
            <a:ext cx="333375"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390525" y="1491963"/>
            <a:ext cx="333375"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390525" y="3292188"/>
            <a:ext cx="333375"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390525" y="6063963"/>
            <a:ext cx="333375"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390525" y="6495763"/>
            <a:ext cx="333375"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281643" y="-299136"/>
            <a:ext cx="333375" cy="136808"/>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5752963" y="-299136"/>
            <a:ext cx="333375" cy="136804"/>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6203950" y="-397424"/>
            <a:ext cx="124906" cy="333375"/>
            <a:chOff x="6416680" y="-397424"/>
            <a:chExt cx="124906"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11447325" y="-299139"/>
            <a:ext cx="333375" cy="1368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287089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2D4C7B6-65DB-4651-9D6D-787BD251B230}"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518317" y="1631156"/>
            <a:ext cx="11157746"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518317" y="5690271"/>
            <a:ext cx="11157746"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1" name="Textplatzhalter 9">
            <a:extLst>
              <a:ext uri="{FF2B5EF4-FFF2-40B4-BE49-F238E27FC236}">
                <a16:creationId xmlns:a16="http://schemas.microsoft.com/office/drawing/2014/main" id="{122FFE2B-554A-4423-8513-4D2A70D2DB1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4"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5" name="Grafik 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79628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56074B9-4BBE-42DB-8ECC-1B8A75D6203E}"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518317" y="1631156"/>
            <a:ext cx="5469732"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518317"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6206331" y="1631156"/>
            <a:ext cx="5469732"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6206331"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2" name="Textplatzhalter 9">
            <a:extLst>
              <a:ext uri="{FF2B5EF4-FFF2-40B4-BE49-F238E27FC236}">
                <a16:creationId xmlns:a16="http://schemas.microsoft.com/office/drawing/2014/main" id="{5F1A965F-F63A-4B03-A142-6DC4620DA5F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8" name="Grafik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34480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FCBA888-8294-4426-A426-0D17B6B1880D}"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518317" y="1631156"/>
            <a:ext cx="3569758"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518317"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8106305" y="1631156"/>
            <a:ext cx="3569758"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8106305"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4312311" y="1631156"/>
            <a:ext cx="3569758"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4312311"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4" name="Textplatzhalter 9">
            <a:extLst>
              <a:ext uri="{FF2B5EF4-FFF2-40B4-BE49-F238E27FC236}">
                <a16:creationId xmlns:a16="http://schemas.microsoft.com/office/drawing/2014/main" id="{B180B26F-6FF8-4738-A10C-E14470F0B8C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16342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2F894D4-C9B8-4F96-8FF6-79E826889C55}"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11155366"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64AF0876-C672-488E-ADCD-17BBFC33638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139291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33DA0F4A-AEAE-4C58-AA76-7EADB0FF7089}"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5469733"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6206330" y="1631156"/>
            <a:ext cx="5469733" cy="4569619"/>
          </a:xfrm>
        </p:spPr>
        <p:txBody>
          <a:bodyPr/>
          <a:lstStyle/>
          <a:p>
            <a:pPr lvl="0"/>
            <a:r>
              <a:rPr lang="de-DE" dirty="0"/>
              <a:t> </a:t>
            </a:r>
          </a:p>
        </p:txBody>
      </p:sp>
      <p:sp>
        <p:nvSpPr>
          <p:cNvPr id="12" name="Textplatzhalter 9">
            <a:extLst>
              <a:ext uri="{FF2B5EF4-FFF2-40B4-BE49-F238E27FC236}">
                <a16:creationId xmlns:a16="http://schemas.microsoft.com/office/drawing/2014/main" id="{777B5741-96D1-4193-A4A5-5EE22D85663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40"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535539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E4667C9-4C75-43A9-95B7-0690D6F29CA5}"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8104861" y="1631156"/>
            <a:ext cx="3571200" cy="456962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518317" y="1631157"/>
            <a:ext cx="7363752" cy="4569620"/>
          </a:xfrm>
        </p:spPr>
        <p:txBody>
          <a:bodyPr/>
          <a:lstStyle/>
          <a:p>
            <a:pPr lvl="0"/>
            <a:r>
              <a:rPr lang="de-DE" dirty="0"/>
              <a:t> </a:t>
            </a:r>
          </a:p>
        </p:txBody>
      </p:sp>
      <p:sp>
        <p:nvSpPr>
          <p:cNvPr id="12" name="Textplatzhalter 9">
            <a:extLst>
              <a:ext uri="{FF2B5EF4-FFF2-40B4-BE49-F238E27FC236}">
                <a16:creationId xmlns:a16="http://schemas.microsoft.com/office/drawing/2014/main" id="{FBCC7105-5E2C-4745-BEC8-77E521534F9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777962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ur Titel | Grau">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8C462FD0-9E74-4D67-97DA-C8DBAA1AE5FF}"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1925060-7FCF-4CBC-B0DA-0731E3E98579}"/>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Textplatzhalter 9">
            <a:extLst>
              <a:ext uri="{FF2B5EF4-FFF2-40B4-BE49-F238E27FC236}">
                <a16:creationId xmlns:a16="http://schemas.microsoft.com/office/drawing/2014/main" id="{A9FF3927-CA7B-4361-998A-3A60E5D23F53}"/>
              </a:ext>
            </a:extLst>
          </p:cNvPr>
          <p:cNvSpPr>
            <a:spLocks noGrp="1"/>
          </p:cNvSpPr>
          <p:nvPr>
            <p:ph type="body" sz="quarter" idx="23"/>
          </p:nvPr>
        </p:nvSpPr>
        <p:spPr>
          <a:xfrm>
            <a:off x="518317" y="687598"/>
            <a:ext cx="6844385" cy="249812"/>
          </a:xfrm>
        </p:spPr>
        <p:txBody>
          <a:bodyPr wrap="square">
            <a:spAutoFit/>
          </a:bodyPr>
          <a:lstStyle>
            <a:lvl1pPr>
              <a:defRPr sz="1600">
                <a:solidFill>
                  <a:schemeClr val="tx2"/>
                </a:solidFill>
              </a:defRPr>
            </a:lvl1pPr>
          </a:lstStyle>
          <a:p>
            <a:pPr lvl="0"/>
            <a:r>
              <a:rPr lang="de-DE" dirty="0"/>
              <a:t>Mastertextformat bearbeiten</a:t>
            </a:r>
          </a:p>
        </p:txBody>
      </p:sp>
      <p:sp>
        <p:nvSpPr>
          <p:cNvPr id="61" name="Freihandform: Form 60">
            <a:extLst>
              <a:ext uri="{FF2B5EF4-FFF2-40B4-BE49-F238E27FC236}">
                <a16:creationId xmlns:a16="http://schemas.microsoft.com/office/drawing/2014/main" id="{BC19384B-1D95-4C0D-B3F0-61407A015F56}"/>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endParaRPr lang="de-DE"/>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390525" y="160153"/>
            <a:ext cx="333375"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390525" y="1131703"/>
            <a:ext cx="333375"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390525" y="1491963"/>
            <a:ext cx="333375"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390525" y="3292188"/>
            <a:ext cx="333375"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390525" y="6063963"/>
            <a:ext cx="333375"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390525" y="6495763"/>
            <a:ext cx="333375"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281643" y="-299136"/>
            <a:ext cx="333375" cy="136808"/>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5752963" y="-299136"/>
            <a:ext cx="333375" cy="136804"/>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6203950" y="-397424"/>
            <a:ext cx="124906" cy="333375"/>
            <a:chOff x="6416680" y="-397424"/>
            <a:chExt cx="124906"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11447325" y="-299139"/>
            <a:ext cx="333375" cy="1368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3" name="Grafik 4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0196326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AD94168-1D2E-414B-9AFB-B7BB2EA3568F}"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Textplatzhalter 9">
            <a:extLst>
              <a:ext uri="{FF2B5EF4-FFF2-40B4-BE49-F238E27FC236}">
                <a16:creationId xmlns:a16="http://schemas.microsoft.com/office/drawing/2014/main" id="{903DE59B-FC71-4F7B-BBCF-9B96B09DD62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9"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0" name="Grafik 9"/>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8297363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264EDA59-479C-41C3-99F0-9A24DD470063}" type="datetime4">
              <a:rPr lang="de-DE" smtClean="0"/>
              <a:t>30. April 2026</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de-DE" sz="1600" b="0" i="0" u="none" strike="noStrike" kern="1200" cap="none" spc="0" normalizeH="0" baseline="0" noProof="0" dirty="0">
              <a:ln>
                <a:noFill/>
              </a:ln>
              <a:solidFill>
                <a:srgbClr val="041E42"/>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r>
              <a:rPr lang="de-DE" dirty="0"/>
              <a:t>„Mastertextformat bearbeiten“</a:t>
            </a:r>
          </a:p>
        </p:txBody>
      </p:sp>
      <p:sp>
        <p:nvSpPr>
          <p:cNvPr id="11" name="Textplatzhalter 9">
            <a:extLst>
              <a:ext uri="{FF2B5EF4-FFF2-40B4-BE49-F238E27FC236}">
                <a16:creationId xmlns:a16="http://schemas.microsoft.com/office/drawing/2014/main" id="{2BEC83A6-EBB5-4F38-9A43-62A2E7E3616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5347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57" name="Textplatzhalter 167">
            <a:extLst>
              <a:ext uri="{FF2B5EF4-FFF2-40B4-BE49-F238E27FC236}">
                <a16:creationId xmlns:a16="http://schemas.microsoft.com/office/drawing/2014/main" id="{68AB2348-B91F-4E68-BDE1-60ECCE02B493}"/>
              </a:ext>
            </a:extLst>
          </p:cNvPr>
          <p:cNvSpPr>
            <a:spLocks noGrp="1"/>
          </p:cNvSpPr>
          <p:nvPr>
            <p:ph type="body" sz="quarter" idx="12"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59" name="Bildplatzhalter 60">
            <a:extLst>
              <a:ext uri="{FF2B5EF4-FFF2-40B4-BE49-F238E27FC236}">
                <a16:creationId xmlns:a16="http://schemas.microsoft.com/office/drawing/2014/main" id="{92CE05A2-27DE-4191-8A63-5C7C7ACA37CD}"/>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60" name="Rechteck 59">
            <a:extLst>
              <a:ext uri="{FF2B5EF4-FFF2-40B4-BE49-F238E27FC236}">
                <a16:creationId xmlns:a16="http://schemas.microsoft.com/office/drawing/2014/main" id="{CBD8B083-79E8-44E1-BA43-E993160F02E1}"/>
              </a:ext>
            </a:extLst>
          </p:cNvPr>
          <p:cNvSpPr/>
          <p:nvPr userDrawn="1"/>
        </p:nvSpPr>
        <p:spPr>
          <a:xfrm>
            <a:off x="518400" y="1196733"/>
            <a:ext cx="11676062"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518317" y="2647985"/>
            <a:ext cx="11157745" cy="1562031"/>
          </a:xfrm>
        </p:spPr>
        <p:txBody>
          <a:bodyPr vert="horz" wrap="square" lIns="0" tIns="0" rIns="360000" bIns="0" rtlCol="0" anchor="ctr" anchorCtr="0">
            <a:spAutoFit/>
          </a:bodyPr>
          <a:lstStyle>
            <a:lvl1pPr>
              <a:spcAft>
                <a:spcPts val="0"/>
              </a:spcAft>
              <a:defRPr lang="de-DE" sz="4800" b="1" dirty="0" smtClean="0">
                <a:latin typeface="+mj-lt"/>
                <a:ea typeface="+mj-ea"/>
                <a:cs typeface="+mj-cs"/>
              </a:defRPr>
            </a:lvl1pPr>
          </a:lstStyle>
          <a:p>
            <a:pPr lvl="0">
              <a:spcBef>
                <a:spcPct val="0"/>
              </a:spcBef>
            </a:pPr>
            <a:r>
              <a:rPr lang="de-DE" dirty="0"/>
              <a:t>Vielen Dank</a:t>
            </a:r>
            <a:br>
              <a:rPr lang="de-DE" dirty="0"/>
            </a:br>
            <a:r>
              <a:rPr lang="de-DE" dirty="0"/>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390525" y="160153"/>
            <a:ext cx="333375"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390525" y="1131703"/>
            <a:ext cx="333375"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390525" y="1491963"/>
            <a:ext cx="333375"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390525" y="3292188"/>
            <a:ext cx="333375"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390525" y="6063963"/>
            <a:ext cx="333375"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390525" y="6495763"/>
            <a:ext cx="333375"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281643" y="-299136"/>
            <a:ext cx="333375" cy="136808"/>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5752963" y="-299136"/>
            <a:ext cx="333375" cy="136804"/>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6203950" y="-397424"/>
            <a:ext cx="124906" cy="333375"/>
            <a:chOff x="6416680" y="-397424"/>
            <a:chExt cx="124906"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11447325" y="-299139"/>
            <a:ext cx="333375" cy="1368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3" name="Gruppieren 92">
            <a:extLst>
              <a:ext uri="{FF2B5EF4-FFF2-40B4-BE49-F238E27FC236}">
                <a16:creationId xmlns:a16="http://schemas.microsoft.com/office/drawing/2014/main" id="{026F1790-1AA5-2249-AC8D-458445CB9276}"/>
              </a:ext>
            </a:extLst>
          </p:cNvPr>
          <p:cNvGrpSpPr/>
          <p:nvPr userDrawn="1"/>
        </p:nvGrpSpPr>
        <p:grpSpPr>
          <a:xfrm>
            <a:off x="510639" y="293096"/>
            <a:ext cx="2388067" cy="301237"/>
            <a:chOff x="510639" y="293688"/>
            <a:chExt cx="2594512" cy="327279"/>
          </a:xfrm>
        </p:grpSpPr>
        <p:sp>
          <p:nvSpPr>
            <p:cNvPr id="94" name="Freihandform: Form 139">
              <a:extLst>
                <a:ext uri="{FF2B5EF4-FFF2-40B4-BE49-F238E27FC236}">
                  <a16:creationId xmlns:a16="http://schemas.microsoft.com/office/drawing/2014/main" id="{A21D6C90-CB6F-5742-B27A-61223E4D0276}"/>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5" name="Freihandform: Form 140">
              <a:extLst>
                <a:ext uri="{FF2B5EF4-FFF2-40B4-BE49-F238E27FC236}">
                  <a16:creationId xmlns:a16="http://schemas.microsoft.com/office/drawing/2014/main" id="{AD0321DC-F0FE-444A-A11C-AD1929DC8A9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6" name="Freihandform: Form 141">
              <a:extLst>
                <a:ext uri="{FF2B5EF4-FFF2-40B4-BE49-F238E27FC236}">
                  <a16:creationId xmlns:a16="http://schemas.microsoft.com/office/drawing/2014/main" id="{26533122-7334-2A48-988D-C005CB3DBF35}"/>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7" name="Freihandform: Form 142">
              <a:extLst>
                <a:ext uri="{FF2B5EF4-FFF2-40B4-BE49-F238E27FC236}">
                  <a16:creationId xmlns:a16="http://schemas.microsoft.com/office/drawing/2014/main" id="{AEA3C75E-A2CA-A949-9620-F3FBBC32F186}"/>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8" name="Freihandform: Form 143">
              <a:extLst>
                <a:ext uri="{FF2B5EF4-FFF2-40B4-BE49-F238E27FC236}">
                  <a16:creationId xmlns:a16="http://schemas.microsoft.com/office/drawing/2014/main" id="{12CC2BD9-F08D-6843-8054-67F3295C4D11}"/>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9" name="Freihandform: Form 144">
              <a:extLst>
                <a:ext uri="{FF2B5EF4-FFF2-40B4-BE49-F238E27FC236}">
                  <a16:creationId xmlns:a16="http://schemas.microsoft.com/office/drawing/2014/main" id="{0091577E-076D-F64A-95AF-2939860D6325}"/>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0" name="Freihandform: Form 145">
              <a:extLst>
                <a:ext uri="{FF2B5EF4-FFF2-40B4-BE49-F238E27FC236}">
                  <a16:creationId xmlns:a16="http://schemas.microsoft.com/office/drawing/2014/main" id="{5600DA2B-A584-9F4F-80C0-8BE95E6C0A45}"/>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1" name="Freihandform: Form 146">
              <a:extLst>
                <a:ext uri="{FF2B5EF4-FFF2-40B4-BE49-F238E27FC236}">
                  <a16:creationId xmlns:a16="http://schemas.microsoft.com/office/drawing/2014/main" id="{0ADFB78B-5A0B-EC48-B160-DB451C67D058}"/>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2" name="Freihandform: Form 147">
              <a:extLst>
                <a:ext uri="{FF2B5EF4-FFF2-40B4-BE49-F238E27FC236}">
                  <a16:creationId xmlns:a16="http://schemas.microsoft.com/office/drawing/2014/main" id="{C6B7CD53-2D3F-8F4A-9C0F-459B22C64249}"/>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3" name="Freihandform: Form 148">
              <a:extLst>
                <a:ext uri="{FF2B5EF4-FFF2-40B4-BE49-F238E27FC236}">
                  <a16:creationId xmlns:a16="http://schemas.microsoft.com/office/drawing/2014/main" id="{03CC9F64-7804-5240-88A6-B67E28D0AD06}"/>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4" name="Freihandform: Form 149">
              <a:extLst>
                <a:ext uri="{FF2B5EF4-FFF2-40B4-BE49-F238E27FC236}">
                  <a16:creationId xmlns:a16="http://schemas.microsoft.com/office/drawing/2014/main" id="{E6643B5A-CFDD-5C43-A59B-93938CABC24B}"/>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5" name="Freihandform: Form 150">
              <a:extLst>
                <a:ext uri="{FF2B5EF4-FFF2-40B4-BE49-F238E27FC236}">
                  <a16:creationId xmlns:a16="http://schemas.microsoft.com/office/drawing/2014/main" id="{D26AF907-03C7-FA42-B615-832617429969}"/>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6" name="Freihandform: Form 151">
              <a:extLst>
                <a:ext uri="{FF2B5EF4-FFF2-40B4-BE49-F238E27FC236}">
                  <a16:creationId xmlns:a16="http://schemas.microsoft.com/office/drawing/2014/main" id="{98F9BDF6-AE59-C44A-8626-FCA4C438AE9A}"/>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2">
              <a:extLst>
                <a:ext uri="{FF2B5EF4-FFF2-40B4-BE49-F238E27FC236}">
                  <a16:creationId xmlns:a16="http://schemas.microsoft.com/office/drawing/2014/main" id="{97588694-F74D-B543-BF65-516DF62D573B}"/>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8" name="Freihandform: Form 153">
              <a:extLst>
                <a:ext uri="{FF2B5EF4-FFF2-40B4-BE49-F238E27FC236}">
                  <a16:creationId xmlns:a16="http://schemas.microsoft.com/office/drawing/2014/main" id="{71F0FABB-571B-EE45-BBF5-1BD649E61A7A}"/>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4">
              <a:extLst>
                <a:ext uri="{FF2B5EF4-FFF2-40B4-BE49-F238E27FC236}">
                  <a16:creationId xmlns:a16="http://schemas.microsoft.com/office/drawing/2014/main" id="{6F35B898-AF9E-B24C-8095-1B2E00B5976C}"/>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10" name="Freihandform: Form 155">
              <a:extLst>
                <a:ext uri="{FF2B5EF4-FFF2-40B4-BE49-F238E27FC236}">
                  <a16:creationId xmlns:a16="http://schemas.microsoft.com/office/drawing/2014/main" id="{F31686E7-1238-1D42-9AAE-AEFC064F817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6">
              <a:extLst>
                <a:ext uri="{FF2B5EF4-FFF2-40B4-BE49-F238E27FC236}">
                  <a16:creationId xmlns:a16="http://schemas.microsoft.com/office/drawing/2014/main" id="{9573ACD1-98CF-3D47-8F2D-806BC94B7645}"/>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2" name="Freihandform: Form 157">
              <a:extLst>
                <a:ext uri="{FF2B5EF4-FFF2-40B4-BE49-F238E27FC236}">
                  <a16:creationId xmlns:a16="http://schemas.microsoft.com/office/drawing/2014/main" id="{5833A8CA-68BA-1D42-ADB9-DD476590B3FA}"/>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3" name="Freihandform: Form 158">
              <a:extLst>
                <a:ext uri="{FF2B5EF4-FFF2-40B4-BE49-F238E27FC236}">
                  <a16:creationId xmlns:a16="http://schemas.microsoft.com/office/drawing/2014/main" id="{38CDB2DE-A029-F143-A449-BDAACA6CB6B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2" name="Freihandform: Form 159">
              <a:extLst>
                <a:ext uri="{FF2B5EF4-FFF2-40B4-BE49-F238E27FC236}">
                  <a16:creationId xmlns:a16="http://schemas.microsoft.com/office/drawing/2014/main" id="{2E3EBA2D-AAD7-5F44-A166-ABBB3A44348D}"/>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3" name="Freihandform: Form 160">
              <a:extLst>
                <a:ext uri="{FF2B5EF4-FFF2-40B4-BE49-F238E27FC236}">
                  <a16:creationId xmlns:a16="http://schemas.microsoft.com/office/drawing/2014/main" id="{CB811BC1-B517-F04A-82E8-C60B78A199D1}"/>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161">
              <a:extLst>
                <a:ext uri="{FF2B5EF4-FFF2-40B4-BE49-F238E27FC236}">
                  <a16:creationId xmlns:a16="http://schemas.microsoft.com/office/drawing/2014/main" id="{E2703D52-5297-3C48-B86D-DCFEA836ACA9}"/>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5" name="Freihandform: Form 162">
              <a:extLst>
                <a:ext uri="{FF2B5EF4-FFF2-40B4-BE49-F238E27FC236}">
                  <a16:creationId xmlns:a16="http://schemas.microsoft.com/office/drawing/2014/main" id="{DCA81DDD-FB1B-B648-8F82-E70860C4CE4D}"/>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6" name="Freihandform: Form 163">
              <a:extLst>
                <a:ext uri="{FF2B5EF4-FFF2-40B4-BE49-F238E27FC236}">
                  <a16:creationId xmlns:a16="http://schemas.microsoft.com/office/drawing/2014/main" id="{01936875-CBF0-F349-804D-4C37C944AB17}"/>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5">
              <a:extLst>
                <a:ext uri="{FF2B5EF4-FFF2-40B4-BE49-F238E27FC236}">
                  <a16:creationId xmlns:a16="http://schemas.microsoft.com/office/drawing/2014/main" id="{92C51272-86B6-4B48-A4AE-D472CA82B923}"/>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8" name="Freihandform: Form 166">
              <a:extLst>
                <a:ext uri="{FF2B5EF4-FFF2-40B4-BE49-F238E27FC236}">
                  <a16:creationId xmlns:a16="http://schemas.microsoft.com/office/drawing/2014/main" id="{2C3A0B47-9D82-FE45-9457-BF81CD2FA7A6}"/>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FD97DAD5-B085-5D44-BE42-8F3B9EE9F595}"/>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D8ECE762-73AE-2C47-9441-EA7230658360}"/>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268398A3-39FF-4648-9FD9-E1F75E54D12C}"/>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EEB7B98-F8C7-214A-AF07-80D38697E5EF}"/>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B0794D66-9071-5140-AC48-F2C47D431BC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41947595-CA8E-5241-98C0-5EFA06643BED}"/>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F7EB5DA7-F9C3-684D-838F-266E140A765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5E2D2D99-EF02-1D4D-9F6A-DEB889A0447B}"/>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2F91FC47-FBF2-C346-8E62-806EB9B2438F}"/>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A4630EB4-B754-944C-9CB6-CE520408D1BF}"/>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48F22E58-B093-7A4C-8FD8-28E1C21328AA}"/>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A6E2FCD4-9705-3940-BF2A-D1239696D458}"/>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D6DD86DF-00FF-D74B-981F-9FD8B5BF191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91A50E87-376B-6D43-978E-5C6F4575592A}"/>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A011A632-65C3-334B-891C-670B5B727835}"/>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6359897B-BEE2-184D-9C5D-0F971338293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E4B815F2-CB49-0640-ABE6-3672063D4CAB}"/>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8181309B-0D7E-C447-A3C3-424CD8B2E92D}"/>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A1C774AA-192A-1540-A66B-EEAAA42C920D}"/>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697E23D0-D2AD-3142-8A3E-37ABC6B906BF}"/>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C5FC6DC2-92D0-6D49-BDFC-FA21FE7F4933}"/>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402015ED-8B6D-DE4E-8093-A79355D84C63}"/>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4" name="Freihandform: Form 87">
            <a:extLst>
              <a:ext uri="{FF2B5EF4-FFF2-40B4-BE49-F238E27FC236}">
                <a16:creationId xmlns:a16="http://schemas.microsoft.com/office/drawing/2014/main" id="{C7277E25-4150-EF4E-B2B2-BD3F0A3E2646}"/>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5" name="Grafik 1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6" name="Bildplatzhalter 5"/>
          <p:cNvSpPr>
            <a:spLocks noGrp="1"/>
          </p:cNvSpPr>
          <p:nvPr>
            <p:ph type="pic" sz="quarter" idx="14"/>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152488056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518318" y="301185"/>
            <a:ext cx="6844385" cy="332399"/>
          </a:xfrm>
          <a:prstGeom prst="rect">
            <a:avLst/>
          </a:prstGeom>
        </p:spPr>
        <p:txBody>
          <a:bodyPr vert="horz" wrap="square" lIns="0" tIns="0" rIns="0" bIns="0" rtlCol="0" anchor="t" anchorCtr="0">
            <a:spAutoFit/>
          </a:bodyPr>
          <a:lstStyle/>
          <a:p>
            <a:r>
              <a:rPr lang="de-DE" dirty="0"/>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518319" y="1631156"/>
            <a:ext cx="11157744" cy="4569619"/>
          </a:xfrm>
          <a:prstGeom prst="rect">
            <a:avLst/>
          </a:prstGeom>
        </p:spPr>
        <p:txBody>
          <a:bodyPr vert="horz" lIns="0" tIns="0" rIns="360000" bIns="0" rtlCol="0" anchor="t" anchorCtr="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fld id="{E4F9C00A-8AFB-47C9-A7D9-7909CE906E5E}" type="datetime4">
              <a:rPr lang="de-DE" smtClean="0"/>
              <a:t>30. April 2026</a:t>
            </a:fld>
            <a:endParaRPr lang="de-DE" dirty="0"/>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de-DE"/>
              <a:t>Technische Fakultät</a:t>
            </a:r>
            <a:endParaRPr lang="de-DE" dirty="0"/>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518400" y="1196733"/>
            <a:ext cx="11676062"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F10272FF-60F7-4AF4-9CD6-0A04080EA9B4}"/>
              </a:ext>
            </a:extLst>
          </p:cNvPr>
          <p:cNvSpPr/>
          <p:nvPr userDrawn="1"/>
        </p:nvSpPr>
        <p:spPr>
          <a:xfrm>
            <a:off x="517200" y="6538526"/>
            <a:ext cx="11674800" cy="108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390525" y="160153"/>
            <a:ext cx="333375"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390525" y="1131703"/>
            <a:ext cx="333375"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390525" y="1491963"/>
            <a:ext cx="333375"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390525" y="3292188"/>
            <a:ext cx="333375"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390525" y="6063963"/>
            <a:ext cx="333375"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390525" y="6495763"/>
            <a:ext cx="333375"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281643" y="-299136"/>
            <a:ext cx="333375" cy="136808"/>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5752963" y="-299136"/>
            <a:ext cx="333375" cy="136804"/>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6203950" y="-397424"/>
            <a:ext cx="124906" cy="333375"/>
            <a:chOff x="6416680" y="-397424"/>
            <a:chExt cx="124906"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11447325" y="-299139"/>
            <a:ext cx="333375" cy="1368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4" name="Freihandform: Form 43">
            <a:extLst>
              <a:ext uri="{FF2B5EF4-FFF2-40B4-BE49-F238E27FC236}">
                <a16:creationId xmlns:a16="http://schemas.microsoft.com/office/drawing/2014/main" id="{14D59EEC-E0BA-43F5-BBC0-E623BF3D0A64}"/>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65982480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hf hdr="0"/>
  <p:txStyles>
    <p:title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55">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3908">
          <p15:clr>
            <a:srgbClr val="F26B43"/>
          </p15:clr>
        </p15:guide>
        <p15:guide id="11" pos="37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15.png"/><Relationship Id="rId12" Type="http://schemas.openxmlformats.org/officeDocument/2006/relationships/image" Target="../media/image7.png"/><Relationship Id="rId2" Type="http://schemas.openxmlformats.org/officeDocument/2006/relationships/notesSlide" Target="../notesSlides/notesSlide3.xml"/><Relationship Id="rId16"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image" Target="../media/image14.png"/><Relationship Id="rId11" Type="http://schemas.openxmlformats.org/officeDocument/2006/relationships/image" Target="../media/image6.png"/><Relationship Id="rId5" Type="http://schemas.openxmlformats.org/officeDocument/2006/relationships/image" Target="../media/image13.png"/><Relationship Id="rId15" Type="http://schemas.openxmlformats.org/officeDocument/2006/relationships/image" Target="../media/image10.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1.png"/><Relationship Id="rId11" Type="http://schemas.openxmlformats.org/officeDocument/2006/relationships/image" Target="../media/image17.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4.pn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4.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4.pn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34.png"/><Relationship Id="rId11" Type="http://schemas.openxmlformats.org/officeDocument/2006/relationships/image" Target="../media/image41.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4.pn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34.png"/><Relationship Id="rId11" Type="http://schemas.openxmlformats.org/officeDocument/2006/relationships/image" Target="../media/image26.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4.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20.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0359-E884-33A3-1236-C8D67D9577A4}"/>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0C9A86A5-CCFC-DB6A-9FAD-D70171056D9E}"/>
              </a:ext>
            </a:extLst>
          </p:cNvPr>
          <p:cNvSpPr>
            <a:spLocks noGrp="1"/>
          </p:cNvSpPr>
          <p:nvPr>
            <p:ph type="body" sz="quarter" idx="11"/>
          </p:nvPr>
        </p:nvSpPr>
        <p:spPr/>
        <p:txBody>
          <a:bodyPr/>
          <a:lstStyle/>
          <a:p>
            <a:endParaRPr lang="en-US"/>
          </a:p>
        </p:txBody>
      </p:sp>
      <p:pic>
        <p:nvPicPr>
          <p:cNvPr id="14" name="Bildplatzhalter 13" descr="Ein Bild, das Text, Geschirr enthält.&#10;&#10;Automatisch generierte Beschreibung">
            <a:extLst>
              <a:ext uri="{FF2B5EF4-FFF2-40B4-BE49-F238E27FC236}">
                <a16:creationId xmlns:a16="http://schemas.microsoft.com/office/drawing/2014/main" id="{68B04317-9477-907D-A28A-856197C7802C}"/>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1875" b="11875"/>
          <a:stretch>
            <a:fillRect/>
          </a:stretch>
        </p:blipFill>
        <p:spPr>
          <a:xfrm>
            <a:off x="0" y="1287263"/>
            <a:ext cx="12192000" cy="5603736"/>
          </a:xfrm>
        </p:spPr>
      </p:pic>
      <p:sp>
        <p:nvSpPr>
          <p:cNvPr id="9" name="Titel 3">
            <a:extLst>
              <a:ext uri="{FF2B5EF4-FFF2-40B4-BE49-F238E27FC236}">
                <a16:creationId xmlns:a16="http://schemas.microsoft.com/office/drawing/2014/main" id="{29D73FCC-E2A7-6CB6-949D-B910FCFB69B5}"/>
              </a:ext>
            </a:extLst>
          </p:cNvPr>
          <p:cNvSpPr>
            <a:spLocks noGrp="1"/>
          </p:cNvSpPr>
          <p:nvPr>
            <p:ph type="title"/>
          </p:nvPr>
        </p:nvSpPr>
        <p:spPr>
          <a:xfrm>
            <a:off x="429229" y="1462375"/>
            <a:ext cx="7797006" cy="2390270"/>
          </a:xfrm>
        </p:spPr>
        <p:txBody>
          <a:bodyPr/>
          <a:lstStyle/>
          <a:p>
            <a:r>
              <a:rPr lang="de-DE" sz="3600" dirty="0"/>
              <a:t>Physics-</a:t>
            </a:r>
            <a:r>
              <a:rPr lang="de-DE" sz="3600" dirty="0" err="1"/>
              <a:t>Informed</a:t>
            </a:r>
            <a:r>
              <a:rPr lang="de-DE" sz="3600" dirty="0"/>
              <a:t> GNN </a:t>
            </a:r>
            <a:r>
              <a:rPr lang="de-DE" sz="3600" dirty="0" err="1"/>
              <a:t>for</a:t>
            </a:r>
            <a:r>
              <a:rPr lang="de-DE" sz="3600" dirty="0"/>
              <a:t> Medium-</a:t>
            </a:r>
            <a:br>
              <a:rPr lang="de-DE" sz="3600" dirty="0"/>
            </a:br>
            <a:r>
              <a:rPr lang="de-DE" sz="3600" dirty="0"/>
              <a:t>High </a:t>
            </a:r>
            <a:r>
              <a:rPr lang="de-DE" sz="3600" dirty="0" err="1"/>
              <a:t>Voltage</a:t>
            </a:r>
            <a:r>
              <a:rPr lang="de-DE" sz="3600" dirty="0"/>
              <a:t> AC Power Flow</a:t>
            </a:r>
            <a:br>
              <a:rPr lang="de-DE" sz="3600" dirty="0"/>
            </a:br>
            <a:r>
              <a:rPr lang="de-DE" sz="3600" dirty="0" err="1"/>
              <a:t>with</a:t>
            </a:r>
            <a:r>
              <a:rPr lang="de-DE" sz="3600" dirty="0"/>
              <a:t> Edge-Aware Attention and </a:t>
            </a:r>
            <a:br>
              <a:rPr lang="de-DE" sz="3600" dirty="0"/>
            </a:br>
            <a:r>
              <a:rPr lang="de-DE" sz="3600" dirty="0"/>
              <a:t>Line Search </a:t>
            </a:r>
            <a:r>
              <a:rPr lang="de-DE" sz="3600" dirty="0" err="1"/>
              <a:t>Correction</a:t>
            </a:r>
            <a:r>
              <a:rPr lang="de-DE" sz="3600" dirty="0"/>
              <a:t> Operator</a:t>
            </a:r>
            <a:endParaRPr lang="de-DE" sz="3200" dirty="0"/>
          </a:p>
        </p:txBody>
      </p:sp>
      <p:sp>
        <p:nvSpPr>
          <p:cNvPr id="10" name="Textfeld 9">
            <a:extLst>
              <a:ext uri="{FF2B5EF4-FFF2-40B4-BE49-F238E27FC236}">
                <a16:creationId xmlns:a16="http://schemas.microsoft.com/office/drawing/2014/main" id="{9BE8558A-0D8D-16B4-E552-C6525DFAE59A}"/>
              </a:ext>
            </a:extLst>
          </p:cNvPr>
          <p:cNvSpPr txBox="1"/>
          <p:nvPr/>
        </p:nvSpPr>
        <p:spPr>
          <a:xfrm>
            <a:off x="342135" y="4903252"/>
            <a:ext cx="7971194" cy="1951816"/>
          </a:xfrm>
          <a:prstGeom prst="rect">
            <a:avLst/>
          </a:prstGeom>
          <a:noFill/>
        </p:spPr>
        <p:txBody>
          <a:bodyPr wrap="square">
            <a:spAutoFit/>
          </a:bodyPr>
          <a:lstStyle/>
          <a:p>
            <a:pPr algn="l">
              <a:spcAft>
                <a:spcPts val="500"/>
              </a:spcAft>
            </a:pPr>
            <a:r>
              <a:rPr lang="en-US" sz="1800" b="1" i="0" dirty="0">
                <a:solidFill>
                  <a:srgbClr val="FFFFFF"/>
                </a:solidFill>
                <a:latin typeface="Arial" panose="020B0604020202020204" pitchFamily="34" charset="0"/>
                <a:cs typeface="Arial" panose="020B0604020202020204" pitchFamily="34" charset="0"/>
              </a:rPr>
              <a:t>Changhun Kim, Timon Conrad, </a:t>
            </a:r>
            <a:r>
              <a:rPr lang="en-US" sz="1800" b="1" i="0" dirty="0" err="1">
                <a:solidFill>
                  <a:srgbClr val="FFFFFF"/>
                </a:solidFill>
                <a:latin typeface="Arial" panose="020B0604020202020204" pitchFamily="34" charset="0"/>
                <a:cs typeface="Arial" panose="020B0604020202020204" pitchFamily="34" charset="0"/>
              </a:rPr>
              <a:t>Redwanul</a:t>
            </a:r>
            <a:r>
              <a:rPr lang="en-US" sz="1800" b="1" i="0" dirty="0">
                <a:solidFill>
                  <a:srgbClr val="FFFFFF"/>
                </a:solidFill>
                <a:latin typeface="Arial" panose="020B0604020202020204" pitchFamily="34" charset="0"/>
                <a:cs typeface="Arial" panose="020B0604020202020204" pitchFamily="34" charset="0"/>
              </a:rPr>
              <a:t> Karim, Julian </a:t>
            </a:r>
            <a:r>
              <a:rPr lang="en-US" sz="1800" b="1" i="0" dirty="0" err="1">
                <a:solidFill>
                  <a:srgbClr val="FFFFFF"/>
                </a:solidFill>
                <a:latin typeface="Arial" panose="020B0604020202020204" pitchFamily="34" charset="0"/>
                <a:cs typeface="Arial" panose="020B0604020202020204" pitchFamily="34" charset="0"/>
              </a:rPr>
              <a:t>Oelhaf</a:t>
            </a:r>
            <a:r>
              <a:rPr lang="en-US" sz="1800" b="1" i="0" dirty="0">
                <a:solidFill>
                  <a:srgbClr val="FFFFFF"/>
                </a:solidFill>
                <a:latin typeface="Arial" panose="020B0604020202020204" pitchFamily="34" charset="0"/>
                <a:cs typeface="Arial" panose="020B0604020202020204" pitchFamily="34" charset="0"/>
              </a:rPr>
              <a:t>, </a:t>
            </a:r>
          </a:p>
          <a:p>
            <a:pPr algn="l">
              <a:spcAft>
                <a:spcPts val="500"/>
              </a:spcAft>
            </a:pPr>
            <a:r>
              <a:rPr lang="en-US" sz="1800" b="1" i="0" dirty="0">
                <a:solidFill>
                  <a:srgbClr val="FFFFFF"/>
                </a:solidFill>
                <a:latin typeface="Arial" panose="020B0604020202020204" pitchFamily="34" charset="0"/>
                <a:cs typeface="Arial" panose="020B0604020202020204" pitchFamily="34" charset="0"/>
              </a:rPr>
              <a:t>David </a:t>
            </a:r>
            <a:r>
              <a:rPr lang="en-US" sz="1800" b="1" i="0" dirty="0" err="1">
                <a:solidFill>
                  <a:srgbClr val="FFFFFF"/>
                </a:solidFill>
                <a:latin typeface="Arial" panose="020B0604020202020204" pitchFamily="34" charset="0"/>
                <a:cs typeface="Arial" panose="020B0604020202020204" pitchFamily="34" charset="0"/>
              </a:rPr>
              <a:t>Riebesel</a:t>
            </a:r>
            <a:r>
              <a:rPr lang="en-US" sz="1800" b="1" i="0" dirty="0">
                <a:solidFill>
                  <a:srgbClr val="FFFFFF"/>
                </a:solidFill>
                <a:latin typeface="Arial" panose="020B0604020202020204" pitchFamily="34" charset="0"/>
                <a:cs typeface="Arial" panose="020B0604020202020204" pitchFamily="34" charset="0"/>
              </a:rPr>
              <a:t>, Tomas Arias-Vergara, Andreas Maier, Johann Jaeger, </a:t>
            </a:r>
          </a:p>
          <a:p>
            <a:pPr algn="l">
              <a:spcAft>
                <a:spcPts val="500"/>
              </a:spcAft>
            </a:pPr>
            <a:r>
              <a:rPr lang="en-US" sz="1800" b="1" i="0" dirty="0">
                <a:solidFill>
                  <a:srgbClr val="FFFFFF"/>
                </a:solidFill>
                <a:latin typeface="Arial" panose="020B0604020202020204" pitchFamily="34" charset="0"/>
                <a:cs typeface="Arial" panose="020B0604020202020204" pitchFamily="34" charset="0"/>
              </a:rPr>
              <a:t>Siming Bayer</a:t>
            </a:r>
          </a:p>
          <a:p>
            <a:pPr algn="l">
              <a:spcAft>
                <a:spcPts val="500"/>
              </a:spcAft>
            </a:pPr>
            <a:r>
              <a:rPr lang="en-US" sz="1600" b="0" i="0" dirty="0">
                <a:solidFill>
                  <a:srgbClr val="DCECEF"/>
                </a:solidFill>
                <a:latin typeface="Arial" panose="020B0604020202020204" pitchFamily="34" charset="0"/>
                <a:cs typeface="Arial" panose="020B0604020202020204" pitchFamily="34" charset="0"/>
              </a:rPr>
              <a:t>Pattern Recognition Lab and Institute of Electrical Energy Systems </a:t>
            </a:r>
          </a:p>
          <a:p>
            <a:pPr algn="l">
              <a:spcAft>
                <a:spcPts val="500"/>
              </a:spcAft>
            </a:pPr>
            <a:r>
              <a:rPr lang="en-US" sz="1600" b="0" i="0" dirty="0">
                <a:solidFill>
                  <a:srgbClr val="DCECEF"/>
                </a:solidFill>
                <a:latin typeface="Arial" panose="020B0604020202020204" pitchFamily="34" charset="0"/>
                <a:cs typeface="Arial" panose="020B0604020202020204" pitchFamily="34" charset="0"/>
              </a:rPr>
              <a:t>Friedrich-Alexander-</a:t>
            </a:r>
            <a:r>
              <a:rPr lang="en-US" sz="1600" b="0" i="0" dirty="0" err="1">
                <a:solidFill>
                  <a:srgbClr val="DCECEF"/>
                </a:solidFill>
                <a:latin typeface="Arial" panose="020B0604020202020204" pitchFamily="34" charset="0"/>
                <a:cs typeface="Arial" panose="020B0604020202020204" pitchFamily="34" charset="0"/>
              </a:rPr>
              <a:t>Universitaet</a:t>
            </a:r>
            <a:r>
              <a:rPr lang="en-US" sz="1600" b="0" i="0" dirty="0">
                <a:solidFill>
                  <a:srgbClr val="DCECEF"/>
                </a:solidFill>
                <a:latin typeface="Arial" panose="020B0604020202020204" pitchFamily="34" charset="0"/>
                <a:cs typeface="Arial" panose="020B0604020202020204" pitchFamily="34" charset="0"/>
              </a:rPr>
              <a:t> Erlangen-Nuernberg (FAU), Germany</a:t>
            </a:r>
          </a:p>
          <a:p>
            <a:pPr algn="l">
              <a:spcAft>
                <a:spcPts val="500"/>
              </a:spcAft>
            </a:pPr>
            <a:r>
              <a:rPr lang="en-US" sz="1400" b="0" i="0" dirty="0">
                <a:solidFill>
                  <a:srgbClr val="F4E6CF"/>
                </a:solidFill>
                <a:latin typeface="Arial" panose="020B0604020202020204" pitchFamily="34" charset="0"/>
                <a:cs typeface="Arial" panose="020B0604020202020204" pitchFamily="34" charset="0"/>
              </a:rPr>
              <a:t>Contact: </a:t>
            </a:r>
            <a:r>
              <a:rPr lang="en-US" sz="1400" b="0" i="0" dirty="0" err="1">
                <a:solidFill>
                  <a:srgbClr val="F4E6CF"/>
                </a:solidFill>
                <a:latin typeface="Arial" panose="020B0604020202020204" pitchFamily="34" charset="0"/>
                <a:cs typeface="Arial" panose="020B0604020202020204" pitchFamily="34" charset="0"/>
              </a:rPr>
              <a:t>changhun.kim@fau.de</a:t>
            </a:r>
            <a:endParaRPr lang="en-US" sz="1400" b="0" i="0" dirty="0">
              <a:solidFill>
                <a:srgbClr val="F4E6CF"/>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5186CC7-14CC-ACAC-0467-A1727B87F869}"/>
              </a:ext>
            </a:extLst>
          </p:cNvPr>
          <p:cNvSpPr txBox="1"/>
          <p:nvPr/>
        </p:nvSpPr>
        <p:spPr>
          <a:xfrm>
            <a:off x="342135" y="4169382"/>
            <a:ext cx="7008799" cy="369332"/>
          </a:xfrm>
          <a:prstGeom prst="rect">
            <a:avLst/>
          </a:prstGeom>
          <a:noFill/>
        </p:spPr>
        <p:txBody>
          <a:bodyPr wrap="square">
            <a:spAutoFit/>
          </a:bodyPr>
          <a:lstStyle/>
          <a:p>
            <a:r>
              <a:rPr lang="en-US" b="1" dirty="0">
                <a:solidFill>
                  <a:srgbClr val="F4E6CF"/>
                </a:solidFill>
                <a:effectLst/>
              </a:rPr>
              <a:t>A structure-aware and inference-correctable GNN surrogate</a:t>
            </a:r>
            <a:endParaRPr lang="en-US" dirty="0">
              <a:solidFill>
                <a:srgbClr val="F4E6CF"/>
              </a:solidFill>
            </a:endParaRPr>
          </a:p>
        </p:txBody>
      </p:sp>
      <p:cxnSp>
        <p:nvCxnSpPr>
          <p:cNvPr id="4" name="Connector 13">
            <a:extLst>
              <a:ext uri="{FF2B5EF4-FFF2-40B4-BE49-F238E27FC236}">
                <a16:creationId xmlns:a16="http://schemas.microsoft.com/office/drawing/2014/main" id="{324B4CF3-5A6F-5E65-DEAA-E2207ED0D184}"/>
              </a:ext>
            </a:extLst>
          </p:cNvPr>
          <p:cNvCxnSpPr/>
          <p:nvPr/>
        </p:nvCxnSpPr>
        <p:spPr>
          <a:xfrm flipV="1">
            <a:off x="8148987" y="2199349"/>
            <a:ext cx="1097280" cy="274320"/>
          </a:xfrm>
          <a:prstGeom prst="line">
            <a:avLst/>
          </a:prstGeom>
          <a:ln w="27940">
            <a:solidFill>
              <a:srgbClr val="F4E6CF"/>
            </a:solidFill>
          </a:ln>
        </p:spPr>
        <p:style>
          <a:lnRef idx="2">
            <a:schemeClr val="accent1"/>
          </a:lnRef>
          <a:fillRef idx="0">
            <a:schemeClr val="accent1"/>
          </a:fillRef>
          <a:effectRef idx="1">
            <a:schemeClr val="accent1"/>
          </a:effectRef>
          <a:fontRef idx="minor">
            <a:schemeClr val="tx1"/>
          </a:fontRef>
        </p:style>
      </p:cxnSp>
      <p:cxnSp>
        <p:nvCxnSpPr>
          <p:cNvPr id="6" name="Connector 14">
            <a:extLst>
              <a:ext uri="{FF2B5EF4-FFF2-40B4-BE49-F238E27FC236}">
                <a16:creationId xmlns:a16="http://schemas.microsoft.com/office/drawing/2014/main" id="{BC886E60-AF2D-F8DC-E908-5D4FFF345B86}"/>
              </a:ext>
            </a:extLst>
          </p:cNvPr>
          <p:cNvCxnSpPr/>
          <p:nvPr/>
        </p:nvCxnSpPr>
        <p:spPr>
          <a:xfrm>
            <a:off x="8148987" y="2473669"/>
            <a:ext cx="1005840" cy="822960"/>
          </a:xfrm>
          <a:prstGeom prst="line">
            <a:avLst/>
          </a:prstGeom>
          <a:ln w="27940">
            <a:solidFill>
              <a:srgbClr val="F4E6CF"/>
            </a:solidFill>
          </a:ln>
        </p:spPr>
        <p:style>
          <a:lnRef idx="2">
            <a:schemeClr val="accent1"/>
          </a:lnRef>
          <a:fillRef idx="0">
            <a:schemeClr val="accent1"/>
          </a:fillRef>
          <a:effectRef idx="1">
            <a:schemeClr val="accent1"/>
          </a:effectRef>
          <a:fontRef idx="minor">
            <a:schemeClr val="tx1"/>
          </a:fontRef>
        </p:style>
      </p:cxnSp>
      <p:cxnSp>
        <p:nvCxnSpPr>
          <p:cNvPr id="7" name="Connector 15">
            <a:extLst>
              <a:ext uri="{FF2B5EF4-FFF2-40B4-BE49-F238E27FC236}">
                <a16:creationId xmlns:a16="http://schemas.microsoft.com/office/drawing/2014/main" id="{76D02862-C190-5CAE-7A97-23EAF6B4D66C}"/>
              </a:ext>
            </a:extLst>
          </p:cNvPr>
          <p:cNvCxnSpPr/>
          <p:nvPr/>
        </p:nvCxnSpPr>
        <p:spPr>
          <a:xfrm>
            <a:off x="9246267" y="2199349"/>
            <a:ext cx="1371600" cy="457200"/>
          </a:xfrm>
          <a:prstGeom prst="line">
            <a:avLst/>
          </a:prstGeom>
          <a:ln w="27940">
            <a:solidFill>
              <a:srgbClr val="F4E6CF"/>
            </a:solidFill>
          </a:ln>
        </p:spPr>
        <p:style>
          <a:lnRef idx="2">
            <a:schemeClr val="accent1"/>
          </a:lnRef>
          <a:fillRef idx="0">
            <a:schemeClr val="accent1"/>
          </a:fillRef>
          <a:effectRef idx="1">
            <a:schemeClr val="accent1"/>
          </a:effectRef>
          <a:fontRef idx="minor">
            <a:schemeClr val="tx1"/>
          </a:fontRef>
        </p:style>
      </p:cxnSp>
      <p:cxnSp>
        <p:nvCxnSpPr>
          <p:cNvPr id="8" name="Connector 16">
            <a:extLst>
              <a:ext uri="{FF2B5EF4-FFF2-40B4-BE49-F238E27FC236}">
                <a16:creationId xmlns:a16="http://schemas.microsoft.com/office/drawing/2014/main" id="{F82A5EF0-C9DF-ED6E-5059-E8BF4AD09E72}"/>
              </a:ext>
            </a:extLst>
          </p:cNvPr>
          <p:cNvCxnSpPr/>
          <p:nvPr/>
        </p:nvCxnSpPr>
        <p:spPr>
          <a:xfrm flipV="1">
            <a:off x="9154827" y="2656549"/>
            <a:ext cx="1463040" cy="640080"/>
          </a:xfrm>
          <a:prstGeom prst="line">
            <a:avLst/>
          </a:prstGeom>
          <a:ln w="27940">
            <a:solidFill>
              <a:srgbClr val="F4E6CF"/>
            </a:solidFill>
          </a:ln>
        </p:spPr>
        <p:style>
          <a:lnRef idx="2">
            <a:schemeClr val="accent1"/>
          </a:lnRef>
          <a:fillRef idx="0">
            <a:schemeClr val="accent1"/>
          </a:fillRef>
          <a:effectRef idx="1">
            <a:schemeClr val="accent1"/>
          </a:effectRef>
          <a:fontRef idx="minor">
            <a:schemeClr val="tx1"/>
          </a:fontRef>
        </p:style>
      </p:cxnSp>
      <p:cxnSp>
        <p:nvCxnSpPr>
          <p:cNvPr id="11" name="Connector 17">
            <a:extLst>
              <a:ext uri="{FF2B5EF4-FFF2-40B4-BE49-F238E27FC236}">
                <a16:creationId xmlns:a16="http://schemas.microsoft.com/office/drawing/2014/main" id="{34984439-35DC-441F-A034-3B84DA49BB89}"/>
              </a:ext>
            </a:extLst>
          </p:cNvPr>
          <p:cNvCxnSpPr/>
          <p:nvPr/>
        </p:nvCxnSpPr>
        <p:spPr>
          <a:xfrm flipV="1">
            <a:off x="10617867" y="2245069"/>
            <a:ext cx="1188720" cy="411480"/>
          </a:xfrm>
          <a:prstGeom prst="line">
            <a:avLst/>
          </a:prstGeom>
          <a:ln w="27940">
            <a:solidFill>
              <a:srgbClr val="F4E6CF"/>
            </a:solidFill>
          </a:ln>
        </p:spPr>
        <p:style>
          <a:lnRef idx="2">
            <a:schemeClr val="accent1"/>
          </a:lnRef>
          <a:fillRef idx="0">
            <a:schemeClr val="accent1"/>
          </a:fillRef>
          <a:effectRef idx="1">
            <a:schemeClr val="accent1"/>
          </a:effectRef>
          <a:fontRef idx="minor">
            <a:schemeClr val="tx1"/>
          </a:fontRef>
        </p:style>
      </p:cxnSp>
      <p:cxnSp>
        <p:nvCxnSpPr>
          <p:cNvPr id="12" name="Connector 18">
            <a:extLst>
              <a:ext uri="{FF2B5EF4-FFF2-40B4-BE49-F238E27FC236}">
                <a16:creationId xmlns:a16="http://schemas.microsoft.com/office/drawing/2014/main" id="{DAE89C43-5980-5DF4-C3B8-7005EECFFFCA}"/>
              </a:ext>
            </a:extLst>
          </p:cNvPr>
          <p:cNvCxnSpPr/>
          <p:nvPr/>
        </p:nvCxnSpPr>
        <p:spPr>
          <a:xfrm>
            <a:off x="10617867" y="2656549"/>
            <a:ext cx="1005840" cy="731520"/>
          </a:xfrm>
          <a:prstGeom prst="line">
            <a:avLst/>
          </a:prstGeom>
          <a:ln w="27940">
            <a:solidFill>
              <a:srgbClr val="F4E6CF"/>
            </a:solidFill>
          </a:ln>
        </p:spPr>
        <p:style>
          <a:lnRef idx="2">
            <a:schemeClr val="accent1"/>
          </a:lnRef>
          <a:fillRef idx="0">
            <a:schemeClr val="accent1"/>
          </a:fillRef>
          <a:effectRef idx="1">
            <a:schemeClr val="accent1"/>
          </a:effectRef>
          <a:fontRef idx="minor">
            <a:schemeClr val="tx1"/>
          </a:fontRef>
        </p:style>
      </p:cxnSp>
      <p:cxnSp>
        <p:nvCxnSpPr>
          <p:cNvPr id="13" name="Connector 19">
            <a:extLst>
              <a:ext uri="{FF2B5EF4-FFF2-40B4-BE49-F238E27FC236}">
                <a16:creationId xmlns:a16="http://schemas.microsoft.com/office/drawing/2014/main" id="{73B4A76F-EAC9-6DB9-8B06-FC02C0ED7EDF}"/>
              </a:ext>
            </a:extLst>
          </p:cNvPr>
          <p:cNvCxnSpPr/>
          <p:nvPr/>
        </p:nvCxnSpPr>
        <p:spPr>
          <a:xfrm flipH="1">
            <a:off x="11623707" y="2245069"/>
            <a:ext cx="182880" cy="1143000"/>
          </a:xfrm>
          <a:prstGeom prst="line">
            <a:avLst/>
          </a:prstGeom>
          <a:ln w="27940">
            <a:solidFill>
              <a:srgbClr val="F4E6CF"/>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2E3C832A-9548-5592-C52B-54C23A56AB00}"/>
              </a:ext>
            </a:extLst>
          </p:cNvPr>
          <p:cNvSpPr/>
          <p:nvPr/>
        </p:nvSpPr>
        <p:spPr>
          <a:xfrm>
            <a:off x="7956963" y="2281645"/>
            <a:ext cx="384048" cy="384048"/>
          </a:xfrm>
          <a:prstGeom prst="ellipse">
            <a:avLst/>
          </a:prstGeom>
          <a:solidFill>
            <a:srgbClr val="FFFFF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16" name="TextBox 15">
            <a:extLst>
              <a:ext uri="{FF2B5EF4-FFF2-40B4-BE49-F238E27FC236}">
                <a16:creationId xmlns:a16="http://schemas.microsoft.com/office/drawing/2014/main" id="{6F5055E1-7AF6-E307-53DE-D409AEBFE5A5}"/>
              </a:ext>
            </a:extLst>
          </p:cNvPr>
          <p:cNvSpPr txBox="1"/>
          <p:nvPr/>
        </p:nvSpPr>
        <p:spPr>
          <a:xfrm>
            <a:off x="7892955" y="2693125"/>
            <a:ext cx="530352" cy="230832"/>
          </a:xfrm>
          <a:prstGeom prst="rect">
            <a:avLst/>
          </a:prstGeom>
          <a:noFill/>
        </p:spPr>
        <p:txBody>
          <a:bodyPr wrap="square" anchor="t">
            <a:spAutoFit/>
          </a:bodyPr>
          <a:lstStyle/>
          <a:p>
            <a:pPr algn="ctr">
              <a:spcAft>
                <a:spcPts val="500"/>
              </a:spcAft>
            </a:pPr>
            <a:r>
              <a:rPr sz="900" b="0" i="0" dirty="0">
                <a:solidFill>
                  <a:schemeClr val="tx2"/>
                </a:solidFill>
                <a:latin typeface="Avenir Next"/>
              </a:rPr>
              <a:t>Slack</a:t>
            </a:r>
          </a:p>
        </p:txBody>
      </p:sp>
      <p:sp>
        <p:nvSpPr>
          <p:cNvPr id="17" name="Oval 16">
            <a:extLst>
              <a:ext uri="{FF2B5EF4-FFF2-40B4-BE49-F238E27FC236}">
                <a16:creationId xmlns:a16="http://schemas.microsoft.com/office/drawing/2014/main" id="{6F5D9B9E-B031-3A9C-6E8B-75EE9F3383CB}"/>
              </a:ext>
            </a:extLst>
          </p:cNvPr>
          <p:cNvSpPr/>
          <p:nvPr/>
        </p:nvSpPr>
        <p:spPr>
          <a:xfrm>
            <a:off x="9054243" y="2007325"/>
            <a:ext cx="384048" cy="384048"/>
          </a:xfrm>
          <a:prstGeom prst="ellipse">
            <a:avLst/>
          </a:prstGeom>
          <a:solidFill>
            <a:srgbClr val="FFFFF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18" name="TextBox 17">
            <a:extLst>
              <a:ext uri="{FF2B5EF4-FFF2-40B4-BE49-F238E27FC236}">
                <a16:creationId xmlns:a16="http://schemas.microsoft.com/office/drawing/2014/main" id="{CCFD6E03-B35C-0BEF-580C-5531192F5406}"/>
              </a:ext>
            </a:extLst>
          </p:cNvPr>
          <p:cNvSpPr txBox="1"/>
          <p:nvPr/>
        </p:nvSpPr>
        <p:spPr>
          <a:xfrm>
            <a:off x="8990235" y="2418805"/>
            <a:ext cx="530352" cy="230832"/>
          </a:xfrm>
          <a:prstGeom prst="rect">
            <a:avLst/>
          </a:prstGeom>
          <a:noFill/>
        </p:spPr>
        <p:txBody>
          <a:bodyPr wrap="square" anchor="t">
            <a:spAutoFit/>
          </a:bodyPr>
          <a:lstStyle/>
          <a:p>
            <a:pPr algn="ctr">
              <a:spcAft>
                <a:spcPts val="500"/>
              </a:spcAft>
            </a:pPr>
            <a:r>
              <a:rPr sz="900" b="0" i="0" dirty="0">
                <a:solidFill>
                  <a:schemeClr val="tx2"/>
                </a:solidFill>
                <a:latin typeface="Avenir Next"/>
              </a:rPr>
              <a:t>PV</a:t>
            </a:r>
          </a:p>
        </p:txBody>
      </p:sp>
      <p:sp>
        <p:nvSpPr>
          <p:cNvPr id="19" name="Oval 18">
            <a:extLst>
              <a:ext uri="{FF2B5EF4-FFF2-40B4-BE49-F238E27FC236}">
                <a16:creationId xmlns:a16="http://schemas.microsoft.com/office/drawing/2014/main" id="{476B475C-910D-853E-0D4E-F63334D4C28F}"/>
              </a:ext>
            </a:extLst>
          </p:cNvPr>
          <p:cNvSpPr/>
          <p:nvPr/>
        </p:nvSpPr>
        <p:spPr>
          <a:xfrm>
            <a:off x="8962803" y="3104605"/>
            <a:ext cx="384048" cy="384048"/>
          </a:xfrm>
          <a:prstGeom prst="ellipse">
            <a:avLst/>
          </a:prstGeom>
          <a:solidFill>
            <a:srgbClr val="FFFFF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0" name="TextBox 19">
            <a:extLst>
              <a:ext uri="{FF2B5EF4-FFF2-40B4-BE49-F238E27FC236}">
                <a16:creationId xmlns:a16="http://schemas.microsoft.com/office/drawing/2014/main" id="{768ED876-A166-B1F4-BEC5-B0A70EE537BB}"/>
              </a:ext>
            </a:extLst>
          </p:cNvPr>
          <p:cNvSpPr txBox="1"/>
          <p:nvPr/>
        </p:nvSpPr>
        <p:spPr>
          <a:xfrm>
            <a:off x="8898795" y="3516085"/>
            <a:ext cx="530352" cy="230832"/>
          </a:xfrm>
          <a:prstGeom prst="rect">
            <a:avLst/>
          </a:prstGeom>
          <a:noFill/>
        </p:spPr>
        <p:txBody>
          <a:bodyPr wrap="square" anchor="t">
            <a:spAutoFit/>
          </a:bodyPr>
          <a:lstStyle/>
          <a:p>
            <a:pPr algn="ctr">
              <a:spcAft>
                <a:spcPts val="500"/>
              </a:spcAft>
            </a:pPr>
            <a:r>
              <a:rPr sz="900" b="0" i="0">
                <a:solidFill>
                  <a:schemeClr val="tx2"/>
                </a:solidFill>
                <a:latin typeface="Avenir Next"/>
              </a:rPr>
              <a:t>PQ</a:t>
            </a:r>
          </a:p>
        </p:txBody>
      </p:sp>
      <p:sp>
        <p:nvSpPr>
          <p:cNvPr id="21" name="Oval 20">
            <a:extLst>
              <a:ext uri="{FF2B5EF4-FFF2-40B4-BE49-F238E27FC236}">
                <a16:creationId xmlns:a16="http://schemas.microsoft.com/office/drawing/2014/main" id="{0409888A-6E8A-B93D-0616-7981439ABE66}"/>
              </a:ext>
            </a:extLst>
          </p:cNvPr>
          <p:cNvSpPr/>
          <p:nvPr/>
        </p:nvSpPr>
        <p:spPr>
          <a:xfrm>
            <a:off x="10425843" y="2464525"/>
            <a:ext cx="384048" cy="384048"/>
          </a:xfrm>
          <a:prstGeom prst="ellipse">
            <a:avLst/>
          </a:prstGeom>
          <a:solidFill>
            <a:srgbClr val="FFFFF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2" name="TextBox 21">
            <a:extLst>
              <a:ext uri="{FF2B5EF4-FFF2-40B4-BE49-F238E27FC236}">
                <a16:creationId xmlns:a16="http://schemas.microsoft.com/office/drawing/2014/main" id="{49A23CA3-01B4-83C8-958D-69109061D96B}"/>
              </a:ext>
            </a:extLst>
          </p:cNvPr>
          <p:cNvSpPr txBox="1"/>
          <p:nvPr/>
        </p:nvSpPr>
        <p:spPr>
          <a:xfrm>
            <a:off x="10361835" y="2876005"/>
            <a:ext cx="530352" cy="230832"/>
          </a:xfrm>
          <a:prstGeom prst="rect">
            <a:avLst/>
          </a:prstGeom>
          <a:noFill/>
        </p:spPr>
        <p:txBody>
          <a:bodyPr wrap="square" anchor="t">
            <a:spAutoFit/>
          </a:bodyPr>
          <a:lstStyle/>
          <a:p>
            <a:pPr algn="ctr">
              <a:spcAft>
                <a:spcPts val="500"/>
              </a:spcAft>
            </a:pPr>
            <a:r>
              <a:rPr sz="900" b="0" i="0">
                <a:solidFill>
                  <a:schemeClr val="tx2"/>
                </a:solidFill>
                <a:latin typeface="Avenir Next"/>
              </a:rPr>
              <a:t>PQ</a:t>
            </a:r>
          </a:p>
        </p:txBody>
      </p:sp>
      <p:sp>
        <p:nvSpPr>
          <p:cNvPr id="23" name="Oval 22">
            <a:extLst>
              <a:ext uri="{FF2B5EF4-FFF2-40B4-BE49-F238E27FC236}">
                <a16:creationId xmlns:a16="http://schemas.microsoft.com/office/drawing/2014/main" id="{0834A902-6FEE-CF87-5D0A-01DD174F8170}"/>
              </a:ext>
            </a:extLst>
          </p:cNvPr>
          <p:cNvSpPr/>
          <p:nvPr/>
        </p:nvSpPr>
        <p:spPr>
          <a:xfrm>
            <a:off x="11614563" y="2053045"/>
            <a:ext cx="384048" cy="384048"/>
          </a:xfrm>
          <a:prstGeom prst="ellipse">
            <a:avLst/>
          </a:prstGeom>
          <a:solidFill>
            <a:srgbClr val="FFFFF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4" name="TextBox 23">
            <a:extLst>
              <a:ext uri="{FF2B5EF4-FFF2-40B4-BE49-F238E27FC236}">
                <a16:creationId xmlns:a16="http://schemas.microsoft.com/office/drawing/2014/main" id="{FDCE11BA-6CF1-4EB8-3856-1CEE1EC7A028}"/>
              </a:ext>
            </a:extLst>
          </p:cNvPr>
          <p:cNvSpPr txBox="1"/>
          <p:nvPr/>
        </p:nvSpPr>
        <p:spPr>
          <a:xfrm>
            <a:off x="11550555" y="2464525"/>
            <a:ext cx="530352" cy="230832"/>
          </a:xfrm>
          <a:prstGeom prst="rect">
            <a:avLst/>
          </a:prstGeom>
          <a:noFill/>
        </p:spPr>
        <p:txBody>
          <a:bodyPr wrap="square" anchor="t">
            <a:spAutoFit/>
          </a:bodyPr>
          <a:lstStyle/>
          <a:p>
            <a:pPr algn="ctr">
              <a:spcAft>
                <a:spcPts val="500"/>
              </a:spcAft>
            </a:pPr>
            <a:r>
              <a:rPr sz="900" b="0" i="0">
                <a:solidFill>
                  <a:schemeClr val="tx2"/>
                </a:solidFill>
                <a:latin typeface="Avenir Next"/>
              </a:rPr>
              <a:t>PQ</a:t>
            </a:r>
          </a:p>
        </p:txBody>
      </p:sp>
      <p:sp>
        <p:nvSpPr>
          <p:cNvPr id="25" name="Oval 24">
            <a:extLst>
              <a:ext uri="{FF2B5EF4-FFF2-40B4-BE49-F238E27FC236}">
                <a16:creationId xmlns:a16="http://schemas.microsoft.com/office/drawing/2014/main" id="{17F2ECF3-057A-8383-EF85-D08E0F9E5066}"/>
              </a:ext>
            </a:extLst>
          </p:cNvPr>
          <p:cNvSpPr/>
          <p:nvPr/>
        </p:nvSpPr>
        <p:spPr>
          <a:xfrm>
            <a:off x="11431683" y="3196045"/>
            <a:ext cx="384048" cy="384048"/>
          </a:xfrm>
          <a:prstGeom prst="ellipse">
            <a:avLst/>
          </a:prstGeom>
          <a:solidFill>
            <a:srgbClr val="FFFFF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8" name="Rounded Rectangle 27">
            <a:extLst>
              <a:ext uri="{FF2B5EF4-FFF2-40B4-BE49-F238E27FC236}">
                <a16:creationId xmlns:a16="http://schemas.microsoft.com/office/drawing/2014/main" id="{1A3746AD-C05B-8610-0B56-5848E8183AF7}"/>
              </a:ext>
            </a:extLst>
          </p:cNvPr>
          <p:cNvSpPr/>
          <p:nvPr/>
        </p:nvSpPr>
        <p:spPr>
          <a:xfrm>
            <a:off x="6848014" y="141121"/>
            <a:ext cx="1575293" cy="867115"/>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C8BD2D50-809F-4927-1205-01ECD6100C3E}"/>
              </a:ext>
            </a:extLst>
          </p:cNvPr>
          <p:cNvSpPr txBox="1"/>
          <p:nvPr/>
        </p:nvSpPr>
        <p:spPr>
          <a:xfrm>
            <a:off x="11367675" y="3607525"/>
            <a:ext cx="530352" cy="230832"/>
          </a:xfrm>
          <a:prstGeom prst="rect">
            <a:avLst/>
          </a:prstGeom>
          <a:noFill/>
        </p:spPr>
        <p:txBody>
          <a:bodyPr wrap="square" anchor="t">
            <a:spAutoFit/>
          </a:bodyPr>
          <a:lstStyle/>
          <a:p>
            <a:pPr algn="ctr">
              <a:spcAft>
                <a:spcPts val="500"/>
              </a:spcAft>
            </a:pPr>
            <a:r>
              <a:rPr sz="900" b="0" i="0">
                <a:solidFill>
                  <a:schemeClr val="tx2"/>
                </a:solidFill>
                <a:latin typeface="Avenir Next"/>
              </a:rPr>
              <a:t>PQ</a:t>
            </a:r>
          </a:p>
        </p:txBody>
      </p:sp>
      <p:pic>
        <p:nvPicPr>
          <p:cNvPr id="3" name="Picture 2" descr="A logo with blue lines and a horse&#10;&#10;AI-generated content may be incorrect.">
            <a:extLst>
              <a:ext uri="{FF2B5EF4-FFF2-40B4-BE49-F238E27FC236}">
                <a16:creationId xmlns:a16="http://schemas.microsoft.com/office/drawing/2014/main" id="{9148188A-16E1-6459-6291-690D4D9B61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3090" y="196532"/>
            <a:ext cx="1372257" cy="730987"/>
          </a:xfrm>
          <a:prstGeom prst="rect">
            <a:avLst/>
          </a:prstGeom>
        </p:spPr>
      </p:pic>
    </p:spTree>
    <p:extLst>
      <p:ext uri="{BB962C8B-B14F-4D97-AF65-F5344CB8AC3E}">
        <p14:creationId xmlns:p14="http://schemas.microsoft.com/office/powerpoint/2010/main" val="22216431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27D1-E5C1-1C03-B336-F149A9115CC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C63A854-EAE5-732E-CB9C-1B43899B734E}"/>
              </a:ext>
            </a:extLst>
          </p:cNvPr>
          <p:cNvPicPr>
            <a:picLocks noChangeAspect="1"/>
          </p:cNvPicPr>
          <p:nvPr/>
        </p:nvPicPr>
        <p:blipFill>
          <a:blip r:embed="rId3"/>
          <a:srcRect l="5158" t="32693" r="6782"/>
          <a:stretch/>
        </p:blipFill>
        <p:spPr>
          <a:xfrm>
            <a:off x="305118" y="1877457"/>
            <a:ext cx="6041231" cy="3078360"/>
          </a:xfrm>
          <a:prstGeom prst="rect">
            <a:avLst/>
          </a:prstGeom>
        </p:spPr>
      </p:pic>
      <p:sp>
        <p:nvSpPr>
          <p:cNvPr id="2" name="Datumsplatzhalter 1">
            <a:extLst>
              <a:ext uri="{FF2B5EF4-FFF2-40B4-BE49-F238E27FC236}">
                <a16:creationId xmlns:a16="http://schemas.microsoft.com/office/drawing/2014/main" id="{1945806C-119C-45DF-6C2B-60644AC0AB43}"/>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C71AF797-107E-4962-28E6-8C60481B8688}"/>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FB28D5C2-3E94-1658-0C20-A95A24DD8BCE}"/>
              </a:ext>
            </a:extLst>
          </p:cNvPr>
          <p:cNvSpPr>
            <a:spLocks noGrp="1"/>
          </p:cNvSpPr>
          <p:nvPr>
            <p:ph type="sldNum" sz="quarter" idx="12"/>
          </p:nvPr>
        </p:nvSpPr>
        <p:spPr/>
        <p:txBody>
          <a:bodyPr/>
          <a:lstStyle/>
          <a:p>
            <a:fld id="{D949F9DF-37BD-4CD6-BF49-65BA579E1D7A}" type="slidenum">
              <a:rPr lang="de-DE" smtClean="0"/>
              <a:pPr/>
              <a:t>2</a:t>
            </a:fld>
            <a:endParaRPr lang="de-DE"/>
          </a:p>
        </p:txBody>
      </p:sp>
      <p:sp>
        <p:nvSpPr>
          <p:cNvPr id="10" name="Titel 9">
            <a:extLst>
              <a:ext uri="{FF2B5EF4-FFF2-40B4-BE49-F238E27FC236}">
                <a16:creationId xmlns:a16="http://schemas.microsoft.com/office/drawing/2014/main" id="{FA67F7F2-A7E4-B08F-4B64-AF560EEC366E}"/>
              </a:ext>
            </a:extLst>
          </p:cNvPr>
          <p:cNvSpPr>
            <a:spLocks noGrp="1"/>
          </p:cNvSpPr>
          <p:nvPr>
            <p:ph type="title"/>
          </p:nvPr>
        </p:nvSpPr>
        <p:spPr/>
        <p:txBody>
          <a:bodyPr/>
          <a:lstStyle/>
          <a:p>
            <a:r>
              <a:rPr lang="de-DE" dirty="0"/>
              <a:t>Motivation and Problem</a:t>
            </a:r>
          </a:p>
        </p:txBody>
      </p:sp>
      <p:sp>
        <p:nvSpPr>
          <p:cNvPr id="12" name="Textplatzhalter 11">
            <a:extLst>
              <a:ext uri="{FF2B5EF4-FFF2-40B4-BE49-F238E27FC236}">
                <a16:creationId xmlns:a16="http://schemas.microsoft.com/office/drawing/2014/main" id="{F8589828-19E9-69B5-CCCA-AB59BA786734}"/>
              </a:ext>
            </a:extLst>
          </p:cNvPr>
          <p:cNvSpPr>
            <a:spLocks noGrp="1"/>
          </p:cNvSpPr>
          <p:nvPr>
            <p:ph type="body" sz="quarter" idx="37"/>
          </p:nvPr>
        </p:nvSpPr>
        <p:spPr/>
        <p:txBody>
          <a:bodyPr/>
          <a:lstStyle/>
          <a:p>
            <a:r>
              <a:rPr lang="de-DE" dirty="0" err="1"/>
              <a:t>Introduction</a:t>
            </a:r>
            <a:endParaRPr lang="de-DE" dirty="0"/>
          </a:p>
        </p:txBody>
      </p:sp>
      <p:pic>
        <p:nvPicPr>
          <p:cNvPr id="6" name="Picture 5" descr="A logo with blue lines and a horse&#10;&#10;AI-generated content may be incorrect.">
            <a:extLst>
              <a:ext uri="{FF2B5EF4-FFF2-40B4-BE49-F238E27FC236}">
                <a16:creationId xmlns:a16="http://schemas.microsoft.com/office/drawing/2014/main" id="{4E0044A2-4B02-570B-890A-E851E2F9CF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56" name="Rounded Rectangle 55">
            <a:extLst>
              <a:ext uri="{FF2B5EF4-FFF2-40B4-BE49-F238E27FC236}">
                <a16:creationId xmlns:a16="http://schemas.microsoft.com/office/drawing/2014/main" id="{C0B34C8D-CD6F-19BA-1D2C-B318AF26D23F}"/>
              </a:ext>
            </a:extLst>
          </p:cNvPr>
          <p:cNvSpPr/>
          <p:nvPr/>
        </p:nvSpPr>
        <p:spPr>
          <a:xfrm>
            <a:off x="3945776" y="5396160"/>
            <a:ext cx="1371600"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spcAft>
                <a:spcPts val="500"/>
              </a:spcAft>
            </a:pPr>
            <a:r>
              <a:rPr sz="2000" b="1" i="0" dirty="0">
                <a:solidFill>
                  <a:srgbClr val="FFFFFF"/>
                </a:solidFill>
                <a:latin typeface="Arial" panose="020B0604020202020204" pitchFamily="34" charset="0"/>
                <a:cs typeface="Arial" panose="020B0604020202020204" pitchFamily="34" charset="0"/>
              </a:rPr>
              <a:t>HV + MV</a:t>
            </a:r>
          </a:p>
        </p:txBody>
      </p:sp>
      <p:sp>
        <p:nvSpPr>
          <p:cNvPr id="57" name="Rounded Rectangle 56">
            <a:extLst>
              <a:ext uri="{FF2B5EF4-FFF2-40B4-BE49-F238E27FC236}">
                <a16:creationId xmlns:a16="http://schemas.microsoft.com/office/drawing/2014/main" id="{911F200D-945A-C3DC-949D-CFBCA7993A9C}"/>
              </a:ext>
            </a:extLst>
          </p:cNvPr>
          <p:cNvSpPr/>
          <p:nvPr/>
        </p:nvSpPr>
        <p:spPr>
          <a:xfrm>
            <a:off x="5362315" y="5383775"/>
            <a:ext cx="3443068" cy="310896"/>
          </a:xfrm>
          <a:prstGeom prst="roundRect">
            <a:avLst/>
          </a:prstGeom>
          <a:solidFill>
            <a:srgbClr val="E0E9E2"/>
          </a:solidFill>
          <a:ln>
            <a:solidFill>
              <a:srgbClr val="DCECE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spcAft>
                <a:spcPts val="500"/>
              </a:spcAft>
            </a:pPr>
            <a:r>
              <a:rPr sz="2000" b="1" i="0" dirty="0">
                <a:solidFill>
                  <a:srgbClr val="17324D"/>
                </a:solidFill>
                <a:latin typeface="Arial" panose="020B0604020202020204" pitchFamily="34" charset="0"/>
                <a:cs typeface="Arial" panose="020B0604020202020204" pitchFamily="34" charset="0"/>
              </a:rPr>
              <a:t>THOUSANDS OF CASES</a:t>
            </a:r>
          </a:p>
        </p:txBody>
      </p:sp>
      <p:sp>
        <p:nvSpPr>
          <p:cNvPr id="58" name="Rounded Rectangle 57">
            <a:extLst>
              <a:ext uri="{FF2B5EF4-FFF2-40B4-BE49-F238E27FC236}">
                <a16:creationId xmlns:a16="http://schemas.microsoft.com/office/drawing/2014/main" id="{B6596212-E8E5-FAD1-CEAB-0181195E44E5}"/>
              </a:ext>
            </a:extLst>
          </p:cNvPr>
          <p:cNvSpPr/>
          <p:nvPr/>
        </p:nvSpPr>
        <p:spPr>
          <a:xfrm>
            <a:off x="2864747" y="5753326"/>
            <a:ext cx="6642160" cy="384048"/>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spcAft>
                <a:spcPts val="500"/>
              </a:spcAft>
            </a:pPr>
            <a:r>
              <a:rPr sz="2000" b="1" i="0" dirty="0">
                <a:solidFill>
                  <a:srgbClr val="17324D"/>
                </a:solidFill>
                <a:latin typeface="Arial" panose="020B0604020202020204" pitchFamily="34" charset="0"/>
                <a:cs typeface="Arial" panose="020B0604020202020204" pitchFamily="34" charset="0"/>
              </a:rPr>
              <a:t>Speed is useful only if the predictions stay physical.</a:t>
            </a:r>
          </a:p>
        </p:txBody>
      </p:sp>
      <p:sp>
        <p:nvSpPr>
          <p:cNvPr id="59" name="Rounded Rectangle 58">
            <a:extLst>
              <a:ext uri="{FF2B5EF4-FFF2-40B4-BE49-F238E27FC236}">
                <a16:creationId xmlns:a16="http://schemas.microsoft.com/office/drawing/2014/main" id="{008214A6-4BCB-9A16-8D96-D24A23CAD259}"/>
              </a:ext>
            </a:extLst>
          </p:cNvPr>
          <p:cNvSpPr/>
          <p:nvPr/>
        </p:nvSpPr>
        <p:spPr>
          <a:xfrm>
            <a:off x="6322675" y="1684929"/>
            <a:ext cx="5515742" cy="3235175"/>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60" name="Connector 13">
            <a:extLst>
              <a:ext uri="{FF2B5EF4-FFF2-40B4-BE49-F238E27FC236}">
                <a16:creationId xmlns:a16="http://schemas.microsoft.com/office/drawing/2014/main" id="{CCF763B2-01D4-C5A6-B4B5-A0105DFEB78A}"/>
              </a:ext>
            </a:extLst>
          </p:cNvPr>
          <p:cNvCxnSpPr/>
          <p:nvPr/>
        </p:nvCxnSpPr>
        <p:spPr>
          <a:xfrm flipV="1">
            <a:off x="6896523" y="2622926"/>
            <a:ext cx="1097280" cy="27432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61" name="Connector 14">
            <a:extLst>
              <a:ext uri="{FF2B5EF4-FFF2-40B4-BE49-F238E27FC236}">
                <a16:creationId xmlns:a16="http://schemas.microsoft.com/office/drawing/2014/main" id="{6B1C7E89-5CD8-B869-9134-63620ED9323C}"/>
              </a:ext>
            </a:extLst>
          </p:cNvPr>
          <p:cNvCxnSpPr/>
          <p:nvPr/>
        </p:nvCxnSpPr>
        <p:spPr>
          <a:xfrm>
            <a:off x="6896523" y="2897246"/>
            <a:ext cx="1005840" cy="82296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62" name="Connector 15">
            <a:extLst>
              <a:ext uri="{FF2B5EF4-FFF2-40B4-BE49-F238E27FC236}">
                <a16:creationId xmlns:a16="http://schemas.microsoft.com/office/drawing/2014/main" id="{B93D6BAD-22D6-FD71-427E-AEF7E436096C}"/>
              </a:ext>
            </a:extLst>
          </p:cNvPr>
          <p:cNvCxnSpPr/>
          <p:nvPr/>
        </p:nvCxnSpPr>
        <p:spPr>
          <a:xfrm>
            <a:off x="7993803" y="2622926"/>
            <a:ext cx="1371600" cy="45720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63" name="Connector 16">
            <a:extLst>
              <a:ext uri="{FF2B5EF4-FFF2-40B4-BE49-F238E27FC236}">
                <a16:creationId xmlns:a16="http://schemas.microsoft.com/office/drawing/2014/main" id="{7BF5F264-C1D0-2378-A119-E4368930FA33}"/>
              </a:ext>
            </a:extLst>
          </p:cNvPr>
          <p:cNvCxnSpPr/>
          <p:nvPr/>
        </p:nvCxnSpPr>
        <p:spPr>
          <a:xfrm flipV="1">
            <a:off x="7902363" y="3080126"/>
            <a:ext cx="1463040" cy="64008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64" name="Connector 17">
            <a:extLst>
              <a:ext uri="{FF2B5EF4-FFF2-40B4-BE49-F238E27FC236}">
                <a16:creationId xmlns:a16="http://schemas.microsoft.com/office/drawing/2014/main" id="{AD22394A-A66A-59BB-990C-0BC9BBD4549D}"/>
              </a:ext>
            </a:extLst>
          </p:cNvPr>
          <p:cNvCxnSpPr/>
          <p:nvPr/>
        </p:nvCxnSpPr>
        <p:spPr>
          <a:xfrm flipV="1">
            <a:off x="9365403" y="2668646"/>
            <a:ext cx="1188720" cy="41148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65" name="Connector 18">
            <a:extLst>
              <a:ext uri="{FF2B5EF4-FFF2-40B4-BE49-F238E27FC236}">
                <a16:creationId xmlns:a16="http://schemas.microsoft.com/office/drawing/2014/main" id="{8A4F5B60-4C8F-8E73-75CF-2B68FA12C9D0}"/>
              </a:ext>
            </a:extLst>
          </p:cNvPr>
          <p:cNvCxnSpPr/>
          <p:nvPr/>
        </p:nvCxnSpPr>
        <p:spPr>
          <a:xfrm>
            <a:off x="9365403" y="3080126"/>
            <a:ext cx="1005840" cy="73152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66" name="Connector 19">
            <a:extLst>
              <a:ext uri="{FF2B5EF4-FFF2-40B4-BE49-F238E27FC236}">
                <a16:creationId xmlns:a16="http://schemas.microsoft.com/office/drawing/2014/main" id="{16A16F58-D688-CFBA-0B04-EF423D15FFFC}"/>
              </a:ext>
            </a:extLst>
          </p:cNvPr>
          <p:cNvCxnSpPr/>
          <p:nvPr/>
        </p:nvCxnSpPr>
        <p:spPr>
          <a:xfrm flipH="1">
            <a:off x="10371243" y="2668646"/>
            <a:ext cx="182880" cy="114300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EA191CAF-AFA5-1FE5-0FD7-547E9DA9E7BE}"/>
              </a:ext>
            </a:extLst>
          </p:cNvPr>
          <p:cNvSpPr/>
          <p:nvPr/>
        </p:nvSpPr>
        <p:spPr>
          <a:xfrm>
            <a:off x="6704499" y="2705222"/>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68" name="TextBox 67">
            <a:extLst>
              <a:ext uri="{FF2B5EF4-FFF2-40B4-BE49-F238E27FC236}">
                <a16:creationId xmlns:a16="http://schemas.microsoft.com/office/drawing/2014/main" id="{667293BA-D37B-C346-5890-87BBF4267F3E}"/>
              </a:ext>
            </a:extLst>
          </p:cNvPr>
          <p:cNvSpPr txBox="1"/>
          <p:nvPr/>
        </p:nvSpPr>
        <p:spPr>
          <a:xfrm>
            <a:off x="6409280" y="3119311"/>
            <a:ext cx="811855" cy="400110"/>
          </a:xfrm>
          <a:prstGeom prst="rect">
            <a:avLst/>
          </a:prstGeom>
          <a:noFill/>
        </p:spPr>
        <p:txBody>
          <a:bodyPr wrap="square" anchor="t">
            <a:spAutoFit/>
          </a:bodyPr>
          <a:lstStyle/>
          <a:p>
            <a:pPr algn="ctr">
              <a:spcAft>
                <a:spcPts val="500"/>
              </a:spcAft>
            </a:pPr>
            <a:r>
              <a:rPr sz="2000" b="0" i="0" dirty="0">
                <a:solidFill>
                  <a:srgbClr val="4B647A"/>
                </a:solidFill>
                <a:latin typeface="Avenir Next"/>
              </a:rPr>
              <a:t>Slack</a:t>
            </a:r>
            <a:endParaRPr sz="1600" b="0" i="0" dirty="0">
              <a:solidFill>
                <a:srgbClr val="4B647A"/>
              </a:solidFill>
              <a:latin typeface="Avenir Next"/>
            </a:endParaRPr>
          </a:p>
        </p:txBody>
      </p:sp>
      <p:sp>
        <p:nvSpPr>
          <p:cNvPr id="69" name="Oval 68">
            <a:extLst>
              <a:ext uri="{FF2B5EF4-FFF2-40B4-BE49-F238E27FC236}">
                <a16:creationId xmlns:a16="http://schemas.microsoft.com/office/drawing/2014/main" id="{90B626CE-1A54-A0C5-D5E4-34A6C42DB917}"/>
              </a:ext>
            </a:extLst>
          </p:cNvPr>
          <p:cNvSpPr/>
          <p:nvPr/>
        </p:nvSpPr>
        <p:spPr>
          <a:xfrm>
            <a:off x="7801779" y="2430902"/>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70" name="TextBox 69">
            <a:extLst>
              <a:ext uri="{FF2B5EF4-FFF2-40B4-BE49-F238E27FC236}">
                <a16:creationId xmlns:a16="http://schemas.microsoft.com/office/drawing/2014/main" id="{58202C5F-674E-CE28-CA04-FE2BC303D83F}"/>
              </a:ext>
            </a:extLst>
          </p:cNvPr>
          <p:cNvSpPr txBox="1"/>
          <p:nvPr/>
        </p:nvSpPr>
        <p:spPr>
          <a:xfrm>
            <a:off x="7319224" y="2837697"/>
            <a:ext cx="1457299" cy="400110"/>
          </a:xfrm>
          <a:prstGeom prst="rect">
            <a:avLst/>
          </a:prstGeom>
          <a:noFill/>
        </p:spPr>
        <p:txBody>
          <a:bodyPr wrap="square" anchor="t">
            <a:spAutoFit/>
          </a:bodyPr>
          <a:lstStyle/>
          <a:p>
            <a:pPr algn="ctr">
              <a:spcAft>
                <a:spcPts val="500"/>
              </a:spcAft>
            </a:pPr>
            <a:r>
              <a:rPr lang="en-US" sz="2000" b="0" i="0" dirty="0">
                <a:solidFill>
                  <a:srgbClr val="4B647A"/>
                </a:solidFill>
                <a:latin typeface="Avenir Next"/>
              </a:rPr>
              <a:t>Generator</a:t>
            </a:r>
            <a:endParaRPr sz="1600" b="0" i="0" dirty="0">
              <a:solidFill>
                <a:srgbClr val="4B647A"/>
              </a:solidFill>
              <a:latin typeface="Avenir Next"/>
            </a:endParaRPr>
          </a:p>
        </p:txBody>
      </p:sp>
      <p:sp>
        <p:nvSpPr>
          <p:cNvPr id="71" name="Oval 70">
            <a:extLst>
              <a:ext uri="{FF2B5EF4-FFF2-40B4-BE49-F238E27FC236}">
                <a16:creationId xmlns:a16="http://schemas.microsoft.com/office/drawing/2014/main" id="{A0B3A9BF-FB74-FE39-7CC5-919619155397}"/>
              </a:ext>
            </a:extLst>
          </p:cNvPr>
          <p:cNvSpPr/>
          <p:nvPr/>
        </p:nvSpPr>
        <p:spPr>
          <a:xfrm>
            <a:off x="7710339" y="3528182"/>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72" name="TextBox 71">
            <a:extLst>
              <a:ext uri="{FF2B5EF4-FFF2-40B4-BE49-F238E27FC236}">
                <a16:creationId xmlns:a16="http://schemas.microsoft.com/office/drawing/2014/main" id="{67B17B63-755D-F9DC-A252-49C6CB002744}"/>
              </a:ext>
            </a:extLst>
          </p:cNvPr>
          <p:cNvSpPr txBox="1"/>
          <p:nvPr/>
        </p:nvSpPr>
        <p:spPr>
          <a:xfrm>
            <a:off x="7505053" y="3953265"/>
            <a:ext cx="794619" cy="400110"/>
          </a:xfrm>
          <a:prstGeom prst="rect">
            <a:avLst/>
          </a:prstGeom>
          <a:noFill/>
        </p:spPr>
        <p:txBody>
          <a:bodyPr wrap="square" anchor="t">
            <a:spAutoFit/>
          </a:bodyPr>
          <a:lstStyle/>
          <a:p>
            <a:pPr algn="ctr">
              <a:spcAft>
                <a:spcPts val="500"/>
              </a:spcAft>
            </a:pPr>
            <a:r>
              <a:rPr lang="en-US" sz="2000" b="0" i="0" dirty="0">
                <a:solidFill>
                  <a:srgbClr val="4B647A"/>
                </a:solidFill>
                <a:latin typeface="Avenir Next"/>
              </a:rPr>
              <a:t>Load</a:t>
            </a:r>
            <a:endParaRPr sz="1600" b="0" i="0" dirty="0">
              <a:solidFill>
                <a:srgbClr val="4B647A"/>
              </a:solidFill>
              <a:latin typeface="Avenir Next"/>
            </a:endParaRPr>
          </a:p>
        </p:txBody>
      </p:sp>
      <p:sp>
        <p:nvSpPr>
          <p:cNvPr id="73" name="Oval 72">
            <a:extLst>
              <a:ext uri="{FF2B5EF4-FFF2-40B4-BE49-F238E27FC236}">
                <a16:creationId xmlns:a16="http://schemas.microsoft.com/office/drawing/2014/main" id="{766FE23B-5ED5-BC92-21A7-03EA7CCA2926}"/>
              </a:ext>
            </a:extLst>
          </p:cNvPr>
          <p:cNvSpPr/>
          <p:nvPr/>
        </p:nvSpPr>
        <p:spPr>
          <a:xfrm>
            <a:off x="9173379" y="2888102"/>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74" name="Oval 73">
            <a:extLst>
              <a:ext uri="{FF2B5EF4-FFF2-40B4-BE49-F238E27FC236}">
                <a16:creationId xmlns:a16="http://schemas.microsoft.com/office/drawing/2014/main" id="{2B8AB6F3-E333-7696-48DA-77A557A12ED6}"/>
              </a:ext>
            </a:extLst>
          </p:cNvPr>
          <p:cNvSpPr/>
          <p:nvPr/>
        </p:nvSpPr>
        <p:spPr>
          <a:xfrm>
            <a:off x="10362099" y="2476622"/>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75" name="Oval 74">
            <a:extLst>
              <a:ext uri="{FF2B5EF4-FFF2-40B4-BE49-F238E27FC236}">
                <a16:creationId xmlns:a16="http://schemas.microsoft.com/office/drawing/2014/main" id="{CE3BFE8B-FAFD-BD77-35F6-64831EDE5B48}"/>
              </a:ext>
            </a:extLst>
          </p:cNvPr>
          <p:cNvSpPr/>
          <p:nvPr/>
        </p:nvSpPr>
        <p:spPr>
          <a:xfrm>
            <a:off x="10179219" y="3619622"/>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76" name="TextBox 75">
            <a:extLst>
              <a:ext uri="{FF2B5EF4-FFF2-40B4-BE49-F238E27FC236}">
                <a16:creationId xmlns:a16="http://schemas.microsoft.com/office/drawing/2014/main" id="{5B328E31-06F2-6B1A-5929-4437D6C404E7}"/>
              </a:ext>
            </a:extLst>
          </p:cNvPr>
          <p:cNvSpPr txBox="1"/>
          <p:nvPr/>
        </p:nvSpPr>
        <p:spPr>
          <a:xfrm>
            <a:off x="8977237" y="3285753"/>
            <a:ext cx="794619" cy="400110"/>
          </a:xfrm>
          <a:prstGeom prst="rect">
            <a:avLst/>
          </a:prstGeom>
          <a:noFill/>
        </p:spPr>
        <p:txBody>
          <a:bodyPr wrap="square" anchor="t">
            <a:spAutoFit/>
          </a:bodyPr>
          <a:lstStyle/>
          <a:p>
            <a:pPr algn="ctr">
              <a:spcAft>
                <a:spcPts val="500"/>
              </a:spcAft>
            </a:pPr>
            <a:r>
              <a:rPr lang="en-US" sz="2000" b="0" i="0" dirty="0">
                <a:solidFill>
                  <a:srgbClr val="4B647A"/>
                </a:solidFill>
                <a:latin typeface="Avenir Next"/>
              </a:rPr>
              <a:t>Load</a:t>
            </a:r>
            <a:endParaRPr sz="1600" b="0" i="0" dirty="0">
              <a:solidFill>
                <a:srgbClr val="4B647A"/>
              </a:solidFill>
              <a:latin typeface="Avenir Next"/>
            </a:endParaRPr>
          </a:p>
        </p:txBody>
      </p:sp>
      <p:sp>
        <p:nvSpPr>
          <p:cNvPr id="78" name="TextBox 77">
            <a:extLst>
              <a:ext uri="{FF2B5EF4-FFF2-40B4-BE49-F238E27FC236}">
                <a16:creationId xmlns:a16="http://schemas.microsoft.com/office/drawing/2014/main" id="{1EC53AFD-C8FF-42E5-53B7-1A056A046B83}"/>
              </a:ext>
            </a:extLst>
          </p:cNvPr>
          <p:cNvSpPr txBox="1"/>
          <p:nvPr/>
        </p:nvSpPr>
        <p:spPr>
          <a:xfrm>
            <a:off x="9992787" y="4026307"/>
            <a:ext cx="794619" cy="400110"/>
          </a:xfrm>
          <a:prstGeom prst="rect">
            <a:avLst/>
          </a:prstGeom>
          <a:noFill/>
        </p:spPr>
        <p:txBody>
          <a:bodyPr wrap="square" anchor="t">
            <a:spAutoFit/>
          </a:bodyPr>
          <a:lstStyle/>
          <a:p>
            <a:pPr algn="ctr">
              <a:spcAft>
                <a:spcPts val="500"/>
              </a:spcAft>
            </a:pPr>
            <a:r>
              <a:rPr lang="en-US" sz="2000" b="0" i="0" dirty="0">
                <a:solidFill>
                  <a:srgbClr val="4B647A"/>
                </a:solidFill>
                <a:latin typeface="Avenir Next"/>
              </a:rPr>
              <a:t>Load</a:t>
            </a:r>
            <a:endParaRPr sz="1600" b="0" i="0" dirty="0">
              <a:solidFill>
                <a:srgbClr val="4B647A"/>
              </a:solidFill>
              <a:latin typeface="Avenir Next"/>
            </a:endParaRPr>
          </a:p>
        </p:txBody>
      </p:sp>
      <p:pic>
        <p:nvPicPr>
          <p:cNvPr id="114" name="Picture 113" descr="A solar panel and battery&#10;&#10;AI-generated content may be incorrect.">
            <a:extLst>
              <a:ext uri="{FF2B5EF4-FFF2-40B4-BE49-F238E27FC236}">
                <a16:creationId xmlns:a16="http://schemas.microsoft.com/office/drawing/2014/main" id="{4762D1E8-8AE9-BF60-3A26-4024550193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6277" y="2169613"/>
            <a:ext cx="664197" cy="664197"/>
          </a:xfrm>
          <a:prstGeom prst="rect">
            <a:avLst/>
          </a:prstGeom>
        </p:spPr>
      </p:pic>
      <p:pic>
        <p:nvPicPr>
          <p:cNvPr id="116" name="Picture 115" descr="A cartoon of a dam&#10;&#10;AI-generated content may be incorrect.">
            <a:extLst>
              <a:ext uri="{FF2B5EF4-FFF2-40B4-BE49-F238E27FC236}">
                <a16:creationId xmlns:a16="http://schemas.microsoft.com/office/drawing/2014/main" id="{2DBAFCA6-34E8-F1D1-7EED-31A4502A2E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22024" y="2171391"/>
            <a:ext cx="637968" cy="637968"/>
          </a:xfrm>
          <a:prstGeom prst="rect">
            <a:avLst/>
          </a:prstGeom>
        </p:spPr>
      </p:pic>
      <p:pic>
        <p:nvPicPr>
          <p:cNvPr id="118" name="Picture 117" descr="A yellow lightning bolt in a black background&#10;&#10;AI-generated content may be incorrect.">
            <a:extLst>
              <a:ext uri="{FF2B5EF4-FFF2-40B4-BE49-F238E27FC236}">
                <a16:creationId xmlns:a16="http://schemas.microsoft.com/office/drawing/2014/main" id="{EEF67E4D-3038-9FA9-7261-6A0A9AB363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69581" y="2438249"/>
            <a:ext cx="664197" cy="664197"/>
          </a:xfrm>
          <a:prstGeom prst="rect">
            <a:avLst/>
          </a:prstGeom>
        </p:spPr>
      </p:pic>
      <p:pic>
        <p:nvPicPr>
          <p:cNvPr id="120" name="Picture 119" descr="A yellow and blue building with boxes on a conveyor belt&#10;&#10;AI-generated content may be incorrect.">
            <a:extLst>
              <a:ext uri="{FF2B5EF4-FFF2-40B4-BE49-F238E27FC236}">
                <a16:creationId xmlns:a16="http://schemas.microsoft.com/office/drawing/2014/main" id="{E423332D-5956-2682-CE0A-703887D326C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17162" y="2726445"/>
            <a:ext cx="576072" cy="576072"/>
          </a:xfrm>
          <a:prstGeom prst="rect">
            <a:avLst/>
          </a:prstGeom>
        </p:spPr>
      </p:pic>
      <p:pic>
        <p:nvPicPr>
          <p:cNvPr id="124" name="Picture 123" descr="A house with a tree and a fence&#10;&#10;AI-generated content may be incorrect.">
            <a:extLst>
              <a:ext uri="{FF2B5EF4-FFF2-40B4-BE49-F238E27FC236}">
                <a16:creationId xmlns:a16="http://schemas.microsoft.com/office/drawing/2014/main" id="{9D4BD85F-28E8-EC2B-8A4D-13ECCE59474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41372" y="3407930"/>
            <a:ext cx="576072" cy="576072"/>
          </a:xfrm>
          <a:prstGeom prst="rect">
            <a:avLst/>
          </a:prstGeom>
        </p:spPr>
      </p:pic>
      <p:pic>
        <p:nvPicPr>
          <p:cNvPr id="126" name="Picture 125" descr="A building with a sign&#10;&#10;AI-generated content may be incorrect.">
            <a:extLst>
              <a:ext uri="{FF2B5EF4-FFF2-40B4-BE49-F238E27FC236}">
                <a16:creationId xmlns:a16="http://schemas.microsoft.com/office/drawing/2014/main" id="{3A67085E-B8FC-390E-090D-6F05B34D7FA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083207" y="3451364"/>
            <a:ext cx="576072" cy="576072"/>
          </a:xfrm>
          <a:prstGeom prst="rect">
            <a:avLst/>
          </a:prstGeom>
        </p:spPr>
      </p:pic>
      <p:sp>
        <p:nvSpPr>
          <p:cNvPr id="127" name="TextBox 126">
            <a:extLst>
              <a:ext uri="{FF2B5EF4-FFF2-40B4-BE49-F238E27FC236}">
                <a16:creationId xmlns:a16="http://schemas.microsoft.com/office/drawing/2014/main" id="{7B6A9546-DFD9-EE91-32E4-E36845587C38}"/>
              </a:ext>
            </a:extLst>
          </p:cNvPr>
          <p:cNvSpPr txBox="1"/>
          <p:nvPr/>
        </p:nvSpPr>
        <p:spPr>
          <a:xfrm>
            <a:off x="10381118" y="2872040"/>
            <a:ext cx="1457299" cy="400110"/>
          </a:xfrm>
          <a:prstGeom prst="rect">
            <a:avLst/>
          </a:prstGeom>
          <a:noFill/>
        </p:spPr>
        <p:txBody>
          <a:bodyPr wrap="square" anchor="t">
            <a:spAutoFit/>
          </a:bodyPr>
          <a:lstStyle/>
          <a:p>
            <a:pPr algn="ctr">
              <a:spcAft>
                <a:spcPts val="500"/>
              </a:spcAft>
            </a:pPr>
            <a:r>
              <a:rPr lang="en-US" sz="2000" b="0" i="0" dirty="0">
                <a:solidFill>
                  <a:srgbClr val="4B647A"/>
                </a:solidFill>
                <a:latin typeface="Avenir Next"/>
              </a:rPr>
              <a:t>Generator</a:t>
            </a:r>
            <a:endParaRPr sz="1600" b="0" i="0" dirty="0">
              <a:solidFill>
                <a:srgbClr val="4B647A"/>
              </a:solidFill>
              <a:latin typeface="Avenir Next"/>
            </a:endParaRPr>
          </a:p>
        </p:txBody>
      </p:sp>
      <p:sp>
        <p:nvSpPr>
          <p:cNvPr id="128" name="Right Arrow 127">
            <a:extLst>
              <a:ext uri="{FF2B5EF4-FFF2-40B4-BE49-F238E27FC236}">
                <a16:creationId xmlns:a16="http://schemas.microsoft.com/office/drawing/2014/main" id="{743F4FC3-DD31-69CF-8DE3-6F9809EEE3D6}"/>
              </a:ext>
            </a:extLst>
          </p:cNvPr>
          <p:cNvSpPr/>
          <p:nvPr/>
        </p:nvSpPr>
        <p:spPr>
          <a:xfrm rot="1165622">
            <a:off x="8267963" y="2643928"/>
            <a:ext cx="857149" cy="169267"/>
          </a:xfrm>
          <a:prstGeom prst="rightArrow">
            <a:avLst/>
          </a:prstGeom>
          <a:solidFill>
            <a:srgbClr val="FDCD5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
        <p:nvSpPr>
          <p:cNvPr id="129" name="Right Arrow 128">
            <a:extLst>
              <a:ext uri="{FF2B5EF4-FFF2-40B4-BE49-F238E27FC236}">
                <a16:creationId xmlns:a16="http://schemas.microsoft.com/office/drawing/2014/main" id="{61B50E5B-9FD2-001B-2977-E4789DAA8736}"/>
              </a:ext>
            </a:extLst>
          </p:cNvPr>
          <p:cNvSpPr/>
          <p:nvPr/>
        </p:nvSpPr>
        <p:spPr>
          <a:xfrm rot="9491845">
            <a:off x="9639281" y="2635058"/>
            <a:ext cx="563529" cy="171359"/>
          </a:xfrm>
          <a:prstGeom prst="rightArrow">
            <a:avLst/>
          </a:prstGeom>
          <a:solidFill>
            <a:srgbClr val="FDCD5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
        <p:nvSpPr>
          <p:cNvPr id="130" name="TextBox 129">
            <a:extLst>
              <a:ext uri="{FF2B5EF4-FFF2-40B4-BE49-F238E27FC236}">
                <a16:creationId xmlns:a16="http://schemas.microsoft.com/office/drawing/2014/main" id="{3DA5BCAF-A8C0-1D4C-86C0-205E28161717}"/>
              </a:ext>
            </a:extLst>
          </p:cNvPr>
          <p:cNvSpPr txBox="1"/>
          <p:nvPr/>
        </p:nvSpPr>
        <p:spPr>
          <a:xfrm>
            <a:off x="8574665" y="2193598"/>
            <a:ext cx="1457299" cy="461665"/>
          </a:xfrm>
          <a:prstGeom prst="rect">
            <a:avLst/>
          </a:prstGeom>
          <a:noFill/>
        </p:spPr>
        <p:txBody>
          <a:bodyPr wrap="square" anchor="t">
            <a:spAutoFit/>
          </a:bodyPr>
          <a:lstStyle/>
          <a:p>
            <a:pPr algn="ctr">
              <a:spcAft>
                <a:spcPts val="500"/>
              </a:spcAft>
            </a:pPr>
            <a:r>
              <a:rPr lang="en-US" sz="2400" b="1" i="0" dirty="0">
                <a:solidFill>
                  <a:srgbClr val="7F682C"/>
                </a:solidFill>
                <a:latin typeface="Avenir Next"/>
              </a:rPr>
              <a:t>AC-PF</a:t>
            </a:r>
            <a:endParaRPr b="1" i="0" dirty="0">
              <a:solidFill>
                <a:srgbClr val="7F682C"/>
              </a:solidFill>
              <a:latin typeface="Avenir Next"/>
            </a:endParaRPr>
          </a:p>
        </p:txBody>
      </p:sp>
    </p:spTree>
    <p:extLst>
      <p:ext uri="{BB962C8B-B14F-4D97-AF65-F5344CB8AC3E}">
        <p14:creationId xmlns:p14="http://schemas.microsoft.com/office/powerpoint/2010/main" val="733846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FE011-5CCA-1FCD-C11B-1ACF5667B35E}"/>
            </a:ext>
          </a:extLst>
        </p:cNvPr>
        <p:cNvGrpSpPr/>
        <p:nvPr/>
      </p:nvGrpSpPr>
      <p:grpSpPr>
        <a:xfrm>
          <a:off x="0" y="0"/>
          <a:ext cx="0" cy="0"/>
          <a:chOff x="0" y="0"/>
          <a:chExt cx="0" cy="0"/>
        </a:xfrm>
      </p:grpSpPr>
      <p:sp>
        <p:nvSpPr>
          <p:cNvPr id="46" name="Rounded Rectangle 45">
            <a:extLst>
              <a:ext uri="{FF2B5EF4-FFF2-40B4-BE49-F238E27FC236}">
                <a16:creationId xmlns:a16="http://schemas.microsoft.com/office/drawing/2014/main" id="{EBB70908-76B4-578F-99ED-AEC73F4C6F24}"/>
              </a:ext>
            </a:extLst>
          </p:cNvPr>
          <p:cNvSpPr/>
          <p:nvPr/>
        </p:nvSpPr>
        <p:spPr>
          <a:xfrm>
            <a:off x="6467526" y="1400049"/>
            <a:ext cx="5221662" cy="4150863"/>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sz="1400" b="0" i="0" dirty="0">
              <a:solidFill>
                <a:srgbClr val="4B647A"/>
              </a:solidFill>
              <a:latin typeface="Avenir Next"/>
            </a:endParaRPr>
          </a:p>
        </p:txBody>
      </p:sp>
      <p:sp>
        <p:nvSpPr>
          <p:cNvPr id="2" name="Datumsplatzhalter 1">
            <a:extLst>
              <a:ext uri="{FF2B5EF4-FFF2-40B4-BE49-F238E27FC236}">
                <a16:creationId xmlns:a16="http://schemas.microsoft.com/office/drawing/2014/main" id="{E8DA6B15-C2DF-29ED-B0D3-090D95AC484B}"/>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373802DD-0FF3-0A15-B13F-2644C34238C4}"/>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DB290A14-FF3F-A186-4398-9ACF3F4BCE15}"/>
              </a:ext>
            </a:extLst>
          </p:cNvPr>
          <p:cNvSpPr>
            <a:spLocks noGrp="1"/>
          </p:cNvSpPr>
          <p:nvPr>
            <p:ph type="sldNum" sz="quarter" idx="12"/>
          </p:nvPr>
        </p:nvSpPr>
        <p:spPr/>
        <p:txBody>
          <a:bodyPr/>
          <a:lstStyle/>
          <a:p>
            <a:fld id="{D949F9DF-37BD-4CD6-BF49-65BA579E1D7A}" type="slidenum">
              <a:rPr lang="de-DE" smtClean="0"/>
              <a:pPr/>
              <a:t>3</a:t>
            </a:fld>
            <a:endParaRPr lang="de-DE"/>
          </a:p>
        </p:txBody>
      </p:sp>
      <p:sp>
        <p:nvSpPr>
          <p:cNvPr id="10" name="Titel 9">
            <a:extLst>
              <a:ext uri="{FF2B5EF4-FFF2-40B4-BE49-F238E27FC236}">
                <a16:creationId xmlns:a16="http://schemas.microsoft.com/office/drawing/2014/main" id="{954ABE7C-D9EC-579B-C1FF-807CE46B579E}"/>
              </a:ext>
            </a:extLst>
          </p:cNvPr>
          <p:cNvSpPr>
            <a:spLocks noGrp="1"/>
          </p:cNvSpPr>
          <p:nvPr>
            <p:ph type="title"/>
          </p:nvPr>
        </p:nvSpPr>
        <p:spPr/>
        <p:txBody>
          <a:bodyPr/>
          <a:lstStyle/>
          <a:p>
            <a:r>
              <a:rPr lang="de-DE" dirty="0"/>
              <a:t>Graph </a:t>
            </a:r>
            <a:r>
              <a:rPr lang="de-DE" dirty="0" err="1"/>
              <a:t>Formulation</a:t>
            </a:r>
            <a:r>
              <a:rPr lang="de-DE" dirty="0"/>
              <a:t> </a:t>
            </a:r>
            <a:r>
              <a:rPr lang="de-DE" dirty="0" err="1"/>
              <a:t>of</a:t>
            </a:r>
            <a:r>
              <a:rPr lang="de-DE" dirty="0"/>
              <a:t> AC Power Flow</a:t>
            </a:r>
          </a:p>
        </p:txBody>
      </p:sp>
      <p:sp>
        <p:nvSpPr>
          <p:cNvPr id="12" name="Textplatzhalter 11">
            <a:extLst>
              <a:ext uri="{FF2B5EF4-FFF2-40B4-BE49-F238E27FC236}">
                <a16:creationId xmlns:a16="http://schemas.microsoft.com/office/drawing/2014/main" id="{91F5E20C-E4C3-56F5-4C3E-198F45999941}"/>
              </a:ext>
            </a:extLst>
          </p:cNvPr>
          <p:cNvSpPr>
            <a:spLocks noGrp="1"/>
          </p:cNvSpPr>
          <p:nvPr>
            <p:ph type="body" sz="quarter" idx="37"/>
          </p:nvPr>
        </p:nvSpPr>
        <p:spPr/>
        <p:txBody>
          <a:bodyPr/>
          <a:lstStyle/>
          <a:p>
            <a:r>
              <a:rPr lang="de-DE" dirty="0"/>
              <a:t>Method</a:t>
            </a:r>
          </a:p>
        </p:txBody>
      </p:sp>
      <p:sp>
        <p:nvSpPr>
          <p:cNvPr id="5" name="Bildplatzhalter 4">
            <a:extLst>
              <a:ext uri="{FF2B5EF4-FFF2-40B4-BE49-F238E27FC236}">
                <a16:creationId xmlns:a16="http://schemas.microsoft.com/office/drawing/2014/main" id="{20001C85-9A27-F771-E55C-AB27F6499069}"/>
              </a:ext>
            </a:extLst>
          </p:cNvPr>
          <p:cNvSpPr>
            <a:spLocks noGrp="1"/>
          </p:cNvSpPr>
          <p:nvPr>
            <p:ph type="pic" sz="quarter" idx="39"/>
          </p:nvPr>
        </p:nvSpPr>
        <p:spPr/>
        <p:txBody>
          <a:bodyPr/>
          <a:lstStyle/>
          <a:p>
            <a:endParaRPr lang="de-DE"/>
          </a:p>
        </p:txBody>
      </p:sp>
      <p:pic>
        <p:nvPicPr>
          <p:cNvPr id="6" name="Picture 5" descr="A logo with blue lines and a horse&#10;&#10;AI-generated content may be incorrect.">
            <a:extLst>
              <a:ext uri="{FF2B5EF4-FFF2-40B4-BE49-F238E27FC236}">
                <a16:creationId xmlns:a16="http://schemas.microsoft.com/office/drawing/2014/main" id="{CD01D581-8249-DB8E-9EF6-CA21DAF0C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7" name="Rounded Rectangle 6">
            <a:extLst>
              <a:ext uri="{FF2B5EF4-FFF2-40B4-BE49-F238E27FC236}">
                <a16:creationId xmlns:a16="http://schemas.microsoft.com/office/drawing/2014/main" id="{ECD5125A-3702-01BB-52CD-D47701CEA860}"/>
              </a:ext>
            </a:extLst>
          </p:cNvPr>
          <p:cNvSpPr/>
          <p:nvPr/>
        </p:nvSpPr>
        <p:spPr>
          <a:xfrm>
            <a:off x="639893" y="1413513"/>
            <a:ext cx="5474797" cy="4150862"/>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8" name="Connector 13">
            <a:extLst>
              <a:ext uri="{FF2B5EF4-FFF2-40B4-BE49-F238E27FC236}">
                <a16:creationId xmlns:a16="http://schemas.microsoft.com/office/drawing/2014/main" id="{8C8C2ED2-DF63-5DE2-22EB-62BAEA0B6FFC}"/>
              </a:ext>
            </a:extLst>
          </p:cNvPr>
          <p:cNvCxnSpPr/>
          <p:nvPr/>
        </p:nvCxnSpPr>
        <p:spPr>
          <a:xfrm flipV="1">
            <a:off x="1374417" y="2492248"/>
            <a:ext cx="1097280" cy="27432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9" name="Connector 14">
            <a:extLst>
              <a:ext uri="{FF2B5EF4-FFF2-40B4-BE49-F238E27FC236}">
                <a16:creationId xmlns:a16="http://schemas.microsoft.com/office/drawing/2014/main" id="{5CD1236E-F739-1BF4-D387-CF0E18523693}"/>
              </a:ext>
            </a:extLst>
          </p:cNvPr>
          <p:cNvCxnSpPr/>
          <p:nvPr/>
        </p:nvCxnSpPr>
        <p:spPr>
          <a:xfrm>
            <a:off x="1374417" y="2766568"/>
            <a:ext cx="1005840" cy="82296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11" name="Connector 15">
            <a:extLst>
              <a:ext uri="{FF2B5EF4-FFF2-40B4-BE49-F238E27FC236}">
                <a16:creationId xmlns:a16="http://schemas.microsoft.com/office/drawing/2014/main" id="{00B09E50-99ED-2947-FD1A-0BB88794D539}"/>
              </a:ext>
            </a:extLst>
          </p:cNvPr>
          <p:cNvCxnSpPr/>
          <p:nvPr/>
        </p:nvCxnSpPr>
        <p:spPr>
          <a:xfrm>
            <a:off x="2471697" y="2492248"/>
            <a:ext cx="1371600" cy="45720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13" name="Connector 16">
            <a:extLst>
              <a:ext uri="{FF2B5EF4-FFF2-40B4-BE49-F238E27FC236}">
                <a16:creationId xmlns:a16="http://schemas.microsoft.com/office/drawing/2014/main" id="{843D5F8E-5F14-850A-886B-38A50B2E1779}"/>
              </a:ext>
            </a:extLst>
          </p:cNvPr>
          <p:cNvCxnSpPr/>
          <p:nvPr/>
        </p:nvCxnSpPr>
        <p:spPr>
          <a:xfrm flipV="1">
            <a:off x="2380257" y="2949448"/>
            <a:ext cx="1463040" cy="64008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14" name="Connector 17">
            <a:extLst>
              <a:ext uri="{FF2B5EF4-FFF2-40B4-BE49-F238E27FC236}">
                <a16:creationId xmlns:a16="http://schemas.microsoft.com/office/drawing/2014/main" id="{D818CFBE-228E-AE32-7676-629E7D5AB073}"/>
              </a:ext>
            </a:extLst>
          </p:cNvPr>
          <p:cNvCxnSpPr/>
          <p:nvPr/>
        </p:nvCxnSpPr>
        <p:spPr>
          <a:xfrm flipV="1">
            <a:off x="3843297" y="2537968"/>
            <a:ext cx="1188720" cy="41148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15" name="Connector 18">
            <a:extLst>
              <a:ext uri="{FF2B5EF4-FFF2-40B4-BE49-F238E27FC236}">
                <a16:creationId xmlns:a16="http://schemas.microsoft.com/office/drawing/2014/main" id="{2AE0B4D8-22CF-09EA-BD71-D54FD2707EE0}"/>
              </a:ext>
            </a:extLst>
          </p:cNvPr>
          <p:cNvCxnSpPr/>
          <p:nvPr/>
        </p:nvCxnSpPr>
        <p:spPr>
          <a:xfrm>
            <a:off x="3843297" y="2949448"/>
            <a:ext cx="1005840" cy="73152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cxnSp>
        <p:nvCxnSpPr>
          <p:cNvPr id="16" name="Connector 19">
            <a:extLst>
              <a:ext uri="{FF2B5EF4-FFF2-40B4-BE49-F238E27FC236}">
                <a16:creationId xmlns:a16="http://schemas.microsoft.com/office/drawing/2014/main" id="{3C35877E-E9D8-0AC0-832F-453BFC760625}"/>
              </a:ext>
            </a:extLst>
          </p:cNvPr>
          <p:cNvCxnSpPr/>
          <p:nvPr/>
        </p:nvCxnSpPr>
        <p:spPr>
          <a:xfrm flipH="1">
            <a:off x="4849137" y="2537968"/>
            <a:ext cx="182880" cy="1143000"/>
          </a:xfrm>
          <a:prstGeom prst="line">
            <a:avLst/>
          </a:prstGeom>
          <a:ln w="27940">
            <a:solidFill>
              <a:srgbClr val="2D6F80"/>
            </a:solidFill>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3C032B1E-7AF2-2F47-5F13-FBEBEE479229}"/>
              </a:ext>
            </a:extLst>
          </p:cNvPr>
          <p:cNvSpPr/>
          <p:nvPr/>
        </p:nvSpPr>
        <p:spPr>
          <a:xfrm>
            <a:off x="1182393" y="2574544"/>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18" name="TextBox 17">
            <a:extLst>
              <a:ext uri="{FF2B5EF4-FFF2-40B4-BE49-F238E27FC236}">
                <a16:creationId xmlns:a16="http://schemas.microsoft.com/office/drawing/2014/main" id="{DB51471E-E383-3D9C-A126-0DE33D8EBB6F}"/>
              </a:ext>
            </a:extLst>
          </p:cNvPr>
          <p:cNvSpPr txBox="1"/>
          <p:nvPr/>
        </p:nvSpPr>
        <p:spPr>
          <a:xfrm>
            <a:off x="1031517" y="2999627"/>
            <a:ext cx="667512" cy="338554"/>
          </a:xfrm>
          <a:prstGeom prst="rect">
            <a:avLst/>
          </a:prstGeom>
          <a:noFill/>
        </p:spPr>
        <p:txBody>
          <a:bodyPr wrap="square" anchor="t">
            <a:spAutoFit/>
          </a:bodyPr>
          <a:lstStyle/>
          <a:p>
            <a:pPr algn="ctr">
              <a:spcAft>
                <a:spcPts val="500"/>
              </a:spcAft>
            </a:pPr>
            <a:r>
              <a:rPr sz="1600" b="0" i="0">
                <a:solidFill>
                  <a:srgbClr val="4B647A"/>
                </a:solidFill>
                <a:latin typeface="Avenir Next"/>
              </a:rPr>
              <a:t>Slack</a:t>
            </a:r>
          </a:p>
        </p:txBody>
      </p:sp>
      <p:sp>
        <p:nvSpPr>
          <p:cNvPr id="19" name="Oval 18">
            <a:extLst>
              <a:ext uri="{FF2B5EF4-FFF2-40B4-BE49-F238E27FC236}">
                <a16:creationId xmlns:a16="http://schemas.microsoft.com/office/drawing/2014/main" id="{DF97A87F-3F0F-99B4-5245-7ED81A3B134A}"/>
              </a:ext>
            </a:extLst>
          </p:cNvPr>
          <p:cNvSpPr/>
          <p:nvPr/>
        </p:nvSpPr>
        <p:spPr>
          <a:xfrm>
            <a:off x="2279673" y="2300224"/>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0" name="TextBox 19">
            <a:extLst>
              <a:ext uri="{FF2B5EF4-FFF2-40B4-BE49-F238E27FC236}">
                <a16:creationId xmlns:a16="http://schemas.microsoft.com/office/drawing/2014/main" id="{DF22A16F-31E3-503E-D136-64703A03FCD7}"/>
              </a:ext>
            </a:extLst>
          </p:cNvPr>
          <p:cNvSpPr txBox="1"/>
          <p:nvPr/>
        </p:nvSpPr>
        <p:spPr>
          <a:xfrm>
            <a:off x="1797119" y="2707019"/>
            <a:ext cx="1367444" cy="338554"/>
          </a:xfrm>
          <a:prstGeom prst="rect">
            <a:avLst/>
          </a:prstGeom>
          <a:noFill/>
        </p:spPr>
        <p:txBody>
          <a:bodyPr wrap="square" anchor="t">
            <a:spAutoFit/>
          </a:bodyPr>
          <a:lstStyle/>
          <a:p>
            <a:pPr algn="ctr">
              <a:spcAft>
                <a:spcPts val="500"/>
              </a:spcAft>
            </a:pPr>
            <a:r>
              <a:rPr lang="en-US" sz="1600" b="0" i="0" dirty="0">
                <a:solidFill>
                  <a:srgbClr val="4B647A"/>
                </a:solidFill>
                <a:latin typeface="Avenir Next"/>
              </a:rPr>
              <a:t>Generator</a:t>
            </a:r>
            <a:endParaRPr sz="1600" b="0" i="0" dirty="0">
              <a:solidFill>
                <a:srgbClr val="4B647A"/>
              </a:solidFill>
              <a:latin typeface="Avenir Next"/>
            </a:endParaRPr>
          </a:p>
        </p:txBody>
      </p:sp>
      <p:sp>
        <p:nvSpPr>
          <p:cNvPr id="21" name="Oval 20">
            <a:extLst>
              <a:ext uri="{FF2B5EF4-FFF2-40B4-BE49-F238E27FC236}">
                <a16:creationId xmlns:a16="http://schemas.microsoft.com/office/drawing/2014/main" id="{3DB024DD-FD7E-AC4F-D522-99CF81A4DBCA}"/>
              </a:ext>
            </a:extLst>
          </p:cNvPr>
          <p:cNvSpPr/>
          <p:nvPr/>
        </p:nvSpPr>
        <p:spPr>
          <a:xfrm>
            <a:off x="2188233" y="3397504"/>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2" name="TextBox 21">
            <a:extLst>
              <a:ext uri="{FF2B5EF4-FFF2-40B4-BE49-F238E27FC236}">
                <a16:creationId xmlns:a16="http://schemas.microsoft.com/office/drawing/2014/main" id="{4865EBB5-5813-1C2B-DBAE-E5FDAEDA2D16}"/>
              </a:ext>
            </a:extLst>
          </p:cNvPr>
          <p:cNvSpPr txBox="1"/>
          <p:nvPr/>
        </p:nvSpPr>
        <p:spPr>
          <a:xfrm>
            <a:off x="1982947" y="3822587"/>
            <a:ext cx="794619" cy="338554"/>
          </a:xfrm>
          <a:prstGeom prst="rect">
            <a:avLst/>
          </a:prstGeom>
          <a:noFill/>
        </p:spPr>
        <p:txBody>
          <a:bodyPr wrap="square" anchor="t">
            <a:spAutoFit/>
          </a:bodyPr>
          <a:lstStyle/>
          <a:p>
            <a:pPr algn="ctr">
              <a:spcAft>
                <a:spcPts val="500"/>
              </a:spcAft>
            </a:pPr>
            <a:r>
              <a:rPr lang="en-US" sz="1600" b="0" i="0" dirty="0">
                <a:solidFill>
                  <a:srgbClr val="4B647A"/>
                </a:solidFill>
                <a:latin typeface="Avenir Next"/>
              </a:rPr>
              <a:t>Load</a:t>
            </a:r>
            <a:endParaRPr sz="1600" b="0" i="0" dirty="0">
              <a:solidFill>
                <a:srgbClr val="4B647A"/>
              </a:solidFill>
              <a:latin typeface="Avenir Next"/>
            </a:endParaRPr>
          </a:p>
        </p:txBody>
      </p:sp>
      <p:sp>
        <p:nvSpPr>
          <p:cNvPr id="23" name="Oval 22">
            <a:extLst>
              <a:ext uri="{FF2B5EF4-FFF2-40B4-BE49-F238E27FC236}">
                <a16:creationId xmlns:a16="http://schemas.microsoft.com/office/drawing/2014/main" id="{D946E144-7BB2-C352-3B89-5DA117E50929}"/>
              </a:ext>
            </a:extLst>
          </p:cNvPr>
          <p:cNvSpPr/>
          <p:nvPr/>
        </p:nvSpPr>
        <p:spPr>
          <a:xfrm>
            <a:off x="3651273" y="2757424"/>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5" name="Oval 24">
            <a:extLst>
              <a:ext uri="{FF2B5EF4-FFF2-40B4-BE49-F238E27FC236}">
                <a16:creationId xmlns:a16="http://schemas.microsoft.com/office/drawing/2014/main" id="{F52E9ED2-97A6-A5A3-56AC-2CCB6CE87D60}"/>
              </a:ext>
            </a:extLst>
          </p:cNvPr>
          <p:cNvSpPr/>
          <p:nvPr/>
        </p:nvSpPr>
        <p:spPr>
          <a:xfrm>
            <a:off x="4839993" y="2345944"/>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7" name="Oval 26">
            <a:extLst>
              <a:ext uri="{FF2B5EF4-FFF2-40B4-BE49-F238E27FC236}">
                <a16:creationId xmlns:a16="http://schemas.microsoft.com/office/drawing/2014/main" id="{3014DA15-1061-8C38-D4CE-627BC5BF471A}"/>
              </a:ext>
            </a:extLst>
          </p:cNvPr>
          <p:cNvSpPr/>
          <p:nvPr/>
        </p:nvSpPr>
        <p:spPr>
          <a:xfrm>
            <a:off x="4657113" y="3488944"/>
            <a:ext cx="384048" cy="38404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endParaRPr/>
          </a:p>
        </p:txBody>
      </p:sp>
      <p:sp>
        <p:nvSpPr>
          <p:cNvPr id="29" name="TextBox 28">
            <a:extLst>
              <a:ext uri="{FF2B5EF4-FFF2-40B4-BE49-F238E27FC236}">
                <a16:creationId xmlns:a16="http://schemas.microsoft.com/office/drawing/2014/main" id="{53136702-965E-31C8-423A-01CD89286813}"/>
              </a:ext>
            </a:extLst>
          </p:cNvPr>
          <p:cNvSpPr txBox="1"/>
          <p:nvPr/>
        </p:nvSpPr>
        <p:spPr>
          <a:xfrm>
            <a:off x="3455131" y="3155075"/>
            <a:ext cx="794619" cy="338554"/>
          </a:xfrm>
          <a:prstGeom prst="rect">
            <a:avLst/>
          </a:prstGeom>
          <a:noFill/>
        </p:spPr>
        <p:txBody>
          <a:bodyPr wrap="square" anchor="t">
            <a:spAutoFit/>
          </a:bodyPr>
          <a:lstStyle/>
          <a:p>
            <a:pPr algn="ctr">
              <a:spcAft>
                <a:spcPts val="500"/>
              </a:spcAft>
            </a:pPr>
            <a:r>
              <a:rPr lang="en-US" sz="1600" b="0" i="0" dirty="0">
                <a:solidFill>
                  <a:srgbClr val="4B647A"/>
                </a:solidFill>
                <a:latin typeface="Avenir Next"/>
              </a:rPr>
              <a:t>Load</a:t>
            </a:r>
            <a:endParaRPr sz="1600" b="0" i="0" dirty="0">
              <a:solidFill>
                <a:srgbClr val="4B647A"/>
              </a:solidFill>
              <a:latin typeface="Avenir Next"/>
            </a:endParaRPr>
          </a:p>
        </p:txBody>
      </p:sp>
      <p:sp>
        <p:nvSpPr>
          <p:cNvPr id="30" name="TextBox 29">
            <a:extLst>
              <a:ext uri="{FF2B5EF4-FFF2-40B4-BE49-F238E27FC236}">
                <a16:creationId xmlns:a16="http://schemas.microsoft.com/office/drawing/2014/main" id="{26C05F0E-3F28-91D9-2CB0-5CC5B904DC20}"/>
              </a:ext>
            </a:extLst>
          </p:cNvPr>
          <p:cNvSpPr txBox="1"/>
          <p:nvPr/>
        </p:nvSpPr>
        <p:spPr>
          <a:xfrm>
            <a:off x="4800198" y="2711365"/>
            <a:ext cx="1367444" cy="338554"/>
          </a:xfrm>
          <a:prstGeom prst="rect">
            <a:avLst/>
          </a:prstGeom>
          <a:noFill/>
        </p:spPr>
        <p:txBody>
          <a:bodyPr wrap="square" anchor="t">
            <a:spAutoFit/>
          </a:bodyPr>
          <a:lstStyle/>
          <a:p>
            <a:pPr algn="ctr">
              <a:spcAft>
                <a:spcPts val="500"/>
              </a:spcAft>
            </a:pPr>
            <a:r>
              <a:rPr lang="en-US" sz="1600" b="0" i="0" dirty="0">
                <a:solidFill>
                  <a:srgbClr val="4B647A"/>
                </a:solidFill>
                <a:latin typeface="Avenir Next"/>
              </a:rPr>
              <a:t>Generator</a:t>
            </a:r>
            <a:endParaRPr sz="1600" b="0" i="0" dirty="0">
              <a:solidFill>
                <a:srgbClr val="4B647A"/>
              </a:solidFill>
              <a:latin typeface="Avenir Next"/>
            </a:endParaRPr>
          </a:p>
        </p:txBody>
      </p:sp>
      <p:sp>
        <p:nvSpPr>
          <p:cNvPr id="31" name="TextBox 30">
            <a:extLst>
              <a:ext uri="{FF2B5EF4-FFF2-40B4-BE49-F238E27FC236}">
                <a16:creationId xmlns:a16="http://schemas.microsoft.com/office/drawing/2014/main" id="{4B174883-C9C9-6CA8-4095-50588483B599}"/>
              </a:ext>
            </a:extLst>
          </p:cNvPr>
          <p:cNvSpPr txBox="1"/>
          <p:nvPr/>
        </p:nvSpPr>
        <p:spPr>
          <a:xfrm>
            <a:off x="4543267" y="3853324"/>
            <a:ext cx="794619" cy="338554"/>
          </a:xfrm>
          <a:prstGeom prst="rect">
            <a:avLst/>
          </a:prstGeom>
          <a:noFill/>
        </p:spPr>
        <p:txBody>
          <a:bodyPr wrap="square" anchor="t">
            <a:spAutoFit/>
          </a:bodyPr>
          <a:lstStyle/>
          <a:p>
            <a:pPr algn="ctr">
              <a:spcAft>
                <a:spcPts val="500"/>
              </a:spcAft>
            </a:pPr>
            <a:r>
              <a:rPr lang="en-US" sz="1600" b="0" i="0" dirty="0">
                <a:solidFill>
                  <a:srgbClr val="4B647A"/>
                </a:solidFill>
                <a:latin typeface="Avenir Next"/>
              </a:rPr>
              <a:t>Load</a:t>
            </a:r>
            <a:endParaRPr sz="1600" b="0" i="0" dirty="0">
              <a:solidFill>
                <a:srgbClr val="4B647A"/>
              </a:solidFill>
              <a:latin typeface="Avenir Next"/>
            </a:endParaRPr>
          </a:p>
        </p:txBody>
      </p:sp>
      <p:graphicFrame>
        <p:nvGraphicFramePr>
          <p:cNvPr id="34" name="Table 33">
            <a:extLst>
              <a:ext uri="{FF2B5EF4-FFF2-40B4-BE49-F238E27FC236}">
                <a16:creationId xmlns:a16="http://schemas.microsoft.com/office/drawing/2014/main" id="{86FCA7BA-46E9-8A6B-8A09-B8ED21F83A52}"/>
              </a:ext>
            </a:extLst>
          </p:cNvPr>
          <p:cNvGraphicFramePr>
            <a:graphicFrameLocks noGrp="1"/>
          </p:cNvGraphicFramePr>
          <p:nvPr>
            <p:extLst>
              <p:ext uri="{D42A27DB-BD31-4B8C-83A1-F6EECF244321}">
                <p14:modId xmlns:p14="http://schemas.microsoft.com/office/powerpoint/2010/main" val="211782999"/>
              </p:ext>
            </p:extLst>
          </p:nvPr>
        </p:nvGraphicFramePr>
        <p:xfrm>
          <a:off x="779025" y="3342592"/>
          <a:ext cx="1089127" cy="391438"/>
        </p:xfrm>
        <a:graphic>
          <a:graphicData uri="http://schemas.openxmlformats.org/drawingml/2006/table">
            <a:tbl>
              <a:tblPr firstRow="1" bandRow="1">
                <a:tableStyleId>{7DF18680-E054-41AD-8BC1-D1AEF772440D}</a:tableStyleId>
              </a:tblPr>
              <a:tblGrid>
                <a:gridCol w="275042">
                  <a:extLst>
                    <a:ext uri="{9D8B030D-6E8A-4147-A177-3AD203B41FA5}">
                      <a16:colId xmlns:a16="http://schemas.microsoft.com/office/drawing/2014/main" val="3085451983"/>
                    </a:ext>
                  </a:extLst>
                </a:gridCol>
                <a:gridCol w="264001">
                  <a:extLst>
                    <a:ext uri="{9D8B030D-6E8A-4147-A177-3AD203B41FA5}">
                      <a16:colId xmlns:a16="http://schemas.microsoft.com/office/drawing/2014/main" val="433584234"/>
                    </a:ext>
                  </a:extLst>
                </a:gridCol>
                <a:gridCol w="275042">
                  <a:extLst>
                    <a:ext uri="{9D8B030D-6E8A-4147-A177-3AD203B41FA5}">
                      <a16:colId xmlns:a16="http://schemas.microsoft.com/office/drawing/2014/main" val="2672114725"/>
                    </a:ext>
                  </a:extLst>
                </a:gridCol>
                <a:gridCol w="275042">
                  <a:extLst>
                    <a:ext uri="{9D8B030D-6E8A-4147-A177-3AD203B41FA5}">
                      <a16:colId xmlns:a16="http://schemas.microsoft.com/office/drawing/2014/main" val="1897129689"/>
                    </a:ext>
                  </a:extLst>
                </a:gridCol>
              </a:tblGrid>
              <a:tr h="391438">
                <a:tc>
                  <a:txBody>
                    <a:bodyPr/>
                    <a:lstStyle/>
                    <a:p>
                      <a:pPr algn="ctr"/>
                      <a:r>
                        <a:rPr lang="en-US" sz="1600" dirty="0">
                          <a:solidFill>
                            <a:schemeClr val="bg1"/>
                          </a:solidFill>
                        </a:rPr>
                        <a:t>P</a:t>
                      </a:r>
                    </a:p>
                  </a:txBody>
                  <a:tcPr>
                    <a:solidFill>
                      <a:srgbClr val="D9D9D9"/>
                    </a:solidFill>
                  </a:tcPr>
                </a:tc>
                <a:tc>
                  <a:txBody>
                    <a:bodyPr/>
                    <a:lstStyle/>
                    <a:p>
                      <a:pPr algn="ctr"/>
                      <a:r>
                        <a:rPr lang="en-US" sz="1600" dirty="0">
                          <a:solidFill>
                            <a:schemeClr val="bg1"/>
                          </a:solidFill>
                        </a:rPr>
                        <a:t>Q</a:t>
                      </a:r>
                    </a:p>
                  </a:txBody>
                  <a:tcPr>
                    <a:solidFill>
                      <a:srgbClr val="D9D9D9"/>
                    </a:solidFill>
                  </a:tcPr>
                </a:tc>
                <a:tc>
                  <a:txBody>
                    <a:bodyPr/>
                    <a:lstStyle/>
                    <a:p>
                      <a:pPr algn="ctr"/>
                      <a:r>
                        <a:rPr lang="en-US" sz="1600" dirty="0">
                          <a:solidFill>
                            <a:schemeClr val="bg1"/>
                          </a:solidFill>
                        </a:rPr>
                        <a:t>V</a:t>
                      </a:r>
                    </a:p>
                  </a:txBody>
                  <a:tcPr>
                    <a:solidFill>
                      <a:srgbClr val="04316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600" i="0" dirty="0">
                          <a:solidFill>
                            <a:schemeClr val="bg1"/>
                          </a:solidFill>
                          <a:effectLst/>
                          <a:latin typeface="Arial" panose="020B0604020202020204" pitchFamily="34" charset="0"/>
                        </a:rPr>
                        <a:t>θ</a:t>
                      </a:r>
                    </a:p>
                  </a:txBody>
                  <a:tcPr>
                    <a:solidFill>
                      <a:srgbClr val="04316A"/>
                    </a:solidFill>
                  </a:tcPr>
                </a:tc>
                <a:extLst>
                  <a:ext uri="{0D108BD9-81ED-4DB2-BD59-A6C34878D82A}">
                    <a16:rowId xmlns:a16="http://schemas.microsoft.com/office/drawing/2014/main" val="3567699195"/>
                  </a:ext>
                </a:extLst>
              </a:tr>
            </a:tbl>
          </a:graphicData>
        </a:graphic>
      </p:graphicFrame>
      <p:graphicFrame>
        <p:nvGraphicFramePr>
          <p:cNvPr id="35" name="Table 34">
            <a:extLst>
              <a:ext uri="{FF2B5EF4-FFF2-40B4-BE49-F238E27FC236}">
                <a16:creationId xmlns:a16="http://schemas.microsoft.com/office/drawing/2014/main" id="{3EE5EAEE-FD18-9F0B-8452-6762B18F2719}"/>
              </a:ext>
            </a:extLst>
          </p:cNvPr>
          <p:cNvGraphicFramePr>
            <a:graphicFrameLocks noGrp="1"/>
          </p:cNvGraphicFramePr>
          <p:nvPr>
            <p:extLst>
              <p:ext uri="{D42A27DB-BD31-4B8C-83A1-F6EECF244321}">
                <p14:modId xmlns:p14="http://schemas.microsoft.com/office/powerpoint/2010/main" val="1616768845"/>
              </p:ext>
            </p:extLst>
          </p:nvPr>
        </p:nvGraphicFramePr>
        <p:xfrm>
          <a:off x="1953073" y="1621447"/>
          <a:ext cx="1089127" cy="391438"/>
        </p:xfrm>
        <a:graphic>
          <a:graphicData uri="http://schemas.openxmlformats.org/drawingml/2006/table">
            <a:tbl>
              <a:tblPr firstRow="1" bandRow="1">
                <a:tableStyleId>{7DF18680-E054-41AD-8BC1-D1AEF772440D}</a:tableStyleId>
              </a:tblPr>
              <a:tblGrid>
                <a:gridCol w="275042">
                  <a:extLst>
                    <a:ext uri="{9D8B030D-6E8A-4147-A177-3AD203B41FA5}">
                      <a16:colId xmlns:a16="http://schemas.microsoft.com/office/drawing/2014/main" val="3085451983"/>
                    </a:ext>
                  </a:extLst>
                </a:gridCol>
                <a:gridCol w="264001">
                  <a:extLst>
                    <a:ext uri="{9D8B030D-6E8A-4147-A177-3AD203B41FA5}">
                      <a16:colId xmlns:a16="http://schemas.microsoft.com/office/drawing/2014/main" val="433584234"/>
                    </a:ext>
                  </a:extLst>
                </a:gridCol>
                <a:gridCol w="275042">
                  <a:extLst>
                    <a:ext uri="{9D8B030D-6E8A-4147-A177-3AD203B41FA5}">
                      <a16:colId xmlns:a16="http://schemas.microsoft.com/office/drawing/2014/main" val="2672114725"/>
                    </a:ext>
                  </a:extLst>
                </a:gridCol>
                <a:gridCol w="275042">
                  <a:extLst>
                    <a:ext uri="{9D8B030D-6E8A-4147-A177-3AD203B41FA5}">
                      <a16:colId xmlns:a16="http://schemas.microsoft.com/office/drawing/2014/main" val="1897129689"/>
                    </a:ext>
                  </a:extLst>
                </a:gridCol>
              </a:tblGrid>
              <a:tr h="391438">
                <a:tc>
                  <a:txBody>
                    <a:bodyPr/>
                    <a:lstStyle/>
                    <a:p>
                      <a:pPr algn="ctr"/>
                      <a:r>
                        <a:rPr lang="en-US" sz="1600" dirty="0">
                          <a:solidFill>
                            <a:schemeClr val="bg1"/>
                          </a:solidFill>
                        </a:rPr>
                        <a:t>P</a:t>
                      </a:r>
                    </a:p>
                  </a:txBody>
                  <a:tcPr>
                    <a:solidFill>
                      <a:srgbClr val="04316A"/>
                    </a:solidFill>
                  </a:tcPr>
                </a:tc>
                <a:tc>
                  <a:txBody>
                    <a:bodyPr/>
                    <a:lstStyle/>
                    <a:p>
                      <a:pPr algn="ctr"/>
                      <a:r>
                        <a:rPr lang="en-US" sz="1600" dirty="0">
                          <a:solidFill>
                            <a:schemeClr val="bg1"/>
                          </a:solidFill>
                        </a:rPr>
                        <a:t>Q</a:t>
                      </a:r>
                    </a:p>
                  </a:txBody>
                  <a:tcPr>
                    <a:solidFill>
                      <a:schemeClr val="bg2">
                        <a:lumMod val="85000"/>
                      </a:schemeClr>
                    </a:solidFill>
                  </a:tcPr>
                </a:tc>
                <a:tc>
                  <a:txBody>
                    <a:bodyPr/>
                    <a:lstStyle/>
                    <a:p>
                      <a:pPr algn="ctr"/>
                      <a:r>
                        <a:rPr lang="en-US" sz="1600" dirty="0">
                          <a:solidFill>
                            <a:schemeClr val="bg1"/>
                          </a:solidFill>
                        </a:rPr>
                        <a:t>V</a:t>
                      </a:r>
                    </a:p>
                  </a:txBody>
                  <a:tcPr>
                    <a:solidFill>
                      <a:srgbClr val="04316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600" i="0" dirty="0">
                          <a:solidFill>
                            <a:schemeClr val="bg1"/>
                          </a:solidFill>
                          <a:effectLst/>
                          <a:latin typeface="Arial" panose="020B0604020202020204" pitchFamily="34" charset="0"/>
                        </a:rPr>
                        <a:t>θ</a:t>
                      </a:r>
                    </a:p>
                  </a:txBody>
                  <a:tcPr>
                    <a:solidFill>
                      <a:schemeClr val="bg2">
                        <a:lumMod val="85000"/>
                      </a:schemeClr>
                    </a:solidFill>
                  </a:tcPr>
                </a:tc>
                <a:extLst>
                  <a:ext uri="{0D108BD9-81ED-4DB2-BD59-A6C34878D82A}">
                    <a16:rowId xmlns:a16="http://schemas.microsoft.com/office/drawing/2014/main" val="3567699195"/>
                  </a:ext>
                </a:extLst>
              </a:tr>
            </a:tbl>
          </a:graphicData>
        </a:graphic>
      </p:graphicFrame>
      <p:graphicFrame>
        <p:nvGraphicFramePr>
          <p:cNvPr id="37" name="Table 36">
            <a:extLst>
              <a:ext uri="{FF2B5EF4-FFF2-40B4-BE49-F238E27FC236}">
                <a16:creationId xmlns:a16="http://schemas.microsoft.com/office/drawing/2014/main" id="{56C9DEB8-B27D-FB09-64A8-483D301A69E1}"/>
              </a:ext>
            </a:extLst>
          </p:cNvPr>
          <p:cNvGraphicFramePr>
            <a:graphicFrameLocks noGrp="1"/>
          </p:cNvGraphicFramePr>
          <p:nvPr>
            <p:extLst>
              <p:ext uri="{D42A27DB-BD31-4B8C-83A1-F6EECF244321}">
                <p14:modId xmlns:p14="http://schemas.microsoft.com/office/powerpoint/2010/main" val="428061827"/>
              </p:ext>
            </p:extLst>
          </p:nvPr>
        </p:nvGraphicFramePr>
        <p:xfrm>
          <a:off x="4463979" y="1614424"/>
          <a:ext cx="1089127" cy="391438"/>
        </p:xfrm>
        <a:graphic>
          <a:graphicData uri="http://schemas.openxmlformats.org/drawingml/2006/table">
            <a:tbl>
              <a:tblPr firstRow="1" bandRow="1">
                <a:tableStyleId>{7DF18680-E054-41AD-8BC1-D1AEF772440D}</a:tableStyleId>
              </a:tblPr>
              <a:tblGrid>
                <a:gridCol w="275042">
                  <a:extLst>
                    <a:ext uri="{9D8B030D-6E8A-4147-A177-3AD203B41FA5}">
                      <a16:colId xmlns:a16="http://schemas.microsoft.com/office/drawing/2014/main" val="3085451983"/>
                    </a:ext>
                  </a:extLst>
                </a:gridCol>
                <a:gridCol w="264001">
                  <a:extLst>
                    <a:ext uri="{9D8B030D-6E8A-4147-A177-3AD203B41FA5}">
                      <a16:colId xmlns:a16="http://schemas.microsoft.com/office/drawing/2014/main" val="433584234"/>
                    </a:ext>
                  </a:extLst>
                </a:gridCol>
                <a:gridCol w="275042">
                  <a:extLst>
                    <a:ext uri="{9D8B030D-6E8A-4147-A177-3AD203B41FA5}">
                      <a16:colId xmlns:a16="http://schemas.microsoft.com/office/drawing/2014/main" val="2672114725"/>
                    </a:ext>
                  </a:extLst>
                </a:gridCol>
                <a:gridCol w="275042">
                  <a:extLst>
                    <a:ext uri="{9D8B030D-6E8A-4147-A177-3AD203B41FA5}">
                      <a16:colId xmlns:a16="http://schemas.microsoft.com/office/drawing/2014/main" val="1897129689"/>
                    </a:ext>
                  </a:extLst>
                </a:gridCol>
              </a:tblGrid>
              <a:tr h="391438">
                <a:tc>
                  <a:txBody>
                    <a:bodyPr/>
                    <a:lstStyle/>
                    <a:p>
                      <a:pPr algn="ctr"/>
                      <a:r>
                        <a:rPr lang="en-US" sz="1600" dirty="0">
                          <a:solidFill>
                            <a:schemeClr val="bg1"/>
                          </a:solidFill>
                        </a:rPr>
                        <a:t>P</a:t>
                      </a:r>
                    </a:p>
                  </a:txBody>
                  <a:tcPr>
                    <a:solidFill>
                      <a:srgbClr val="04316A"/>
                    </a:solidFill>
                  </a:tcPr>
                </a:tc>
                <a:tc>
                  <a:txBody>
                    <a:bodyPr/>
                    <a:lstStyle/>
                    <a:p>
                      <a:pPr algn="ctr"/>
                      <a:r>
                        <a:rPr lang="en-US" sz="1600" dirty="0">
                          <a:solidFill>
                            <a:schemeClr val="bg1"/>
                          </a:solidFill>
                        </a:rPr>
                        <a:t>Q</a:t>
                      </a:r>
                    </a:p>
                  </a:txBody>
                  <a:tcPr>
                    <a:solidFill>
                      <a:schemeClr val="bg2">
                        <a:lumMod val="85000"/>
                      </a:schemeClr>
                    </a:solidFill>
                  </a:tcPr>
                </a:tc>
                <a:tc>
                  <a:txBody>
                    <a:bodyPr/>
                    <a:lstStyle/>
                    <a:p>
                      <a:pPr algn="ctr"/>
                      <a:r>
                        <a:rPr lang="en-US" sz="1600" dirty="0">
                          <a:solidFill>
                            <a:schemeClr val="bg1"/>
                          </a:solidFill>
                        </a:rPr>
                        <a:t>V</a:t>
                      </a:r>
                    </a:p>
                  </a:txBody>
                  <a:tcPr>
                    <a:solidFill>
                      <a:srgbClr val="04316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600" i="0" dirty="0">
                          <a:solidFill>
                            <a:schemeClr val="bg1"/>
                          </a:solidFill>
                          <a:effectLst/>
                          <a:latin typeface="Arial" panose="020B0604020202020204" pitchFamily="34" charset="0"/>
                        </a:rPr>
                        <a:t>θ</a:t>
                      </a:r>
                    </a:p>
                  </a:txBody>
                  <a:tcPr>
                    <a:solidFill>
                      <a:schemeClr val="bg2">
                        <a:lumMod val="85000"/>
                      </a:schemeClr>
                    </a:solidFill>
                  </a:tcPr>
                </a:tc>
                <a:extLst>
                  <a:ext uri="{0D108BD9-81ED-4DB2-BD59-A6C34878D82A}">
                    <a16:rowId xmlns:a16="http://schemas.microsoft.com/office/drawing/2014/main" val="3567699195"/>
                  </a:ext>
                </a:extLst>
              </a:tr>
            </a:tbl>
          </a:graphicData>
        </a:graphic>
      </p:graphicFrame>
      <p:graphicFrame>
        <p:nvGraphicFramePr>
          <p:cNvPr id="38" name="Table 37">
            <a:extLst>
              <a:ext uri="{FF2B5EF4-FFF2-40B4-BE49-F238E27FC236}">
                <a16:creationId xmlns:a16="http://schemas.microsoft.com/office/drawing/2014/main" id="{AA2F69E1-EBD6-BD20-24A0-89AF7875B5C6}"/>
              </a:ext>
            </a:extLst>
          </p:cNvPr>
          <p:cNvGraphicFramePr>
            <a:graphicFrameLocks noGrp="1"/>
          </p:cNvGraphicFramePr>
          <p:nvPr>
            <p:extLst>
              <p:ext uri="{D42A27DB-BD31-4B8C-83A1-F6EECF244321}">
                <p14:modId xmlns:p14="http://schemas.microsoft.com/office/powerpoint/2010/main" val="3138420348"/>
              </p:ext>
            </p:extLst>
          </p:nvPr>
        </p:nvGraphicFramePr>
        <p:xfrm>
          <a:off x="1877337" y="4185654"/>
          <a:ext cx="1089127" cy="391438"/>
        </p:xfrm>
        <a:graphic>
          <a:graphicData uri="http://schemas.openxmlformats.org/drawingml/2006/table">
            <a:tbl>
              <a:tblPr firstRow="1" bandRow="1">
                <a:tableStyleId>{7DF18680-E054-41AD-8BC1-D1AEF772440D}</a:tableStyleId>
              </a:tblPr>
              <a:tblGrid>
                <a:gridCol w="275042">
                  <a:extLst>
                    <a:ext uri="{9D8B030D-6E8A-4147-A177-3AD203B41FA5}">
                      <a16:colId xmlns:a16="http://schemas.microsoft.com/office/drawing/2014/main" val="3085451983"/>
                    </a:ext>
                  </a:extLst>
                </a:gridCol>
                <a:gridCol w="264001">
                  <a:extLst>
                    <a:ext uri="{9D8B030D-6E8A-4147-A177-3AD203B41FA5}">
                      <a16:colId xmlns:a16="http://schemas.microsoft.com/office/drawing/2014/main" val="433584234"/>
                    </a:ext>
                  </a:extLst>
                </a:gridCol>
                <a:gridCol w="275042">
                  <a:extLst>
                    <a:ext uri="{9D8B030D-6E8A-4147-A177-3AD203B41FA5}">
                      <a16:colId xmlns:a16="http://schemas.microsoft.com/office/drawing/2014/main" val="2672114725"/>
                    </a:ext>
                  </a:extLst>
                </a:gridCol>
                <a:gridCol w="275042">
                  <a:extLst>
                    <a:ext uri="{9D8B030D-6E8A-4147-A177-3AD203B41FA5}">
                      <a16:colId xmlns:a16="http://schemas.microsoft.com/office/drawing/2014/main" val="1897129689"/>
                    </a:ext>
                  </a:extLst>
                </a:gridCol>
              </a:tblGrid>
              <a:tr h="391438">
                <a:tc>
                  <a:txBody>
                    <a:bodyPr/>
                    <a:lstStyle/>
                    <a:p>
                      <a:pPr algn="ctr"/>
                      <a:r>
                        <a:rPr lang="en-US" sz="1600" dirty="0">
                          <a:solidFill>
                            <a:schemeClr val="bg1"/>
                          </a:solidFill>
                        </a:rPr>
                        <a:t>P</a:t>
                      </a:r>
                    </a:p>
                  </a:txBody>
                  <a:tcPr>
                    <a:solidFill>
                      <a:srgbClr val="04316A"/>
                    </a:solidFill>
                  </a:tcPr>
                </a:tc>
                <a:tc>
                  <a:txBody>
                    <a:bodyPr/>
                    <a:lstStyle/>
                    <a:p>
                      <a:pPr algn="ctr"/>
                      <a:r>
                        <a:rPr lang="en-US" sz="1600" dirty="0">
                          <a:solidFill>
                            <a:schemeClr val="bg1"/>
                          </a:solidFill>
                        </a:rPr>
                        <a:t>Q</a:t>
                      </a:r>
                    </a:p>
                  </a:txBody>
                  <a:tcPr>
                    <a:solidFill>
                      <a:srgbClr val="04316A"/>
                    </a:solidFill>
                  </a:tcPr>
                </a:tc>
                <a:tc>
                  <a:txBody>
                    <a:bodyPr/>
                    <a:lstStyle/>
                    <a:p>
                      <a:pPr algn="ctr"/>
                      <a:r>
                        <a:rPr lang="en-US" sz="1600" dirty="0">
                          <a:solidFill>
                            <a:schemeClr val="bg1"/>
                          </a:solidFill>
                        </a:rPr>
                        <a:t>V</a:t>
                      </a:r>
                    </a:p>
                  </a:txBody>
                  <a:tcP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600" i="0" dirty="0">
                          <a:solidFill>
                            <a:schemeClr val="bg1"/>
                          </a:solidFill>
                          <a:effectLst/>
                          <a:latin typeface="Arial" panose="020B0604020202020204" pitchFamily="34" charset="0"/>
                        </a:rPr>
                        <a:t>θ</a:t>
                      </a:r>
                    </a:p>
                  </a:txBody>
                  <a:tcPr>
                    <a:solidFill>
                      <a:schemeClr val="bg2">
                        <a:lumMod val="85000"/>
                      </a:schemeClr>
                    </a:solidFill>
                  </a:tcPr>
                </a:tc>
                <a:extLst>
                  <a:ext uri="{0D108BD9-81ED-4DB2-BD59-A6C34878D82A}">
                    <a16:rowId xmlns:a16="http://schemas.microsoft.com/office/drawing/2014/main" val="3567699195"/>
                  </a:ext>
                </a:extLst>
              </a:tr>
            </a:tbl>
          </a:graphicData>
        </a:graphic>
      </p:graphicFrame>
      <p:graphicFrame>
        <p:nvGraphicFramePr>
          <p:cNvPr id="39" name="Table 38">
            <a:extLst>
              <a:ext uri="{FF2B5EF4-FFF2-40B4-BE49-F238E27FC236}">
                <a16:creationId xmlns:a16="http://schemas.microsoft.com/office/drawing/2014/main" id="{3D009075-ACB9-5CAB-2E09-81713392A4E0}"/>
              </a:ext>
            </a:extLst>
          </p:cNvPr>
          <p:cNvGraphicFramePr>
            <a:graphicFrameLocks noGrp="1"/>
          </p:cNvGraphicFramePr>
          <p:nvPr>
            <p:extLst>
              <p:ext uri="{D42A27DB-BD31-4B8C-83A1-F6EECF244321}">
                <p14:modId xmlns:p14="http://schemas.microsoft.com/office/powerpoint/2010/main" val="20490860"/>
              </p:ext>
            </p:extLst>
          </p:nvPr>
        </p:nvGraphicFramePr>
        <p:xfrm>
          <a:off x="3275418" y="3597909"/>
          <a:ext cx="1089127" cy="391438"/>
        </p:xfrm>
        <a:graphic>
          <a:graphicData uri="http://schemas.openxmlformats.org/drawingml/2006/table">
            <a:tbl>
              <a:tblPr firstRow="1" bandRow="1">
                <a:tableStyleId>{7DF18680-E054-41AD-8BC1-D1AEF772440D}</a:tableStyleId>
              </a:tblPr>
              <a:tblGrid>
                <a:gridCol w="275042">
                  <a:extLst>
                    <a:ext uri="{9D8B030D-6E8A-4147-A177-3AD203B41FA5}">
                      <a16:colId xmlns:a16="http://schemas.microsoft.com/office/drawing/2014/main" val="3085451983"/>
                    </a:ext>
                  </a:extLst>
                </a:gridCol>
                <a:gridCol w="264001">
                  <a:extLst>
                    <a:ext uri="{9D8B030D-6E8A-4147-A177-3AD203B41FA5}">
                      <a16:colId xmlns:a16="http://schemas.microsoft.com/office/drawing/2014/main" val="433584234"/>
                    </a:ext>
                  </a:extLst>
                </a:gridCol>
                <a:gridCol w="275042">
                  <a:extLst>
                    <a:ext uri="{9D8B030D-6E8A-4147-A177-3AD203B41FA5}">
                      <a16:colId xmlns:a16="http://schemas.microsoft.com/office/drawing/2014/main" val="2672114725"/>
                    </a:ext>
                  </a:extLst>
                </a:gridCol>
                <a:gridCol w="275042">
                  <a:extLst>
                    <a:ext uri="{9D8B030D-6E8A-4147-A177-3AD203B41FA5}">
                      <a16:colId xmlns:a16="http://schemas.microsoft.com/office/drawing/2014/main" val="1897129689"/>
                    </a:ext>
                  </a:extLst>
                </a:gridCol>
              </a:tblGrid>
              <a:tr h="391438">
                <a:tc>
                  <a:txBody>
                    <a:bodyPr/>
                    <a:lstStyle/>
                    <a:p>
                      <a:pPr algn="ctr"/>
                      <a:r>
                        <a:rPr lang="en-US" sz="1600" dirty="0">
                          <a:solidFill>
                            <a:schemeClr val="bg1"/>
                          </a:solidFill>
                        </a:rPr>
                        <a:t>P</a:t>
                      </a:r>
                    </a:p>
                  </a:txBody>
                  <a:tcPr>
                    <a:solidFill>
                      <a:srgbClr val="04316A"/>
                    </a:solidFill>
                  </a:tcPr>
                </a:tc>
                <a:tc>
                  <a:txBody>
                    <a:bodyPr/>
                    <a:lstStyle/>
                    <a:p>
                      <a:pPr algn="ctr"/>
                      <a:r>
                        <a:rPr lang="en-US" sz="1600" dirty="0">
                          <a:solidFill>
                            <a:schemeClr val="bg1"/>
                          </a:solidFill>
                        </a:rPr>
                        <a:t>Q</a:t>
                      </a:r>
                    </a:p>
                  </a:txBody>
                  <a:tcPr>
                    <a:solidFill>
                      <a:srgbClr val="04316A"/>
                    </a:solidFill>
                  </a:tcPr>
                </a:tc>
                <a:tc>
                  <a:txBody>
                    <a:bodyPr/>
                    <a:lstStyle/>
                    <a:p>
                      <a:pPr algn="ctr"/>
                      <a:r>
                        <a:rPr lang="en-US" sz="1600" dirty="0">
                          <a:solidFill>
                            <a:schemeClr val="bg1"/>
                          </a:solidFill>
                        </a:rPr>
                        <a:t>V</a:t>
                      </a:r>
                    </a:p>
                  </a:txBody>
                  <a:tcP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600" i="0" dirty="0">
                          <a:solidFill>
                            <a:schemeClr val="bg1"/>
                          </a:solidFill>
                          <a:effectLst/>
                          <a:latin typeface="Arial" panose="020B0604020202020204" pitchFamily="34" charset="0"/>
                        </a:rPr>
                        <a:t>θ</a:t>
                      </a:r>
                    </a:p>
                  </a:txBody>
                  <a:tcPr>
                    <a:solidFill>
                      <a:schemeClr val="bg2">
                        <a:lumMod val="85000"/>
                      </a:schemeClr>
                    </a:solidFill>
                  </a:tcPr>
                </a:tc>
                <a:extLst>
                  <a:ext uri="{0D108BD9-81ED-4DB2-BD59-A6C34878D82A}">
                    <a16:rowId xmlns:a16="http://schemas.microsoft.com/office/drawing/2014/main" val="3567699195"/>
                  </a:ext>
                </a:extLst>
              </a:tr>
            </a:tbl>
          </a:graphicData>
        </a:graphic>
      </p:graphicFrame>
      <p:graphicFrame>
        <p:nvGraphicFramePr>
          <p:cNvPr id="40" name="Table 39">
            <a:extLst>
              <a:ext uri="{FF2B5EF4-FFF2-40B4-BE49-F238E27FC236}">
                <a16:creationId xmlns:a16="http://schemas.microsoft.com/office/drawing/2014/main" id="{AED79E92-5841-F312-0178-EDD977BA20A9}"/>
              </a:ext>
            </a:extLst>
          </p:cNvPr>
          <p:cNvGraphicFramePr>
            <a:graphicFrameLocks noGrp="1"/>
          </p:cNvGraphicFramePr>
          <p:nvPr>
            <p:extLst>
              <p:ext uri="{D42A27DB-BD31-4B8C-83A1-F6EECF244321}">
                <p14:modId xmlns:p14="http://schemas.microsoft.com/office/powerpoint/2010/main" val="350880310"/>
              </p:ext>
            </p:extLst>
          </p:nvPr>
        </p:nvGraphicFramePr>
        <p:xfrm>
          <a:off x="4487453" y="4185654"/>
          <a:ext cx="1089127" cy="391438"/>
        </p:xfrm>
        <a:graphic>
          <a:graphicData uri="http://schemas.openxmlformats.org/drawingml/2006/table">
            <a:tbl>
              <a:tblPr firstRow="1" bandRow="1">
                <a:tableStyleId>{7DF18680-E054-41AD-8BC1-D1AEF772440D}</a:tableStyleId>
              </a:tblPr>
              <a:tblGrid>
                <a:gridCol w="275042">
                  <a:extLst>
                    <a:ext uri="{9D8B030D-6E8A-4147-A177-3AD203B41FA5}">
                      <a16:colId xmlns:a16="http://schemas.microsoft.com/office/drawing/2014/main" val="3085451983"/>
                    </a:ext>
                  </a:extLst>
                </a:gridCol>
                <a:gridCol w="264001">
                  <a:extLst>
                    <a:ext uri="{9D8B030D-6E8A-4147-A177-3AD203B41FA5}">
                      <a16:colId xmlns:a16="http://schemas.microsoft.com/office/drawing/2014/main" val="433584234"/>
                    </a:ext>
                  </a:extLst>
                </a:gridCol>
                <a:gridCol w="275042">
                  <a:extLst>
                    <a:ext uri="{9D8B030D-6E8A-4147-A177-3AD203B41FA5}">
                      <a16:colId xmlns:a16="http://schemas.microsoft.com/office/drawing/2014/main" val="2672114725"/>
                    </a:ext>
                  </a:extLst>
                </a:gridCol>
                <a:gridCol w="275042">
                  <a:extLst>
                    <a:ext uri="{9D8B030D-6E8A-4147-A177-3AD203B41FA5}">
                      <a16:colId xmlns:a16="http://schemas.microsoft.com/office/drawing/2014/main" val="1897129689"/>
                    </a:ext>
                  </a:extLst>
                </a:gridCol>
              </a:tblGrid>
              <a:tr h="391438">
                <a:tc>
                  <a:txBody>
                    <a:bodyPr/>
                    <a:lstStyle/>
                    <a:p>
                      <a:pPr algn="ctr"/>
                      <a:r>
                        <a:rPr lang="en-US" sz="1600" dirty="0">
                          <a:solidFill>
                            <a:schemeClr val="bg1"/>
                          </a:solidFill>
                        </a:rPr>
                        <a:t>P</a:t>
                      </a:r>
                    </a:p>
                  </a:txBody>
                  <a:tcPr>
                    <a:solidFill>
                      <a:srgbClr val="04316A"/>
                    </a:solidFill>
                  </a:tcPr>
                </a:tc>
                <a:tc>
                  <a:txBody>
                    <a:bodyPr/>
                    <a:lstStyle/>
                    <a:p>
                      <a:pPr algn="ctr"/>
                      <a:r>
                        <a:rPr lang="en-US" sz="1600" dirty="0">
                          <a:solidFill>
                            <a:schemeClr val="bg1"/>
                          </a:solidFill>
                        </a:rPr>
                        <a:t>Q</a:t>
                      </a:r>
                    </a:p>
                  </a:txBody>
                  <a:tcPr>
                    <a:solidFill>
                      <a:srgbClr val="04316A"/>
                    </a:solidFill>
                  </a:tcPr>
                </a:tc>
                <a:tc>
                  <a:txBody>
                    <a:bodyPr/>
                    <a:lstStyle/>
                    <a:p>
                      <a:pPr algn="ctr"/>
                      <a:r>
                        <a:rPr lang="en-US" sz="1600" dirty="0">
                          <a:solidFill>
                            <a:schemeClr val="bg1"/>
                          </a:solidFill>
                        </a:rPr>
                        <a:t>V</a:t>
                      </a:r>
                    </a:p>
                  </a:txBody>
                  <a:tcPr>
                    <a:solidFill>
                      <a:schemeClr val="bg2">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600" i="0" dirty="0">
                          <a:solidFill>
                            <a:schemeClr val="bg1"/>
                          </a:solidFill>
                          <a:effectLst/>
                          <a:latin typeface="Arial" panose="020B0604020202020204" pitchFamily="34" charset="0"/>
                        </a:rPr>
                        <a:t>θ</a:t>
                      </a:r>
                    </a:p>
                  </a:txBody>
                  <a:tcPr>
                    <a:solidFill>
                      <a:schemeClr val="bg2">
                        <a:lumMod val="85000"/>
                      </a:schemeClr>
                    </a:solidFill>
                  </a:tcPr>
                </a:tc>
                <a:extLst>
                  <a:ext uri="{0D108BD9-81ED-4DB2-BD59-A6C34878D82A}">
                    <a16:rowId xmlns:a16="http://schemas.microsoft.com/office/drawing/2014/main" val="3567699195"/>
                  </a:ext>
                </a:extLst>
              </a:tr>
            </a:tbl>
          </a:graphicData>
        </a:graphic>
      </p:graphicFrame>
      <p:sp>
        <p:nvSpPr>
          <p:cNvPr id="41" name="TextBox 40">
            <a:extLst>
              <a:ext uri="{FF2B5EF4-FFF2-40B4-BE49-F238E27FC236}">
                <a16:creationId xmlns:a16="http://schemas.microsoft.com/office/drawing/2014/main" id="{D0598CAB-67D4-5150-12C2-2C8F2825AF62}"/>
              </a:ext>
            </a:extLst>
          </p:cNvPr>
          <p:cNvSpPr txBox="1"/>
          <p:nvPr/>
        </p:nvSpPr>
        <p:spPr>
          <a:xfrm>
            <a:off x="6789402" y="1505482"/>
            <a:ext cx="3364992" cy="320040"/>
          </a:xfrm>
          <a:prstGeom prst="rect">
            <a:avLst/>
          </a:prstGeom>
          <a:noFill/>
        </p:spPr>
        <p:txBody>
          <a:bodyPr wrap="square" anchor="t">
            <a:spAutoFit/>
          </a:bodyPr>
          <a:lstStyle/>
          <a:p>
            <a:pPr algn="l"/>
            <a:r>
              <a:rPr sz="1700" b="1" i="0" dirty="0">
                <a:solidFill>
                  <a:srgbClr val="17324D"/>
                </a:solidFill>
                <a:latin typeface="Avenir Next"/>
              </a:rPr>
              <a:t>Grid as a graph</a:t>
            </a:r>
          </a:p>
        </p:txBody>
      </p:sp>
      <p:sp>
        <p:nvSpPr>
          <p:cNvPr id="59" name="TextBox 58">
            <a:extLst>
              <a:ext uri="{FF2B5EF4-FFF2-40B4-BE49-F238E27FC236}">
                <a16:creationId xmlns:a16="http://schemas.microsoft.com/office/drawing/2014/main" id="{9129E292-45F3-5DB2-911C-39C9F90BC3E7}"/>
              </a:ext>
            </a:extLst>
          </p:cNvPr>
          <p:cNvSpPr txBox="1"/>
          <p:nvPr/>
        </p:nvSpPr>
        <p:spPr>
          <a:xfrm>
            <a:off x="6764757" y="2257746"/>
            <a:ext cx="3200400" cy="353943"/>
          </a:xfrm>
          <a:prstGeom prst="rect">
            <a:avLst/>
          </a:prstGeom>
          <a:noFill/>
        </p:spPr>
        <p:txBody>
          <a:bodyPr wrap="square" anchor="t">
            <a:spAutoFit/>
          </a:bodyPr>
          <a:lstStyle/>
          <a:p>
            <a:pPr algn="l"/>
            <a:r>
              <a:rPr lang="en-US" sz="1700" b="1" i="0" dirty="0">
                <a:solidFill>
                  <a:srgbClr val="17324D"/>
                </a:solidFill>
                <a:latin typeface="Avenir Next"/>
              </a:rPr>
              <a:t>Node voltage states</a:t>
            </a:r>
            <a:endParaRPr sz="1700" b="1" i="0" dirty="0">
              <a:solidFill>
                <a:srgbClr val="17324D"/>
              </a:solidFill>
              <a:latin typeface="Avenir Next"/>
            </a:endParaRPr>
          </a:p>
        </p:txBody>
      </p:sp>
      <p:sp>
        <p:nvSpPr>
          <p:cNvPr id="61" name="TextBox 60">
            <a:extLst>
              <a:ext uri="{FF2B5EF4-FFF2-40B4-BE49-F238E27FC236}">
                <a16:creationId xmlns:a16="http://schemas.microsoft.com/office/drawing/2014/main" id="{98F7037E-80EC-1206-1126-ABB750A6ED6E}"/>
              </a:ext>
            </a:extLst>
          </p:cNvPr>
          <p:cNvSpPr txBox="1"/>
          <p:nvPr/>
        </p:nvSpPr>
        <p:spPr>
          <a:xfrm>
            <a:off x="6789402" y="3027910"/>
            <a:ext cx="2706624" cy="320040"/>
          </a:xfrm>
          <a:prstGeom prst="rect">
            <a:avLst/>
          </a:prstGeom>
          <a:noFill/>
        </p:spPr>
        <p:txBody>
          <a:bodyPr wrap="square" anchor="t">
            <a:spAutoFit/>
          </a:bodyPr>
          <a:lstStyle/>
          <a:p>
            <a:pPr algn="l"/>
            <a:r>
              <a:rPr sz="1700" b="1" i="0" dirty="0">
                <a:solidFill>
                  <a:srgbClr val="17324D"/>
                </a:solidFill>
                <a:latin typeface="Avenir Next"/>
              </a:rPr>
              <a:t>Power-flow mismatch</a:t>
            </a:r>
          </a:p>
        </p:txBody>
      </p:sp>
      <p:pic>
        <p:nvPicPr>
          <p:cNvPr id="26" name="Picture 25">
            <a:extLst>
              <a:ext uri="{FF2B5EF4-FFF2-40B4-BE49-F238E27FC236}">
                <a16:creationId xmlns:a16="http://schemas.microsoft.com/office/drawing/2014/main" id="{BD869E73-594F-324F-6870-2F4CFD01BD14}"/>
              </a:ext>
            </a:extLst>
          </p:cNvPr>
          <p:cNvPicPr>
            <a:picLocks noChangeAspect="1"/>
          </p:cNvPicPr>
          <p:nvPr/>
        </p:nvPicPr>
        <p:blipFill>
          <a:blip r:embed="rId4"/>
          <a:stretch>
            <a:fillRect/>
          </a:stretch>
        </p:blipFill>
        <p:spPr>
          <a:xfrm>
            <a:off x="7330983" y="1903945"/>
            <a:ext cx="3674352" cy="274433"/>
          </a:xfrm>
          <a:prstGeom prst="rect">
            <a:avLst/>
          </a:prstGeom>
        </p:spPr>
      </p:pic>
      <p:pic>
        <p:nvPicPr>
          <p:cNvPr id="28" name="Picture 27">
            <a:extLst>
              <a:ext uri="{FF2B5EF4-FFF2-40B4-BE49-F238E27FC236}">
                <a16:creationId xmlns:a16="http://schemas.microsoft.com/office/drawing/2014/main" id="{79A2FB29-28CD-5392-8D73-3FBAD70F75D1}"/>
              </a:ext>
            </a:extLst>
          </p:cNvPr>
          <p:cNvPicPr>
            <a:picLocks noChangeAspect="1"/>
          </p:cNvPicPr>
          <p:nvPr/>
        </p:nvPicPr>
        <p:blipFill>
          <a:blip r:embed="rId5"/>
          <a:stretch>
            <a:fillRect/>
          </a:stretch>
        </p:blipFill>
        <p:spPr>
          <a:xfrm>
            <a:off x="7397383" y="2583618"/>
            <a:ext cx="1893062" cy="306983"/>
          </a:xfrm>
          <a:prstGeom prst="rect">
            <a:avLst/>
          </a:prstGeom>
        </p:spPr>
      </p:pic>
      <p:pic>
        <p:nvPicPr>
          <p:cNvPr id="32" name="Picture 31">
            <a:extLst>
              <a:ext uri="{FF2B5EF4-FFF2-40B4-BE49-F238E27FC236}">
                <a16:creationId xmlns:a16="http://schemas.microsoft.com/office/drawing/2014/main" id="{4C97A330-F424-C555-C3B3-F3568EB71F73}"/>
              </a:ext>
            </a:extLst>
          </p:cNvPr>
          <p:cNvPicPr>
            <a:picLocks noChangeAspect="1"/>
          </p:cNvPicPr>
          <p:nvPr/>
        </p:nvPicPr>
        <p:blipFill>
          <a:blip r:embed="rId6"/>
          <a:stretch>
            <a:fillRect/>
          </a:stretch>
        </p:blipFill>
        <p:spPr>
          <a:xfrm>
            <a:off x="7337744" y="3392330"/>
            <a:ext cx="1484042" cy="610106"/>
          </a:xfrm>
          <a:prstGeom prst="rect">
            <a:avLst/>
          </a:prstGeom>
        </p:spPr>
      </p:pic>
      <p:pic>
        <p:nvPicPr>
          <p:cNvPr id="33" name="Picture 32">
            <a:extLst>
              <a:ext uri="{FF2B5EF4-FFF2-40B4-BE49-F238E27FC236}">
                <a16:creationId xmlns:a16="http://schemas.microsoft.com/office/drawing/2014/main" id="{8F23B79C-8FEB-36A3-2419-8B673CEA3074}"/>
              </a:ext>
            </a:extLst>
          </p:cNvPr>
          <p:cNvPicPr>
            <a:picLocks noChangeAspect="1"/>
          </p:cNvPicPr>
          <p:nvPr/>
        </p:nvPicPr>
        <p:blipFill>
          <a:blip r:embed="rId7"/>
          <a:stretch>
            <a:fillRect/>
          </a:stretch>
        </p:blipFill>
        <p:spPr>
          <a:xfrm>
            <a:off x="8997090" y="3423533"/>
            <a:ext cx="1346200" cy="215900"/>
          </a:xfrm>
          <a:prstGeom prst="rect">
            <a:avLst/>
          </a:prstGeom>
        </p:spPr>
      </p:pic>
      <p:pic>
        <p:nvPicPr>
          <p:cNvPr id="36" name="Picture 35">
            <a:extLst>
              <a:ext uri="{FF2B5EF4-FFF2-40B4-BE49-F238E27FC236}">
                <a16:creationId xmlns:a16="http://schemas.microsoft.com/office/drawing/2014/main" id="{910D9213-181E-022F-247C-33A231D6E3D7}"/>
              </a:ext>
            </a:extLst>
          </p:cNvPr>
          <p:cNvPicPr>
            <a:picLocks noChangeAspect="1"/>
          </p:cNvPicPr>
          <p:nvPr/>
        </p:nvPicPr>
        <p:blipFill>
          <a:blip r:embed="rId8"/>
          <a:stretch>
            <a:fillRect/>
          </a:stretch>
        </p:blipFill>
        <p:spPr>
          <a:xfrm>
            <a:off x="9009028" y="3730476"/>
            <a:ext cx="1358900" cy="215900"/>
          </a:xfrm>
          <a:prstGeom prst="rect">
            <a:avLst/>
          </a:prstGeom>
        </p:spPr>
      </p:pic>
      <p:sp>
        <p:nvSpPr>
          <p:cNvPr id="42" name="TextBox 41">
            <a:extLst>
              <a:ext uri="{FF2B5EF4-FFF2-40B4-BE49-F238E27FC236}">
                <a16:creationId xmlns:a16="http://schemas.microsoft.com/office/drawing/2014/main" id="{A80AFEE3-7652-E11A-6628-AC84E5FF5AA1}"/>
              </a:ext>
            </a:extLst>
          </p:cNvPr>
          <p:cNvSpPr txBox="1"/>
          <p:nvPr/>
        </p:nvSpPr>
        <p:spPr>
          <a:xfrm>
            <a:off x="6789402" y="4072744"/>
            <a:ext cx="2706624" cy="353943"/>
          </a:xfrm>
          <a:prstGeom prst="rect">
            <a:avLst/>
          </a:prstGeom>
          <a:noFill/>
        </p:spPr>
        <p:txBody>
          <a:bodyPr wrap="square" anchor="t">
            <a:spAutoFit/>
          </a:bodyPr>
          <a:lstStyle/>
          <a:p>
            <a:pPr algn="l"/>
            <a:r>
              <a:rPr lang="en-US" sz="1700" b="1" i="0" dirty="0">
                <a:solidFill>
                  <a:srgbClr val="17324D"/>
                </a:solidFill>
                <a:latin typeface="Avenir Next"/>
              </a:rPr>
              <a:t>Newton Rapson Solver</a:t>
            </a:r>
            <a:endParaRPr sz="1700" b="1" i="0" dirty="0">
              <a:solidFill>
                <a:srgbClr val="17324D"/>
              </a:solidFill>
              <a:latin typeface="Avenir Next"/>
            </a:endParaRPr>
          </a:p>
        </p:txBody>
      </p:sp>
      <p:pic>
        <p:nvPicPr>
          <p:cNvPr id="43" name="Picture 42">
            <a:extLst>
              <a:ext uri="{FF2B5EF4-FFF2-40B4-BE49-F238E27FC236}">
                <a16:creationId xmlns:a16="http://schemas.microsoft.com/office/drawing/2014/main" id="{CE1BD7DC-4062-0B6E-EF03-63CAA123394E}"/>
              </a:ext>
            </a:extLst>
          </p:cNvPr>
          <p:cNvPicPr>
            <a:picLocks noChangeAspect="1"/>
          </p:cNvPicPr>
          <p:nvPr/>
        </p:nvPicPr>
        <p:blipFill>
          <a:blip r:embed="rId9"/>
          <a:stretch>
            <a:fillRect/>
          </a:stretch>
        </p:blipFill>
        <p:spPr>
          <a:xfrm>
            <a:off x="7337744" y="4480876"/>
            <a:ext cx="2184868" cy="290178"/>
          </a:xfrm>
          <a:prstGeom prst="rect">
            <a:avLst/>
          </a:prstGeom>
        </p:spPr>
      </p:pic>
      <p:sp>
        <p:nvSpPr>
          <p:cNvPr id="44" name="TextBox 43">
            <a:extLst>
              <a:ext uri="{FF2B5EF4-FFF2-40B4-BE49-F238E27FC236}">
                <a16:creationId xmlns:a16="http://schemas.microsoft.com/office/drawing/2014/main" id="{895F6DC8-3BB7-1424-5AA2-829DB44939A4}"/>
              </a:ext>
            </a:extLst>
          </p:cNvPr>
          <p:cNvSpPr txBox="1"/>
          <p:nvPr/>
        </p:nvSpPr>
        <p:spPr>
          <a:xfrm>
            <a:off x="6815988" y="4842582"/>
            <a:ext cx="2706624" cy="615553"/>
          </a:xfrm>
          <a:prstGeom prst="rect">
            <a:avLst/>
          </a:prstGeom>
          <a:noFill/>
        </p:spPr>
        <p:txBody>
          <a:bodyPr wrap="square" anchor="t">
            <a:spAutoFit/>
          </a:bodyPr>
          <a:lstStyle/>
          <a:p>
            <a:pPr algn="l"/>
            <a:r>
              <a:rPr lang="en-US" sz="1700" b="1" i="0" dirty="0">
                <a:solidFill>
                  <a:srgbClr val="FF0000"/>
                </a:solidFill>
                <a:latin typeface="Avenir Next"/>
              </a:rPr>
              <a:t>Graph Neural Solver</a:t>
            </a:r>
          </a:p>
          <a:p>
            <a:pPr algn="l"/>
            <a:endParaRPr sz="1700" b="1" i="0" dirty="0">
              <a:solidFill>
                <a:srgbClr val="17324D"/>
              </a:solidFill>
              <a:latin typeface="Avenir Next"/>
            </a:endParaRPr>
          </a:p>
        </p:txBody>
      </p:sp>
      <p:pic>
        <p:nvPicPr>
          <p:cNvPr id="45" name="Picture 44">
            <a:extLst>
              <a:ext uri="{FF2B5EF4-FFF2-40B4-BE49-F238E27FC236}">
                <a16:creationId xmlns:a16="http://schemas.microsoft.com/office/drawing/2014/main" id="{A6C8992D-A779-4530-7D77-262D5D171553}"/>
              </a:ext>
            </a:extLst>
          </p:cNvPr>
          <p:cNvPicPr>
            <a:picLocks noChangeAspect="1"/>
          </p:cNvPicPr>
          <p:nvPr/>
        </p:nvPicPr>
        <p:blipFill>
          <a:blip r:embed="rId10"/>
          <a:stretch>
            <a:fillRect/>
          </a:stretch>
        </p:blipFill>
        <p:spPr>
          <a:xfrm>
            <a:off x="7342540" y="5126867"/>
            <a:ext cx="2373047" cy="320173"/>
          </a:xfrm>
          <a:prstGeom prst="rect">
            <a:avLst/>
          </a:prstGeom>
        </p:spPr>
      </p:pic>
      <p:pic>
        <p:nvPicPr>
          <p:cNvPr id="24" name="Picture 23" descr="A solar panel and battery&#10;&#10;AI-generated content may be incorrect.">
            <a:extLst>
              <a:ext uri="{FF2B5EF4-FFF2-40B4-BE49-F238E27FC236}">
                <a16:creationId xmlns:a16="http://schemas.microsoft.com/office/drawing/2014/main" id="{51208047-36E3-7398-D2D1-E17175FE0F9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33812" y="2063314"/>
            <a:ext cx="664197" cy="664197"/>
          </a:xfrm>
          <a:prstGeom prst="rect">
            <a:avLst/>
          </a:prstGeom>
        </p:spPr>
      </p:pic>
      <p:pic>
        <p:nvPicPr>
          <p:cNvPr id="47" name="Picture 46" descr="A cartoon of a dam&#10;&#10;AI-generated content may be incorrect.">
            <a:extLst>
              <a:ext uri="{FF2B5EF4-FFF2-40B4-BE49-F238E27FC236}">
                <a16:creationId xmlns:a16="http://schemas.microsoft.com/office/drawing/2014/main" id="{45601953-2892-0E67-C341-3C57F73720A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89559" y="2065092"/>
            <a:ext cx="637968" cy="637968"/>
          </a:xfrm>
          <a:prstGeom prst="rect">
            <a:avLst/>
          </a:prstGeom>
        </p:spPr>
      </p:pic>
      <p:pic>
        <p:nvPicPr>
          <p:cNvPr id="48" name="Picture 47" descr="A yellow lightning bolt in a black background&#10;&#10;AI-generated content may be incorrect.">
            <a:extLst>
              <a:ext uri="{FF2B5EF4-FFF2-40B4-BE49-F238E27FC236}">
                <a16:creationId xmlns:a16="http://schemas.microsoft.com/office/drawing/2014/main" id="{1AB083E2-46DB-8D46-7C90-0F891CC7FA4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37116" y="2331950"/>
            <a:ext cx="664197" cy="664197"/>
          </a:xfrm>
          <a:prstGeom prst="rect">
            <a:avLst/>
          </a:prstGeom>
        </p:spPr>
      </p:pic>
      <p:pic>
        <p:nvPicPr>
          <p:cNvPr id="49" name="Picture 48" descr="A yellow and blue building with boxes on a conveyor belt&#10;&#10;AI-generated content may be incorrect.">
            <a:extLst>
              <a:ext uri="{FF2B5EF4-FFF2-40B4-BE49-F238E27FC236}">
                <a16:creationId xmlns:a16="http://schemas.microsoft.com/office/drawing/2014/main" id="{A27621B6-26C5-4E40-D447-A28A18CE113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584697" y="2620146"/>
            <a:ext cx="576072" cy="576072"/>
          </a:xfrm>
          <a:prstGeom prst="rect">
            <a:avLst/>
          </a:prstGeom>
        </p:spPr>
      </p:pic>
      <p:pic>
        <p:nvPicPr>
          <p:cNvPr id="50" name="Picture 49" descr="A house with a tree and a fence&#10;&#10;AI-generated content may be incorrect.">
            <a:extLst>
              <a:ext uri="{FF2B5EF4-FFF2-40B4-BE49-F238E27FC236}">
                <a16:creationId xmlns:a16="http://schemas.microsoft.com/office/drawing/2014/main" id="{5959D93A-1EFC-99E1-D19A-FBB1B7BFBD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108907" y="3301631"/>
            <a:ext cx="576072" cy="576072"/>
          </a:xfrm>
          <a:prstGeom prst="rect">
            <a:avLst/>
          </a:prstGeom>
        </p:spPr>
      </p:pic>
      <p:pic>
        <p:nvPicPr>
          <p:cNvPr id="51" name="Picture 50" descr="A building with a sign&#10;&#10;AI-generated content may be incorrect.">
            <a:extLst>
              <a:ext uri="{FF2B5EF4-FFF2-40B4-BE49-F238E27FC236}">
                <a16:creationId xmlns:a16="http://schemas.microsoft.com/office/drawing/2014/main" id="{CB128328-3D58-EEC0-A2F4-646550534E8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550742" y="3345065"/>
            <a:ext cx="576072" cy="576072"/>
          </a:xfrm>
          <a:prstGeom prst="rect">
            <a:avLst/>
          </a:prstGeom>
        </p:spPr>
      </p:pic>
      <p:sp>
        <p:nvSpPr>
          <p:cNvPr id="52" name="Right Arrow 51">
            <a:extLst>
              <a:ext uri="{FF2B5EF4-FFF2-40B4-BE49-F238E27FC236}">
                <a16:creationId xmlns:a16="http://schemas.microsoft.com/office/drawing/2014/main" id="{991618B8-8D68-9477-B78C-A9D6783CDDC3}"/>
              </a:ext>
            </a:extLst>
          </p:cNvPr>
          <p:cNvSpPr/>
          <p:nvPr/>
        </p:nvSpPr>
        <p:spPr>
          <a:xfrm rot="1165622">
            <a:off x="2735498" y="2537629"/>
            <a:ext cx="857149" cy="169267"/>
          </a:xfrm>
          <a:prstGeom prst="rightArrow">
            <a:avLst/>
          </a:prstGeom>
          <a:solidFill>
            <a:srgbClr val="FDCD5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
        <p:nvSpPr>
          <p:cNvPr id="53" name="Right Arrow 52">
            <a:extLst>
              <a:ext uri="{FF2B5EF4-FFF2-40B4-BE49-F238E27FC236}">
                <a16:creationId xmlns:a16="http://schemas.microsoft.com/office/drawing/2014/main" id="{96E9E498-3335-DF8A-C336-50E761FDB4A3}"/>
              </a:ext>
            </a:extLst>
          </p:cNvPr>
          <p:cNvSpPr/>
          <p:nvPr/>
        </p:nvSpPr>
        <p:spPr>
          <a:xfrm rot="9491845">
            <a:off x="4106816" y="2528759"/>
            <a:ext cx="563529" cy="171359"/>
          </a:xfrm>
          <a:prstGeom prst="rightArrow">
            <a:avLst/>
          </a:prstGeom>
          <a:solidFill>
            <a:srgbClr val="FDCD5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
        <p:nvSpPr>
          <p:cNvPr id="54" name="TextBox 53">
            <a:extLst>
              <a:ext uri="{FF2B5EF4-FFF2-40B4-BE49-F238E27FC236}">
                <a16:creationId xmlns:a16="http://schemas.microsoft.com/office/drawing/2014/main" id="{31843FA0-99F9-3B93-2E31-BB24252B5DEB}"/>
              </a:ext>
            </a:extLst>
          </p:cNvPr>
          <p:cNvSpPr txBox="1"/>
          <p:nvPr/>
        </p:nvSpPr>
        <p:spPr>
          <a:xfrm>
            <a:off x="3042200" y="2087299"/>
            <a:ext cx="1457299" cy="461665"/>
          </a:xfrm>
          <a:prstGeom prst="rect">
            <a:avLst/>
          </a:prstGeom>
          <a:noFill/>
        </p:spPr>
        <p:txBody>
          <a:bodyPr wrap="square" anchor="t">
            <a:spAutoFit/>
          </a:bodyPr>
          <a:lstStyle/>
          <a:p>
            <a:pPr algn="ctr">
              <a:spcAft>
                <a:spcPts val="500"/>
              </a:spcAft>
            </a:pPr>
            <a:r>
              <a:rPr lang="en-US" sz="2400" b="1" i="0" dirty="0">
                <a:solidFill>
                  <a:srgbClr val="7F682C"/>
                </a:solidFill>
                <a:latin typeface="Avenir Next"/>
              </a:rPr>
              <a:t>AC-PF</a:t>
            </a:r>
            <a:endParaRPr b="1" i="0" dirty="0">
              <a:solidFill>
                <a:srgbClr val="7F682C"/>
              </a:solidFill>
              <a:latin typeface="Avenir Next"/>
            </a:endParaRPr>
          </a:p>
        </p:txBody>
      </p:sp>
      <p:sp>
        <p:nvSpPr>
          <p:cNvPr id="55" name="Rounded Rectangle 54">
            <a:extLst>
              <a:ext uri="{FF2B5EF4-FFF2-40B4-BE49-F238E27FC236}">
                <a16:creationId xmlns:a16="http://schemas.microsoft.com/office/drawing/2014/main" id="{ED15533D-ECB1-CBFF-5F27-14190D56DC0C}"/>
              </a:ext>
            </a:extLst>
          </p:cNvPr>
          <p:cNvSpPr/>
          <p:nvPr/>
        </p:nvSpPr>
        <p:spPr>
          <a:xfrm>
            <a:off x="998232" y="5748532"/>
            <a:ext cx="10268712" cy="604648"/>
          </a:xfrm>
          <a:prstGeom prst="roundRect">
            <a:avLst/>
          </a:prstGeom>
          <a:solidFill>
            <a:srgbClr val="E0E9E2"/>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lang="en-US" b="1" dirty="0">
                <a:solidFill>
                  <a:srgbClr val="17324D"/>
                </a:solidFill>
                <a:latin typeface="Avenir Next"/>
              </a:rPr>
              <a:t>The goal of AC-PF is to find the unknown node voltage states across all nodes by solving nonlinear power flow equations.</a:t>
            </a:r>
          </a:p>
          <a:p>
            <a:pPr algn="ctr"/>
            <a:endParaRPr lang="en-US" b="1" i="0" dirty="0">
              <a:solidFill>
                <a:srgbClr val="17324D"/>
              </a:solidFill>
              <a:latin typeface="Avenir Next"/>
            </a:endParaRPr>
          </a:p>
        </p:txBody>
      </p:sp>
    </p:spTree>
    <p:extLst>
      <p:ext uri="{BB962C8B-B14F-4D97-AF65-F5344CB8AC3E}">
        <p14:creationId xmlns:p14="http://schemas.microsoft.com/office/powerpoint/2010/main" val="4101871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822DB-7417-6675-9012-08F37A9F323C}"/>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3BFAA0E-E381-50DD-6044-967461A6D869}"/>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E99AB685-FCF7-CE67-CC01-2E41E0E03C40}"/>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37BD8271-6028-275F-7734-4E22E24EE346}"/>
              </a:ext>
            </a:extLst>
          </p:cNvPr>
          <p:cNvSpPr>
            <a:spLocks noGrp="1"/>
          </p:cNvSpPr>
          <p:nvPr>
            <p:ph type="sldNum" sz="quarter" idx="12"/>
          </p:nvPr>
        </p:nvSpPr>
        <p:spPr/>
        <p:txBody>
          <a:bodyPr/>
          <a:lstStyle/>
          <a:p>
            <a:fld id="{D949F9DF-37BD-4CD6-BF49-65BA579E1D7A}" type="slidenum">
              <a:rPr lang="de-DE" smtClean="0"/>
              <a:pPr/>
              <a:t>4</a:t>
            </a:fld>
            <a:endParaRPr lang="de-DE"/>
          </a:p>
        </p:txBody>
      </p:sp>
      <p:sp>
        <p:nvSpPr>
          <p:cNvPr id="10" name="Titel 9">
            <a:extLst>
              <a:ext uri="{FF2B5EF4-FFF2-40B4-BE49-F238E27FC236}">
                <a16:creationId xmlns:a16="http://schemas.microsoft.com/office/drawing/2014/main" id="{7619D9A2-4D70-1E28-B375-5937B4738212}"/>
              </a:ext>
            </a:extLst>
          </p:cNvPr>
          <p:cNvSpPr>
            <a:spLocks noGrp="1"/>
          </p:cNvSpPr>
          <p:nvPr>
            <p:ph type="title"/>
          </p:nvPr>
        </p:nvSpPr>
        <p:spPr/>
        <p:txBody>
          <a:bodyPr/>
          <a:lstStyle/>
          <a:p>
            <a:r>
              <a:rPr lang="de-DE" dirty="0" err="1"/>
              <a:t>Limitations</a:t>
            </a:r>
            <a:r>
              <a:rPr lang="de-DE" dirty="0"/>
              <a:t> </a:t>
            </a:r>
            <a:r>
              <a:rPr lang="de-DE" dirty="0" err="1"/>
              <a:t>of</a:t>
            </a:r>
            <a:r>
              <a:rPr lang="de-DE" dirty="0"/>
              <a:t> </a:t>
            </a:r>
            <a:r>
              <a:rPr lang="de-DE" dirty="0" err="1"/>
              <a:t>existing</a:t>
            </a:r>
            <a:r>
              <a:rPr lang="de-DE" dirty="0"/>
              <a:t> </a:t>
            </a:r>
            <a:r>
              <a:rPr lang="de-DE" dirty="0" err="1"/>
              <a:t>method</a:t>
            </a:r>
            <a:r>
              <a:rPr lang="de-DE" dirty="0"/>
              <a:t> </a:t>
            </a:r>
            <a:r>
              <a:rPr lang="de-DE" dirty="0" err="1"/>
              <a:t>familes</a:t>
            </a:r>
            <a:endParaRPr lang="de-DE" dirty="0"/>
          </a:p>
        </p:txBody>
      </p:sp>
      <p:sp>
        <p:nvSpPr>
          <p:cNvPr id="12" name="Textplatzhalter 11">
            <a:extLst>
              <a:ext uri="{FF2B5EF4-FFF2-40B4-BE49-F238E27FC236}">
                <a16:creationId xmlns:a16="http://schemas.microsoft.com/office/drawing/2014/main" id="{96ACECC3-7C22-D057-7FF3-4D4DC2598E21}"/>
              </a:ext>
            </a:extLst>
          </p:cNvPr>
          <p:cNvSpPr>
            <a:spLocks noGrp="1"/>
          </p:cNvSpPr>
          <p:nvPr>
            <p:ph type="body" sz="quarter" idx="37"/>
          </p:nvPr>
        </p:nvSpPr>
        <p:spPr/>
        <p:txBody>
          <a:bodyPr/>
          <a:lstStyle/>
          <a:p>
            <a:r>
              <a:rPr lang="de-DE" dirty="0"/>
              <a:t>State </a:t>
            </a:r>
            <a:r>
              <a:rPr lang="de-DE" dirty="0" err="1"/>
              <a:t>of</a:t>
            </a:r>
            <a:r>
              <a:rPr lang="de-DE" dirty="0"/>
              <a:t> </a:t>
            </a:r>
            <a:r>
              <a:rPr lang="de-DE" dirty="0" err="1"/>
              <a:t>the</a:t>
            </a:r>
            <a:r>
              <a:rPr lang="de-DE" dirty="0"/>
              <a:t> </a:t>
            </a:r>
            <a:r>
              <a:rPr lang="de-DE" dirty="0" err="1"/>
              <a:t>arts</a:t>
            </a:r>
            <a:endParaRPr lang="de-DE" dirty="0"/>
          </a:p>
        </p:txBody>
      </p:sp>
      <p:sp>
        <p:nvSpPr>
          <p:cNvPr id="5" name="Bildplatzhalter 4">
            <a:extLst>
              <a:ext uri="{FF2B5EF4-FFF2-40B4-BE49-F238E27FC236}">
                <a16:creationId xmlns:a16="http://schemas.microsoft.com/office/drawing/2014/main" id="{D32B9936-5C1E-775D-2175-66BF16AAFEAA}"/>
              </a:ext>
            </a:extLst>
          </p:cNvPr>
          <p:cNvSpPr>
            <a:spLocks noGrp="1"/>
          </p:cNvSpPr>
          <p:nvPr>
            <p:ph type="pic" sz="quarter" idx="39"/>
          </p:nvPr>
        </p:nvSpPr>
        <p:spPr/>
        <p:txBody>
          <a:bodyPr/>
          <a:lstStyle/>
          <a:p>
            <a:endParaRPr lang="de-DE"/>
          </a:p>
        </p:txBody>
      </p:sp>
      <p:pic>
        <p:nvPicPr>
          <p:cNvPr id="6" name="Picture 5" descr="A logo with blue lines and a horse&#10;&#10;AI-generated content may be incorrect.">
            <a:extLst>
              <a:ext uri="{FF2B5EF4-FFF2-40B4-BE49-F238E27FC236}">
                <a16:creationId xmlns:a16="http://schemas.microsoft.com/office/drawing/2014/main" id="{0D3DD789-74FE-F092-0779-2CE4C6FF5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pic>
        <p:nvPicPr>
          <p:cNvPr id="7" name="Picture 6">
            <a:extLst>
              <a:ext uri="{FF2B5EF4-FFF2-40B4-BE49-F238E27FC236}">
                <a16:creationId xmlns:a16="http://schemas.microsoft.com/office/drawing/2014/main" id="{AC0DCCEF-0EF6-F617-8113-9B7C11496676}"/>
              </a:ext>
            </a:extLst>
          </p:cNvPr>
          <p:cNvPicPr>
            <a:picLocks noChangeAspect="1"/>
          </p:cNvPicPr>
          <p:nvPr/>
        </p:nvPicPr>
        <p:blipFill>
          <a:blip r:embed="rId4"/>
          <a:srcRect l="28645" t="-8151" r="22476" b="13609"/>
          <a:stretch/>
        </p:blipFill>
        <p:spPr>
          <a:xfrm>
            <a:off x="4332197" y="1919471"/>
            <a:ext cx="3030505" cy="2749891"/>
          </a:xfrm>
          <a:prstGeom prst="rect">
            <a:avLst/>
          </a:prstGeom>
        </p:spPr>
      </p:pic>
      <p:pic>
        <p:nvPicPr>
          <p:cNvPr id="14" name="Picture 13">
            <a:extLst>
              <a:ext uri="{FF2B5EF4-FFF2-40B4-BE49-F238E27FC236}">
                <a16:creationId xmlns:a16="http://schemas.microsoft.com/office/drawing/2014/main" id="{06C943E6-8C5A-6860-67B6-754FFDF89205}"/>
              </a:ext>
            </a:extLst>
          </p:cNvPr>
          <p:cNvPicPr>
            <a:picLocks noChangeAspect="1"/>
          </p:cNvPicPr>
          <p:nvPr/>
        </p:nvPicPr>
        <p:blipFill>
          <a:blip r:embed="rId5"/>
          <a:srcRect l="20698" t="14875" r="17806"/>
          <a:stretch/>
        </p:blipFill>
        <p:spPr>
          <a:xfrm>
            <a:off x="7706790" y="2241059"/>
            <a:ext cx="4293172" cy="3961896"/>
          </a:xfrm>
          <a:prstGeom prst="rect">
            <a:avLst/>
          </a:prstGeom>
        </p:spPr>
      </p:pic>
      <p:sp>
        <p:nvSpPr>
          <p:cNvPr id="15" name="TextBox 14">
            <a:extLst>
              <a:ext uri="{FF2B5EF4-FFF2-40B4-BE49-F238E27FC236}">
                <a16:creationId xmlns:a16="http://schemas.microsoft.com/office/drawing/2014/main" id="{81C9C5AE-BB7A-94F0-D357-8CC56BCD5578}"/>
              </a:ext>
            </a:extLst>
          </p:cNvPr>
          <p:cNvSpPr txBox="1"/>
          <p:nvPr/>
        </p:nvSpPr>
        <p:spPr>
          <a:xfrm>
            <a:off x="4526937" y="1642458"/>
            <a:ext cx="2922230" cy="369332"/>
          </a:xfrm>
          <a:prstGeom prst="rect">
            <a:avLst/>
          </a:prstGeom>
          <a:solidFill>
            <a:srgbClr val="F4E6CF"/>
          </a:solidFill>
        </p:spPr>
        <p:txBody>
          <a:bodyPr wrap="square">
            <a:spAutoFit/>
          </a:bodyPr>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lang="en-US" b="1" i="0" u="none" strike="noStrike" kern="0" cap="none" spc="0" normalizeH="0" baseline="0" noProof="0" dirty="0">
                <a:ln>
                  <a:noFill/>
                </a:ln>
                <a:solidFill>
                  <a:srgbClr val="17324D"/>
                </a:solidFill>
                <a:effectLst/>
                <a:uLnTx/>
                <a:uFillTx/>
                <a:latin typeface="Avenir Next"/>
                <a:ea typeface="+mn-ea"/>
                <a:cs typeface="+mn-cs"/>
              </a:rPr>
              <a:t>2. Supervised GNN </a:t>
            </a:r>
          </a:p>
        </p:txBody>
      </p:sp>
      <p:sp>
        <p:nvSpPr>
          <p:cNvPr id="16" name="TextBox 15">
            <a:extLst>
              <a:ext uri="{FF2B5EF4-FFF2-40B4-BE49-F238E27FC236}">
                <a16:creationId xmlns:a16="http://schemas.microsoft.com/office/drawing/2014/main" id="{301AC844-8024-CC1C-3D95-BE9A2805D7F2}"/>
              </a:ext>
            </a:extLst>
          </p:cNvPr>
          <p:cNvSpPr txBox="1"/>
          <p:nvPr/>
        </p:nvSpPr>
        <p:spPr>
          <a:xfrm>
            <a:off x="8410369" y="1662336"/>
            <a:ext cx="3030504" cy="369332"/>
          </a:xfrm>
          <a:prstGeom prst="rect">
            <a:avLst/>
          </a:prstGeom>
          <a:solidFill>
            <a:srgbClr val="E0E9E2"/>
          </a:solidFill>
        </p:spPr>
        <p:txBody>
          <a:bodyPr wrap="square">
            <a:spAutoFit/>
          </a:bodyPr>
          <a:lstStyle/>
          <a:p>
            <a:pPr marL="0" marR="0" lvl="0" indent="0" algn="ctr" defTabSz="457200" eaLnBrk="1" fontAlgn="auto" latinLnBrk="0" hangingPunct="1">
              <a:lnSpc>
                <a:spcPct val="100000"/>
              </a:lnSpc>
              <a:spcBef>
                <a:spcPts val="0"/>
              </a:spcBef>
              <a:spcAft>
                <a:spcPts val="500"/>
              </a:spcAft>
              <a:buClrTx/>
              <a:buSzTx/>
              <a:buFontTx/>
              <a:buNone/>
              <a:tabLst/>
              <a:defRPr/>
            </a:pPr>
            <a:r>
              <a:rPr lang="en-US" b="1" kern="0" dirty="0">
                <a:solidFill>
                  <a:srgbClr val="17324D"/>
                </a:solidFill>
                <a:latin typeface="Avenir Next"/>
              </a:rPr>
              <a:t>3. Physics Informed GNN</a:t>
            </a:r>
            <a:endParaRPr kumimoji="0" lang="en-US" b="1" i="0" u="none" strike="noStrike" kern="0" cap="none" spc="0" normalizeH="0" baseline="0" noProof="0" dirty="0">
              <a:ln>
                <a:noFill/>
              </a:ln>
              <a:solidFill>
                <a:srgbClr val="17324D"/>
              </a:solidFill>
              <a:effectLst/>
              <a:uLnTx/>
              <a:uFillTx/>
              <a:latin typeface="Avenir Next"/>
              <a:ea typeface="+mn-ea"/>
              <a:cs typeface="+mn-cs"/>
            </a:endParaRPr>
          </a:p>
        </p:txBody>
      </p:sp>
      <p:sp>
        <p:nvSpPr>
          <p:cNvPr id="17" name="TextBox 16">
            <a:extLst>
              <a:ext uri="{FF2B5EF4-FFF2-40B4-BE49-F238E27FC236}">
                <a16:creationId xmlns:a16="http://schemas.microsoft.com/office/drawing/2014/main" id="{8572DDD4-C995-032D-42CE-1B57F108D76C}"/>
              </a:ext>
            </a:extLst>
          </p:cNvPr>
          <p:cNvSpPr txBox="1"/>
          <p:nvPr/>
        </p:nvSpPr>
        <p:spPr>
          <a:xfrm>
            <a:off x="873715" y="1662336"/>
            <a:ext cx="2646464" cy="369332"/>
          </a:xfrm>
          <a:prstGeom prst="rect">
            <a:avLst/>
          </a:prstGeom>
          <a:solidFill>
            <a:srgbClr val="DCECEF"/>
          </a:solidFill>
        </p:spPr>
        <p:txBody>
          <a:bodyPr wrap="square">
            <a:spAutoFit/>
          </a:bodyPr>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lang="en-US" b="1" i="0" u="none" strike="noStrike" kern="0" cap="none" spc="0" normalizeH="0" baseline="0" noProof="0" dirty="0">
                <a:ln>
                  <a:noFill/>
                </a:ln>
                <a:solidFill>
                  <a:srgbClr val="17324D"/>
                </a:solidFill>
                <a:effectLst/>
                <a:uLnTx/>
                <a:uFillTx/>
                <a:latin typeface="Avenir Next"/>
                <a:ea typeface="+mn-ea"/>
                <a:cs typeface="+mn-cs"/>
              </a:rPr>
              <a:t>1. Newton-Raphson</a:t>
            </a:r>
          </a:p>
        </p:txBody>
      </p:sp>
      <p:grpSp>
        <p:nvGrpSpPr>
          <p:cNvPr id="19" name="Group 18">
            <a:extLst>
              <a:ext uri="{FF2B5EF4-FFF2-40B4-BE49-F238E27FC236}">
                <a16:creationId xmlns:a16="http://schemas.microsoft.com/office/drawing/2014/main" id="{34FBD7BD-D5FD-B549-19CE-9CD79E83D336}"/>
              </a:ext>
            </a:extLst>
          </p:cNvPr>
          <p:cNvGrpSpPr/>
          <p:nvPr/>
        </p:nvGrpSpPr>
        <p:grpSpPr>
          <a:xfrm>
            <a:off x="335247" y="2049911"/>
            <a:ext cx="3668342" cy="2958449"/>
            <a:chOff x="335247" y="2169605"/>
            <a:chExt cx="3668342" cy="2958449"/>
          </a:xfrm>
        </p:grpSpPr>
        <p:grpSp>
          <p:nvGrpSpPr>
            <p:cNvPr id="8" name="Group 7">
              <a:extLst>
                <a:ext uri="{FF2B5EF4-FFF2-40B4-BE49-F238E27FC236}">
                  <a16:creationId xmlns:a16="http://schemas.microsoft.com/office/drawing/2014/main" id="{8BA691B6-4DA6-3ECF-FC84-6AB63DDB2F0F}"/>
                </a:ext>
              </a:extLst>
            </p:cNvPr>
            <p:cNvGrpSpPr/>
            <p:nvPr/>
          </p:nvGrpSpPr>
          <p:grpSpPr>
            <a:xfrm>
              <a:off x="335247" y="2169605"/>
              <a:ext cx="3668342" cy="2958449"/>
              <a:chOff x="626724" y="1931542"/>
              <a:chExt cx="3863083" cy="2940208"/>
            </a:xfrm>
          </p:grpSpPr>
          <p:pic>
            <p:nvPicPr>
              <p:cNvPr id="9" name="Picture 8">
                <a:extLst>
                  <a:ext uri="{FF2B5EF4-FFF2-40B4-BE49-F238E27FC236}">
                    <a16:creationId xmlns:a16="http://schemas.microsoft.com/office/drawing/2014/main" id="{98D1A494-1CAE-52AF-C73C-D382E572E1EF}"/>
                  </a:ext>
                </a:extLst>
              </p:cNvPr>
              <p:cNvPicPr>
                <a:picLocks noChangeAspect="1"/>
              </p:cNvPicPr>
              <p:nvPr/>
            </p:nvPicPr>
            <p:blipFill>
              <a:blip r:embed="rId6"/>
              <a:srcRect l="11881" t="7416" r="14882" b="8973"/>
              <a:stretch/>
            </p:blipFill>
            <p:spPr>
              <a:xfrm>
                <a:off x="626724" y="1931542"/>
                <a:ext cx="3863083" cy="2940208"/>
              </a:xfrm>
              <a:prstGeom prst="rect">
                <a:avLst/>
              </a:prstGeom>
            </p:spPr>
          </p:pic>
          <p:sp>
            <p:nvSpPr>
              <p:cNvPr id="11" name="Oval 10">
                <a:extLst>
                  <a:ext uri="{FF2B5EF4-FFF2-40B4-BE49-F238E27FC236}">
                    <a16:creationId xmlns:a16="http://schemas.microsoft.com/office/drawing/2014/main" id="{76F9E23D-7B05-1728-8127-FCA9CA07FFE6}"/>
                  </a:ext>
                </a:extLst>
              </p:cNvPr>
              <p:cNvSpPr/>
              <p:nvPr/>
            </p:nvSpPr>
            <p:spPr>
              <a:xfrm>
                <a:off x="1458553" y="4347607"/>
                <a:ext cx="123416" cy="9536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374E88EE-E97E-2F60-35FF-C0A7E1D006BC}"/>
                  </a:ext>
                </a:extLst>
              </p:cNvPr>
              <p:cNvSpPr/>
              <p:nvPr/>
            </p:nvSpPr>
            <p:spPr>
              <a:xfrm>
                <a:off x="1581969" y="4417730"/>
                <a:ext cx="286100" cy="3982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grpSp>
        <p:sp>
          <p:nvSpPr>
            <p:cNvPr id="18" name="Rectangle 17">
              <a:extLst>
                <a:ext uri="{FF2B5EF4-FFF2-40B4-BE49-F238E27FC236}">
                  <a16:creationId xmlns:a16="http://schemas.microsoft.com/office/drawing/2014/main" id="{44D1F981-C172-B296-599A-CF2575E9B08D}"/>
                </a:ext>
              </a:extLst>
            </p:cNvPr>
            <p:cNvSpPr/>
            <p:nvPr/>
          </p:nvSpPr>
          <p:spPr>
            <a:xfrm>
              <a:off x="2196947" y="2390656"/>
              <a:ext cx="1767016" cy="296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grpSp>
      <p:pic>
        <p:nvPicPr>
          <p:cNvPr id="22" name="Picture 21">
            <a:extLst>
              <a:ext uri="{FF2B5EF4-FFF2-40B4-BE49-F238E27FC236}">
                <a16:creationId xmlns:a16="http://schemas.microsoft.com/office/drawing/2014/main" id="{EA08AC52-0AC3-BFDC-52D8-6E77474F95B4}"/>
              </a:ext>
            </a:extLst>
          </p:cNvPr>
          <p:cNvPicPr>
            <a:picLocks noChangeAspect="1"/>
          </p:cNvPicPr>
          <p:nvPr/>
        </p:nvPicPr>
        <p:blipFill>
          <a:blip r:embed="rId7"/>
          <a:stretch>
            <a:fillRect/>
          </a:stretch>
        </p:blipFill>
        <p:spPr>
          <a:xfrm>
            <a:off x="8906798" y="4358531"/>
            <a:ext cx="3112315" cy="436786"/>
          </a:xfrm>
          <a:prstGeom prst="rect">
            <a:avLst/>
          </a:prstGeom>
        </p:spPr>
      </p:pic>
      <p:pic>
        <p:nvPicPr>
          <p:cNvPr id="24" name="Picture 23">
            <a:extLst>
              <a:ext uri="{FF2B5EF4-FFF2-40B4-BE49-F238E27FC236}">
                <a16:creationId xmlns:a16="http://schemas.microsoft.com/office/drawing/2014/main" id="{9AD69F84-839D-BC59-1E71-E96047566E85}"/>
              </a:ext>
            </a:extLst>
          </p:cNvPr>
          <p:cNvPicPr>
            <a:picLocks noChangeAspect="1"/>
          </p:cNvPicPr>
          <p:nvPr/>
        </p:nvPicPr>
        <p:blipFill>
          <a:blip r:embed="rId8"/>
          <a:stretch>
            <a:fillRect/>
          </a:stretch>
        </p:blipFill>
        <p:spPr>
          <a:xfrm>
            <a:off x="4269550" y="5492230"/>
            <a:ext cx="3304563" cy="465643"/>
          </a:xfrm>
          <a:prstGeom prst="rect">
            <a:avLst/>
          </a:prstGeom>
        </p:spPr>
      </p:pic>
      <p:sp>
        <p:nvSpPr>
          <p:cNvPr id="26" name="Rectangle 25">
            <a:extLst>
              <a:ext uri="{FF2B5EF4-FFF2-40B4-BE49-F238E27FC236}">
                <a16:creationId xmlns:a16="http://schemas.microsoft.com/office/drawing/2014/main" id="{4702F9B6-93DA-E034-4187-E8E070F0036C}"/>
              </a:ext>
            </a:extLst>
          </p:cNvPr>
          <p:cNvSpPr/>
          <p:nvPr/>
        </p:nvSpPr>
        <p:spPr>
          <a:xfrm>
            <a:off x="4247995" y="5281081"/>
            <a:ext cx="3458795" cy="921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84968513-BA28-968F-B232-83AF739CE33D}"/>
              </a:ext>
            </a:extLst>
          </p:cNvPr>
          <p:cNvSpPr/>
          <p:nvPr/>
        </p:nvSpPr>
        <p:spPr>
          <a:xfrm>
            <a:off x="7703121" y="4952292"/>
            <a:ext cx="4445000" cy="1336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pic>
        <p:nvPicPr>
          <p:cNvPr id="23" name="Picture 22">
            <a:extLst>
              <a:ext uri="{FF2B5EF4-FFF2-40B4-BE49-F238E27FC236}">
                <a16:creationId xmlns:a16="http://schemas.microsoft.com/office/drawing/2014/main" id="{1189DDA6-C7A2-750D-CAB5-D0396CB30321}"/>
              </a:ext>
            </a:extLst>
          </p:cNvPr>
          <p:cNvPicPr>
            <a:picLocks noChangeAspect="1"/>
          </p:cNvPicPr>
          <p:nvPr/>
        </p:nvPicPr>
        <p:blipFill>
          <a:blip r:embed="rId9"/>
          <a:stretch>
            <a:fillRect/>
          </a:stretch>
        </p:blipFill>
        <p:spPr>
          <a:xfrm>
            <a:off x="7728345" y="5200130"/>
            <a:ext cx="4445000" cy="584200"/>
          </a:xfrm>
          <a:prstGeom prst="rect">
            <a:avLst/>
          </a:prstGeom>
        </p:spPr>
      </p:pic>
      <p:sp>
        <p:nvSpPr>
          <p:cNvPr id="28" name="Rectangle 27">
            <a:extLst>
              <a:ext uri="{FF2B5EF4-FFF2-40B4-BE49-F238E27FC236}">
                <a16:creationId xmlns:a16="http://schemas.microsoft.com/office/drawing/2014/main" id="{6783B081-3D72-20F7-20F1-D702364C720F}"/>
              </a:ext>
            </a:extLst>
          </p:cNvPr>
          <p:cNvSpPr/>
          <p:nvPr/>
        </p:nvSpPr>
        <p:spPr>
          <a:xfrm>
            <a:off x="8006458" y="4473707"/>
            <a:ext cx="237938" cy="232586"/>
          </a:xfrm>
          <a:prstGeom prst="rect">
            <a:avLst/>
          </a:prstGeom>
          <a:solidFill>
            <a:srgbClr val="EEF0EF"/>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sz="1600" b="0" i="0" u="none" strike="noStrike" kern="1200" cap="none" spc="0" normalizeH="0" baseline="0" noProof="0" dirty="0">
                <a:ln>
                  <a:noFill/>
                </a:ln>
                <a:solidFill>
                  <a:schemeClr val="tx1"/>
                </a:solidFill>
                <a:effectLst/>
                <a:uLnTx/>
                <a:uFillTx/>
                <a:latin typeface="Arial"/>
                <a:ea typeface="+mn-ea"/>
                <a:cs typeface="+mn-cs"/>
              </a:rPr>
              <a:t>P</a:t>
            </a:r>
          </a:p>
        </p:txBody>
      </p:sp>
      <p:sp>
        <p:nvSpPr>
          <p:cNvPr id="29" name="Rectangle 28">
            <a:extLst>
              <a:ext uri="{FF2B5EF4-FFF2-40B4-BE49-F238E27FC236}">
                <a16:creationId xmlns:a16="http://schemas.microsoft.com/office/drawing/2014/main" id="{EE993FF8-C794-41AA-9774-F7E499CA8285}"/>
              </a:ext>
            </a:extLst>
          </p:cNvPr>
          <p:cNvSpPr/>
          <p:nvPr/>
        </p:nvSpPr>
        <p:spPr>
          <a:xfrm>
            <a:off x="8342328" y="4474387"/>
            <a:ext cx="237938" cy="232586"/>
          </a:xfrm>
          <a:prstGeom prst="rect">
            <a:avLst/>
          </a:prstGeom>
          <a:solidFill>
            <a:srgbClr val="D9EBE8"/>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sz="1600" dirty="0">
                <a:solidFill>
                  <a:schemeClr val="tx1"/>
                </a:solidFill>
                <a:latin typeface="Arial"/>
              </a:rPr>
              <a:t>Q</a:t>
            </a:r>
            <a:endParaRPr kumimoji="0" lang="en-US" sz="1600" b="0" i="0" u="none" strike="noStrike" kern="1200" cap="none" spc="0" normalizeH="0" baseline="0" noProof="0" dirty="0">
              <a:ln>
                <a:noFill/>
              </a:ln>
              <a:solidFill>
                <a:schemeClr val="tx1"/>
              </a:solidFill>
              <a:effectLst/>
              <a:uLnTx/>
              <a:uFillTx/>
              <a:latin typeface="Arial"/>
              <a:ea typeface="+mn-ea"/>
              <a:cs typeface="+mn-cs"/>
            </a:endParaRPr>
          </a:p>
        </p:txBody>
      </p:sp>
      <p:pic>
        <p:nvPicPr>
          <p:cNvPr id="30" name="Picture 29">
            <a:extLst>
              <a:ext uri="{FF2B5EF4-FFF2-40B4-BE49-F238E27FC236}">
                <a16:creationId xmlns:a16="http://schemas.microsoft.com/office/drawing/2014/main" id="{C3EEE9E4-10DF-72EF-4579-C758B05B67F1}"/>
              </a:ext>
            </a:extLst>
          </p:cNvPr>
          <p:cNvPicPr>
            <a:picLocks noChangeAspect="1"/>
          </p:cNvPicPr>
          <p:nvPr/>
        </p:nvPicPr>
        <p:blipFill>
          <a:blip r:embed="rId10"/>
          <a:stretch>
            <a:fillRect/>
          </a:stretch>
        </p:blipFill>
        <p:spPr>
          <a:xfrm>
            <a:off x="4226298" y="4715149"/>
            <a:ext cx="3170846" cy="532332"/>
          </a:xfrm>
          <a:prstGeom prst="rect">
            <a:avLst/>
          </a:prstGeom>
        </p:spPr>
      </p:pic>
      <p:pic>
        <p:nvPicPr>
          <p:cNvPr id="31" name="Picture 30">
            <a:extLst>
              <a:ext uri="{FF2B5EF4-FFF2-40B4-BE49-F238E27FC236}">
                <a16:creationId xmlns:a16="http://schemas.microsoft.com/office/drawing/2014/main" id="{30055D44-1C3E-E268-A0E4-1738597DE979}"/>
              </a:ext>
            </a:extLst>
          </p:cNvPr>
          <p:cNvPicPr>
            <a:picLocks noChangeAspect="1"/>
          </p:cNvPicPr>
          <p:nvPr/>
        </p:nvPicPr>
        <p:blipFill>
          <a:blip r:embed="rId11"/>
          <a:stretch>
            <a:fillRect/>
          </a:stretch>
        </p:blipFill>
        <p:spPr>
          <a:xfrm>
            <a:off x="1381260" y="4862251"/>
            <a:ext cx="1631374" cy="216667"/>
          </a:xfrm>
          <a:prstGeom prst="rect">
            <a:avLst/>
          </a:prstGeom>
        </p:spPr>
      </p:pic>
    </p:spTree>
    <p:extLst>
      <p:ext uri="{BB962C8B-B14F-4D97-AF65-F5344CB8AC3E}">
        <p14:creationId xmlns:p14="http://schemas.microsoft.com/office/powerpoint/2010/main" val="3892965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C2AAB-644E-5CFF-0ED0-B440F7CCFD3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308E594-8AD7-A2B2-FB81-62CCDCA3A576}"/>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606F2115-29EB-200B-525D-8A47106EDE5E}"/>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C9578C6F-D88B-B590-FD67-BC33920EE02A}"/>
              </a:ext>
            </a:extLst>
          </p:cNvPr>
          <p:cNvSpPr>
            <a:spLocks noGrp="1"/>
          </p:cNvSpPr>
          <p:nvPr>
            <p:ph type="sldNum" sz="quarter" idx="12"/>
          </p:nvPr>
        </p:nvSpPr>
        <p:spPr/>
        <p:txBody>
          <a:bodyPr/>
          <a:lstStyle/>
          <a:p>
            <a:fld id="{D949F9DF-37BD-4CD6-BF49-65BA579E1D7A}" type="slidenum">
              <a:rPr lang="de-DE" smtClean="0"/>
              <a:pPr/>
              <a:t>5</a:t>
            </a:fld>
            <a:endParaRPr lang="de-DE"/>
          </a:p>
        </p:txBody>
      </p:sp>
      <p:sp>
        <p:nvSpPr>
          <p:cNvPr id="10" name="Titel 9">
            <a:extLst>
              <a:ext uri="{FF2B5EF4-FFF2-40B4-BE49-F238E27FC236}">
                <a16:creationId xmlns:a16="http://schemas.microsoft.com/office/drawing/2014/main" id="{F3992268-0225-99E3-E082-8EE2DDAFF59F}"/>
              </a:ext>
            </a:extLst>
          </p:cNvPr>
          <p:cNvSpPr>
            <a:spLocks noGrp="1"/>
          </p:cNvSpPr>
          <p:nvPr>
            <p:ph type="title"/>
          </p:nvPr>
        </p:nvSpPr>
        <p:spPr/>
        <p:txBody>
          <a:bodyPr/>
          <a:lstStyle/>
          <a:p>
            <a:r>
              <a:rPr lang="de-DE" dirty="0"/>
              <a:t>Research Question and Gap</a:t>
            </a:r>
          </a:p>
        </p:txBody>
      </p:sp>
      <p:sp>
        <p:nvSpPr>
          <p:cNvPr id="12" name="Textplatzhalter 11">
            <a:extLst>
              <a:ext uri="{FF2B5EF4-FFF2-40B4-BE49-F238E27FC236}">
                <a16:creationId xmlns:a16="http://schemas.microsoft.com/office/drawing/2014/main" id="{62C7FD65-C12E-D7FA-354F-C09C8F601BC9}"/>
              </a:ext>
            </a:extLst>
          </p:cNvPr>
          <p:cNvSpPr>
            <a:spLocks noGrp="1"/>
          </p:cNvSpPr>
          <p:nvPr>
            <p:ph type="body" sz="quarter" idx="37"/>
          </p:nvPr>
        </p:nvSpPr>
        <p:spPr/>
        <p:txBody>
          <a:bodyPr/>
          <a:lstStyle/>
          <a:p>
            <a:r>
              <a:rPr lang="de-DE" dirty="0" err="1"/>
              <a:t>Introduction</a:t>
            </a:r>
            <a:endParaRPr lang="de-DE" dirty="0"/>
          </a:p>
        </p:txBody>
      </p:sp>
      <p:sp>
        <p:nvSpPr>
          <p:cNvPr id="5" name="Bildplatzhalter 4">
            <a:extLst>
              <a:ext uri="{FF2B5EF4-FFF2-40B4-BE49-F238E27FC236}">
                <a16:creationId xmlns:a16="http://schemas.microsoft.com/office/drawing/2014/main" id="{E47ACCD9-8C6E-245F-AF7D-D8E02F62F66E}"/>
              </a:ext>
            </a:extLst>
          </p:cNvPr>
          <p:cNvSpPr>
            <a:spLocks noGrp="1"/>
          </p:cNvSpPr>
          <p:nvPr>
            <p:ph type="pic" sz="quarter" idx="39"/>
          </p:nvPr>
        </p:nvSpPr>
        <p:spPr/>
        <p:txBody>
          <a:bodyPr/>
          <a:lstStyle/>
          <a:p>
            <a:endParaRPr lang="de-DE"/>
          </a:p>
        </p:txBody>
      </p:sp>
      <p:pic>
        <p:nvPicPr>
          <p:cNvPr id="6" name="Picture 5" descr="A logo with blue lines and a horse&#10;&#10;AI-generated content may be incorrect.">
            <a:extLst>
              <a:ext uri="{FF2B5EF4-FFF2-40B4-BE49-F238E27FC236}">
                <a16:creationId xmlns:a16="http://schemas.microsoft.com/office/drawing/2014/main" id="{ABFD19DD-41FE-4894-723D-82DA39676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9" name="Rounded Rectangle 8">
            <a:extLst>
              <a:ext uri="{FF2B5EF4-FFF2-40B4-BE49-F238E27FC236}">
                <a16:creationId xmlns:a16="http://schemas.microsoft.com/office/drawing/2014/main" id="{8819FEDF-19D2-661B-C1C5-8EA61C3FFD7E}"/>
              </a:ext>
            </a:extLst>
          </p:cNvPr>
          <p:cNvSpPr/>
          <p:nvPr/>
        </p:nvSpPr>
        <p:spPr>
          <a:xfrm>
            <a:off x="838200" y="1355922"/>
            <a:ext cx="10515600" cy="914400"/>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spcAft>
                <a:spcPts val="500"/>
              </a:spcAft>
            </a:pPr>
            <a:r>
              <a:rPr lang="en-US" sz="2000" b="1" i="0" dirty="0">
                <a:solidFill>
                  <a:srgbClr val="FFFFFF"/>
                </a:solidFill>
                <a:latin typeface="Avenir Next"/>
              </a:rPr>
              <a:t>Can we design a more trustworthy physics-informed GNN solver with greater </a:t>
            </a:r>
            <a:r>
              <a:rPr lang="en-US" sz="2000" b="1" i="0" dirty="0" err="1">
                <a:solidFill>
                  <a:srgbClr val="FFFFFF"/>
                </a:solidFill>
                <a:latin typeface="Avenir Next"/>
              </a:rPr>
              <a:t>strucrue</a:t>
            </a:r>
            <a:r>
              <a:rPr lang="en-US" sz="2000" b="1" dirty="0">
                <a:solidFill>
                  <a:srgbClr val="FFFFFF"/>
                </a:solidFill>
                <a:latin typeface="Avenir Next"/>
              </a:rPr>
              <a:t>-awareness and an inference-correctable mechanism?</a:t>
            </a:r>
            <a:endParaRPr lang="en-US" sz="2000" dirty="0">
              <a:solidFill>
                <a:srgbClr val="F4E6CF"/>
              </a:solidFill>
            </a:endParaRPr>
          </a:p>
          <a:p>
            <a:pPr algn="ctr">
              <a:spcAft>
                <a:spcPts val="500"/>
              </a:spcAft>
            </a:pPr>
            <a:endParaRPr lang="en-US" sz="2000" b="1" i="0" dirty="0">
              <a:solidFill>
                <a:srgbClr val="FFFFFF"/>
              </a:solidFill>
              <a:latin typeface="Avenir Next"/>
            </a:endParaRPr>
          </a:p>
        </p:txBody>
      </p:sp>
      <p:sp>
        <p:nvSpPr>
          <p:cNvPr id="13" name="Rounded Rectangle 12">
            <a:extLst>
              <a:ext uri="{FF2B5EF4-FFF2-40B4-BE49-F238E27FC236}">
                <a16:creationId xmlns:a16="http://schemas.microsoft.com/office/drawing/2014/main" id="{8D793766-D7A5-3C61-CC3F-91971EE24197}"/>
              </a:ext>
            </a:extLst>
          </p:cNvPr>
          <p:cNvSpPr/>
          <p:nvPr/>
        </p:nvSpPr>
        <p:spPr>
          <a:xfrm>
            <a:off x="917637" y="2364587"/>
            <a:ext cx="4610791" cy="4134412"/>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r>
              <a:rPr sz="1700" b="1" i="0" dirty="0">
                <a:solidFill>
                  <a:srgbClr val="17324D"/>
                </a:solidFill>
                <a:latin typeface="Avenir Next"/>
              </a:rPr>
              <a:t>Representation gap</a:t>
            </a:r>
          </a:p>
          <a:p>
            <a:pPr algn="l">
              <a:spcAft>
                <a:spcPts val="500"/>
              </a:spcAft>
            </a:pPr>
            <a:r>
              <a:rPr sz="1400" b="0" i="0" dirty="0">
                <a:solidFill>
                  <a:srgbClr val="4B647A"/>
                </a:solidFill>
                <a:latin typeface="Avenir Next"/>
              </a:rPr>
              <a:t>Standard message passing treats neighbors too uniformly and underuses line</a:t>
            </a:r>
            <a:r>
              <a:rPr lang="en-US" sz="1400" b="0" i="0" dirty="0">
                <a:solidFill>
                  <a:srgbClr val="4B647A"/>
                </a:solidFill>
                <a:latin typeface="Avenir Next"/>
              </a:rPr>
              <a:t> </a:t>
            </a:r>
            <a:r>
              <a:rPr sz="1400" b="0" i="0" dirty="0">
                <a:solidFill>
                  <a:srgbClr val="4B647A"/>
                </a:solidFill>
                <a:latin typeface="Avenir Next"/>
              </a:rPr>
              <a:t>information.</a:t>
            </a:r>
          </a:p>
        </p:txBody>
      </p:sp>
      <p:sp>
        <p:nvSpPr>
          <p:cNvPr id="14" name="Rounded Rectangle 13">
            <a:extLst>
              <a:ext uri="{FF2B5EF4-FFF2-40B4-BE49-F238E27FC236}">
                <a16:creationId xmlns:a16="http://schemas.microsoft.com/office/drawing/2014/main" id="{8A507AA1-FB48-9673-7278-EA0AEF375EF7}"/>
              </a:ext>
            </a:extLst>
          </p:cNvPr>
          <p:cNvSpPr/>
          <p:nvPr/>
        </p:nvSpPr>
        <p:spPr>
          <a:xfrm>
            <a:off x="5958742" y="2381654"/>
            <a:ext cx="5220657" cy="4003200"/>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l">
              <a:spcAft>
                <a:spcPts val="500"/>
              </a:spcAft>
            </a:pPr>
            <a:r>
              <a:rPr sz="1700" b="1" i="0" dirty="0">
                <a:solidFill>
                  <a:srgbClr val="17324D"/>
                </a:solidFill>
                <a:latin typeface="Avenir Next"/>
              </a:rPr>
              <a:t>Inference gap</a:t>
            </a:r>
          </a:p>
          <a:p>
            <a:pPr algn="l">
              <a:spcAft>
                <a:spcPts val="500"/>
              </a:spcAft>
            </a:pPr>
            <a:r>
              <a:rPr lang="en-US" sz="1400" b="0" i="0" dirty="0">
                <a:solidFill>
                  <a:srgbClr val="4B647A"/>
                </a:solidFill>
                <a:latin typeface="Avenir Next"/>
              </a:rPr>
              <a:t>Physics-informed enters only through the training objective as a </a:t>
            </a:r>
            <a:r>
              <a:rPr lang="en-US" sz="1400" b="0" i="0" dirty="0" err="1">
                <a:solidFill>
                  <a:srgbClr val="4B647A"/>
                </a:solidFill>
                <a:latin typeface="Avenir Next"/>
              </a:rPr>
              <a:t>regularizer</a:t>
            </a:r>
            <a:r>
              <a:rPr lang="en-US" sz="1400" b="0" i="0" dirty="0">
                <a:solidFill>
                  <a:srgbClr val="4B647A"/>
                </a:solidFill>
                <a:latin typeface="Avenir Next"/>
              </a:rPr>
              <a:t>, but it doesn’t provide a mechanism that guarantees physically plausible behavior at </a:t>
            </a:r>
            <a:r>
              <a:rPr lang="en-US" sz="1400" dirty="0">
                <a:solidFill>
                  <a:srgbClr val="4B647A"/>
                </a:solidFill>
                <a:latin typeface="Avenir Next"/>
              </a:rPr>
              <a:t>inference</a:t>
            </a:r>
            <a:endParaRPr sz="1400" b="0" i="0" dirty="0">
              <a:solidFill>
                <a:srgbClr val="4B647A"/>
              </a:solidFill>
              <a:latin typeface="Avenir Next"/>
            </a:endParaRPr>
          </a:p>
        </p:txBody>
      </p:sp>
      <p:sp>
        <p:nvSpPr>
          <p:cNvPr id="17" name="Oval 16">
            <a:extLst>
              <a:ext uri="{FF2B5EF4-FFF2-40B4-BE49-F238E27FC236}">
                <a16:creationId xmlns:a16="http://schemas.microsoft.com/office/drawing/2014/main" id="{3DF61194-46BC-602E-9F61-4612DAB031AE}"/>
              </a:ext>
            </a:extLst>
          </p:cNvPr>
          <p:cNvSpPr/>
          <p:nvPr/>
        </p:nvSpPr>
        <p:spPr>
          <a:xfrm>
            <a:off x="1662018" y="3536576"/>
            <a:ext cx="658368" cy="65836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a:solidFill>
                  <a:srgbClr val="17324D"/>
                </a:solidFill>
                <a:latin typeface="Avenir Next"/>
              </a:rPr>
              <a:t>n1</a:t>
            </a:r>
          </a:p>
        </p:txBody>
      </p:sp>
      <p:cxnSp>
        <p:nvCxnSpPr>
          <p:cNvPr id="18" name="Connector 31">
            <a:extLst>
              <a:ext uri="{FF2B5EF4-FFF2-40B4-BE49-F238E27FC236}">
                <a16:creationId xmlns:a16="http://schemas.microsoft.com/office/drawing/2014/main" id="{93A792C8-A909-69A8-7D8B-A135FF02BC8A}"/>
              </a:ext>
            </a:extLst>
          </p:cNvPr>
          <p:cNvCxnSpPr/>
          <p:nvPr/>
        </p:nvCxnSpPr>
        <p:spPr>
          <a:xfrm>
            <a:off x="1991202" y="3865760"/>
            <a:ext cx="1143000" cy="868680"/>
          </a:xfrm>
          <a:prstGeom prst="line">
            <a:avLst/>
          </a:prstGeom>
          <a:ln w="69850">
            <a:solidFill>
              <a:srgbClr val="2D6F80"/>
            </a:solidFill>
          </a:ln>
        </p:spPr>
        <p:style>
          <a:lnRef idx="2">
            <a:schemeClr val="accent1"/>
          </a:lnRef>
          <a:fillRef idx="0">
            <a:schemeClr val="accent1"/>
          </a:fillRef>
          <a:effectRef idx="1">
            <a:schemeClr val="accent1"/>
          </a:effectRef>
          <a:fontRef idx="minor">
            <a:schemeClr val="tx1"/>
          </a:fontRef>
        </p:style>
      </p:cxnSp>
      <p:sp>
        <p:nvSpPr>
          <p:cNvPr id="19" name="Rounded Rectangle 18">
            <a:extLst>
              <a:ext uri="{FF2B5EF4-FFF2-40B4-BE49-F238E27FC236}">
                <a16:creationId xmlns:a16="http://schemas.microsoft.com/office/drawing/2014/main" id="{A2A3545B-2C53-F12A-2282-D5ABA018AEF6}"/>
              </a:ext>
            </a:extLst>
          </p:cNvPr>
          <p:cNvSpPr/>
          <p:nvPr/>
        </p:nvSpPr>
        <p:spPr>
          <a:xfrm>
            <a:off x="1479138" y="4268096"/>
            <a:ext cx="1024128" cy="2926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0" i="0" dirty="0">
                <a:solidFill>
                  <a:srgbClr val="4B647A"/>
                </a:solidFill>
                <a:latin typeface="Avenir Next"/>
              </a:rPr>
              <a:t>strong</a:t>
            </a:r>
            <a:endParaRPr sz="800" b="0" i="0" dirty="0">
              <a:solidFill>
                <a:srgbClr val="4B647A"/>
              </a:solidFill>
              <a:latin typeface="Avenir Next"/>
            </a:endParaRPr>
          </a:p>
        </p:txBody>
      </p:sp>
      <p:sp>
        <p:nvSpPr>
          <p:cNvPr id="20" name="Oval 19">
            <a:extLst>
              <a:ext uri="{FF2B5EF4-FFF2-40B4-BE49-F238E27FC236}">
                <a16:creationId xmlns:a16="http://schemas.microsoft.com/office/drawing/2014/main" id="{1A79E96E-FEB9-13A3-C495-EB37B02E4DBD}"/>
              </a:ext>
            </a:extLst>
          </p:cNvPr>
          <p:cNvSpPr/>
          <p:nvPr/>
        </p:nvSpPr>
        <p:spPr>
          <a:xfrm>
            <a:off x="3948018" y="3536576"/>
            <a:ext cx="658368" cy="658368"/>
          </a:xfrm>
          <a:prstGeom prst="ellipse">
            <a:avLst/>
          </a:prstGeom>
          <a:solidFill>
            <a:srgbClr val="FFFFFF"/>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a:solidFill>
                  <a:srgbClr val="17324D"/>
                </a:solidFill>
                <a:latin typeface="Avenir Next"/>
              </a:rPr>
              <a:t>n2</a:t>
            </a:r>
          </a:p>
        </p:txBody>
      </p:sp>
      <p:cxnSp>
        <p:nvCxnSpPr>
          <p:cNvPr id="21" name="Connector 34">
            <a:extLst>
              <a:ext uri="{FF2B5EF4-FFF2-40B4-BE49-F238E27FC236}">
                <a16:creationId xmlns:a16="http://schemas.microsoft.com/office/drawing/2014/main" id="{B13F218F-44BC-0446-DD2E-667DF1977033}"/>
              </a:ext>
            </a:extLst>
          </p:cNvPr>
          <p:cNvCxnSpPr/>
          <p:nvPr/>
        </p:nvCxnSpPr>
        <p:spPr>
          <a:xfrm flipH="1">
            <a:off x="3134202" y="3865760"/>
            <a:ext cx="1143000" cy="868680"/>
          </a:xfrm>
          <a:prstGeom prst="line">
            <a:avLst/>
          </a:prstGeom>
          <a:ln w="25400">
            <a:solidFill>
              <a:srgbClr val="6B8A77"/>
            </a:solidFill>
          </a:ln>
        </p:spPr>
        <p:style>
          <a:lnRef idx="2">
            <a:schemeClr val="accent1"/>
          </a:lnRef>
          <a:fillRef idx="0">
            <a:schemeClr val="accent1"/>
          </a:fillRef>
          <a:effectRef idx="1">
            <a:schemeClr val="accent1"/>
          </a:effectRef>
          <a:fontRef idx="minor">
            <a:schemeClr val="tx1"/>
          </a:fontRef>
        </p:style>
      </p:cxnSp>
      <p:sp>
        <p:nvSpPr>
          <p:cNvPr id="22" name="Rounded Rectangle 21">
            <a:extLst>
              <a:ext uri="{FF2B5EF4-FFF2-40B4-BE49-F238E27FC236}">
                <a16:creationId xmlns:a16="http://schemas.microsoft.com/office/drawing/2014/main" id="{0A0AA5F6-4775-9B7C-4BF0-2CD1A14E4674}"/>
              </a:ext>
            </a:extLst>
          </p:cNvPr>
          <p:cNvSpPr/>
          <p:nvPr/>
        </p:nvSpPr>
        <p:spPr>
          <a:xfrm>
            <a:off x="3765138" y="4268096"/>
            <a:ext cx="1024128" cy="2926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0" i="0" dirty="0">
                <a:solidFill>
                  <a:srgbClr val="4B647A"/>
                </a:solidFill>
                <a:latin typeface="Avenir Next"/>
              </a:rPr>
              <a:t>weak</a:t>
            </a:r>
            <a:endParaRPr sz="800" b="0" i="0" dirty="0">
              <a:solidFill>
                <a:srgbClr val="4B647A"/>
              </a:solidFill>
              <a:latin typeface="Avenir Next"/>
            </a:endParaRPr>
          </a:p>
        </p:txBody>
      </p:sp>
      <p:sp>
        <p:nvSpPr>
          <p:cNvPr id="23" name="Oval 22">
            <a:extLst>
              <a:ext uri="{FF2B5EF4-FFF2-40B4-BE49-F238E27FC236}">
                <a16:creationId xmlns:a16="http://schemas.microsoft.com/office/drawing/2014/main" id="{1B21DB35-7FBB-4EA6-31D0-13C2FFF4E98D}"/>
              </a:ext>
            </a:extLst>
          </p:cNvPr>
          <p:cNvSpPr/>
          <p:nvPr/>
        </p:nvSpPr>
        <p:spPr>
          <a:xfrm>
            <a:off x="1597814" y="5310512"/>
            <a:ext cx="658368" cy="658368"/>
          </a:xfrm>
          <a:prstGeom prst="ellipse">
            <a:avLst/>
          </a:prstGeom>
          <a:solidFill>
            <a:srgbClr val="FFFFFF"/>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lang="en-US" sz="1400" b="1" i="0" dirty="0">
              <a:solidFill>
                <a:srgbClr val="17324D"/>
              </a:solidFill>
              <a:latin typeface="Avenir Next"/>
            </a:endParaRPr>
          </a:p>
          <a:p>
            <a:pPr algn="ctr"/>
            <a:r>
              <a:rPr sz="1400" b="1" i="0" dirty="0">
                <a:solidFill>
                  <a:srgbClr val="17324D"/>
                </a:solidFill>
                <a:latin typeface="Avenir Next"/>
              </a:rPr>
              <a:t>n3</a:t>
            </a:r>
          </a:p>
        </p:txBody>
      </p:sp>
      <p:cxnSp>
        <p:nvCxnSpPr>
          <p:cNvPr id="24" name="Connector 37">
            <a:extLst>
              <a:ext uri="{FF2B5EF4-FFF2-40B4-BE49-F238E27FC236}">
                <a16:creationId xmlns:a16="http://schemas.microsoft.com/office/drawing/2014/main" id="{209AF57F-92C7-80AD-348E-E43B3A71D454}"/>
              </a:ext>
            </a:extLst>
          </p:cNvPr>
          <p:cNvCxnSpPr/>
          <p:nvPr/>
        </p:nvCxnSpPr>
        <p:spPr>
          <a:xfrm flipV="1">
            <a:off x="1991202" y="4734440"/>
            <a:ext cx="1143000" cy="868680"/>
          </a:xfrm>
          <a:prstGeom prst="line">
            <a:avLst/>
          </a:prstGeom>
          <a:ln w="50800">
            <a:solidFill>
              <a:srgbClr val="C88A2C"/>
            </a:solidFill>
          </a:ln>
        </p:spPr>
        <p:style>
          <a:lnRef idx="2">
            <a:schemeClr val="accent1"/>
          </a:lnRef>
          <a:fillRef idx="0">
            <a:schemeClr val="accent1"/>
          </a:fillRef>
          <a:effectRef idx="1">
            <a:schemeClr val="accent1"/>
          </a:effectRef>
          <a:fontRef idx="minor">
            <a:schemeClr val="tx1"/>
          </a:fontRef>
        </p:style>
      </p:cxnSp>
      <p:sp>
        <p:nvSpPr>
          <p:cNvPr id="25" name="Rounded Rectangle 24">
            <a:extLst>
              <a:ext uri="{FF2B5EF4-FFF2-40B4-BE49-F238E27FC236}">
                <a16:creationId xmlns:a16="http://schemas.microsoft.com/office/drawing/2014/main" id="{0AACCDC7-33E9-FBFC-E89D-820A8B069A60}"/>
              </a:ext>
            </a:extLst>
          </p:cNvPr>
          <p:cNvSpPr/>
          <p:nvPr/>
        </p:nvSpPr>
        <p:spPr>
          <a:xfrm>
            <a:off x="1479138" y="6005456"/>
            <a:ext cx="1024128" cy="292608"/>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00" b="0" i="0" dirty="0">
                <a:solidFill>
                  <a:srgbClr val="4B647A"/>
                </a:solidFill>
                <a:latin typeface="Avenir Next"/>
              </a:rPr>
              <a:t>transformer</a:t>
            </a:r>
            <a:endParaRPr sz="800" b="0" i="0" dirty="0">
              <a:solidFill>
                <a:srgbClr val="4B647A"/>
              </a:solidFill>
              <a:latin typeface="Avenir Next"/>
            </a:endParaRPr>
          </a:p>
        </p:txBody>
      </p:sp>
      <p:sp>
        <p:nvSpPr>
          <p:cNvPr id="26" name="Oval 25">
            <a:extLst>
              <a:ext uri="{FF2B5EF4-FFF2-40B4-BE49-F238E27FC236}">
                <a16:creationId xmlns:a16="http://schemas.microsoft.com/office/drawing/2014/main" id="{C4BFDFE5-FB49-4D37-8B36-E997485C90B1}"/>
              </a:ext>
            </a:extLst>
          </p:cNvPr>
          <p:cNvSpPr/>
          <p:nvPr/>
        </p:nvSpPr>
        <p:spPr>
          <a:xfrm>
            <a:off x="3948018" y="5288591"/>
            <a:ext cx="658368" cy="658368"/>
          </a:xfrm>
          <a:prstGeom prst="ellipse">
            <a:avLst/>
          </a:prstGeom>
          <a:solidFill>
            <a:srgbClr val="FFFFFF"/>
          </a:solidFill>
          <a:ln>
            <a:solidFill>
              <a:srgbClr val="17324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lang="en-US" sz="1400" b="1" i="0" dirty="0">
              <a:solidFill>
                <a:srgbClr val="17324D"/>
              </a:solidFill>
              <a:latin typeface="Avenir Next"/>
            </a:endParaRPr>
          </a:p>
          <a:p>
            <a:pPr algn="ctr"/>
            <a:r>
              <a:rPr sz="1400" b="1" i="0" dirty="0">
                <a:solidFill>
                  <a:srgbClr val="17324D"/>
                </a:solidFill>
                <a:latin typeface="Avenir Next"/>
              </a:rPr>
              <a:t>n4</a:t>
            </a:r>
          </a:p>
        </p:txBody>
      </p:sp>
      <p:cxnSp>
        <p:nvCxnSpPr>
          <p:cNvPr id="27" name="Connector 40">
            <a:extLst>
              <a:ext uri="{FF2B5EF4-FFF2-40B4-BE49-F238E27FC236}">
                <a16:creationId xmlns:a16="http://schemas.microsoft.com/office/drawing/2014/main" id="{9FA7FEB3-A165-12AE-4622-1859E530E00B}"/>
              </a:ext>
            </a:extLst>
          </p:cNvPr>
          <p:cNvCxnSpPr/>
          <p:nvPr/>
        </p:nvCxnSpPr>
        <p:spPr>
          <a:xfrm flipH="1" flipV="1">
            <a:off x="3134202" y="4734440"/>
            <a:ext cx="1143000" cy="868680"/>
          </a:xfrm>
          <a:prstGeom prst="line">
            <a:avLst/>
          </a:prstGeom>
          <a:ln w="40640">
            <a:solidFill>
              <a:srgbClr val="17324D"/>
            </a:solidFill>
          </a:ln>
        </p:spPr>
        <p:style>
          <a:lnRef idx="2">
            <a:schemeClr val="accent1"/>
          </a:lnRef>
          <a:fillRef idx="0">
            <a:schemeClr val="accent1"/>
          </a:fillRef>
          <a:effectRef idx="1">
            <a:schemeClr val="accent1"/>
          </a:effectRef>
          <a:fontRef idx="minor">
            <a:schemeClr val="tx1"/>
          </a:fontRef>
        </p:style>
      </p:cxnSp>
      <p:sp>
        <p:nvSpPr>
          <p:cNvPr id="28" name="Rounded Rectangle 27">
            <a:extLst>
              <a:ext uri="{FF2B5EF4-FFF2-40B4-BE49-F238E27FC236}">
                <a16:creationId xmlns:a16="http://schemas.microsoft.com/office/drawing/2014/main" id="{97B0D041-30C0-6A77-6A58-95B847FFCB2F}"/>
              </a:ext>
            </a:extLst>
          </p:cNvPr>
          <p:cNvSpPr/>
          <p:nvPr/>
        </p:nvSpPr>
        <p:spPr>
          <a:xfrm>
            <a:off x="3765137" y="6005455"/>
            <a:ext cx="1279341" cy="325551"/>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00" b="0" i="0" dirty="0">
                <a:solidFill>
                  <a:srgbClr val="4B647A"/>
                </a:solidFill>
                <a:latin typeface="Avenir Next"/>
              </a:rPr>
              <a:t>phase-shifted</a:t>
            </a:r>
          </a:p>
        </p:txBody>
      </p:sp>
      <p:sp>
        <p:nvSpPr>
          <p:cNvPr id="29" name="Oval 28">
            <a:extLst>
              <a:ext uri="{FF2B5EF4-FFF2-40B4-BE49-F238E27FC236}">
                <a16:creationId xmlns:a16="http://schemas.microsoft.com/office/drawing/2014/main" id="{C32CADA5-74A0-52D1-5D38-3464EFDEE10B}"/>
              </a:ext>
            </a:extLst>
          </p:cNvPr>
          <p:cNvSpPr/>
          <p:nvPr/>
        </p:nvSpPr>
        <p:spPr>
          <a:xfrm>
            <a:off x="2722722" y="4322960"/>
            <a:ext cx="822960" cy="822960"/>
          </a:xfrm>
          <a:prstGeom prst="ellipse">
            <a:avLst/>
          </a:prstGeom>
          <a:solidFill>
            <a:srgbClr val="F4E6CF"/>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dirty="0" err="1">
                <a:solidFill>
                  <a:srgbClr val="17324D"/>
                </a:solidFill>
                <a:latin typeface="Avenir Next"/>
              </a:rPr>
              <a:t>i</a:t>
            </a:r>
            <a:endParaRPr sz="1400" b="1" i="0" dirty="0">
              <a:solidFill>
                <a:srgbClr val="17324D"/>
              </a:solidFill>
              <a:latin typeface="Avenir Next"/>
            </a:endParaRPr>
          </a:p>
          <a:p>
            <a:pPr algn="ctr"/>
            <a:r>
              <a:rPr sz="1100" b="0" i="0" dirty="0">
                <a:solidFill>
                  <a:srgbClr val="17324D"/>
                </a:solidFill>
                <a:latin typeface="Avenir Next"/>
              </a:rPr>
              <a:t>target </a:t>
            </a:r>
            <a:r>
              <a:rPr lang="en-US" sz="1100" b="0" i="0" dirty="0">
                <a:solidFill>
                  <a:srgbClr val="17324D"/>
                </a:solidFill>
                <a:latin typeface="Avenir Next"/>
              </a:rPr>
              <a:t>node</a:t>
            </a:r>
            <a:endParaRPr sz="1100" b="0" i="0" dirty="0">
              <a:solidFill>
                <a:srgbClr val="17324D"/>
              </a:solidFill>
              <a:latin typeface="Avenir Next"/>
            </a:endParaRPr>
          </a:p>
        </p:txBody>
      </p:sp>
      <p:cxnSp>
        <p:nvCxnSpPr>
          <p:cNvPr id="8" name="Connector 31">
            <a:extLst>
              <a:ext uri="{FF2B5EF4-FFF2-40B4-BE49-F238E27FC236}">
                <a16:creationId xmlns:a16="http://schemas.microsoft.com/office/drawing/2014/main" id="{2DEA8B1C-1DC6-F9CB-A164-5C4EC2DE85CE}"/>
              </a:ext>
            </a:extLst>
          </p:cNvPr>
          <p:cNvCxnSpPr/>
          <p:nvPr/>
        </p:nvCxnSpPr>
        <p:spPr>
          <a:xfrm>
            <a:off x="1991202" y="3860075"/>
            <a:ext cx="1143000" cy="868680"/>
          </a:xfrm>
          <a:prstGeom prst="line">
            <a:avLst/>
          </a:prstGeom>
          <a:ln w="254000">
            <a:solidFill>
              <a:srgbClr val="2D6F80"/>
            </a:solidFill>
          </a:ln>
        </p:spPr>
        <p:style>
          <a:lnRef idx="2">
            <a:schemeClr val="accent1"/>
          </a:lnRef>
          <a:fillRef idx="0">
            <a:schemeClr val="accent1"/>
          </a:fillRef>
          <a:effectRef idx="1">
            <a:schemeClr val="accent1"/>
          </a:effectRef>
          <a:fontRef idx="minor">
            <a:schemeClr val="tx1"/>
          </a:fontRef>
        </p:style>
      </p:cxnSp>
      <p:sp>
        <p:nvSpPr>
          <p:cNvPr id="11" name="Rounded Rectangle 10">
            <a:extLst>
              <a:ext uri="{FF2B5EF4-FFF2-40B4-BE49-F238E27FC236}">
                <a16:creationId xmlns:a16="http://schemas.microsoft.com/office/drawing/2014/main" id="{2C7059DD-731F-6087-0507-EF05E707BE2C}"/>
              </a:ext>
            </a:extLst>
          </p:cNvPr>
          <p:cNvSpPr/>
          <p:nvPr/>
        </p:nvSpPr>
        <p:spPr>
          <a:xfrm>
            <a:off x="1479138" y="4262411"/>
            <a:ext cx="1024128" cy="2926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0" i="0" dirty="0">
                <a:solidFill>
                  <a:srgbClr val="4B647A"/>
                </a:solidFill>
                <a:latin typeface="Avenir Next"/>
              </a:rPr>
              <a:t>strong</a:t>
            </a:r>
            <a:endParaRPr sz="800" b="0" i="0" dirty="0">
              <a:solidFill>
                <a:srgbClr val="4B647A"/>
              </a:solidFill>
              <a:latin typeface="Avenir Next"/>
            </a:endParaRPr>
          </a:p>
        </p:txBody>
      </p:sp>
      <p:cxnSp>
        <p:nvCxnSpPr>
          <p:cNvPr id="16" name="Connector 34">
            <a:extLst>
              <a:ext uri="{FF2B5EF4-FFF2-40B4-BE49-F238E27FC236}">
                <a16:creationId xmlns:a16="http://schemas.microsoft.com/office/drawing/2014/main" id="{0054D19E-9AD4-55D7-8106-E01B536A4625}"/>
              </a:ext>
            </a:extLst>
          </p:cNvPr>
          <p:cNvCxnSpPr/>
          <p:nvPr/>
        </p:nvCxnSpPr>
        <p:spPr>
          <a:xfrm flipH="1">
            <a:off x="3134202" y="3860075"/>
            <a:ext cx="1143000" cy="868680"/>
          </a:xfrm>
          <a:prstGeom prst="line">
            <a:avLst/>
          </a:prstGeom>
          <a:ln w="63500">
            <a:solidFill>
              <a:srgbClr val="6B8A77"/>
            </a:solidFill>
          </a:ln>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56D7772E-5C90-090B-FFEC-E461C556C894}"/>
              </a:ext>
            </a:extLst>
          </p:cNvPr>
          <p:cNvSpPr/>
          <p:nvPr/>
        </p:nvSpPr>
        <p:spPr>
          <a:xfrm>
            <a:off x="3765138" y="4262411"/>
            <a:ext cx="1024128" cy="2926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0" i="0" dirty="0">
                <a:solidFill>
                  <a:srgbClr val="4B647A"/>
                </a:solidFill>
                <a:latin typeface="Avenir Next"/>
              </a:rPr>
              <a:t>weak</a:t>
            </a:r>
            <a:endParaRPr sz="800" b="0" i="0" dirty="0">
              <a:solidFill>
                <a:srgbClr val="4B647A"/>
              </a:solidFill>
              <a:latin typeface="Avenir Next"/>
            </a:endParaRPr>
          </a:p>
        </p:txBody>
      </p:sp>
      <p:cxnSp>
        <p:nvCxnSpPr>
          <p:cNvPr id="32" name="Connector 37">
            <a:extLst>
              <a:ext uri="{FF2B5EF4-FFF2-40B4-BE49-F238E27FC236}">
                <a16:creationId xmlns:a16="http://schemas.microsoft.com/office/drawing/2014/main" id="{DC140B65-F6FC-240E-9CE4-23B6A5759DB7}"/>
              </a:ext>
            </a:extLst>
          </p:cNvPr>
          <p:cNvCxnSpPr/>
          <p:nvPr/>
        </p:nvCxnSpPr>
        <p:spPr>
          <a:xfrm flipV="1">
            <a:off x="1991202" y="4728755"/>
            <a:ext cx="1143000" cy="868680"/>
          </a:xfrm>
          <a:prstGeom prst="line">
            <a:avLst/>
          </a:prstGeom>
          <a:ln w="127000">
            <a:solidFill>
              <a:srgbClr val="C88A2C"/>
            </a:solidFill>
          </a:ln>
        </p:spPr>
        <p:style>
          <a:lnRef idx="2">
            <a:schemeClr val="accent1"/>
          </a:lnRef>
          <a:fillRef idx="0">
            <a:schemeClr val="accent1"/>
          </a:fillRef>
          <a:effectRef idx="1">
            <a:schemeClr val="accent1"/>
          </a:effectRef>
          <a:fontRef idx="minor">
            <a:schemeClr val="tx1"/>
          </a:fontRef>
        </p:style>
      </p:cxnSp>
      <p:sp>
        <p:nvSpPr>
          <p:cNvPr id="33" name="Rounded Rectangle 32">
            <a:extLst>
              <a:ext uri="{FF2B5EF4-FFF2-40B4-BE49-F238E27FC236}">
                <a16:creationId xmlns:a16="http://schemas.microsoft.com/office/drawing/2014/main" id="{DCFFA142-7469-1094-4581-EAB092D13D73}"/>
              </a:ext>
            </a:extLst>
          </p:cNvPr>
          <p:cNvSpPr/>
          <p:nvPr/>
        </p:nvSpPr>
        <p:spPr>
          <a:xfrm>
            <a:off x="1479138" y="5999771"/>
            <a:ext cx="1024128" cy="292608"/>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00" b="0" i="0" dirty="0">
                <a:solidFill>
                  <a:srgbClr val="4B647A"/>
                </a:solidFill>
                <a:latin typeface="Avenir Next"/>
              </a:rPr>
              <a:t>transformer</a:t>
            </a:r>
            <a:endParaRPr sz="800" b="0" i="0" dirty="0">
              <a:solidFill>
                <a:srgbClr val="4B647A"/>
              </a:solidFill>
              <a:latin typeface="Avenir Next"/>
            </a:endParaRPr>
          </a:p>
        </p:txBody>
      </p:sp>
      <p:cxnSp>
        <p:nvCxnSpPr>
          <p:cNvPr id="34" name="Connector 40">
            <a:extLst>
              <a:ext uri="{FF2B5EF4-FFF2-40B4-BE49-F238E27FC236}">
                <a16:creationId xmlns:a16="http://schemas.microsoft.com/office/drawing/2014/main" id="{1A0A4546-9A0A-A981-F203-57AC22D26A04}"/>
              </a:ext>
            </a:extLst>
          </p:cNvPr>
          <p:cNvCxnSpPr/>
          <p:nvPr/>
        </p:nvCxnSpPr>
        <p:spPr>
          <a:xfrm flipH="1" flipV="1">
            <a:off x="3134202" y="4728755"/>
            <a:ext cx="1143000" cy="868680"/>
          </a:xfrm>
          <a:prstGeom prst="line">
            <a:avLst/>
          </a:prstGeom>
          <a:ln w="25400">
            <a:solidFill>
              <a:srgbClr val="17324D"/>
            </a:solidFill>
          </a:ln>
        </p:spPr>
        <p:style>
          <a:lnRef idx="2">
            <a:schemeClr val="accent1"/>
          </a:lnRef>
          <a:fillRef idx="0">
            <a:schemeClr val="accent1"/>
          </a:fillRef>
          <a:effectRef idx="1">
            <a:schemeClr val="accent1"/>
          </a:effectRef>
          <a:fontRef idx="minor">
            <a:schemeClr val="tx1"/>
          </a:fontRef>
        </p:style>
      </p:cxnSp>
      <p:sp>
        <p:nvSpPr>
          <p:cNvPr id="35" name="Rounded Rectangle 34">
            <a:extLst>
              <a:ext uri="{FF2B5EF4-FFF2-40B4-BE49-F238E27FC236}">
                <a16:creationId xmlns:a16="http://schemas.microsoft.com/office/drawing/2014/main" id="{9A615981-865C-3227-FC9A-F3F6B927CB8A}"/>
              </a:ext>
            </a:extLst>
          </p:cNvPr>
          <p:cNvSpPr/>
          <p:nvPr/>
        </p:nvSpPr>
        <p:spPr>
          <a:xfrm>
            <a:off x="3765137" y="5999770"/>
            <a:ext cx="1279341" cy="325551"/>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00" b="0" i="0" dirty="0">
                <a:solidFill>
                  <a:srgbClr val="4B647A"/>
                </a:solidFill>
                <a:latin typeface="Avenir Next"/>
              </a:rPr>
              <a:t>phase-shifted</a:t>
            </a:r>
          </a:p>
        </p:txBody>
      </p:sp>
      <p:sp>
        <p:nvSpPr>
          <p:cNvPr id="36" name="Oval 35">
            <a:extLst>
              <a:ext uri="{FF2B5EF4-FFF2-40B4-BE49-F238E27FC236}">
                <a16:creationId xmlns:a16="http://schemas.microsoft.com/office/drawing/2014/main" id="{6998FF38-31AB-B783-2351-901B6ED9E395}"/>
              </a:ext>
            </a:extLst>
          </p:cNvPr>
          <p:cNvSpPr/>
          <p:nvPr/>
        </p:nvSpPr>
        <p:spPr>
          <a:xfrm>
            <a:off x="2722722" y="4317275"/>
            <a:ext cx="822960" cy="822960"/>
          </a:xfrm>
          <a:prstGeom prst="ellipse">
            <a:avLst/>
          </a:prstGeom>
          <a:solidFill>
            <a:srgbClr val="F4E6CF"/>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dirty="0" err="1">
                <a:solidFill>
                  <a:srgbClr val="17324D"/>
                </a:solidFill>
                <a:latin typeface="Avenir Next"/>
              </a:rPr>
              <a:t>i</a:t>
            </a:r>
            <a:endParaRPr sz="1400" b="1" i="0" dirty="0">
              <a:solidFill>
                <a:srgbClr val="17324D"/>
              </a:solidFill>
              <a:latin typeface="Avenir Next"/>
            </a:endParaRPr>
          </a:p>
          <a:p>
            <a:pPr algn="ctr"/>
            <a:r>
              <a:rPr sz="1100" b="0" i="0" dirty="0">
                <a:solidFill>
                  <a:srgbClr val="17324D"/>
                </a:solidFill>
                <a:latin typeface="Avenir Next"/>
              </a:rPr>
              <a:t>target </a:t>
            </a:r>
            <a:r>
              <a:rPr lang="en-US" sz="1100" b="0" i="0" dirty="0">
                <a:solidFill>
                  <a:srgbClr val="17324D"/>
                </a:solidFill>
                <a:latin typeface="Avenir Next"/>
              </a:rPr>
              <a:t>node</a:t>
            </a:r>
            <a:endParaRPr sz="1100" b="0" i="0" dirty="0">
              <a:solidFill>
                <a:srgbClr val="17324D"/>
              </a:solidFill>
              <a:latin typeface="Avenir Next"/>
            </a:endParaRPr>
          </a:p>
        </p:txBody>
      </p:sp>
      <p:sp>
        <p:nvSpPr>
          <p:cNvPr id="37" name="Oval 36">
            <a:extLst>
              <a:ext uri="{FF2B5EF4-FFF2-40B4-BE49-F238E27FC236}">
                <a16:creationId xmlns:a16="http://schemas.microsoft.com/office/drawing/2014/main" id="{5E71D3ED-0757-2DED-4DE2-4B1D46FA9D22}"/>
              </a:ext>
            </a:extLst>
          </p:cNvPr>
          <p:cNvSpPr/>
          <p:nvPr/>
        </p:nvSpPr>
        <p:spPr>
          <a:xfrm>
            <a:off x="1662018" y="3530891"/>
            <a:ext cx="658368" cy="65836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a:solidFill>
                  <a:srgbClr val="17324D"/>
                </a:solidFill>
                <a:latin typeface="Avenir Next"/>
              </a:rPr>
              <a:t>n1</a:t>
            </a:r>
          </a:p>
        </p:txBody>
      </p:sp>
      <p:sp>
        <p:nvSpPr>
          <p:cNvPr id="38" name="Oval 37">
            <a:extLst>
              <a:ext uri="{FF2B5EF4-FFF2-40B4-BE49-F238E27FC236}">
                <a16:creationId xmlns:a16="http://schemas.microsoft.com/office/drawing/2014/main" id="{537C7DE3-4D21-429C-E912-437B6B524EA9}"/>
              </a:ext>
            </a:extLst>
          </p:cNvPr>
          <p:cNvSpPr/>
          <p:nvPr/>
        </p:nvSpPr>
        <p:spPr>
          <a:xfrm>
            <a:off x="3948018" y="3530891"/>
            <a:ext cx="658368" cy="658368"/>
          </a:xfrm>
          <a:prstGeom prst="ellipse">
            <a:avLst/>
          </a:prstGeom>
          <a:solidFill>
            <a:srgbClr val="FFFFFF"/>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a:solidFill>
                  <a:srgbClr val="17324D"/>
                </a:solidFill>
                <a:latin typeface="Avenir Next"/>
              </a:rPr>
              <a:t>n2</a:t>
            </a:r>
          </a:p>
        </p:txBody>
      </p:sp>
      <p:sp>
        <p:nvSpPr>
          <p:cNvPr id="39" name="Oval 38">
            <a:extLst>
              <a:ext uri="{FF2B5EF4-FFF2-40B4-BE49-F238E27FC236}">
                <a16:creationId xmlns:a16="http://schemas.microsoft.com/office/drawing/2014/main" id="{E659A194-1A83-AFC6-F2DB-CD31F89D1E7F}"/>
              </a:ext>
            </a:extLst>
          </p:cNvPr>
          <p:cNvSpPr/>
          <p:nvPr/>
        </p:nvSpPr>
        <p:spPr>
          <a:xfrm>
            <a:off x="3948018" y="5282906"/>
            <a:ext cx="658368" cy="658368"/>
          </a:xfrm>
          <a:prstGeom prst="ellipse">
            <a:avLst/>
          </a:prstGeom>
          <a:solidFill>
            <a:srgbClr val="FFFFFF"/>
          </a:solidFill>
          <a:ln>
            <a:solidFill>
              <a:srgbClr val="17324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lang="en-US" sz="1400" b="1" i="0" dirty="0">
              <a:solidFill>
                <a:srgbClr val="17324D"/>
              </a:solidFill>
              <a:latin typeface="Avenir Next"/>
            </a:endParaRPr>
          </a:p>
          <a:p>
            <a:pPr algn="ctr"/>
            <a:r>
              <a:rPr sz="1400" b="1" i="0" dirty="0">
                <a:solidFill>
                  <a:srgbClr val="17324D"/>
                </a:solidFill>
                <a:latin typeface="Avenir Next"/>
              </a:rPr>
              <a:t>n4</a:t>
            </a:r>
          </a:p>
        </p:txBody>
      </p:sp>
      <p:sp>
        <p:nvSpPr>
          <p:cNvPr id="40" name="Oval 39">
            <a:extLst>
              <a:ext uri="{FF2B5EF4-FFF2-40B4-BE49-F238E27FC236}">
                <a16:creationId xmlns:a16="http://schemas.microsoft.com/office/drawing/2014/main" id="{CBF08DF4-A3AF-158D-76F1-2EE4A8FC8124}"/>
              </a:ext>
            </a:extLst>
          </p:cNvPr>
          <p:cNvSpPr/>
          <p:nvPr/>
        </p:nvSpPr>
        <p:spPr>
          <a:xfrm>
            <a:off x="1597814" y="5304827"/>
            <a:ext cx="658368" cy="658368"/>
          </a:xfrm>
          <a:prstGeom prst="ellipse">
            <a:avLst/>
          </a:prstGeom>
          <a:solidFill>
            <a:srgbClr val="FFFFFF"/>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lang="en-US" sz="1400" b="1" i="0" dirty="0">
              <a:solidFill>
                <a:srgbClr val="17324D"/>
              </a:solidFill>
              <a:latin typeface="Avenir Next"/>
            </a:endParaRPr>
          </a:p>
          <a:p>
            <a:pPr algn="ctr"/>
            <a:r>
              <a:rPr sz="1400" b="1" i="0" dirty="0">
                <a:solidFill>
                  <a:srgbClr val="17324D"/>
                </a:solidFill>
                <a:latin typeface="Avenir Next"/>
              </a:rPr>
              <a:t>n3</a:t>
            </a:r>
          </a:p>
        </p:txBody>
      </p:sp>
      <p:pic>
        <p:nvPicPr>
          <p:cNvPr id="41" name="Picture 40">
            <a:extLst>
              <a:ext uri="{FF2B5EF4-FFF2-40B4-BE49-F238E27FC236}">
                <a16:creationId xmlns:a16="http://schemas.microsoft.com/office/drawing/2014/main" id="{5F40A49C-883C-DD4B-C454-E5F84197BE36}"/>
              </a:ext>
            </a:extLst>
          </p:cNvPr>
          <p:cNvPicPr>
            <a:picLocks/>
          </p:cNvPicPr>
          <p:nvPr/>
        </p:nvPicPr>
        <p:blipFill>
          <a:blip r:embed="rId4"/>
          <a:stretch>
            <a:fillRect/>
          </a:stretch>
        </p:blipFill>
        <p:spPr>
          <a:xfrm>
            <a:off x="7418725" y="3642071"/>
            <a:ext cx="2633789" cy="2683250"/>
          </a:xfrm>
          <a:prstGeom prst="rect">
            <a:avLst/>
          </a:prstGeom>
        </p:spPr>
      </p:pic>
    </p:spTree>
    <p:extLst>
      <p:ext uri="{BB962C8B-B14F-4D97-AF65-F5344CB8AC3E}">
        <p14:creationId xmlns:p14="http://schemas.microsoft.com/office/powerpoint/2010/main" val="3805345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52F7-6CCD-BE13-4AEE-F391CCACBEAE}"/>
            </a:ext>
          </a:extLst>
        </p:cNvPr>
        <p:cNvGrpSpPr/>
        <p:nvPr/>
      </p:nvGrpSpPr>
      <p:grpSpPr>
        <a:xfrm>
          <a:off x="0" y="0"/>
          <a:ext cx="0" cy="0"/>
          <a:chOff x="0" y="0"/>
          <a:chExt cx="0" cy="0"/>
        </a:xfrm>
      </p:grpSpPr>
      <p:pic>
        <p:nvPicPr>
          <p:cNvPr id="1036" name="Picture 12">
            <a:extLst>
              <a:ext uri="{FF2B5EF4-FFF2-40B4-BE49-F238E27FC236}">
                <a16:creationId xmlns:a16="http://schemas.microsoft.com/office/drawing/2014/main" id="{312DCBE6-4018-1D6E-86E0-A458567B20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52" y="1728664"/>
            <a:ext cx="7068312" cy="4270439"/>
          </a:xfrm>
          <a:prstGeom prst="rect">
            <a:avLst/>
          </a:prstGeom>
          <a:noFill/>
          <a:extLst>
            <a:ext uri="{909E8E84-426E-40DD-AFC4-6F175D3DCCD1}">
              <a14:hiddenFill xmlns:a14="http://schemas.microsoft.com/office/drawing/2010/main">
                <a:solidFill>
                  <a:srgbClr val="FFFFFF"/>
                </a:solidFill>
              </a14:hiddenFill>
            </a:ext>
          </a:extLst>
        </p:spPr>
      </p:pic>
      <p:sp>
        <p:nvSpPr>
          <p:cNvPr id="2" name="Datumsplatzhalter 1">
            <a:extLst>
              <a:ext uri="{FF2B5EF4-FFF2-40B4-BE49-F238E27FC236}">
                <a16:creationId xmlns:a16="http://schemas.microsoft.com/office/drawing/2014/main" id="{D0E91E1F-0707-4476-8EAF-58C1D7DB8B21}"/>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54751C7B-F5E0-02D6-D6B4-BCDDF591133E}"/>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0AA882CB-92DE-6FBB-7485-4E53BBCF19FA}"/>
              </a:ext>
            </a:extLst>
          </p:cNvPr>
          <p:cNvSpPr>
            <a:spLocks noGrp="1"/>
          </p:cNvSpPr>
          <p:nvPr>
            <p:ph type="sldNum" sz="quarter" idx="12"/>
          </p:nvPr>
        </p:nvSpPr>
        <p:spPr/>
        <p:txBody>
          <a:bodyPr/>
          <a:lstStyle/>
          <a:p>
            <a:fld id="{D949F9DF-37BD-4CD6-BF49-65BA579E1D7A}" type="slidenum">
              <a:rPr lang="de-DE" smtClean="0"/>
              <a:pPr/>
              <a:t>6</a:t>
            </a:fld>
            <a:endParaRPr lang="de-DE"/>
          </a:p>
        </p:txBody>
      </p:sp>
      <p:sp>
        <p:nvSpPr>
          <p:cNvPr id="10" name="Titel 9">
            <a:extLst>
              <a:ext uri="{FF2B5EF4-FFF2-40B4-BE49-F238E27FC236}">
                <a16:creationId xmlns:a16="http://schemas.microsoft.com/office/drawing/2014/main" id="{CAF8C2F4-AD32-6865-BD59-9A4AD980F4E5}"/>
              </a:ext>
            </a:extLst>
          </p:cNvPr>
          <p:cNvSpPr>
            <a:spLocks noGrp="1"/>
          </p:cNvSpPr>
          <p:nvPr>
            <p:ph type="title"/>
          </p:nvPr>
        </p:nvSpPr>
        <p:spPr/>
        <p:txBody>
          <a:bodyPr/>
          <a:lstStyle/>
          <a:p>
            <a:r>
              <a:rPr lang="de-DE" dirty="0"/>
              <a:t>Method </a:t>
            </a:r>
            <a:r>
              <a:rPr lang="de-DE" dirty="0" err="1"/>
              <a:t>Overview</a:t>
            </a:r>
            <a:endParaRPr lang="de-DE" dirty="0"/>
          </a:p>
        </p:txBody>
      </p:sp>
      <p:sp>
        <p:nvSpPr>
          <p:cNvPr id="12" name="Textplatzhalter 11">
            <a:extLst>
              <a:ext uri="{FF2B5EF4-FFF2-40B4-BE49-F238E27FC236}">
                <a16:creationId xmlns:a16="http://schemas.microsoft.com/office/drawing/2014/main" id="{C0C8DB75-1055-A2A0-78BB-EF1AE3128B7E}"/>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BAEB1F2C-3CF1-8D9F-490A-80DDB91EDB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pic>
        <p:nvPicPr>
          <p:cNvPr id="1028" name="Picture 4">
            <a:extLst>
              <a:ext uri="{FF2B5EF4-FFF2-40B4-BE49-F238E27FC236}">
                <a16:creationId xmlns:a16="http://schemas.microsoft.com/office/drawing/2014/main" id="{F49D4ACA-559B-0F4A-FD3B-9DDDC59F43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7133" y="1597534"/>
            <a:ext cx="5204867" cy="369819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A55BDF95-A623-F783-656C-FDFBF4F3CB20}"/>
              </a:ext>
            </a:extLst>
          </p:cNvPr>
          <p:cNvCxnSpPr>
            <a:cxnSpLocks/>
          </p:cNvCxnSpPr>
          <p:nvPr/>
        </p:nvCxnSpPr>
        <p:spPr>
          <a:xfrm>
            <a:off x="6615364" y="1959363"/>
            <a:ext cx="747338" cy="2082916"/>
          </a:xfrm>
          <a:prstGeom prst="line">
            <a:avLst/>
          </a:prstGeom>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E1D9C64-A920-F75D-3FBF-1C9AEAA99D49}"/>
              </a:ext>
            </a:extLst>
          </p:cNvPr>
          <p:cNvCxnSpPr>
            <a:cxnSpLocks/>
          </p:cNvCxnSpPr>
          <p:nvPr/>
        </p:nvCxnSpPr>
        <p:spPr>
          <a:xfrm>
            <a:off x="6525516" y="2445598"/>
            <a:ext cx="754058" cy="2671963"/>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75366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4E67D-563B-628A-C862-4C3F3DE56EB5}"/>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B85B2A49-5963-B94E-6A8A-91E3E688D2ED}"/>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F8BFBBD7-AB33-0F1D-0A6D-14BB11D3E2CF}"/>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7F3B34DB-CC88-AE9C-08C4-CD1F351B1631}"/>
              </a:ext>
            </a:extLst>
          </p:cNvPr>
          <p:cNvSpPr>
            <a:spLocks noGrp="1"/>
          </p:cNvSpPr>
          <p:nvPr>
            <p:ph type="sldNum" sz="quarter" idx="12"/>
          </p:nvPr>
        </p:nvSpPr>
        <p:spPr/>
        <p:txBody>
          <a:bodyPr/>
          <a:lstStyle/>
          <a:p>
            <a:fld id="{D949F9DF-37BD-4CD6-BF49-65BA579E1D7A}" type="slidenum">
              <a:rPr lang="de-DE" smtClean="0"/>
              <a:pPr/>
              <a:t>7</a:t>
            </a:fld>
            <a:endParaRPr lang="de-DE"/>
          </a:p>
        </p:txBody>
      </p:sp>
      <p:sp>
        <p:nvSpPr>
          <p:cNvPr id="10" name="Titel 9">
            <a:extLst>
              <a:ext uri="{FF2B5EF4-FFF2-40B4-BE49-F238E27FC236}">
                <a16:creationId xmlns:a16="http://schemas.microsoft.com/office/drawing/2014/main" id="{05EC7F1D-2C57-4E79-3E64-69CA1757CEA2}"/>
              </a:ext>
            </a:extLst>
          </p:cNvPr>
          <p:cNvSpPr>
            <a:spLocks noGrp="1"/>
          </p:cNvSpPr>
          <p:nvPr>
            <p:ph type="title"/>
          </p:nvPr>
        </p:nvSpPr>
        <p:spPr/>
        <p:txBody>
          <a:bodyPr/>
          <a:lstStyle/>
          <a:p>
            <a:r>
              <a:rPr lang="de-DE" dirty="0"/>
              <a:t>Edge-Aware Attention</a:t>
            </a:r>
          </a:p>
        </p:txBody>
      </p:sp>
      <p:sp>
        <p:nvSpPr>
          <p:cNvPr id="12" name="Textplatzhalter 11">
            <a:extLst>
              <a:ext uri="{FF2B5EF4-FFF2-40B4-BE49-F238E27FC236}">
                <a16:creationId xmlns:a16="http://schemas.microsoft.com/office/drawing/2014/main" id="{2F0F0A53-CD38-A350-CF32-0ABD9AD397EE}"/>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D34E9655-E3B2-840B-D246-60DED6C78A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5" name="Rounded Rectangle 4">
            <a:extLst>
              <a:ext uri="{FF2B5EF4-FFF2-40B4-BE49-F238E27FC236}">
                <a16:creationId xmlns:a16="http://schemas.microsoft.com/office/drawing/2014/main" id="{816AC397-C4DF-E7D9-7EA1-8388D3BC679E}"/>
              </a:ext>
            </a:extLst>
          </p:cNvPr>
          <p:cNvSpPr/>
          <p:nvPr/>
        </p:nvSpPr>
        <p:spPr>
          <a:xfrm>
            <a:off x="801908" y="1390309"/>
            <a:ext cx="6656832" cy="4343400"/>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904B7E26-E1AF-986F-D6F5-5647431586D7}"/>
              </a:ext>
            </a:extLst>
          </p:cNvPr>
          <p:cNvSpPr/>
          <p:nvPr/>
        </p:nvSpPr>
        <p:spPr>
          <a:xfrm>
            <a:off x="984788" y="1573190"/>
            <a:ext cx="6291072" cy="111556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E24E563F-6247-A966-AEF0-407E2C99DEA3}"/>
              </a:ext>
            </a:extLst>
          </p:cNvPr>
          <p:cNvSpPr/>
          <p:nvPr/>
        </p:nvSpPr>
        <p:spPr>
          <a:xfrm>
            <a:off x="1149380" y="1719494"/>
            <a:ext cx="804672"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FFFFFF"/>
                </a:solidFill>
                <a:latin typeface="Avenir Next"/>
              </a:rPr>
              <a:t>1</a:t>
            </a:r>
          </a:p>
        </p:txBody>
      </p:sp>
      <p:sp>
        <p:nvSpPr>
          <p:cNvPr id="9" name="TextBox 8">
            <a:extLst>
              <a:ext uri="{FF2B5EF4-FFF2-40B4-BE49-F238E27FC236}">
                <a16:creationId xmlns:a16="http://schemas.microsoft.com/office/drawing/2014/main" id="{851016C8-F448-6B1D-73A3-64B886A946C1}"/>
              </a:ext>
            </a:extLst>
          </p:cNvPr>
          <p:cNvSpPr txBox="1"/>
          <p:nvPr/>
        </p:nvSpPr>
        <p:spPr>
          <a:xfrm>
            <a:off x="1983732" y="1718545"/>
            <a:ext cx="5961888" cy="369332"/>
          </a:xfrm>
          <a:prstGeom prst="rect">
            <a:avLst/>
          </a:prstGeom>
          <a:noFill/>
        </p:spPr>
        <p:txBody>
          <a:bodyPr wrap="square" anchor="t">
            <a:spAutoFit/>
          </a:bodyPr>
          <a:lstStyle/>
          <a:p>
            <a:pPr algn="l"/>
            <a:r>
              <a:rPr b="1" i="0" dirty="0">
                <a:solidFill>
                  <a:srgbClr val="17324D"/>
                </a:solidFill>
                <a:latin typeface="Avenir Next"/>
              </a:rPr>
              <a:t>Node projections</a:t>
            </a:r>
          </a:p>
        </p:txBody>
      </p:sp>
      <p:sp>
        <p:nvSpPr>
          <p:cNvPr id="15" name="Rounded Rectangle 14">
            <a:extLst>
              <a:ext uri="{FF2B5EF4-FFF2-40B4-BE49-F238E27FC236}">
                <a16:creationId xmlns:a16="http://schemas.microsoft.com/office/drawing/2014/main" id="{D7D86E0D-E155-0089-B14A-A55A15BD45F9}"/>
              </a:ext>
            </a:extLst>
          </p:cNvPr>
          <p:cNvSpPr/>
          <p:nvPr/>
        </p:nvSpPr>
        <p:spPr>
          <a:xfrm>
            <a:off x="984788" y="2871638"/>
            <a:ext cx="6291072" cy="1234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a:extLst>
              <a:ext uri="{FF2B5EF4-FFF2-40B4-BE49-F238E27FC236}">
                <a16:creationId xmlns:a16="http://schemas.microsoft.com/office/drawing/2014/main" id="{354E7E83-2A68-0420-B8C0-5EFB7F3BE5F2}"/>
              </a:ext>
            </a:extLst>
          </p:cNvPr>
          <p:cNvSpPr/>
          <p:nvPr/>
        </p:nvSpPr>
        <p:spPr>
          <a:xfrm>
            <a:off x="1149380" y="3017942"/>
            <a:ext cx="804672"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17324D"/>
                </a:solidFill>
                <a:latin typeface="Avenir Next"/>
              </a:rPr>
              <a:t>2</a:t>
            </a:r>
          </a:p>
        </p:txBody>
      </p:sp>
      <p:sp>
        <p:nvSpPr>
          <p:cNvPr id="17" name="TextBox 16">
            <a:extLst>
              <a:ext uri="{FF2B5EF4-FFF2-40B4-BE49-F238E27FC236}">
                <a16:creationId xmlns:a16="http://schemas.microsoft.com/office/drawing/2014/main" id="{8A2CA982-E080-6C96-F5A2-EFA875416AF0}"/>
              </a:ext>
            </a:extLst>
          </p:cNvPr>
          <p:cNvSpPr txBox="1"/>
          <p:nvPr/>
        </p:nvSpPr>
        <p:spPr>
          <a:xfrm>
            <a:off x="2022632" y="3033808"/>
            <a:ext cx="5961888" cy="369332"/>
          </a:xfrm>
          <a:prstGeom prst="rect">
            <a:avLst/>
          </a:prstGeom>
          <a:noFill/>
        </p:spPr>
        <p:txBody>
          <a:bodyPr wrap="square" anchor="t">
            <a:spAutoFit/>
          </a:bodyPr>
          <a:lstStyle/>
          <a:p>
            <a:pPr algn="l"/>
            <a:r>
              <a:rPr b="1" i="0" dirty="0">
                <a:solidFill>
                  <a:srgbClr val="17324D"/>
                </a:solidFill>
                <a:latin typeface="Avenir Next"/>
              </a:rPr>
              <a:t>Edge-conditioned attention score</a:t>
            </a:r>
          </a:p>
        </p:txBody>
      </p:sp>
      <p:sp>
        <p:nvSpPr>
          <p:cNvPr id="27" name="Rounded Rectangle 26">
            <a:extLst>
              <a:ext uri="{FF2B5EF4-FFF2-40B4-BE49-F238E27FC236}">
                <a16:creationId xmlns:a16="http://schemas.microsoft.com/office/drawing/2014/main" id="{10A91595-8C26-4F9B-7DB2-D29DFEDF3AB3}"/>
              </a:ext>
            </a:extLst>
          </p:cNvPr>
          <p:cNvSpPr/>
          <p:nvPr/>
        </p:nvSpPr>
        <p:spPr>
          <a:xfrm>
            <a:off x="1010159" y="4227577"/>
            <a:ext cx="6291072" cy="126187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a:extLst>
              <a:ext uri="{FF2B5EF4-FFF2-40B4-BE49-F238E27FC236}">
                <a16:creationId xmlns:a16="http://schemas.microsoft.com/office/drawing/2014/main" id="{BAF2326B-171E-BCC9-92D0-CE703B7C37B2}"/>
              </a:ext>
            </a:extLst>
          </p:cNvPr>
          <p:cNvSpPr/>
          <p:nvPr/>
        </p:nvSpPr>
        <p:spPr>
          <a:xfrm>
            <a:off x="1165583" y="4329043"/>
            <a:ext cx="804672" cy="31089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FFFFFF"/>
                </a:solidFill>
                <a:latin typeface="Avenir Next"/>
              </a:rPr>
              <a:t>3</a:t>
            </a:r>
          </a:p>
        </p:txBody>
      </p:sp>
      <p:sp>
        <p:nvSpPr>
          <p:cNvPr id="29" name="TextBox 28">
            <a:extLst>
              <a:ext uri="{FF2B5EF4-FFF2-40B4-BE49-F238E27FC236}">
                <a16:creationId xmlns:a16="http://schemas.microsoft.com/office/drawing/2014/main" id="{087098A5-7867-FEA3-9BA3-A3D26431DFA0}"/>
              </a:ext>
            </a:extLst>
          </p:cNvPr>
          <p:cNvSpPr txBox="1"/>
          <p:nvPr/>
        </p:nvSpPr>
        <p:spPr>
          <a:xfrm>
            <a:off x="1974827" y="4344909"/>
            <a:ext cx="5961888" cy="369332"/>
          </a:xfrm>
          <a:prstGeom prst="rect">
            <a:avLst/>
          </a:prstGeom>
          <a:noFill/>
        </p:spPr>
        <p:txBody>
          <a:bodyPr wrap="square" anchor="t">
            <a:spAutoFit/>
          </a:bodyPr>
          <a:lstStyle/>
          <a:p>
            <a:pPr algn="l"/>
            <a:r>
              <a:rPr lang="en-US" b="1" i="0" dirty="0">
                <a:solidFill>
                  <a:srgbClr val="17324D"/>
                </a:solidFill>
                <a:latin typeface="Avenir Next"/>
              </a:rPr>
              <a:t> Multi-head aggregated context</a:t>
            </a:r>
            <a:endParaRPr b="1" i="0" dirty="0">
              <a:solidFill>
                <a:srgbClr val="17324D"/>
              </a:solidFill>
              <a:latin typeface="Avenir Next"/>
            </a:endParaRPr>
          </a:p>
        </p:txBody>
      </p:sp>
      <p:sp>
        <p:nvSpPr>
          <p:cNvPr id="32" name="Rounded Rectangle 31">
            <a:extLst>
              <a:ext uri="{FF2B5EF4-FFF2-40B4-BE49-F238E27FC236}">
                <a16:creationId xmlns:a16="http://schemas.microsoft.com/office/drawing/2014/main" id="{57441548-6696-AC03-691D-5BCD618E514D}"/>
              </a:ext>
            </a:extLst>
          </p:cNvPr>
          <p:cNvSpPr/>
          <p:nvPr/>
        </p:nvSpPr>
        <p:spPr>
          <a:xfrm>
            <a:off x="7778778" y="1390309"/>
            <a:ext cx="4071351" cy="4343400"/>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a:extLst>
              <a:ext uri="{FF2B5EF4-FFF2-40B4-BE49-F238E27FC236}">
                <a16:creationId xmlns:a16="http://schemas.microsoft.com/office/drawing/2014/main" id="{E13D31F9-4C9D-4241-E30C-CB0958C19DEA}"/>
              </a:ext>
            </a:extLst>
          </p:cNvPr>
          <p:cNvSpPr/>
          <p:nvPr/>
        </p:nvSpPr>
        <p:spPr>
          <a:xfrm>
            <a:off x="7989092" y="1554902"/>
            <a:ext cx="1505428" cy="292608"/>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17324D"/>
                </a:solidFill>
                <a:latin typeface="Avenir Next"/>
              </a:rPr>
              <a:t>INTUITION</a:t>
            </a:r>
            <a:endParaRPr sz="1100" b="1" i="0" dirty="0">
              <a:solidFill>
                <a:srgbClr val="17324D"/>
              </a:solidFill>
              <a:latin typeface="Avenir Next"/>
            </a:endParaRPr>
          </a:p>
        </p:txBody>
      </p:sp>
      <p:sp>
        <p:nvSpPr>
          <p:cNvPr id="34" name="TextBox 33">
            <a:extLst>
              <a:ext uri="{FF2B5EF4-FFF2-40B4-BE49-F238E27FC236}">
                <a16:creationId xmlns:a16="http://schemas.microsoft.com/office/drawing/2014/main" id="{8B910C8D-9ED5-6122-CE38-6BA43BA4E142}"/>
              </a:ext>
            </a:extLst>
          </p:cNvPr>
          <p:cNvSpPr txBox="1"/>
          <p:nvPr/>
        </p:nvSpPr>
        <p:spPr>
          <a:xfrm>
            <a:off x="8243455" y="5028466"/>
            <a:ext cx="3108960" cy="646331"/>
          </a:xfrm>
          <a:prstGeom prst="rect">
            <a:avLst/>
          </a:prstGeom>
          <a:noFill/>
        </p:spPr>
        <p:txBody>
          <a:bodyPr wrap="square" anchor="t">
            <a:spAutoFit/>
          </a:bodyPr>
          <a:lstStyle/>
          <a:p>
            <a:pPr algn="ctr"/>
            <a:r>
              <a:rPr lang="en-US" b="1" dirty="0">
                <a:solidFill>
                  <a:srgbClr val="17324D"/>
                </a:solidFill>
                <a:latin typeface="Avenir Next"/>
              </a:rPr>
              <a:t>Isotropic </a:t>
            </a:r>
            <a:r>
              <a:rPr lang="en-US" b="1" dirty="0">
                <a:solidFill>
                  <a:srgbClr val="17324D"/>
                </a:solidFill>
                <a:latin typeface="Avenir Next"/>
                <a:sym typeface="Wingdings" pitchFamily="2" charset="2"/>
              </a:rPr>
              <a:t> Anisotropic </a:t>
            </a:r>
          </a:p>
          <a:p>
            <a:pPr algn="ctr"/>
            <a:r>
              <a:rPr lang="en-US" b="1" dirty="0">
                <a:solidFill>
                  <a:srgbClr val="17324D"/>
                </a:solidFill>
                <a:latin typeface="Avenir Next"/>
                <a:sym typeface="Wingdings" pitchFamily="2" charset="2"/>
              </a:rPr>
              <a:t>graph filter</a:t>
            </a:r>
            <a:endParaRPr b="1" i="0" dirty="0">
              <a:solidFill>
                <a:srgbClr val="17324D"/>
              </a:solidFill>
              <a:latin typeface="Avenir Next"/>
            </a:endParaRPr>
          </a:p>
        </p:txBody>
      </p:sp>
      <p:sp>
        <p:nvSpPr>
          <p:cNvPr id="47" name="Rounded Rectangle 46">
            <a:extLst>
              <a:ext uri="{FF2B5EF4-FFF2-40B4-BE49-F238E27FC236}">
                <a16:creationId xmlns:a16="http://schemas.microsoft.com/office/drawing/2014/main" id="{70AF6FEF-8499-C706-738B-85205627F5A3}"/>
              </a:ext>
            </a:extLst>
          </p:cNvPr>
          <p:cNvSpPr/>
          <p:nvPr/>
        </p:nvSpPr>
        <p:spPr>
          <a:xfrm>
            <a:off x="1010159" y="5856948"/>
            <a:ext cx="10268712" cy="604648"/>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lang="en-US" b="1" dirty="0">
                <a:solidFill>
                  <a:srgbClr val="17324D"/>
                </a:solidFill>
                <a:latin typeface="Avenir Next"/>
              </a:rPr>
              <a:t>F</a:t>
            </a:r>
            <a:r>
              <a:rPr lang="en-US" b="1" i="0" dirty="0">
                <a:solidFill>
                  <a:srgbClr val="17324D"/>
                </a:solidFill>
                <a:latin typeface="Avenir Next"/>
              </a:rPr>
              <a:t>ully differentiable known-operator layer that makes edge </a:t>
            </a:r>
            <a:r>
              <a:rPr lang="en-US" b="1" dirty="0">
                <a:solidFill>
                  <a:srgbClr val="17324D"/>
                </a:solidFill>
                <a:latin typeface="Avenir Next"/>
              </a:rPr>
              <a:t>c</a:t>
            </a:r>
            <a:r>
              <a:rPr lang="en-US" b="1" i="0" dirty="0">
                <a:solidFill>
                  <a:srgbClr val="17324D"/>
                </a:solidFill>
                <a:latin typeface="Avenir Next"/>
              </a:rPr>
              <a:t>oupling explicit in the forward pass, unlike MLP style aggregation where it is only implicit via node features</a:t>
            </a:r>
            <a:endParaRPr b="1" i="0" dirty="0">
              <a:solidFill>
                <a:srgbClr val="17324D"/>
              </a:solidFill>
              <a:latin typeface="Avenir Next"/>
            </a:endParaRPr>
          </a:p>
        </p:txBody>
      </p:sp>
      <p:pic>
        <p:nvPicPr>
          <p:cNvPr id="48" name="Picture 47">
            <a:extLst>
              <a:ext uri="{FF2B5EF4-FFF2-40B4-BE49-F238E27FC236}">
                <a16:creationId xmlns:a16="http://schemas.microsoft.com/office/drawing/2014/main" id="{0ABC6836-7DD0-C474-ACD7-57DC4644C763}"/>
              </a:ext>
            </a:extLst>
          </p:cNvPr>
          <p:cNvPicPr>
            <a:picLocks noChangeAspect="1"/>
          </p:cNvPicPr>
          <p:nvPr/>
        </p:nvPicPr>
        <p:blipFill>
          <a:blip r:embed="rId4"/>
          <a:stretch>
            <a:fillRect/>
          </a:stretch>
        </p:blipFill>
        <p:spPr>
          <a:xfrm>
            <a:off x="1166508" y="2153552"/>
            <a:ext cx="5972191" cy="384763"/>
          </a:xfrm>
          <a:prstGeom prst="rect">
            <a:avLst/>
          </a:prstGeom>
        </p:spPr>
      </p:pic>
      <p:pic>
        <p:nvPicPr>
          <p:cNvPr id="53" name="Picture 52">
            <a:extLst>
              <a:ext uri="{FF2B5EF4-FFF2-40B4-BE49-F238E27FC236}">
                <a16:creationId xmlns:a16="http://schemas.microsoft.com/office/drawing/2014/main" id="{39ED9912-87C0-8124-503C-A9ADCD431398}"/>
              </a:ext>
            </a:extLst>
          </p:cNvPr>
          <p:cNvPicPr>
            <a:picLocks noChangeAspect="1"/>
          </p:cNvPicPr>
          <p:nvPr/>
        </p:nvPicPr>
        <p:blipFill>
          <a:blip r:embed="rId5"/>
          <a:stretch>
            <a:fillRect/>
          </a:stretch>
        </p:blipFill>
        <p:spPr>
          <a:xfrm>
            <a:off x="1185956" y="3451806"/>
            <a:ext cx="5463694" cy="481080"/>
          </a:xfrm>
          <a:prstGeom prst="rect">
            <a:avLst/>
          </a:prstGeom>
        </p:spPr>
      </p:pic>
      <p:pic>
        <p:nvPicPr>
          <p:cNvPr id="54" name="Picture 53">
            <a:extLst>
              <a:ext uri="{FF2B5EF4-FFF2-40B4-BE49-F238E27FC236}">
                <a16:creationId xmlns:a16="http://schemas.microsoft.com/office/drawing/2014/main" id="{6E13959F-0B1C-323C-19B3-778A90F130C4}"/>
              </a:ext>
            </a:extLst>
          </p:cNvPr>
          <p:cNvPicPr>
            <a:picLocks noChangeAspect="1"/>
          </p:cNvPicPr>
          <p:nvPr/>
        </p:nvPicPr>
        <p:blipFill>
          <a:blip r:embed="rId6"/>
          <a:stretch>
            <a:fillRect/>
          </a:stretch>
        </p:blipFill>
        <p:spPr>
          <a:xfrm>
            <a:off x="1259250" y="4690149"/>
            <a:ext cx="4974051" cy="798510"/>
          </a:xfrm>
          <a:prstGeom prst="rect">
            <a:avLst/>
          </a:prstGeom>
        </p:spPr>
      </p:pic>
      <p:cxnSp>
        <p:nvCxnSpPr>
          <p:cNvPr id="56" name="Connector 31">
            <a:extLst>
              <a:ext uri="{FF2B5EF4-FFF2-40B4-BE49-F238E27FC236}">
                <a16:creationId xmlns:a16="http://schemas.microsoft.com/office/drawing/2014/main" id="{59316180-78BF-4D76-84A3-26F691479849}"/>
              </a:ext>
            </a:extLst>
          </p:cNvPr>
          <p:cNvCxnSpPr/>
          <p:nvPr/>
        </p:nvCxnSpPr>
        <p:spPr>
          <a:xfrm>
            <a:off x="8572639" y="2397294"/>
            <a:ext cx="1143000" cy="868680"/>
          </a:xfrm>
          <a:prstGeom prst="line">
            <a:avLst/>
          </a:prstGeom>
          <a:ln w="254000">
            <a:solidFill>
              <a:srgbClr val="2D6F80"/>
            </a:solidFill>
          </a:ln>
        </p:spPr>
        <p:style>
          <a:lnRef idx="2">
            <a:schemeClr val="accent1"/>
          </a:lnRef>
          <a:fillRef idx="0">
            <a:schemeClr val="accent1"/>
          </a:fillRef>
          <a:effectRef idx="1">
            <a:schemeClr val="accent1"/>
          </a:effectRef>
          <a:fontRef idx="minor">
            <a:schemeClr val="tx1"/>
          </a:fontRef>
        </p:style>
      </p:cxnSp>
      <p:sp>
        <p:nvSpPr>
          <p:cNvPr id="57" name="Rounded Rectangle 56">
            <a:extLst>
              <a:ext uri="{FF2B5EF4-FFF2-40B4-BE49-F238E27FC236}">
                <a16:creationId xmlns:a16="http://schemas.microsoft.com/office/drawing/2014/main" id="{3A797876-1DC2-DED0-F588-F66C4C1C3130}"/>
              </a:ext>
            </a:extLst>
          </p:cNvPr>
          <p:cNvSpPr/>
          <p:nvPr/>
        </p:nvSpPr>
        <p:spPr>
          <a:xfrm>
            <a:off x="8060575" y="2799630"/>
            <a:ext cx="1024128" cy="2926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0" i="0" dirty="0">
                <a:solidFill>
                  <a:srgbClr val="4B647A"/>
                </a:solidFill>
                <a:latin typeface="Avenir Next"/>
              </a:rPr>
              <a:t>strong</a:t>
            </a:r>
            <a:endParaRPr sz="800" b="0" i="0" dirty="0">
              <a:solidFill>
                <a:srgbClr val="4B647A"/>
              </a:solidFill>
              <a:latin typeface="Avenir Next"/>
            </a:endParaRPr>
          </a:p>
        </p:txBody>
      </p:sp>
      <p:cxnSp>
        <p:nvCxnSpPr>
          <p:cNvPr id="59" name="Connector 34">
            <a:extLst>
              <a:ext uri="{FF2B5EF4-FFF2-40B4-BE49-F238E27FC236}">
                <a16:creationId xmlns:a16="http://schemas.microsoft.com/office/drawing/2014/main" id="{82BC1161-9B2A-AA52-0331-D366C9C3A37C}"/>
              </a:ext>
            </a:extLst>
          </p:cNvPr>
          <p:cNvCxnSpPr/>
          <p:nvPr/>
        </p:nvCxnSpPr>
        <p:spPr>
          <a:xfrm flipH="1">
            <a:off x="9715639" y="2397294"/>
            <a:ext cx="1143000" cy="868680"/>
          </a:xfrm>
          <a:prstGeom prst="line">
            <a:avLst/>
          </a:prstGeom>
          <a:ln w="63500">
            <a:solidFill>
              <a:srgbClr val="6B8A77"/>
            </a:solidFill>
          </a:ln>
        </p:spPr>
        <p:style>
          <a:lnRef idx="2">
            <a:schemeClr val="accent1"/>
          </a:lnRef>
          <a:fillRef idx="0">
            <a:schemeClr val="accent1"/>
          </a:fillRef>
          <a:effectRef idx="1">
            <a:schemeClr val="accent1"/>
          </a:effectRef>
          <a:fontRef idx="minor">
            <a:schemeClr val="tx1"/>
          </a:fontRef>
        </p:style>
      </p:cxnSp>
      <p:sp>
        <p:nvSpPr>
          <p:cNvPr id="60" name="Rounded Rectangle 59">
            <a:extLst>
              <a:ext uri="{FF2B5EF4-FFF2-40B4-BE49-F238E27FC236}">
                <a16:creationId xmlns:a16="http://schemas.microsoft.com/office/drawing/2014/main" id="{3F1B03D9-F9F4-6169-B9A8-B767E3B87CC7}"/>
              </a:ext>
            </a:extLst>
          </p:cNvPr>
          <p:cNvSpPr/>
          <p:nvPr/>
        </p:nvSpPr>
        <p:spPr>
          <a:xfrm>
            <a:off x="10346575" y="2799630"/>
            <a:ext cx="1024128" cy="292608"/>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0" i="0" dirty="0">
                <a:solidFill>
                  <a:srgbClr val="4B647A"/>
                </a:solidFill>
                <a:latin typeface="Avenir Next"/>
              </a:rPr>
              <a:t>weak</a:t>
            </a:r>
            <a:endParaRPr sz="800" b="0" i="0" dirty="0">
              <a:solidFill>
                <a:srgbClr val="4B647A"/>
              </a:solidFill>
              <a:latin typeface="Avenir Next"/>
            </a:endParaRPr>
          </a:p>
        </p:txBody>
      </p:sp>
      <p:cxnSp>
        <p:nvCxnSpPr>
          <p:cNvPr id="62" name="Connector 37">
            <a:extLst>
              <a:ext uri="{FF2B5EF4-FFF2-40B4-BE49-F238E27FC236}">
                <a16:creationId xmlns:a16="http://schemas.microsoft.com/office/drawing/2014/main" id="{C39B63DB-DE0C-E467-E053-78702351BDA3}"/>
              </a:ext>
            </a:extLst>
          </p:cNvPr>
          <p:cNvCxnSpPr/>
          <p:nvPr/>
        </p:nvCxnSpPr>
        <p:spPr>
          <a:xfrm flipV="1">
            <a:off x="8572639" y="3265974"/>
            <a:ext cx="1143000" cy="868680"/>
          </a:xfrm>
          <a:prstGeom prst="line">
            <a:avLst/>
          </a:prstGeom>
          <a:ln w="127000">
            <a:solidFill>
              <a:srgbClr val="C88A2C"/>
            </a:solidFill>
          </a:ln>
        </p:spPr>
        <p:style>
          <a:lnRef idx="2">
            <a:schemeClr val="accent1"/>
          </a:lnRef>
          <a:fillRef idx="0">
            <a:schemeClr val="accent1"/>
          </a:fillRef>
          <a:effectRef idx="1">
            <a:schemeClr val="accent1"/>
          </a:effectRef>
          <a:fontRef idx="minor">
            <a:schemeClr val="tx1"/>
          </a:fontRef>
        </p:style>
      </p:cxnSp>
      <p:sp>
        <p:nvSpPr>
          <p:cNvPr id="63" name="Rounded Rectangle 62">
            <a:extLst>
              <a:ext uri="{FF2B5EF4-FFF2-40B4-BE49-F238E27FC236}">
                <a16:creationId xmlns:a16="http://schemas.microsoft.com/office/drawing/2014/main" id="{A1E94D10-352D-EDA1-38FB-E7514F37E3DE}"/>
              </a:ext>
            </a:extLst>
          </p:cNvPr>
          <p:cNvSpPr/>
          <p:nvPr/>
        </p:nvSpPr>
        <p:spPr>
          <a:xfrm>
            <a:off x="8060575" y="4536990"/>
            <a:ext cx="1024128" cy="292608"/>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00" b="0" i="0" dirty="0">
                <a:solidFill>
                  <a:srgbClr val="4B647A"/>
                </a:solidFill>
                <a:latin typeface="Avenir Next"/>
              </a:rPr>
              <a:t>transformer</a:t>
            </a:r>
            <a:endParaRPr sz="800" b="0" i="0" dirty="0">
              <a:solidFill>
                <a:srgbClr val="4B647A"/>
              </a:solidFill>
              <a:latin typeface="Avenir Next"/>
            </a:endParaRPr>
          </a:p>
        </p:txBody>
      </p:sp>
      <p:cxnSp>
        <p:nvCxnSpPr>
          <p:cNvPr id="65" name="Connector 40">
            <a:extLst>
              <a:ext uri="{FF2B5EF4-FFF2-40B4-BE49-F238E27FC236}">
                <a16:creationId xmlns:a16="http://schemas.microsoft.com/office/drawing/2014/main" id="{4B5D3AAB-8DE4-2FF8-35A0-826E6FAFCAC3}"/>
              </a:ext>
            </a:extLst>
          </p:cNvPr>
          <p:cNvCxnSpPr/>
          <p:nvPr/>
        </p:nvCxnSpPr>
        <p:spPr>
          <a:xfrm flipH="1" flipV="1">
            <a:off x="9715639" y="3265974"/>
            <a:ext cx="1143000" cy="868680"/>
          </a:xfrm>
          <a:prstGeom prst="line">
            <a:avLst/>
          </a:prstGeom>
          <a:ln w="25400">
            <a:solidFill>
              <a:srgbClr val="17324D"/>
            </a:solidFill>
          </a:ln>
        </p:spPr>
        <p:style>
          <a:lnRef idx="2">
            <a:schemeClr val="accent1"/>
          </a:lnRef>
          <a:fillRef idx="0">
            <a:schemeClr val="accent1"/>
          </a:fillRef>
          <a:effectRef idx="1">
            <a:schemeClr val="accent1"/>
          </a:effectRef>
          <a:fontRef idx="minor">
            <a:schemeClr val="tx1"/>
          </a:fontRef>
        </p:style>
      </p:cxnSp>
      <p:sp>
        <p:nvSpPr>
          <p:cNvPr id="66" name="Rounded Rectangle 65">
            <a:extLst>
              <a:ext uri="{FF2B5EF4-FFF2-40B4-BE49-F238E27FC236}">
                <a16:creationId xmlns:a16="http://schemas.microsoft.com/office/drawing/2014/main" id="{62444C2D-6941-5CB4-22F4-BBD7B3FD9905}"/>
              </a:ext>
            </a:extLst>
          </p:cNvPr>
          <p:cNvSpPr/>
          <p:nvPr/>
        </p:nvSpPr>
        <p:spPr>
          <a:xfrm>
            <a:off x="10346574" y="4536989"/>
            <a:ext cx="1279341" cy="325551"/>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00" b="0" i="0" dirty="0">
                <a:solidFill>
                  <a:srgbClr val="4B647A"/>
                </a:solidFill>
                <a:latin typeface="Avenir Next"/>
              </a:rPr>
              <a:t>phase-shifted</a:t>
            </a:r>
          </a:p>
        </p:txBody>
      </p:sp>
      <p:sp>
        <p:nvSpPr>
          <p:cNvPr id="67" name="Oval 66">
            <a:extLst>
              <a:ext uri="{FF2B5EF4-FFF2-40B4-BE49-F238E27FC236}">
                <a16:creationId xmlns:a16="http://schemas.microsoft.com/office/drawing/2014/main" id="{082B68AC-5D1B-BF4C-C564-4EBA9D1D8BD6}"/>
              </a:ext>
            </a:extLst>
          </p:cNvPr>
          <p:cNvSpPr/>
          <p:nvPr/>
        </p:nvSpPr>
        <p:spPr>
          <a:xfrm>
            <a:off x="9304159" y="2854494"/>
            <a:ext cx="822960" cy="822960"/>
          </a:xfrm>
          <a:prstGeom prst="ellipse">
            <a:avLst/>
          </a:prstGeom>
          <a:solidFill>
            <a:srgbClr val="F4E6CF"/>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dirty="0" err="1">
                <a:solidFill>
                  <a:srgbClr val="17324D"/>
                </a:solidFill>
                <a:latin typeface="Avenir Next"/>
              </a:rPr>
              <a:t>i</a:t>
            </a:r>
            <a:endParaRPr sz="1400" b="1" i="0" dirty="0">
              <a:solidFill>
                <a:srgbClr val="17324D"/>
              </a:solidFill>
              <a:latin typeface="Avenir Next"/>
            </a:endParaRPr>
          </a:p>
          <a:p>
            <a:pPr algn="ctr"/>
            <a:r>
              <a:rPr sz="1100" b="0" i="0" dirty="0">
                <a:solidFill>
                  <a:srgbClr val="17324D"/>
                </a:solidFill>
                <a:latin typeface="Avenir Next"/>
              </a:rPr>
              <a:t>target </a:t>
            </a:r>
            <a:r>
              <a:rPr lang="en-US" sz="1100" b="0" i="0" dirty="0">
                <a:solidFill>
                  <a:srgbClr val="17324D"/>
                </a:solidFill>
                <a:latin typeface="Avenir Next"/>
              </a:rPr>
              <a:t>node</a:t>
            </a:r>
            <a:endParaRPr sz="1100" b="0" i="0" dirty="0">
              <a:solidFill>
                <a:srgbClr val="17324D"/>
              </a:solidFill>
              <a:latin typeface="Avenir Next"/>
            </a:endParaRPr>
          </a:p>
        </p:txBody>
      </p:sp>
      <p:sp>
        <p:nvSpPr>
          <p:cNvPr id="55" name="Oval 54">
            <a:extLst>
              <a:ext uri="{FF2B5EF4-FFF2-40B4-BE49-F238E27FC236}">
                <a16:creationId xmlns:a16="http://schemas.microsoft.com/office/drawing/2014/main" id="{65ED6EE7-04B5-342C-7395-5CA4D54B7D75}"/>
              </a:ext>
            </a:extLst>
          </p:cNvPr>
          <p:cNvSpPr/>
          <p:nvPr/>
        </p:nvSpPr>
        <p:spPr>
          <a:xfrm>
            <a:off x="8243455" y="2068110"/>
            <a:ext cx="658368" cy="658368"/>
          </a:xfrm>
          <a:prstGeom prst="ellipse">
            <a:avLst/>
          </a:prstGeom>
          <a:solidFill>
            <a:srgbClr val="FFFFFF"/>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a:solidFill>
                  <a:srgbClr val="17324D"/>
                </a:solidFill>
                <a:latin typeface="Avenir Next"/>
              </a:rPr>
              <a:t>n1</a:t>
            </a:r>
          </a:p>
        </p:txBody>
      </p:sp>
      <p:sp>
        <p:nvSpPr>
          <p:cNvPr id="58" name="Oval 57">
            <a:extLst>
              <a:ext uri="{FF2B5EF4-FFF2-40B4-BE49-F238E27FC236}">
                <a16:creationId xmlns:a16="http://schemas.microsoft.com/office/drawing/2014/main" id="{4229107A-C974-7B49-6816-D039E6048B39}"/>
              </a:ext>
            </a:extLst>
          </p:cNvPr>
          <p:cNvSpPr/>
          <p:nvPr/>
        </p:nvSpPr>
        <p:spPr>
          <a:xfrm>
            <a:off x="10529455" y="2068110"/>
            <a:ext cx="658368" cy="658368"/>
          </a:xfrm>
          <a:prstGeom prst="ellipse">
            <a:avLst/>
          </a:prstGeom>
          <a:solidFill>
            <a:srgbClr val="FFFFFF"/>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400" b="1" i="0">
                <a:solidFill>
                  <a:srgbClr val="17324D"/>
                </a:solidFill>
                <a:latin typeface="Avenir Next"/>
              </a:rPr>
              <a:t>n2</a:t>
            </a:r>
          </a:p>
        </p:txBody>
      </p:sp>
      <p:sp>
        <p:nvSpPr>
          <p:cNvPr id="64" name="Oval 63">
            <a:extLst>
              <a:ext uri="{FF2B5EF4-FFF2-40B4-BE49-F238E27FC236}">
                <a16:creationId xmlns:a16="http://schemas.microsoft.com/office/drawing/2014/main" id="{958D496D-F511-7D25-C234-632EECBA3D3B}"/>
              </a:ext>
            </a:extLst>
          </p:cNvPr>
          <p:cNvSpPr/>
          <p:nvPr/>
        </p:nvSpPr>
        <p:spPr>
          <a:xfrm>
            <a:off x="10529455" y="3820125"/>
            <a:ext cx="658368" cy="658368"/>
          </a:xfrm>
          <a:prstGeom prst="ellipse">
            <a:avLst/>
          </a:prstGeom>
          <a:solidFill>
            <a:srgbClr val="FFFFFF"/>
          </a:solidFill>
          <a:ln>
            <a:solidFill>
              <a:srgbClr val="17324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lang="en-US" sz="1400" b="1" i="0" dirty="0">
              <a:solidFill>
                <a:srgbClr val="17324D"/>
              </a:solidFill>
              <a:latin typeface="Avenir Next"/>
            </a:endParaRPr>
          </a:p>
          <a:p>
            <a:pPr algn="ctr"/>
            <a:r>
              <a:rPr sz="1400" b="1" i="0" dirty="0">
                <a:solidFill>
                  <a:srgbClr val="17324D"/>
                </a:solidFill>
                <a:latin typeface="Avenir Next"/>
              </a:rPr>
              <a:t>n4</a:t>
            </a:r>
          </a:p>
        </p:txBody>
      </p:sp>
      <p:sp>
        <p:nvSpPr>
          <p:cNvPr id="61" name="Oval 60">
            <a:extLst>
              <a:ext uri="{FF2B5EF4-FFF2-40B4-BE49-F238E27FC236}">
                <a16:creationId xmlns:a16="http://schemas.microsoft.com/office/drawing/2014/main" id="{4C7D6ACA-C356-CE0D-D0FE-88003C2E228C}"/>
              </a:ext>
            </a:extLst>
          </p:cNvPr>
          <p:cNvSpPr/>
          <p:nvPr/>
        </p:nvSpPr>
        <p:spPr>
          <a:xfrm>
            <a:off x="8179251" y="3842046"/>
            <a:ext cx="658368" cy="658368"/>
          </a:xfrm>
          <a:prstGeom prst="ellipse">
            <a:avLst/>
          </a:prstGeom>
          <a:solidFill>
            <a:srgbClr val="FFFFFF"/>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lang="en-US" sz="1400" b="1" i="0" dirty="0">
              <a:solidFill>
                <a:srgbClr val="17324D"/>
              </a:solidFill>
              <a:latin typeface="Avenir Next"/>
            </a:endParaRPr>
          </a:p>
          <a:p>
            <a:pPr algn="ctr"/>
            <a:r>
              <a:rPr sz="1400" b="1" i="0" dirty="0">
                <a:solidFill>
                  <a:srgbClr val="17324D"/>
                </a:solidFill>
                <a:latin typeface="Avenir Next"/>
              </a:rPr>
              <a:t>n3</a:t>
            </a:r>
          </a:p>
        </p:txBody>
      </p:sp>
    </p:spTree>
    <p:extLst>
      <p:ext uri="{BB962C8B-B14F-4D97-AF65-F5344CB8AC3E}">
        <p14:creationId xmlns:p14="http://schemas.microsoft.com/office/powerpoint/2010/main" val="2860669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A852-E136-AE48-ABB5-1D1ACBB41AF0}"/>
            </a:ext>
          </a:extLst>
        </p:cNvPr>
        <p:cNvGrpSpPr/>
        <p:nvPr/>
      </p:nvGrpSpPr>
      <p:grpSpPr>
        <a:xfrm>
          <a:off x="0" y="0"/>
          <a:ext cx="0" cy="0"/>
          <a:chOff x="0" y="0"/>
          <a:chExt cx="0" cy="0"/>
        </a:xfrm>
      </p:grpSpPr>
      <p:sp>
        <p:nvSpPr>
          <p:cNvPr id="83" name="Rounded Rectangle 82">
            <a:extLst>
              <a:ext uri="{FF2B5EF4-FFF2-40B4-BE49-F238E27FC236}">
                <a16:creationId xmlns:a16="http://schemas.microsoft.com/office/drawing/2014/main" id="{2F433630-1C14-CBD6-0FEF-E064448F24BD}"/>
              </a:ext>
            </a:extLst>
          </p:cNvPr>
          <p:cNvSpPr/>
          <p:nvPr/>
        </p:nvSpPr>
        <p:spPr>
          <a:xfrm>
            <a:off x="7661009" y="1390308"/>
            <a:ext cx="4399186" cy="4961065"/>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 map of a landscape&#10;&#10;AI-generated content may be incorrect.">
            <a:extLst>
              <a:ext uri="{FF2B5EF4-FFF2-40B4-BE49-F238E27FC236}">
                <a16:creationId xmlns:a16="http://schemas.microsoft.com/office/drawing/2014/main" id="{E1A7D50E-7863-775B-38C7-58A8C142858A}"/>
              </a:ext>
            </a:extLst>
          </p:cNvPr>
          <p:cNvPicPr>
            <a:picLocks noChangeAspect="1"/>
          </p:cNvPicPr>
          <p:nvPr/>
        </p:nvPicPr>
        <p:blipFill>
          <a:blip r:embed="rId3">
            <a:extLst>
              <a:ext uri="{28A0092B-C50C-407E-A947-70E740481C1C}">
                <a14:useLocalDpi xmlns:a14="http://schemas.microsoft.com/office/drawing/2010/main" val="0"/>
              </a:ext>
            </a:extLst>
          </a:blip>
          <a:srcRect l="3441" t="1904" r="2358" b="54437"/>
          <a:stretch/>
        </p:blipFill>
        <p:spPr>
          <a:xfrm>
            <a:off x="8049449" y="2206764"/>
            <a:ext cx="3730504" cy="3493008"/>
          </a:xfrm>
          <a:prstGeom prst="rect">
            <a:avLst/>
          </a:prstGeom>
        </p:spPr>
      </p:pic>
      <p:sp>
        <p:nvSpPr>
          <p:cNvPr id="2" name="Datumsplatzhalter 1">
            <a:extLst>
              <a:ext uri="{FF2B5EF4-FFF2-40B4-BE49-F238E27FC236}">
                <a16:creationId xmlns:a16="http://schemas.microsoft.com/office/drawing/2014/main" id="{0D26DAB5-8BBF-F494-090A-56CAF50FD6A4}"/>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8266DB7B-AAAF-99F9-6719-1B441B3ADA73}"/>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8D9D336E-4EF8-6BFA-89CF-3FB290C51251}"/>
              </a:ext>
            </a:extLst>
          </p:cNvPr>
          <p:cNvSpPr>
            <a:spLocks noGrp="1"/>
          </p:cNvSpPr>
          <p:nvPr>
            <p:ph type="sldNum" sz="quarter" idx="12"/>
          </p:nvPr>
        </p:nvSpPr>
        <p:spPr/>
        <p:txBody>
          <a:bodyPr/>
          <a:lstStyle/>
          <a:p>
            <a:fld id="{D949F9DF-37BD-4CD6-BF49-65BA579E1D7A}" type="slidenum">
              <a:rPr lang="de-DE" smtClean="0"/>
              <a:pPr/>
              <a:t>8</a:t>
            </a:fld>
            <a:endParaRPr lang="de-DE"/>
          </a:p>
        </p:txBody>
      </p:sp>
      <p:sp>
        <p:nvSpPr>
          <p:cNvPr id="10" name="Titel 9">
            <a:extLst>
              <a:ext uri="{FF2B5EF4-FFF2-40B4-BE49-F238E27FC236}">
                <a16:creationId xmlns:a16="http://schemas.microsoft.com/office/drawing/2014/main" id="{77D1E1BD-0467-7F13-D0A2-05A483FACDC2}"/>
              </a:ext>
            </a:extLst>
          </p:cNvPr>
          <p:cNvSpPr>
            <a:spLocks noGrp="1"/>
          </p:cNvSpPr>
          <p:nvPr>
            <p:ph type="title"/>
          </p:nvPr>
        </p:nvSpPr>
        <p:spPr/>
        <p:txBody>
          <a:bodyPr/>
          <a:lstStyle/>
          <a:p>
            <a:r>
              <a:rPr lang="de-DE" dirty="0"/>
              <a:t>Backtracking Line Search</a:t>
            </a:r>
          </a:p>
        </p:txBody>
      </p:sp>
      <p:sp>
        <p:nvSpPr>
          <p:cNvPr id="12" name="Textplatzhalter 11">
            <a:extLst>
              <a:ext uri="{FF2B5EF4-FFF2-40B4-BE49-F238E27FC236}">
                <a16:creationId xmlns:a16="http://schemas.microsoft.com/office/drawing/2014/main" id="{E98B295B-424E-F3B4-CADA-607369BF7E37}"/>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346031D1-F48B-D990-2F58-AFEC38A81A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73" name="Rounded Rectangle 72">
            <a:extLst>
              <a:ext uri="{FF2B5EF4-FFF2-40B4-BE49-F238E27FC236}">
                <a16:creationId xmlns:a16="http://schemas.microsoft.com/office/drawing/2014/main" id="{20E5A58D-D456-63A8-98B6-02D8B9172BBF}"/>
              </a:ext>
            </a:extLst>
          </p:cNvPr>
          <p:cNvSpPr/>
          <p:nvPr/>
        </p:nvSpPr>
        <p:spPr>
          <a:xfrm>
            <a:off x="801908" y="1390308"/>
            <a:ext cx="6656832" cy="5054737"/>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35B40763-38FE-8C4D-A3A1-17117EB26CF0}"/>
              </a:ext>
            </a:extLst>
          </p:cNvPr>
          <p:cNvSpPr/>
          <p:nvPr/>
        </p:nvSpPr>
        <p:spPr>
          <a:xfrm>
            <a:off x="984788" y="1573189"/>
            <a:ext cx="6291072" cy="1404143"/>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a:extLst>
              <a:ext uri="{FF2B5EF4-FFF2-40B4-BE49-F238E27FC236}">
                <a16:creationId xmlns:a16="http://schemas.microsoft.com/office/drawing/2014/main" id="{E1A142AE-33E3-E524-FD72-C336ED8E92B8}"/>
              </a:ext>
            </a:extLst>
          </p:cNvPr>
          <p:cNvSpPr/>
          <p:nvPr/>
        </p:nvSpPr>
        <p:spPr>
          <a:xfrm>
            <a:off x="1149380" y="1719494"/>
            <a:ext cx="804672"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FFFFFF"/>
                </a:solidFill>
                <a:latin typeface="Avenir Next"/>
              </a:rPr>
              <a:t>1</a:t>
            </a:r>
          </a:p>
        </p:txBody>
      </p:sp>
      <p:sp>
        <p:nvSpPr>
          <p:cNvPr id="76" name="TextBox 75">
            <a:extLst>
              <a:ext uri="{FF2B5EF4-FFF2-40B4-BE49-F238E27FC236}">
                <a16:creationId xmlns:a16="http://schemas.microsoft.com/office/drawing/2014/main" id="{73A38795-730D-EDD2-F7E0-1806FEC8B24A}"/>
              </a:ext>
            </a:extLst>
          </p:cNvPr>
          <p:cNvSpPr txBox="1"/>
          <p:nvPr/>
        </p:nvSpPr>
        <p:spPr>
          <a:xfrm>
            <a:off x="1983732" y="1718545"/>
            <a:ext cx="5961888" cy="369332"/>
          </a:xfrm>
          <a:prstGeom prst="rect">
            <a:avLst/>
          </a:prstGeom>
          <a:noFill/>
        </p:spPr>
        <p:txBody>
          <a:bodyPr wrap="square" anchor="t">
            <a:spAutoFit/>
          </a:bodyPr>
          <a:lstStyle/>
          <a:p>
            <a:pPr algn="l"/>
            <a:r>
              <a:rPr lang="en-US" sz="1800" b="1" i="0" dirty="0">
                <a:solidFill>
                  <a:srgbClr val="17324D"/>
                </a:solidFill>
                <a:latin typeface="Avenir Next"/>
              </a:rPr>
              <a:t>Merit function</a:t>
            </a:r>
          </a:p>
        </p:txBody>
      </p:sp>
      <p:sp>
        <p:nvSpPr>
          <p:cNvPr id="77" name="Rounded Rectangle 76">
            <a:extLst>
              <a:ext uri="{FF2B5EF4-FFF2-40B4-BE49-F238E27FC236}">
                <a16:creationId xmlns:a16="http://schemas.microsoft.com/office/drawing/2014/main" id="{B740D3FB-E183-382E-9B96-07237EF7BDA0}"/>
              </a:ext>
            </a:extLst>
          </p:cNvPr>
          <p:cNvSpPr/>
          <p:nvPr/>
        </p:nvSpPr>
        <p:spPr>
          <a:xfrm>
            <a:off x="1004177" y="3134856"/>
            <a:ext cx="6291072" cy="149343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extLst>
              <a:ext uri="{FF2B5EF4-FFF2-40B4-BE49-F238E27FC236}">
                <a16:creationId xmlns:a16="http://schemas.microsoft.com/office/drawing/2014/main" id="{2C441281-D62F-F4F3-EFA0-018557D95FF0}"/>
              </a:ext>
            </a:extLst>
          </p:cNvPr>
          <p:cNvSpPr/>
          <p:nvPr/>
        </p:nvSpPr>
        <p:spPr>
          <a:xfrm>
            <a:off x="1168769" y="3281160"/>
            <a:ext cx="804672"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17324D"/>
                </a:solidFill>
                <a:latin typeface="Avenir Next"/>
              </a:rPr>
              <a:t>2</a:t>
            </a:r>
          </a:p>
        </p:txBody>
      </p:sp>
      <p:sp>
        <p:nvSpPr>
          <p:cNvPr id="79" name="TextBox 78">
            <a:extLst>
              <a:ext uri="{FF2B5EF4-FFF2-40B4-BE49-F238E27FC236}">
                <a16:creationId xmlns:a16="http://schemas.microsoft.com/office/drawing/2014/main" id="{3A4F8F50-9E0D-164C-5F5B-D8CE3BD60401}"/>
              </a:ext>
            </a:extLst>
          </p:cNvPr>
          <p:cNvSpPr txBox="1"/>
          <p:nvPr/>
        </p:nvSpPr>
        <p:spPr>
          <a:xfrm>
            <a:off x="2042021" y="3297026"/>
            <a:ext cx="5961888" cy="369332"/>
          </a:xfrm>
          <a:prstGeom prst="rect">
            <a:avLst/>
          </a:prstGeom>
          <a:noFill/>
        </p:spPr>
        <p:txBody>
          <a:bodyPr wrap="square" anchor="t">
            <a:spAutoFit/>
          </a:bodyPr>
          <a:lstStyle/>
          <a:p>
            <a:pPr algn="l"/>
            <a:r>
              <a:rPr lang="en-US" sz="1800" b="1" i="0" dirty="0">
                <a:solidFill>
                  <a:srgbClr val="17324D"/>
                </a:solidFill>
                <a:latin typeface="Avenir Next"/>
              </a:rPr>
              <a:t>Backtracking rule</a:t>
            </a:r>
          </a:p>
        </p:txBody>
      </p:sp>
      <p:sp>
        <p:nvSpPr>
          <p:cNvPr id="80" name="Rounded Rectangle 79">
            <a:extLst>
              <a:ext uri="{FF2B5EF4-FFF2-40B4-BE49-F238E27FC236}">
                <a16:creationId xmlns:a16="http://schemas.microsoft.com/office/drawing/2014/main" id="{6A6F3E18-FE35-A080-F247-77F8CC287A1A}"/>
              </a:ext>
            </a:extLst>
          </p:cNvPr>
          <p:cNvSpPr/>
          <p:nvPr/>
        </p:nvSpPr>
        <p:spPr>
          <a:xfrm>
            <a:off x="1019064" y="4859333"/>
            <a:ext cx="6291072" cy="126187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extLst>
              <a:ext uri="{FF2B5EF4-FFF2-40B4-BE49-F238E27FC236}">
                <a16:creationId xmlns:a16="http://schemas.microsoft.com/office/drawing/2014/main" id="{C0CE237E-4047-130F-9054-C4C5C7FF4C98}"/>
              </a:ext>
            </a:extLst>
          </p:cNvPr>
          <p:cNvSpPr/>
          <p:nvPr/>
        </p:nvSpPr>
        <p:spPr>
          <a:xfrm>
            <a:off x="1174488" y="4913607"/>
            <a:ext cx="804672" cy="31089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FFFFFF"/>
                </a:solidFill>
                <a:latin typeface="Avenir Next"/>
              </a:rPr>
              <a:t>3</a:t>
            </a:r>
          </a:p>
        </p:txBody>
      </p:sp>
      <p:sp>
        <p:nvSpPr>
          <p:cNvPr id="82" name="TextBox 81">
            <a:extLst>
              <a:ext uri="{FF2B5EF4-FFF2-40B4-BE49-F238E27FC236}">
                <a16:creationId xmlns:a16="http://schemas.microsoft.com/office/drawing/2014/main" id="{DE9C2983-3DBA-6F0E-2F9F-4220D7848FEC}"/>
              </a:ext>
            </a:extLst>
          </p:cNvPr>
          <p:cNvSpPr txBox="1"/>
          <p:nvPr/>
        </p:nvSpPr>
        <p:spPr>
          <a:xfrm>
            <a:off x="1983732" y="4929473"/>
            <a:ext cx="5961888" cy="369332"/>
          </a:xfrm>
          <a:prstGeom prst="rect">
            <a:avLst/>
          </a:prstGeom>
          <a:noFill/>
        </p:spPr>
        <p:txBody>
          <a:bodyPr wrap="square" anchor="t">
            <a:spAutoFit/>
          </a:bodyPr>
          <a:lstStyle/>
          <a:p>
            <a:pPr algn="l"/>
            <a:r>
              <a:rPr lang="en-US" sz="1800" b="1" i="0" dirty="0">
                <a:solidFill>
                  <a:srgbClr val="17324D"/>
                </a:solidFill>
                <a:latin typeface="Avenir Next"/>
              </a:rPr>
              <a:t>Accepted update</a:t>
            </a:r>
          </a:p>
        </p:txBody>
      </p:sp>
      <p:sp>
        <p:nvSpPr>
          <p:cNvPr id="84" name="Rounded Rectangle 83">
            <a:extLst>
              <a:ext uri="{FF2B5EF4-FFF2-40B4-BE49-F238E27FC236}">
                <a16:creationId xmlns:a16="http://schemas.microsoft.com/office/drawing/2014/main" id="{4A32F679-8209-D773-3E39-3579EC8A5DD1}"/>
              </a:ext>
            </a:extLst>
          </p:cNvPr>
          <p:cNvSpPr/>
          <p:nvPr/>
        </p:nvSpPr>
        <p:spPr>
          <a:xfrm>
            <a:off x="7989092" y="1554902"/>
            <a:ext cx="1505428" cy="292608"/>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17324D"/>
                </a:solidFill>
                <a:latin typeface="Avenir Next"/>
              </a:rPr>
              <a:t>INTUITION</a:t>
            </a:r>
            <a:endParaRPr sz="1100" b="1" i="0" dirty="0">
              <a:solidFill>
                <a:srgbClr val="17324D"/>
              </a:solidFill>
              <a:latin typeface="Avenir Next"/>
            </a:endParaRPr>
          </a:p>
        </p:txBody>
      </p:sp>
      <p:pic>
        <p:nvPicPr>
          <p:cNvPr id="107" name="Picture 106">
            <a:extLst>
              <a:ext uri="{FF2B5EF4-FFF2-40B4-BE49-F238E27FC236}">
                <a16:creationId xmlns:a16="http://schemas.microsoft.com/office/drawing/2014/main" id="{74B6090B-8822-1891-FEE6-B34D90C777E3}"/>
              </a:ext>
            </a:extLst>
          </p:cNvPr>
          <p:cNvPicPr>
            <a:picLocks noChangeAspect="1"/>
          </p:cNvPicPr>
          <p:nvPr/>
        </p:nvPicPr>
        <p:blipFill>
          <a:blip r:embed="rId5"/>
          <a:stretch>
            <a:fillRect/>
          </a:stretch>
        </p:blipFill>
        <p:spPr>
          <a:xfrm>
            <a:off x="1294993" y="4092136"/>
            <a:ext cx="5329809" cy="457775"/>
          </a:xfrm>
          <a:prstGeom prst="rect">
            <a:avLst/>
          </a:prstGeom>
        </p:spPr>
      </p:pic>
      <p:pic>
        <p:nvPicPr>
          <p:cNvPr id="108" name="Picture 107">
            <a:extLst>
              <a:ext uri="{FF2B5EF4-FFF2-40B4-BE49-F238E27FC236}">
                <a16:creationId xmlns:a16="http://schemas.microsoft.com/office/drawing/2014/main" id="{D4A839A3-BEA1-F2AF-621F-FAE2726A6407}"/>
              </a:ext>
            </a:extLst>
          </p:cNvPr>
          <p:cNvPicPr>
            <a:picLocks noChangeAspect="1"/>
          </p:cNvPicPr>
          <p:nvPr/>
        </p:nvPicPr>
        <p:blipFill>
          <a:blip r:embed="rId6"/>
          <a:stretch>
            <a:fillRect/>
          </a:stretch>
        </p:blipFill>
        <p:spPr>
          <a:xfrm>
            <a:off x="1203340" y="2586274"/>
            <a:ext cx="5269482" cy="292749"/>
          </a:xfrm>
          <a:prstGeom prst="rect">
            <a:avLst/>
          </a:prstGeom>
        </p:spPr>
      </p:pic>
      <p:pic>
        <p:nvPicPr>
          <p:cNvPr id="109" name="Picture 108">
            <a:extLst>
              <a:ext uri="{FF2B5EF4-FFF2-40B4-BE49-F238E27FC236}">
                <a16:creationId xmlns:a16="http://schemas.microsoft.com/office/drawing/2014/main" id="{CA85BB22-2FB1-5D7C-7E0D-9C41EF73F413}"/>
              </a:ext>
            </a:extLst>
          </p:cNvPr>
          <p:cNvPicPr>
            <a:picLocks noChangeAspect="1"/>
          </p:cNvPicPr>
          <p:nvPr/>
        </p:nvPicPr>
        <p:blipFill>
          <a:blip r:embed="rId7"/>
          <a:stretch>
            <a:fillRect/>
          </a:stretch>
        </p:blipFill>
        <p:spPr>
          <a:xfrm>
            <a:off x="1258838" y="2098622"/>
            <a:ext cx="2326288" cy="508876"/>
          </a:xfrm>
          <a:prstGeom prst="rect">
            <a:avLst/>
          </a:prstGeom>
        </p:spPr>
      </p:pic>
      <p:pic>
        <p:nvPicPr>
          <p:cNvPr id="110" name="Picture 109">
            <a:extLst>
              <a:ext uri="{FF2B5EF4-FFF2-40B4-BE49-F238E27FC236}">
                <a16:creationId xmlns:a16="http://schemas.microsoft.com/office/drawing/2014/main" id="{C4485248-2709-3A03-DFE7-93CD5DED7DEE}"/>
              </a:ext>
            </a:extLst>
          </p:cNvPr>
          <p:cNvPicPr>
            <a:picLocks noChangeAspect="1"/>
          </p:cNvPicPr>
          <p:nvPr/>
        </p:nvPicPr>
        <p:blipFill>
          <a:blip r:embed="rId8"/>
          <a:stretch>
            <a:fillRect/>
          </a:stretch>
        </p:blipFill>
        <p:spPr>
          <a:xfrm>
            <a:off x="1294993" y="3689918"/>
            <a:ext cx="2253979" cy="351538"/>
          </a:xfrm>
          <a:prstGeom prst="rect">
            <a:avLst/>
          </a:prstGeom>
        </p:spPr>
      </p:pic>
      <p:pic>
        <p:nvPicPr>
          <p:cNvPr id="113" name="Picture 112">
            <a:extLst>
              <a:ext uri="{FF2B5EF4-FFF2-40B4-BE49-F238E27FC236}">
                <a16:creationId xmlns:a16="http://schemas.microsoft.com/office/drawing/2014/main" id="{0986D2D4-0A60-4DC8-ACB9-B61BAAEB5017}"/>
              </a:ext>
            </a:extLst>
          </p:cNvPr>
          <p:cNvPicPr>
            <a:picLocks noChangeAspect="1"/>
          </p:cNvPicPr>
          <p:nvPr/>
        </p:nvPicPr>
        <p:blipFill>
          <a:blip r:embed="rId9"/>
          <a:stretch>
            <a:fillRect/>
          </a:stretch>
        </p:blipFill>
        <p:spPr>
          <a:xfrm>
            <a:off x="1384957" y="5402591"/>
            <a:ext cx="5662474" cy="722869"/>
          </a:xfrm>
          <a:prstGeom prst="rect">
            <a:avLst/>
          </a:prstGeom>
        </p:spPr>
      </p:pic>
      <p:sp>
        <p:nvSpPr>
          <p:cNvPr id="115" name="TextBox 114">
            <a:extLst>
              <a:ext uri="{FF2B5EF4-FFF2-40B4-BE49-F238E27FC236}">
                <a16:creationId xmlns:a16="http://schemas.microsoft.com/office/drawing/2014/main" id="{D86A6499-86C1-B513-D42E-F064EBF51824}"/>
              </a:ext>
            </a:extLst>
          </p:cNvPr>
          <p:cNvSpPr txBox="1"/>
          <p:nvPr/>
        </p:nvSpPr>
        <p:spPr>
          <a:xfrm>
            <a:off x="8893100" y="7161183"/>
            <a:ext cx="7558548" cy="923330"/>
          </a:xfrm>
          <a:prstGeom prst="rect">
            <a:avLst/>
          </a:prstGeom>
          <a:noFill/>
        </p:spPr>
        <p:txBody>
          <a:bodyPr wrap="square">
            <a:spAutoFit/>
          </a:bodyPr>
          <a:lstStyle/>
          <a:p>
            <a:r>
              <a:rPr lang="en-US" dirty="0"/>
              <a:t>https://convex-optimization-for-</a:t>
            </a:r>
            <a:r>
              <a:rPr lang="en-US" dirty="0" err="1"/>
              <a:t>all.github.io</a:t>
            </a:r>
            <a:r>
              <a:rPr lang="en-US" dirty="0"/>
              <a:t>/contents/chapter06/2021/03/20/06_02_02_backtracking_line_search/</a:t>
            </a:r>
          </a:p>
        </p:txBody>
      </p:sp>
      <p:pic>
        <p:nvPicPr>
          <p:cNvPr id="11" name="Picture 10" descr="A diagram of a weather forecast&#10;&#10;AI-generated content may be incorrect.">
            <a:extLst>
              <a:ext uri="{FF2B5EF4-FFF2-40B4-BE49-F238E27FC236}">
                <a16:creationId xmlns:a16="http://schemas.microsoft.com/office/drawing/2014/main" id="{8CF8F807-B305-1FFB-65F9-54BC58886829}"/>
              </a:ext>
            </a:extLst>
          </p:cNvPr>
          <p:cNvPicPr>
            <a:picLocks noChangeAspect="1"/>
          </p:cNvPicPr>
          <p:nvPr/>
        </p:nvPicPr>
        <p:blipFill>
          <a:blip r:embed="rId10">
            <a:extLst>
              <a:ext uri="{28A0092B-C50C-407E-A947-70E740481C1C}">
                <a14:useLocalDpi xmlns:a14="http://schemas.microsoft.com/office/drawing/2010/main" val="0"/>
              </a:ext>
            </a:extLst>
          </a:blip>
          <a:srcRect l="40415" t="3180" r="3458" b="3865"/>
          <a:stretch/>
        </p:blipFill>
        <p:spPr>
          <a:xfrm>
            <a:off x="15103283" y="2918914"/>
            <a:ext cx="3808838" cy="3880837"/>
          </a:xfrm>
          <a:prstGeom prst="rect">
            <a:avLst/>
          </a:prstGeom>
        </p:spPr>
      </p:pic>
      <p:sp>
        <p:nvSpPr>
          <p:cNvPr id="13" name="TextBox 12">
            <a:extLst>
              <a:ext uri="{FF2B5EF4-FFF2-40B4-BE49-F238E27FC236}">
                <a16:creationId xmlns:a16="http://schemas.microsoft.com/office/drawing/2014/main" id="{CA5A5B45-0258-60AC-08E2-42E43EC29647}"/>
              </a:ext>
            </a:extLst>
          </p:cNvPr>
          <p:cNvSpPr txBox="1"/>
          <p:nvPr/>
        </p:nvSpPr>
        <p:spPr>
          <a:xfrm>
            <a:off x="11289384" y="2450863"/>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15" name="TextBox 14">
            <a:extLst>
              <a:ext uri="{FF2B5EF4-FFF2-40B4-BE49-F238E27FC236}">
                <a16:creationId xmlns:a16="http://schemas.microsoft.com/office/drawing/2014/main" id="{F083AC86-ECF8-D759-F485-93ADCC35AC10}"/>
              </a:ext>
            </a:extLst>
          </p:cNvPr>
          <p:cNvSpPr txBox="1"/>
          <p:nvPr/>
        </p:nvSpPr>
        <p:spPr>
          <a:xfrm>
            <a:off x="8061835" y="3274081"/>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
        <p:nvSpPr>
          <p:cNvPr id="16" name="TextBox 15">
            <a:extLst>
              <a:ext uri="{FF2B5EF4-FFF2-40B4-BE49-F238E27FC236}">
                <a16:creationId xmlns:a16="http://schemas.microsoft.com/office/drawing/2014/main" id="{C98BC266-0E23-4402-46DA-2998E561E8E0}"/>
              </a:ext>
            </a:extLst>
          </p:cNvPr>
          <p:cNvSpPr txBox="1"/>
          <p:nvPr/>
        </p:nvSpPr>
        <p:spPr>
          <a:xfrm>
            <a:off x="9432172" y="2591415"/>
            <a:ext cx="961802"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FF8311"/>
                </a:solidFill>
                <a:effectLst/>
                <a:uLnTx/>
                <a:uFillTx/>
                <a:latin typeface="Arial"/>
                <a:ea typeface="+mn-ea"/>
                <a:cs typeface="+mn-cs"/>
              </a:rPr>
              <a:t>Accepted</a:t>
            </a:r>
          </a:p>
        </p:txBody>
      </p:sp>
      <p:sp>
        <p:nvSpPr>
          <p:cNvPr id="17" name="TextBox 16">
            <a:extLst>
              <a:ext uri="{FF2B5EF4-FFF2-40B4-BE49-F238E27FC236}">
                <a16:creationId xmlns:a16="http://schemas.microsoft.com/office/drawing/2014/main" id="{8EDDAB44-82A7-C2D5-3587-684B70F4FFB4}"/>
              </a:ext>
            </a:extLst>
          </p:cNvPr>
          <p:cNvSpPr txBox="1"/>
          <p:nvPr/>
        </p:nvSpPr>
        <p:spPr>
          <a:xfrm>
            <a:off x="10110811" y="5379646"/>
            <a:ext cx="410369"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latin typeface="Arial"/>
              </a:rPr>
              <a:t>End</a:t>
            </a:r>
            <a:endParaRPr kumimoji="0" lang="en-US" b="0" i="0" u="none" strike="noStrike" kern="120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1043215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86852-A10D-12DC-6075-F040DCECEEEF}"/>
            </a:ext>
          </a:extLst>
        </p:cNvPr>
        <p:cNvGrpSpPr/>
        <p:nvPr/>
      </p:nvGrpSpPr>
      <p:grpSpPr>
        <a:xfrm>
          <a:off x="0" y="0"/>
          <a:ext cx="0" cy="0"/>
          <a:chOff x="0" y="0"/>
          <a:chExt cx="0" cy="0"/>
        </a:xfrm>
      </p:grpSpPr>
      <p:sp>
        <p:nvSpPr>
          <p:cNvPr id="83" name="Rounded Rectangle 82">
            <a:extLst>
              <a:ext uri="{FF2B5EF4-FFF2-40B4-BE49-F238E27FC236}">
                <a16:creationId xmlns:a16="http://schemas.microsoft.com/office/drawing/2014/main" id="{4A619C90-02FA-3B7E-22FC-A08E8D49B98D}"/>
              </a:ext>
            </a:extLst>
          </p:cNvPr>
          <p:cNvSpPr/>
          <p:nvPr/>
        </p:nvSpPr>
        <p:spPr>
          <a:xfrm>
            <a:off x="7661009" y="1390308"/>
            <a:ext cx="4399186" cy="4961065"/>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 map of a landscape&#10;&#10;AI-generated content may be incorrect.">
            <a:extLst>
              <a:ext uri="{FF2B5EF4-FFF2-40B4-BE49-F238E27FC236}">
                <a16:creationId xmlns:a16="http://schemas.microsoft.com/office/drawing/2014/main" id="{EC166A9C-0386-DA7D-BD04-703D3C5C23C5}"/>
              </a:ext>
            </a:extLst>
          </p:cNvPr>
          <p:cNvPicPr>
            <a:picLocks noChangeAspect="1"/>
          </p:cNvPicPr>
          <p:nvPr/>
        </p:nvPicPr>
        <p:blipFill>
          <a:blip r:embed="rId3">
            <a:extLst>
              <a:ext uri="{28A0092B-C50C-407E-A947-70E740481C1C}">
                <a14:useLocalDpi xmlns:a14="http://schemas.microsoft.com/office/drawing/2010/main" val="0"/>
              </a:ext>
            </a:extLst>
          </a:blip>
          <a:srcRect l="3441" t="1904" r="2358" b="54437"/>
          <a:stretch/>
        </p:blipFill>
        <p:spPr>
          <a:xfrm>
            <a:off x="8049449" y="2206765"/>
            <a:ext cx="3727248" cy="3489959"/>
          </a:xfrm>
          <a:prstGeom prst="rect">
            <a:avLst/>
          </a:prstGeom>
        </p:spPr>
      </p:pic>
      <p:sp>
        <p:nvSpPr>
          <p:cNvPr id="2" name="Datumsplatzhalter 1">
            <a:extLst>
              <a:ext uri="{FF2B5EF4-FFF2-40B4-BE49-F238E27FC236}">
                <a16:creationId xmlns:a16="http://schemas.microsoft.com/office/drawing/2014/main" id="{65DD3422-4894-2974-1D2F-B25F323AFC68}"/>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733A73AF-FCA3-6734-1BD0-88F359D5EACD}"/>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A1FB6E7D-E600-6C58-99ED-04BA66E9F03A}"/>
              </a:ext>
            </a:extLst>
          </p:cNvPr>
          <p:cNvSpPr>
            <a:spLocks noGrp="1"/>
          </p:cNvSpPr>
          <p:nvPr>
            <p:ph type="sldNum" sz="quarter" idx="12"/>
          </p:nvPr>
        </p:nvSpPr>
        <p:spPr/>
        <p:txBody>
          <a:bodyPr/>
          <a:lstStyle/>
          <a:p>
            <a:fld id="{D949F9DF-37BD-4CD6-BF49-65BA579E1D7A}" type="slidenum">
              <a:rPr lang="de-DE" smtClean="0"/>
              <a:pPr/>
              <a:t>9</a:t>
            </a:fld>
            <a:endParaRPr lang="de-DE"/>
          </a:p>
        </p:txBody>
      </p:sp>
      <p:sp>
        <p:nvSpPr>
          <p:cNvPr id="10" name="Titel 9">
            <a:extLst>
              <a:ext uri="{FF2B5EF4-FFF2-40B4-BE49-F238E27FC236}">
                <a16:creationId xmlns:a16="http://schemas.microsoft.com/office/drawing/2014/main" id="{10F1D419-A852-37E0-F43B-1CB470B98E35}"/>
              </a:ext>
            </a:extLst>
          </p:cNvPr>
          <p:cNvSpPr>
            <a:spLocks noGrp="1"/>
          </p:cNvSpPr>
          <p:nvPr>
            <p:ph type="title"/>
          </p:nvPr>
        </p:nvSpPr>
        <p:spPr/>
        <p:txBody>
          <a:bodyPr/>
          <a:lstStyle/>
          <a:p>
            <a:r>
              <a:rPr lang="de-DE" dirty="0"/>
              <a:t>Backtracking Line Search</a:t>
            </a:r>
          </a:p>
        </p:txBody>
      </p:sp>
      <p:sp>
        <p:nvSpPr>
          <p:cNvPr id="12" name="Textplatzhalter 11">
            <a:extLst>
              <a:ext uri="{FF2B5EF4-FFF2-40B4-BE49-F238E27FC236}">
                <a16:creationId xmlns:a16="http://schemas.microsoft.com/office/drawing/2014/main" id="{FDD5CC2E-2170-A83F-FF19-7F419535CD57}"/>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A56980CC-0562-0772-F175-FA673EB758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73" name="Rounded Rectangle 72">
            <a:extLst>
              <a:ext uri="{FF2B5EF4-FFF2-40B4-BE49-F238E27FC236}">
                <a16:creationId xmlns:a16="http://schemas.microsoft.com/office/drawing/2014/main" id="{A01021B3-E14E-BAF9-1D5B-7EA1A7E34BF5}"/>
              </a:ext>
            </a:extLst>
          </p:cNvPr>
          <p:cNvSpPr/>
          <p:nvPr/>
        </p:nvSpPr>
        <p:spPr>
          <a:xfrm>
            <a:off x="801908" y="1390308"/>
            <a:ext cx="6656832" cy="5054737"/>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9A6F752C-45CC-113B-A694-CE706D148EFB}"/>
              </a:ext>
            </a:extLst>
          </p:cNvPr>
          <p:cNvSpPr/>
          <p:nvPr/>
        </p:nvSpPr>
        <p:spPr>
          <a:xfrm>
            <a:off x="984788" y="1573189"/>
            <a:ext cx="6291072" cy="1404143"/>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a:extLst>
              <a:ext uri="{FF2B5EF4-FFF2-40B4-BE49-F238E27FC236}">
                <a16:creationId xmlns:a16="http://schemas.microsoft.com/office/drawing/2014/main" id="{D79D08C5-405F-C3C6-A40D-F87E0C500F57}"/>
              </a:ext>
            </a:extLst>
          </p:cNvPr>
          <p:cNvSpPr/>
          <p:nvPr/>
        </p:nvSpPr>
        <p:spPr>
          <a:xfrm>
            <a:off x="1149380" y="1719494"/>
            <a:ext cx="804672"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FFFFFF"/>
                </a:solidFill>
                <a:latin typeface="Avenir Next"/>
              </a:rPr>
              <a:t>1</a:t>
            </a:r>
          </a:p>
        </p:txBody>
      </p:sp>
      <p:sp>
        <p:nvSpPr>
          <p:cNvPr id="76" name="TextBox 75">
            <a:extLst>
              <a:ext uri="{FF2B5EF4-FFF2-40B4-BE49-F238E27FC236}">
                <a16:creationId xmlns:a16="http://schemas.microsoft.com/office/drawing/2014/main" id="{2739EB06-8B5F-3787-B0DB-A1ECE7B78BED}"/>
              </a:ext>
            </a:extLst>
          </p:cNvPr>
          <p:cNvSpPr txBox="1"/>
          <p:nvPr/>
        </p:nvSpPr>
        <p:spPr>
          <a:xfrm>
            <a:off x="1983732" y="1718545"/>
            <a:ext cx="5961888" cy="369332"/>
          </a:xfrm>
          <a:prstGeom prst="rect">
            <a:avLst/>
          </a:prstGeom>
          <a:noFill/>
        </p:spPr>
        <p:txBody>
          <a:bodyPr wrap="square" anchor="t">
            <a:spAutoFit/>
          </a:bodyPr>
          <a:lstStyle/>
          <a:p>
            <a:pPr algn="l"/>
            <a:r>
              <a:rPr lang="en-US" sz="1800" b="1" i="0" dirty="0">
                <a:solidFill>
                  <a:srgbClr val="17324D"/>
                </a:solidFill>
                <a:latin typeface="Avenir Next"/>
              </a:rPr>
              <a:t>Merit function</a:t>
            </a:r>
          </a:p>
        </p:txBody>
      </p:sp>
      <p:sp>
        <p:nvSpPr>
          <p:cNvPr id="77" name="Rounded Rectangle 76">
            <a:extLst>
              <a:ext uri="{FF2B5EF4-FFF2-40B4-BE49-F238E27FC236}">
                <a16:creationId xmlns:a16="http://schemas.microsoft.com/office/drawing/2014/main" id="{262D4865-8F62-6FF4-C6D9-389CDC816AEB}"/>
              </a:ext>
            </a:extLst>
          </p:cNvPr>
          <p:cNvSpPr/>
          <p:nvPr/>
        </p:nvSpPr>
        <p:spPr>
          <a:xfrm>
            <a:off x="1004177" y="3134856"/>
            <a:ext cx="6291072" cy="149343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extLst>
              <a:ext uri="{FF2B5EF4-FFF2-40B4-BE49-F238E27FC236}">
                <a16:creationId xmlns:a16="http://schemas.microsoft.com/office/drawing/2014/main" id="{97D84132-B431-682E-52F3-940A7DF6D21A}"/>
              </a:ext>
            </a:extLst>
          </p:cNvPr>
          <p:cNvSpPr/>
          <p:nvPr/>
        </p:nvSpPr>
        <p:spPr>
          <a:xfrm>
            <a:off x="1168769" y="3281160"/>
            <a:ext cx="804672"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17324D"/>
                </a:solidFill>
                <a:latin typeface="Avenir Next"/>
              </a:rPr>
              <a:t>2</a:t>
            </a:r>
          </a:p>
        </p:txBody>
      </p:sp>
      <p:sp>
        <p:nvSpPr>
          <p:cNvPr id="79" name="TextBox 78">
            <a:extLst>
              <a:ext uri="{FF2B5EF4-FFF2-40B4-BE49-F238E27FC236}">
                <a16:creationId xmlns:a16="http://schemas.microsoft.com/office/drawing/2014/main" id="{F3D30DF9-F8D2-B20A-B9D9-288F4D8DD625}"/>
              </a:ext>
            </a:extLst>
          </p:cNvPr>
          <p:cNvSpPr txBox="1"/>
          <p:nvPr/>
        </p:nvSpPr>
        <p:spPr>
          <a:xfrm>
            <a:off x="2042021" y="3297026"/>
            <a:ext cx="5961888" cy="369332"/>
          </a:xfrm>
          <a:prstGeom prst="rect">
            <a:avLst/>
          </a:prstGeom>
          <a:noFill/>
        </p:spPr>
        <p:txBody>
          <a:bodyPr wrap="square" anchor="t">
            <a:spAutoFit/>
          </a:bodyPr>
          <a:lstStyle/>
          <a:p>
            <a:pPr algn="l"/>
            <a:r>
              <a:rPr lang="en-US" sz="1800" b="1" i="0" dirty="0">
                <a:solidFill>
                  <a:srgbClr val="17324D"/>
                </a:solidFill>
                <a:latin typeface="Avenir Next"/>
              </a:rPr>
              <a:t>Backtracking rule</a:t>
            </a:r>
          </a:p>
        </p:txBody>
      </p:sp>
      <p:sp>
        <p:nvSpPr>
          <p:cNvPr id="80" name="Rounded Rectangle 79">
            <a:extLst>
              <a:ext uri="{FF2B5EF4-FFF2-40B4-BE49-F238E27FC236}">
                <a16:creationId xmlns:a16="http://schemas.microsoft.com/office/drawing/2014/main" id="{7C22C99B-C889-AFF4-480C-2B6B38331E90}"/>
              </a:ext>
            </a:extLst>
          </p:cNvPr>
          <p:cNvSpPr/>
          <p:nvPr/>
        </p:nvSpPr>
        <p:spPr>
          <a:xfrm>
            <a:off x="1019064" y="4859333"/>
            <a:ext cx="6291072" cy="126187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extLst>
              <a:ext uri="{FF2B5EF4-FFF2-40B4-BE49-F238E27FC236}">
                <a16:creationId xmlns:a16="http://schemas.microsoft.com/office/drawing/2014/main" id="{136B6CFA-C3CC-5774-782D-44E90BE29A52}"/>
              </a:ext>
            </a:extLst>
          </p:cNvPr>
          <p:cNvSpPr/>
          <p:nvPr/>
        </p:nvSpPr>
        <p:spPr>
          <a:xfrm>
            <a:off x="1174488" y="4913607"/>
            <a:ext cx="804672" cy="31089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FFFFFF"/>
                </a:solidFill>
                <a:latin typeface="Avenir Next"/>
              </a:rPr>
              <a:t>3</a:t>
            </a:r>
          </a:p>
        </p:txBody>
      </p:sp>
      <p:sp>
        <p:nvSpPr>
          <p:cNvPr id="82" name="TextBox 81">
            <a:extLst>
              <a:ext uri="{FF2B5EF4-FFF2-40B4-BE49-F238E27FC236}">
                <a16:creationId xmlns:a16="http://schemas.microsoft.com/office/drawing/2014/main" id="{0FCB2697-E59F-F4FB-D32A-071C9BB719BC}"/>
              </a:ext>
            </a:extLst>
          </p:cNvPr>
          <p:cNvSpPr txBox="1"/>
          <p:nvPr/>
        </p:nvSpPr>
        <p:spPr>
          <a:xfrm>
            <a:off x="1983732" y="4929473"/>
            <a:ext cx="5961888" cy="369332"/>
          </a:xfrm>
          <a:prstGeom prst="rect">
            <a:avLst/>
          </a:prstGeom>
          <a:noFill/>
        </p:spPr>
        <p:txBody>
          <a:bodyPr wrap="square" anchor="t">
            <a:spAutoFit/>
          </a:bodyPr>
          <a:lstStyle/>
          <a:p>
            <a:pPr algn="l"/>
            <a:r>
              <a:rPr lang="en-US" sz="1800" b="1" i="0" dirty="0">
                <a:solidFill>
                  <a:srgbClr val="17324D"/>
                </a:solidFill>
                <a:latin typeface="Avenir Next"/>
              </a:rPr>
              <a:t>Accepted update</a:t>
            </a:r>
          </a:p>
        </p:txBody>
      </p:sp>
      <p:sp>
        <p:nvSpPr>
          <p:cNvPr id="84" name="Rounded Rectangle 83">
            <a:extLst>
              <a:ext uri="{FF2B5EF4-FFF2-40B4-BE49-F238E27FC236}">
                <a16:creationId xmlns:a16="http://schemas.microsoft.com/office/drawing/2014/main" id="{AF7DB7D1-6D46-A038-802A-E305903AAFDD}"/>
              </a:ext>
            </a:extLst>
          </p:cNvPr>
          <p:cNvSpPr/>
          <p:nvPr/>
        </p:nvSpPr>
        <p:spPr>
          <a:xfrm>
            <a:off x="7989092" y="1554902"/>
            <a:ext cx="1505428" cy="292608"/>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17324D"/>
                </a:solidFill>
                <a:latin typeface="Avenir Next"/>
              </a:rPr>
              <a:t>INTUITION</a:t>
            </a:r>
            <a:endParaRPr sz="1100" b="1" i="0" dirty="0">
              <a:solidFill>
                <a:srgbClr val="17324D"/>
              </a:solidFill>
              <a:latin typeface="Avenir Next"/>
            </a:endParaRPr>
          </a:p>
        </p:txBody>
      </p:sp>
      <p:pic>
        <p:nvPicPr>
          <p:cNvPr id="107" name="Picture 106">
            <a:extLst>
              <a:ext uri="{FF2B5EF4-FFF2-40B4-BE49-F238E27FC236}">
                <a16:creationId xmlns:a16="http://schemas.microsoft.com/office/drawing/2014/main" id="{1138309E-9DA8-BC62-A340-A43EE2751DB3}"/>
              </a:ext>
            </a:extLst>
          </p:cNvPr>
          <p:cNvPicPr>
            <a:picLocks noChangeAspect="1"/>
          </p:cNvPicPr>
          <p:nvPr/>
        </p:nvPicPr>
        <p:blipFill>
          <a:blip r:embed="rId5"/>
          <a:stretch>
            <a:fillRect/>
          </a:stretch>
        </p:blipFill>
        <p:spPr>
          <a:xfrm>
            <a:off x="1294993" y="4092136"/>
            <a:ext cx="5329809" cy="457775"/>
          </a:xfrm>
          <a:prstGeom prst="rect">
            <a:avLst/>
          </a:prstGeom>
        </p:spPr>
      </p:pic>
      <p:pic>
        <p:nvPicPr>
          <p:cNvPr id="108" name="Picture 107">
            <a:extLst>
              <a:ext uri="{FF2B5EF4-FFF2-40B4-BE49-F238E27FC236}">
                <a16:creationId xmlns:a16="http://schemas.microsoft.com/office/drawing/2014/main" id="{34C735C6-F803-32B2-D5C3-8BF06F659D16}"/>
              </a:ext>
            </a:extLst>
          </p:cNvPr>
          <p:cNvPicPr>
            <a:picLocks noChangeAspect="1"/>
          </p:cNvPicPr>
          <p:nvPr/>
        </p:nvPicPr>
        <p:blipFill>
          <a:blip r:embed="rId6"/>
          <a:stretch>
            <a:fillRect/>
          </a:stretch>
        </p:blipFill>
        <p:spPr>
          <a:xfrm>
            <a:off x="1203340" y="2586274"/>
            <a:ext cx="5269482" cy="292749"/>
          </a:xfrm>
          <a:prstGeom prst="rect">
            <a:avLst/>
          </a:prstGeom>
        </p:spPr>
      </p:pic>
      <p:pic>
        <p:nvPicPr>
          <p:cNvPr id="109" name="Picture 108">
            <a:extLst>
              <a:ext uri="{FF2B5EF4-FFF2-40B4-BE49-F238E27FC236}">
                <a16:creationId xmlns:a16="http://schemas.microsoft.com/office/drawing/2014/main" id="{C2D476BA-E42B-48E1-40B3-B4FE19C8D177}"/>
              </a:ext>
            </a:extLst>
          </p:cNvPr>
          <p:cNvPicPr>
            <a:picLocks noChangeAspect="1"/>
          </p:cNvPicPr>
          <p:nvPr/>
        </p:nvPicPr>
        <p:blipFill>
          <a:blip r:embed="rId7"/>
          <a:stretch>
            <a:fillRect/>
          </a:stretch>
        </p:blipFill>
        <p:spPr>
          <a:xfrm>
            <a:off x="1258838" y="2098622"/>
            <a:ext cx="2326288" cy="508876"/>
          </a:xfrm>
          <a:prstGeom prst="rect">
            <a:avLst/>
          </a:prstGeom>
        </p:spPr>
      </p:pic>
      <p:pic>
        <p:nvPicPr>
          <p:cNvPr id="110" name="Picture 109">
            <a:extLst>
              <a:ext uri="{FF2B5EF4-FFF2-40B4-BE49-F238E27FC236}">
                <a16:creationId xmlns:a16="http://schemas.microsoft.com/office/drawing/2014/main" id="{6F9DE8B3-2133-A964-3252-F94BE4CF5974}"/>
              </a:ext>
            </a:extLst>
          </p:cNvPr>
          <p:cNvPicPr>
            <a:picLocks noChangeAspect="1"/>
          </p:cNvPicPr>
          <p:nvPr/>
        </p:nvPicPr>
        <p:blipFill>
          <a:blip r:embed="rId8"/>
          <a:stretch>
            <a:fillRect/>
          </a:stretch>
        </p:blipFill>
        <p:spPr>
          <a:xfrm>
            <a:off x="1294993" y="3689918"/>
            <a:ext cx="2253979" cy="351538"/>
          </a:xfrm>
          <a:prstGeom prst="rect">
            <a:avLst/>
          </a:prstGeom>
        </p:spPr>
      </p:pic>
      <p:pic>
        <p:nvPicPr>
          <p:cNvPr id="113" name="Picture 112">
            <a:extLst>
              <a:ext uri="{FF2B5EF4-FFF2-40B4-BE49-F238E27FC236}">
                <a16:creationId xmlns:a16="http://schemas.microsoft.com/office/drawing/2014/main" id="{5FE9BE83-D23B-0D04-8ED6-4F272933B8F6}"/>
              </a:ext>
            </a:extLst>
          </p:cNvPr>
          <p:cNvPicPr>
            <a:picLocks noChangeAspect="1"/>
          </p:cNvPicPr>
          <p:nvPr/>
        </p:nvPicPr>
        <p:blipFill>
          <a:blip r:embed="rId9"/>
          <a:stretch>
            <a:fillRect/>
          </a:stretch>
        </p:blipFill>
        <p:spPr>
          <a:xfrm>
            <a:off x="1384957" y="5402591"/>
            <a:ext cx="5662474" cy="722869"/>
          </a:xfrm>
          <a:prstGeom prst="rect">
            <a:avLst/>
          </a:prstGeom>
        </p:spPr>
      </p:pic>
      <p:sp>
        <p:nvSpPr>
          <p:cNvPr id="115" name="TextBox 114">
            <a:extLst>
              <a:ext uri="{FF2B5EF4-FFF2-40B4-BE49-F238E27FC236}">
                <a16:creationId xmlns:a16="http://schemas.microsoft.com/office/drawing/2014/main" id="{D6FD4A59-BD5D-7C7B-A02D-787A905BCD13}"/>
              </a:ext>
            </a:extLst>
          </p:cNvPr>
          <p:cNvSpPr txBox="1"/>
          <p:nvPr/>
        </p:nvSpPr>
        <p:spPr>
          <a:xfrm>
            <a:off x="8893100" y="7161183"/>
            <a:ext cx="7558548" cy="923330"/>
          </a:xfrm>
          <a:prstGeom prst="rect">
            <a:avLst/>
          </a:prstGeom>
          <a:noFill/>
        </p:spPr>
        <p:txBody>
          <a:bodyPr wrap="square">
            <a:spAutoFit/>
          </a:bodyPr>
          <a:lstStyle/>
          <a:p>
            <a:r>
              <a:rPr lang="en-US" dirty="0"/>
              <a:t>https://convex-optimization-for-</a:t>
            </a:r>
            <a:r>
              <a:rPr lang="en-US" dirty="0" err="1"/>
              <a:t>all.github.io</a:t>
            </a:r>
            <a:r>
              <a:rPr lang="en-US" dirty="0"/>
              <a:t>/contents/chapter06/2021/03/20/06_02_02_backtracking_line_search/</a:t>
            </a:r>
          </a:p>
        </p:txBody>
      </p:sp>
      <p:pic>
        <p:nvPicPr>
          <p:cNvPr id="11" name="Picture 10" descr="A diagram of a weather forecast&#10;&#10;AI-generated content may be incorrect.">
            <a:extLst>
              <a:ext uri="{FF2B5EF4-FFF2-40B4-BE49-F238E27FC236}">
                <a16:creationId xmlns:a16="http://schemas.microsoft.com/office/drawing/2014/main" id="{A6645B34-2404-0537-0973-E2848F87FD28}"/>
              </a:ext>
            </a:extLst>
          </p:cNvPr>
          <p:cNvPicPr>
            <a:picLocks noChangeAspect="1"/>
          </p:cNvPicPr>
          <p:nvPr/>
        </p:nvPicPr>
        <p:blipFill>
          <a:blip r:embed="rId10">
            <a:extLst>
              <a:ext uri="{28A0092B-C50C-407E-A947-70E740481C1C}">
                <a14:useLocalDpi xmlns:a14="http://schemas.microsoft.com/office/drawing/2010/main" val="0"/>
              </a:ext>
            </a:extLst>
          </a:blip>
          <a:srcRect l="40415" t="3180" r="3458" b="3865"/>
          <a:stretch/>
        </p:blipFill>
        <p:spPr>
          <a:xfrm>
            <a:off x="15103283" y="2918914"/>
            <a:ext cx="3808838" cy="3880837"/>
          </a:xfrm>
          <a:prstGeom prst="rect">
            <a:avLst/>
          </a:prstGeom>
        </p:spPr>
      </p:pic>
      <p:sp>
        <p:nvSpPr>
          <p:cNvPr id="13" name="TextBox 12">
            <a:extLst>
              <a:ext uri="{FF2B5EF4-FFF2-40B4-BE49-F238E27FC236}">
                <a16:creationId xmlns:a16="http://schemas.microsoft.com/office/drawing/2014/main" id="{92D336DF-E0D6-381F-99D6-66D290E2D624}"/>
              </a:ext>
            </a:extLst>
          </p:cNvPr>
          <p:cNvSpPr txBox="1"/>
          <p:nvPr/>
        </p:nvSpPr>
        <p:spPr>
          <a:xfrm>
            <a:off x="11289384" y="2450863"/>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15" name="TextBox 14">
            <a:extLst>
              <a:ext uri="{FF2B5EF4-FFF2-40B4-BE49-F238E27FC236}">
                <a16:creationId xmlns:a16="http://schemas.microsoft.com/office/drawing/2014/main" id="{7D35FBB8-6E65-D21B-7C40-6DE5B7DE2CAC}"/>
              </a:ext>
            </a:extLst>
          </p:cNvPr>
          <p:cNvSpPr txBox="1"/>
          <p:nvPr/>
        </p:nvSpPr>
        <p:spPr>
          <a:xfrm>
            <a:off x="8061835" y="3274081"/>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
        <p:nvSpPr>
          <p:cNvPr id="16" name="TextBox 15">
            <a:extLst>
              <a:ext uri="{FF2B5EF4-FFF2-40B4-BE49-F238E27FC236}">
                <a16:creationId xmlns:a16="http://schemas.microsoft.com/office/drawing/2014/main" id="{85B82B00-1152-75AA-B5D9-E4EBC851BAAB}"/>
              </a:ext>
            </a:extLst>
          </p:cNvPr>
          <p:cNvSpPr txBox="1"/>
          <p:nvPr/>
        </p:nvSpPr>
        <p:spPr>
          <a:xfrm>
            <a:off x="9432172" y="2591415"/>
            <a:ext cx="961802"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FF8311"/>
                </a:solidFill>
                <a:effectLst/>
                <a:uLnTx/>
                <a:uFillTx/>
                <a:latin typeface="Arial"/>
                <a:ea typeface="+mn-ea"/>
                <a:cs typeface="+mn-cs"/>
              </a:rPr>
              <a:t>Accepted</a:t>
            </a:r>
          </a:p>
        </p:txBody>
      </p:sp>
      <p:sp>
        <p:nvSpPr>
          <p:cNvPr id="17" name="TextBox 16">
            <a:extLst>
              <a:ext uri="{FF2B5EF4-FFF2-40B4-BE49-F238E27FC236}">
                <a16:creationId xmlns:a16="http://schemas.microsoft.com/office/drawing/2014/main" id="{800CE0C4-729A-DCF7-BE21-DCC6970B8883}"/>
              </a:ext>
            </a:extLst>
          </p:cNvPr>
          <p:cNvSpPr txBox="1"/>
          <p:nvPr/>
        </p:nvSpPr>
        <p:spPr>
          <a:xfrm>
            <a:off x="10110811" y="5379646"/>
            <a:ext cx="410369"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latin typeface="Arial"/>
              </a:rPr>
              <a:t>End</a:t>
            </a:r>
            <a:endParaRPr kumimoji="0" lang="en-US" b="0" i="0" u="none" strike="noStrike" kern="1200" cap="none" spc="0" normalizeH="0" baseline="0" noProof="0" dirty="0">
              <a:ln>
                <a:noFill/>
              </a:ln>
              <a:effectLst/>
              <a:uLnTx/>
              <a:uFillTx/>
              <a:latin typeface="Arial"/>
              <a:ea typeface="+mn-ea"/>
              <a:cs typeface="+mn-cs"/>
            </a:endParaRPr>
          </a:p>
        </p:txBody>
      </p:sp>
      <p:pic>
        <p:nvPicPr>
          <p:cNvPr id="5" name="Picture 4">
            <a:extLst>
              <a:ext uri="{FF2B5EF4-FFF2-40B4-BE49-F238E27FC236}">
                <a16:creationId xmlns:a16="http://schemas.microsoft.com/office/drawing/2014/main" id="{433ECCF9-FAB9-2DC4-9F82-86B6947E876F}"/>
              </a:ext>
            </a:extLst>
          </p:cNvPr>
          <p:cNvPicPr>
            <a:picLocks noChangeAspect="1"/>
          </p:cNvPicPr>
          <p:nvPr/>
        </p:nvPicPr>
        <p:blipFill>
          <a:blip r:embed="rId11"/>
          <a:stretch>
            <a:fillRect/>
          </a:stretch>
        </p:blipFill>
        <p:spPr>
          <a:xfrm>
            <a:off x="8003909" y="2098623"/>
            <a:ext cx="3895344" cy="3966945"/>
          </a:xfrm>
          <a:prstGeom prst="rect">
            <a:avLst/>
          </a:prstGeom>
        </p:spPr>
      </p:pic>
      <p:sp>
        <p:nvSpPr>
          <p:cNvPr id="8" name="TextBox 7">
            <a:extLst>
              <a:ext uri="{FF2B5EF4-FFF2-40B4-BE49-F238E27FC236}">
                <a16:creationId xmlns:a16="http://schemas.microsoft.com/office/drawing/2014/main" id="{7907FF02-F755-48D4-CF29-A416F18FFD66}"/>
              </a:ext>
            </a:extLst>
          </p:cNvPr>
          <p:cNvSpPr txBox="1"/>
          <p:nvPr/>
        </p:nvSpPr>
        <p:spPr>
          <a:xfrm>
            <a:off x="11390092" y="2445722"/>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9" name="TextBox 8">
            <a:extLst>
              <a:ext uri="{FF2B5EF4-FFF2-40B4-BE49-F238E27FC236}">
                <a16:creationId xmlns:a16="http://schemas.microsoft.com/office/drawing/2014/main" id="{758F0CA4-3ECB-8615-9A7F-D2B13D3EB6CB}"/>
              </a:ext>
            </a:extLst>
          </p:cNvPr>
          <p:cNvSpPr txBox="1"/>
          <p:nvPr/>
        </p:nvSpPr>
        <p:spPr>
          <a:xfrm>
            <a:off x="8159694" y="3382223"/>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Tree>
    <p:extLst>
      <p:ext uri="{BB962C8B-B14F-4D97-AF65-F5344CB8AC3E}">
        <p14:creationId xmlns:p14="http://schemas.microsoft.com/office/powerpoint/2010/main" val="607233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B701E-A60E-9A36-54F6-3D219DFD995A}"/>
            </a:ext>
          </a:extLst>
        </p:cNvPr>
        <p:cNvGrpSpPr/>
        <p:nvPr/>
      </p:nvGrpSpPr>
      <p:grpSpPr>
        <a:xfrm>
          <a:off x="0" y="0"/>
          <a:ext cx="0" cy="0"/>
          <a:chOff x="0" y="0"/>
          <a:chExt cx="0" cy="0"/>
        </a:xfrm>
      </p:grpSpPr>
      <p:sp>
        <p:nvSpPr>
          <p:cNvPr id="83" name="Rounded Rectangle 82">
            <a:extLst>
              <a:ext uri="{FF2B5EF4-FFF2-40B4-BE49-F238E27FC236}">
                <a16:creationId xmlns:a16="http://schemas.microsoft.com/office/drawing/2014/main" id="{A2ACB2C1-10AD-BF60-90E8-49DB4E8D434C}"/>
              </a:ext>
            </a:extLst>
          </p:cNvPr>
          <p:cNvSpPr/>
          <p:nvPr/>
        </p:nvSpPr>
        <p:spPr>
          <a:xfrm>
            <a:off x="7661009" y="1390308"/>
            <a:ext cx="4399186" cy="4961065"/>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 map of a landscape&#10;&#10;AI-generated content may be incorrect.">
            <a:extLst>
              <a:ext uri="{FF2B5EF4-FFF2-40B4-BE49-F238E27FC236}">
                <a16:creationId xmlns:a16="http://schemas.microsoft.com/office/drawing/2014/main" id="{A6E478A1-559D-B43A-E01E-FE3530E357FB}"/>
              </a:ext>
            </a:extLst>
          </p:cNvPr>
          <p:cNvPicPr>
            <a:picLocks noChangeAspect="1"/>
          </p:cNvPicPr>
          <p:nvPr/>
        </p:nvPicPr>
        <p:blipFill>
          <a:blip r:embed="rId3">
            <a:extLst>
              <a:ext uri="{28A0092B-C50C-407E-A947-70E740481C1C}">
                <a14:useLocalDpi xmlns:a14="http://schemas.microsoft.com/office/drawing/2010/main" val="0"/>
              </a:ext>
            </a:extLst>
          </a:blip>
          <a:srcRect l="3441" t="1904" r="2358" b="54437"/>
          <a:stretch/>
        </p:blipFill>
        <p:spPr>
          <a:xfrm>
            <a:off x="8049449" y="2206765"/>
            <a:ext cx="3727248" cy="3489959"/>
          </a:xfrm>
          <a:prstGeom prst="rect">
            <a:avLst/>
          </a:prstGeom>
        </p:spPr>
      </p:pic>
      <p:sp>
        <p:nvSpPr>
          <p:cNvPr id="2" name="Datumsplatzhalter 1">
            <a:extLst>
              <a:ext uri="{FF2B5EF4-FFF2-40B4-BE49-F238E27FC236}">
                <a16:creationId xmlns:a16="http://schemas.microsoft.com/office/drawing/2014/main" id="{1FA91CA8-7019-8A7D-42A0-644CDC25DF61}"/>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C9975B98-025E-B021-033A-0038A4561DAA}"/>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A305C52B-E3B8-3BFB-9B36-E097A75F18AD}"/>
              </a:ext>
            </a:extLst>
          </p:cNvPr>
          <p:cNvSpPr>
            <a:spLocks noGrp="1"/>
          </p:cNvSpPr>
          <p:nvPr>
            <p:ph type="sldNum" sz="quarter" idx="12"/>
          </p:nvPr>
        </p:nvSpPr>
        <p:spPr/>
        <p:txBody>
          <a:bodyPr/>
          <a:lstStyle/>
          <a:p>
            <a:fld id="{D949F9DF-37BD-4CD6-BF49-65BA579E1D7A}" type="slidenum">
              <a:rPr lang="de-DE" smtClean="0"/>
              <a:pPr/>
              <a:t>10</a:t>
            </a:fld>
            <a:endParaRPr lang="de-DE"/>
          </a:p>
        </p:txBody>
      </p:sp>
      <p:sp>
        <p:nvSpPr>
          <p:cNvPr id="10" name="Titel 9">
            <a:extLst>
              <a:ext uri="{FF2B5EF4-FFF2-40B4-BE49-F238E27FC236}">
                <a16:creationId xmlns:a16="http://schemas.microsoft.com/office/drawing/2014/main" id="{B72CB465-957D-D301-A7F3-32E68614BDB9}"/>
              </a:ext>
            </a:extLst>
          </p:cNvPr>
          <p:cNvSpPr>
            <a:spLocks noGrp="1"/>
          </p:cNvSpPr>
          <p:nvPr>
            <p:ph type="title"/>
          </p:nvPr>
        </p:nvSpPr>
        <p:spPr/>
        <p:txBody>
          <a:bodyPr/>
          <a:lstStyle/>
          <a:p>
            <a:r>
              <a:rPr lang="de-DE" dirty="0"/>
              <a:t>Backtracking Line Search</a:t>
            </a:r>
          </a:p>
        </p:txBody>
      </p:sp>
      <p:sp>
        <p:nvSpPr>
          <p:cNvPr id="12" name="Textplatzhalter 11">
            <a:extLst>
              <a:ext uri="{FF2B5EF4-FFF2-40B4-BE49-F238E27FC236}">
                <a16:creationId xmlns:a16="http://schemas.microsoft.com/office/drawing/2014/main" id="{211F36AB-FC40-7C21-A3DB-59DE3F6D230D}"/>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213BF529-0FBF-7345-7718-973A78379B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73" name="Rounded Rectangle 72">
            <a:extLst>
              <a:ext uri="{FF2B5EF4-FFF2-40B4-BE49-F238E27FC236}">
                <a16:creationId xmlns:a16="http://schemas.microsoft.com/office/drawing/2014/main" id="{81F225F6-656F-496C-6617-E2E564708F35}"/>
              </a:ext>
            </a:extLst>
          </p:cNvPr>
          <p:cNvSpPr/>
          <p:nvPr/>
        </p:nvSpPr>
        <p:spPr>
          <a:xfrm>
            <a:off x="801908" y="1390308"/>
            <a:ext cx="6656832" cy="5054737"/>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09302580-E9BE-B1BF-3ACD-B6AAABC23B6A}"/>
              </a:ext>
            </a:extLst>
          </p:cNvPr>
          <p:cNvSpPr/>
          <p:nvPr/>
        </p:nvSpPr>
        <p:spPr>
          <a:xfrm>
            <a:off x="984788" y="1573189"/>
            <a:ext cx="6291072" cy="1404143"/>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a:extLst>
              <a:ext uri="{FF2B5EF4-FFF2-40B4-BE49-F238E27FC236}">
                <a16:creationId xmlns:a16="http://schemas.microsoft.com/office/drawing/2014/main" id="{19F3CC49-FCDD-B4CA-8411-2B204CA375E3}"/>
              </a:ext>
            </a:extLst>
          </p:cNvPr>
          <p:cNvSpPr/>
          <p:nvPr/>
        </p:nvSpPr>
        <p:spPr>
          <a:xfrm>
            <a:off x="1149380" y="1719494"/>
            <a:ext cx="804672"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FFFFFF"/>
                </a:solidFill>
                <a:latin typeface="Avenir Next"/>
              </a:rPr>
              <a:t>1</a:t>
            </a:r>
          </a:p>
        </p:txBody>
      </p:sp>
      <p:sp>
        <p:nvSpPr>
          <p:cNvPr id="76" name="TextBox 75">
            <a:extLst>
              <a:ext uri="{FF2B5EF4-FFF2-40B4-BE49-F238E27FC236}">
                <a16:creationId xmlns:a16="http://schemas.microsoft.com/office/drawing/2014/main" id="{78C0C096-9C84-1EF3-4F33-85D26C65E9A6}"/>
              </a:ext>
            </a:extLst>
          </p:cNvPr>
          <p:cNvSpPr txBox="1"/>
          <p:nvPr/>
        </p:nvSpPr>
        <p:spPr>
          <a:xfrm>
            <a:off x="1983732" y="1718545"/>
            <a:ext cx="5961888" cy="369332"/>
          </a:xfrm>
          <a:prstGeom prst="rect">
            <a:avLst/>
          </a:prstGeom>
          <a:noFill/>
        </p:spPr>
        <p:txBody>
          <a:bodyPr wrap="square" anchor="t">
            <a:spAutoFit/>
          </a:bodyPr>
          <a:lstStyle/>
          <a:p>
            <a:pPr algn="l"/>
            <a:r>
              <a:rPr lang="en-US" sz="1800" b="1" i="0" dirty="0">
                <a:solidFill>
                  <a:srgbClr val="17324D"/>
                </a:solidFill>
                <a:latin typeface="Avenir Next"/>
              </a:rPr>
              <a:t>Merit function</a:t>
            </a:r>
          </a:p>
        </p:txBody>
      </p:sp>
      <p:sp>
        <p:nvSpPr>
          <p:cNvPr id="77" name="Rounded Rectangle 76">
            <a:extLst>
              <a:ext uri="{FF2B5EF4-FFF2-40B4-BE49-F238E27FC236}">
                <a16:creationId xmlns:a16="http://schemas.microsoft.com/office/drawing/2014/main" id="{87CFA2B7-BE74-548A-8DF6-DD5A239E8D0E}"/>
              </a:ext>
            </a:extLst>
          </p:cNvPr>
          <p:cNvSpPr/>
          <p:nvPr/>
        </p:nvSpPr>
        <p:spPr>
          <a:xfrm>
            <a:off x="1004177" y="3134856"/>
            <a:ext cx="6291072" cy="149343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extLst>
              <a:ext uri="{FF2B5EF4-FFF2-40B4-BE49-F238E27FC236}">
                <a16:creationId xmlns:a16="http://schemas.microsoft.com/office/drawing/2014/main" id="{6E3E6038-FBF2-3BE6-6435-8469E2CCA61D}"/>
              </a:ext>
            </a:extLst>
          </p:cNvPr>
          <p:cNvSpPr/>
          <p:nvPr/>
        </p:nvSpPr>
        <p:spPr>
          <a:xfrm>
            <a:off x="1168769" y="3281160"/>
            <a:ext cx="804672"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17324D"/>
                </a:solidFill>
                <a:latin typeface="Avenir Next"/>
              </a:rPr>
              <a:t>2</a:t>
            </a:r>
          </a:p>
        </p:txBody>
      </p:sp>
      <p:sp>
        <p:nvSpPr>
          <p:cNvPr id="79" name="TextBox 78">
            <a:extLst>
              <a:ext uri="{FF2B5EF4-FFF2-40B4-BE49-F238E27FC236}">
                <a16:creationId xmlns:a16="http://schemas.microsoft.com/office/drawing/2014/main" id="{E6E66DA2-182F-EA4F-41ED-75230F5E2145}"/>
              </a:ext>
            </a:extLst>
          </p:cNvPr>
          <p:cNvSpPr txBox="1"/>
          <p:nvPr/>
        </p:nvSpPr>
        <p:spPr>
          <a:xfrm>
            <a:off x="2042021" y="3297026"/>
            <a:ext cx="5961888" cy="369332"/>
          </a:xfrm>
          <a:prstGeom prst="rect">
            <a:avLst/>
          </a:prstGeom>
          <a:noFill/>
        </p:spPr>
        <p:txBody>
          <a:bodyPr wrap="square" anchor="t">
            <a:spAutoFit/>
          </a:bodyPr>
          <a:lstStyle/>
          <a:p>
            <a:pPr algn="l"/>
            <a:r>
              <a:rPr lang="en-US" sz="1800" b="1" i="0" dirty="0">
                <a:solidFill>
                  <a:srgbClr val="17324D"/>
                </a:solidFill>
                <a:latin typeface="Avenir Next"/>
              </a:rPr>
              <a:t>Backtracking rule</a:t>
            </a:r>
          </a:p>
        </p:txBody>
      </p:sp>
      <p:sp>
        <p:nvSpPr>
          <p:cNvPr id="80" name="Rounded Rectangle 79">
            <a:extLst>
              <a:ext uri="{FF2B5EF4-FFF2-40B4-BE49-F238E27FC236}">
                <a16:creationId xmlns:a16="http://schemas.microsoft.com/office/drawing/2014/main" id="{06CAF3C9-AE57-DD1E-10D0-D8B50DB2D95B}"/>
              </a:ext>
            </a:extLst>
          </p:cNvPr>
          <p:cNvSpPr/>
          <p:nvPr/>
        </p:nvSpPr>
        <p:spPr>
          <a:xfrm>
            <a:off x="1019064" y="4859333"/>
            <a:ext cx="6291072" cy="126187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extLst>
              <a:ext uri="{FF2B5EF4-FFF2-40B4-BE49-F238E27FC236}">
                <a16:creationId xmlns:a16="http://schemas.microsoft.com/office/drawing/2014/main" id="{A6161B16-E761-E501-4345-F6A79028E9DB}"/>
              </a:ext>
            </a:extLst>
          </p:cNvPr>
          <p:cNvSpPr/>
          <p:nvPr/>
        </p:nvSpPr>
        <p:spPr>
          <a:xfrm>
            <a:off x="1174488" y="4913607"/>
            <a:ext cx="804672" cy="31089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FFFFFF"/>
                </a:solidFill>
                <a:latin typeface="Avenir Next"/>
              </a:rPr>
              <a:t>3</a:t>
            </a:r>
          </a:p>
        </p:txBody>
      </p:sp>
      <p:sp>
        <p:nvSpPr>
          <p:cNvPr id="82" name="TextBox 81">
            <a:extLst>
              <a:ext uri="{FF2B5EF4-FFF2-40B4-BE49-F238E27FC236}">
                <a16:creationId xmlns:a16="http://schemas.microsoft.com/office/drawing/2014/main" id="{485163AE-1D15-FF86-7F73-8B304666608E}"/>
              </a:ext>
            </a:extLst>
          </p:cNvPr>
          <p:cNvSpPr txBox="1"/>
          <p:nvPr/>
        </p:nvSpPr>
        <p:spPr>
          <a:xfrm>
            <a:off x="1983732" y="4929473"/>
            <a:ext cx="5961888" cy="369332"/>
          </a:xfrm>
          <a:prstGeom prst="rect">
            <a:avLst/>
          </a:prstGeom>
          <a:noFill/>
        </p:spPr>
        <p:txBody>
          <a:bodyPr wrap="square" anchor="t">
            <a:spAutoFit/>
          </a:bodyPr>
          <a:lstStyle/>
          <a:p>
            <a:pPr algn="l"/>
            <a:r>
              <a:rPr lang="en-US" sz="1800" b="1" i="0" dirty="0">
                <a:solidFill>
                  <a:srgbClr val="17324D"/>
                </a:solidFill>
                <a:latin typeface="Avenir Next"/>
              </a:rPr>
              <a:t>Accepted update</a:t>
            </a:r>
          </a:p>
        </p:txBody>
      </p:sp>
      <p:sp>
        <p:nvSpPr>
          <p:cNvPr id="84" name="Rounded Rectangle 83">
            <a:extLst>
              <a:ext uri="{FF2B5EF4-FFF2-40B4-BE49-F238E27FC236}">
                <a16:creationId xmlns:a16="http://schemas.microsoft.com/office/drawing/2014/main" id="{B3C07C5C-E76E-6F78-CF8F-4E5945A4A54B}"/>
              </a:ext>
            </a:extLst>
          </p:cNvPr>
          <p:cNvSpPr/>
          <p:nvPr/>
        </p:nvSpPr>
        <p:spPr>
          <a:xfrm>
            <a:off x="7989092" y="1554902"/>
            <a:ext cx="1505428" cy="292608"/>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17324D"/>
                </a:solidFill>
                <a:latin typeface="Avenir Next"/>
              </a:rPr>
              <a:t>INTUITION</a:t>
            </a:r>
            <a:endParaRPr sz="1100" b="1" i="0" dirty="0">
              <a:solidFill>
                <a:srgbClr val="17324D"/>
              </a:solidFill>
              <a:latin typeface="Avenir Next"/>
            </a:endParaRPr>
          </a:p>
        </p:txBody>
      </p:sp>
      <p:pic>
        <p:nvPicPr>
          <p:cNvPr id="107" name="Picture 106">
            <a:extLst>
              <a:ext uri="{FF2B5EF4-FFF2-40B4-BE49-F238E27FC236}">
                <a16:creationId xmlns:a16="http://schemas.microsoft.com/office/drawing/2014/main" id="{17208791-EAEA-38BB-0166-D06930A54158}"/>
              </a:ext>
            </a:extLst>
          </p:cNvPr>
          <p:cNvPicPr>
            <a:picLocks noChangeAspect="1"/>
          </p:cNvPicPr>
          <p:nvPr/>
        </p:nvPicPr>
        <p:blipFill>
          <a:blip r:embed="rId5"/>
          <a:stretch>
            <a:fillRect/>
          </a:stretch>
        </p:blipFill>
        <p:spPr>
          <a:xfrm>
            <a:off x="1294993" y="4092136"/>
            <a:ext cx="5329809" cy="457775"/>
          </a:xfrm>
          <a:prstGeom prst="rect">
            <a:avLst/>
          </a:prstGeom>
        </p:spPr>
      </p:pic>
      <p:pic>
        <p:nvPicPr>
          <p:cNvPr id="108" name="Picture 107">
            <a:extLst>
              <a:ext uri="{FF2B5EF4-FFF2-40B4-BE49-F238E27FC236}">
                <a16:creationId xmlns:a16="http://schemas.microsoft.com/office/drawing/2014/main" id="{E05E34A1-6436-7E31-0C43-6477B5A9A4AB}"/>
              </a:ext>
            </a:extLst>
          </p:cNvPr>
          <p:cNvPicPr>
            <a:picLocks noChangeAspect="1"/>
          </p:cNvPicPr>
          <p:nvPr/>
        </p:nvPicPr>
        <p:blipFill>
          <a:blip r:embed="rId6"/>
          <a:stretch>
            <a:fillRect/>
          </a:stretch>
        </p:blipFill>
        <p:spPr>
          <a:xfrm>
            <a:off x="1203340" y="2586274"/>
            <a:ext cx="5269482" cy="292749"/>
          </a:xfrm>
          <a:prstGeom prst="rect">
            <a:avLst/>
          </a:prstGeom>
        </p:spPr>
      </p:pic>
      <p:pic>
        <p:nvPicPr>
          <p:cNvPr id="109" name="Picture 108">
            <a:extLst>
              <a:ext uri="{FF2B5EF4-FFF2-40B4-BE49-F238E27FC236}">
                <a16:creationId xmlns:a16="http://schemas.microsoft.com/office/drawing/2014/main" id="{0AED420F-EEF8-5B09-E3DF-C537177BA64E}"/>
              </a:ext>
            </a:extLst>
          </p:cNvPr>
          <p:cNvPicPr>
            <a:picLocks noChangeAspect="1"/>
          </p:cNvPicPr>
          <p:nvPr/>
        </p:nvPicPr>
        <p:blipFill>
          <a:blip r:embed="rId7"/>
          <a:stretch>
            <a:fillRect/>
          </a:stretch>
        </p:blipFill>
        <p:spPr>
          <a:xfrm>
            <a:off x="1258838" y="2098622"/>
            <a:ext cx="2326288" cy="508876"/>
          </a:xfrm>
          <a:prstGeom prst="rect">
            <a:avLst/>
          </a:prstGeom>
        </p:spPr>
      </p:pic>
      <p:pic>
        <p:nvPicPr>
          <p:cNvPr id="110" name="Picture 109">
            <a:extLst>
              <a:ext uri="{FF2B5EF4-FFF2-40B4-BE49-F238E27FC236}">
                <a16:creationId xmlns:a16="http://schemas.microsoft.com/office/drawing/2014/main" id="{3E1B57FC-5763-0187-7056-02545813DC0B}"/>
              </a:ext>
            </a:extLst>
          </p:cNvPr>
          <p:cNvPicPr>
            <a:picLocks noChangeAspect="1"/>
          </p:cNvPicPr>
          <p:nvPr/>
        </p:nvPicPr>
        <p:blipFill>
          <a:blip r:embed="rId8"/>
          <a:stretch>
            <a:fillRect/>
          </a:stretch>
        </p:blipFill>
        <p:spPr>
          <a:xfrm>
            <a:off x="1294993" y="3689918"/>
            <a:ext cx="2253979" cy="351538"/>
          </a:xfrm>
          <a:prstGeom prst="rect">
            <a:avLst/>
          </a:prstGeom>
        </p:spPr>
      </p:pic>
      <p:pic>
        <p:nvPicPr>
          <p:cNvPr id="113" name="Picture 112">
            <a:extLst>
              <a:ext uri="{FF2B5EF4-FFF2-40B4-BE49-F238E27FC236}">
                <a16:creationId xmlns:a16="http://schemas.microsoft.com/office/drawing/2014/main" id="{C3345F02-2494-A22F-8E74-5462C35BB8C0}"/>
              </a:ext>
            </a:extLst>
          </p:cNvPr>
          <p:cNvPicPr>
            <a:picLocks noChangeAspect="1"/>
          </p:cNvPicPr>
          <p:nvPr/>
        </p:nvPicPr>
        <p:blipFill>
          <a:blip r:embed="rId9"/>
          <a:stretch>
            <a:fillRect/>
          </a:stretch>
        </p:blipFill>
        <p:spPr>
          <a:xfrm>
            <a:off x="1384957" y="5402591"/>
            <a:ext cx="5662474" cy="722869"/>
          </a:xfrm>
          <a:prstGeom prst="rect">
            <a:avLst/>
          </a:prstGeom>
        </p:spPr>
      </p:pic>
      <p:sp>
        <p:nvSpPr>
          <p:cNvPr id="115" name="TextBox 114">
            <a:extLst>
              <a:ext uri="{FF2B5EF4-FFF2-40B4-BE49-F238E27FC236}">
                <a16:creationId xmlns:a16="http://schemas.microsoft.com/office/drawing/2014/main" id="{8C9530E8-04CC-C4E4-8B7A-FC4B66451AE8}"/>
              </a:ext>
            </a:extLst>
          </p:cNvPr>
          <p:cNvSpPr txBox="1"/>
          <p:nvPr/>
        </p:nvSpPr>
        <p:spPr>
          <a:xfrm>
            <a:off x="8893100" y="7161183"/>
            <a:ext cx="7558548" cy="923330"/>
          </a:xfrm>
          <a:prstGeom prst="rect">
            <a:avLst/>
          </a:prstGeom>
          <a:noFill/>
        </p:spPr>
        <p:txBody>
          <a:bodyPr wrap="square">
            <a:spAutoFit/>
          </a:bodyPr>
          <a:lstStyle/>
          <a:p>
            <a:r>
              <a:rPr lang="en-US" dirty="0"/>
              <a:t>https://convex-optimization-for-</a:t>
            </a:r>
            <a:r>
              <a:rPr lang="en-US" dirty="0" err="1"/>
              <a:t>all.github.io</a:t>
            </a:r>
            <a:r>
              <a:rPr lang="en-US" dirty="0"/>
              <a:t>/contents/chapter06/2021/03/20/06_02_02_backtracking_line_search/</a:t>
            </a:r>
          </a:p>
        </p:txBody>
      </p:sp>
      <p:pic>
        <p:nvPicPr>
          <p:cNvPr id="11" name="Picture 10" descr="A diagram of a weather forecast&#10;&#10;AI-generated content may be incorrect.">
            <a:extLst>
              <a:ext uri="{FF2B5EF4-FFF2-40B4-BE49-F238E27FC236}">
                <a16:creationId xmlns:a16="http://schemas.microsoft.com/office/drawing/2014/main" id="{DFBA47FC-91E2-5445-0968-955F6B006A5C}"/>
              </a:ext>
            </a:extLst>
          </p:cNvPr>
          <p:cNvPicPr>
            <a:picLocks noChangeAspect="1"/>
          </p:cNvPicPr>
          <p:nvPr/>
        </p:nvPicPr>
        <p:blipFill>
          <a:blip r:embed="rId10">
            <a:extLst>
              <a:ext uri="{28A0092B-C50C-407E-A947-70E740481C1C}">
                <a14:useLocalDpi xmlns:a14="http://schemas.microsoft.com/office/drawing/2010/main" val="0"/>
              </a:ext>
            </a:extLst>
          </a:blip>
          <a:srcRect l="40415" t="3180" r="3458" b="3865"/>
          <a:stretch/>
        </p:blipFill>
        <p:spPr>
          <a:xfrm>
            <a:off x="15103283" y="2918914"/>
            <a:ext cx="3808838" cy="3880837"/>
          </a:xfrm>
          <a:prstGeom prst="rect">
            <a:avLst/>
          </a:prstGeom>
        </p:spPr>
      </p:pic>
      <p:sp>
        <p:nvSpPr>
          <p:cNvPr id="13" name="TextBox 12">
            <a:extLst>
              <a:ext uri="{FF2B5EF4-FFF2-40B4-BE49-F238E27FC236}">
                <a16:creationId xmlns:a16="http://schemas.microsoft.com/office/drawing/2014/main" id="{F2049834-093B-E6C8-358A-B50931750217}"/>
              </a:ext>
            </a:extLst>
          </p:cNvPr>
          <p:cNvSpPr txBox="1"/>
          <p:nvPr/>
        </p:nvSpPr>
        <p:spPr>
          <a:xfrm>
            <a:off x="11289384" y="2450863"/>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15" name="TextBox 14">
            <a:extLst>
              <a:ext uri="{FF2B5EF4-FFF2-40B4-BE49-F238E27FC236}">
                <a16:creationId xmlns:a16="http://schemas.microsoft.com/office/drawing/2014/main" id="{5263B712-F9DA-A660-F873-6A094E12877B}"/>
              </a:ext>
            </a:extLst>
          </p:cNvPr>
          <p:cNvSpPr txBox="1"/>
          <p:nvPr/>
        </p:nvSpPr>
        <p:spPr>
          <a:xfrm>
            <a:off x="8061835" y="3274081"/>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
        <p:nvSpPr>
          <p:cNvPr id="16" name="TextBox 15">
            <a:extLst>
              <a:ext uri="{FF2B5EF4-FFF2-40B4-BE49-F238E27FC236}">
                <a16:creationId xmlns:a16="http://schemas.microsoft.com/office/drawing/2014/main" id="{2E6B640C-DE18-A0CC-E54C-3F3B6A209C32}"/>
              </a:ext>
            </a:extLst>
          </p:cNvPr>
          <p:cNvSpPr txBox="1"/>
          <p:nvPr/>
        </p:nvSpPr>
        <p:spPr>
          <a:xfrm>
            <a:off x="9432172" y="2591415"/>
            <a:ext cx="961802"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FF8311"/>
                </a:solidFill>
                <a:effectLst/>
                <a:uLnTx/>
                <a:uFillTx/>
                <a:latin typeface="Arial"/>
                <a:ea typeface="+mn-ea"/>
                <a:cs typeface="+mn-cs"/>
              </a:rPr>
              <a:t>Accepted</a:t>
            </a:r>
          </a:p>
        </p:txBody>
      </p:sp>
      <p:sp>
        <p:nvSpPr>
          <p:cNvPr id="17" name="TextBox 16">
            <a:extLst>
              <a:ext uri="{FF2B5EF4-FFF2-40B4-BE49-F238E27FC236}">
                <a16:creationId xmlns:a16="http://schemas.microsoft.com/office/drawing/2014/main" id="{28F5A687-09BB-895F-684C-1CE7070D13BC}"/>
              </a:ext>
            </a:extLst>
          </p:cNvPr>
          <p:cNvSpPr txBox="1"/>
          <p:nvPr/>
        </p:nvSpPr>
        <p:spPr>
          <a:xfrm>
            <a:off x="10110811" y="5379646"/>
            <a:ext cx="410369"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latin typeface="Arial"/>
              </a:rPr>
              <a:t>End</a:t>
            </a:r>
            <a:endParaRPr kumimoji="0" lang="en-US" b="0" i="0" u="none" strike="noStrike" kern="1200" cap="none" spc="0" normalizeH="0" baseline="0" noProof="0" dirty="0">
              <a:ln>
                <a:noFill/>
              </a:ln>
              <a:effectLst/>
              <a:uLnTx/>
              <a:uFillTx/>
              <a:latin typeface="Arial"/>
              <a:ea typeface="+mn-ea"/>
              <a:cs typeface="+mn-cs"/>
            </a:endParaRPr>
          </a:p>
        </p:txBody>
      </p:sp>
      <p:pic>
        <p:nvPicPr>
          <p:cNvPr id="5" name="Picture 4">
            <a:extLst>
              <a:ext uri="{FF2B5EF4-FFF2-40B4-BE49-F238E27FC236}">
                <a16:creationId xmlns:a16="http://schemas.microsoft.com/office/drawing/2014/main" id="{3D9CD7B4-1E89-1834-D504-6410BB73D0C8}"/>
              </a:ext>
            </a:extLst>
          </p:cNvPr>
          <p:cNvPicPr>
            <a:picLocks noChangeAspect="1"/>
          </p:cNvPicPr>
          <p:nvPr/>
        </p:nvPicPr>
        <p:blipFill>
          <a:blip r:embed="rId11"/>
          <a:stretch>
            <a:fillRect/>
          </a:stretch>
        </p:blipFill>
        <p:spPr>
          <a:xfrm>
            <a:off x="8003909" y="2098623"/>
            <a:ext cx="3895344" cy="3966945"/>
          </a:xfrm>
          <a:prstGeom prst="rect">
            <a:avLst/>
          </a:prstGeom>
        </p:spPr>
      </p:pic>
      <p:sp>
        <p:nvSpPr>
          <p:cNvPr id="8" name="TextBox 7">
            <a:extLst>
              <a:ext uri="{FF2B5EF4-FFF2-40B4-BE49-F238E27FC236}">
                <a16:creationId xmlns:a16="http://schemas.microsoft.com/office/drawing/2014/main" id="{904BDDAA-62CA-E9DC-A816-84C66B6A1A01}"/>
              </a:ext>
            </a:extLst>
          </p:cNvPr>
          <p:cNvSpPr txBox="1"/>
          <p:nvPr/>
        </p:nvSpPr>
        <p:spPr>
          <a:xfrm>
            <a:off x="11390092" y="2445722"/>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9" name="TextBox 8">
            <a:extLst>
              <a:ext uri="{FF2B5EF4-FFF2-40B4-BE49-F238E27FC236}">
                <a16:creationId xmlns:a16="http://schemas.microsoft.com/office/drawing/2014/main" id="{CE6F13D8-B8B0-54CF-C9FD-98C653A8C7B8}"/>
              </a:ext>
            </a:extLst>
          </p:cNvPr>
          <p:cNvSpPr txBox="1"/>
          <p:nvPr/>
        </p:nvSpPr>
        <p:spPr>
          <a:xfrm>
            <a:off x="8159694" y="3382223"/>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cxnSp>
        <p:nvCxnSpPr>
          <p:cNvPr id="36" name="Elbow Connector 35">
            <a:extLst>
              <a:ext uri="{FF2B5EF4-FFF2-40B4-BE49-F238E27FC236}">
                <a16:creationId xmlns:a16="http://schemas.microsoft.com/office/drawing/2014/main" id="{E364CB82-A240-886E-7004-C359F723FE5F}"/>
              </a:ext>
            </a:extLst>
          </p:cNvPr>
          <p:cNvCxnSpPr>
            <a:cxnSpLocks/>
          </p:cNvCxnSpPr>
          <p:nvPr/>
        </p:nvCxnSpPr>
        <p:spPr>
          <a:xfrm flipV="1">
            <a:off x="8171270" y="2363285"/>
            <a:ext cx="3474055" cy="531610"/>
          </a:xfrm>
          <a:prstGeom prst="bentConnector4">
            <a:avLst>
              <a:gd name="adj1" fmla="val 341"/>
              <a:gd name="adj2" fmla="val 14300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Textplatzhalter 11">
            <a:extLst>
              <a:ext uri="{FF2B5EF4-FFF2-40B4-BE49-F238E27FC236}">
                <a16:creationId xmlns:a16="http://schemas.microsoft.com/office/drawing/2014/main" id="{5772255B-927C-E8E6-F8CF-FC2F29A213C4}"/>
              </a:ext>
            </a:extLst>
          </p:cNvPr>
          <p:cNvSpPr txBox="1">
            <a:spLocks/>
          </p:cNvSpPr>
          <p:nvPr/>
        </p:nvSpPr>
        <p:spPr>
          <a:xfrm>
            <a:off x="9494520" y="2193340"/>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r>
              <a:rPr lang="de-DE" dirty="0"/>
              <a:t>Backtrack</a:t>
            </a:r>
          </a:p>
        </p:txBody>
      </p:sp>
    </p:spTree>
    <p:extLst>
      <p:ext uri="{BB962C8B-B14F-4D97-AF65-F5344CB8AC3E}">
        <p14:creationId xmlns:p14="http://schemas.microsoft.com/office/powerpoint/2010/main" val="2820570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C7220-0B60-F86F-5DCC-1F88077EA082}"/>
            </a:ext>
          </a:extLst>
        </p:cNvPr>
        <p:cNvGrpSpPr/>
        <p:nvPr/>
      </p:nvGrpSpPr>
      <p:grpSpPr>
        <a:xfrm>
          <a:off x="0" y="0"/>
          <a:ext cx="0" cy="0"/>
          <a:chOff x="0" y="0"/>
          <a:chExt cx="0" cy="0"/>
        </a:xfrm>
      </p:grpSpPr>
      <p:sp>
        <p:nvSpPr>
          <p:cNvPr id="83" name="Rounded Rectangle 82">
            <a:extLst>
              <a:ext uri="{FF2B5EF4-FFF2-40B4-BE49-F238E27FC236}">
                <a16:creationId xmlns:a16="http://schemas.microsoft.com/office/drawing/2014/main" id="{DCE8C54F-234A-67FE-8BD9-9FE439F2CF24}"/>
              </a:ext>
            </a:extLst>
          </p:cNvPr>
          <p:cNvSpPr/>
          <p:nvPr/>
        </p:nvSpPr>
        <p:spPr>
          <a:xfrm>
            <a:off x="7661009" y="1390308"/>
            <a:ext cx="4399186" cy="4961065"/>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 map of a landscape&#10;&#10;AI-generated content may be incorrect.">
            <a:extLst>
              <a:ext uri="{FF2B5EF4-FFF2-40B4-BE49-F238E27FC236}">
                <a16:creationId xmlns:a16="http://schemas.microsoft.com/office/drawing/2014/main" id="{BC4B7470-F606-7A2D-129C-E26AF320729B}"/>
              </a:ext>
            </a:extLst>
          </p:cNvPr>
          <p:cNvPicPr>
            <a:picLocks noChangeAspect="1"/>
          </p:cNvPicPr>
          <p:nvPr/>
        </p:nvPicPr>
        <p:blipFill>
          <a:blip r:embed="rId3">
            <a:extLst>
              <a:ext uri="{28A0092B-C50C-407E-A947-70E740481C1C}">
                <a14:useLocalDpi xmlns:a14="http://schemas.microsoft.com/office/drawing/2010/main" val="0"/>
              </a:ext>
            </a:extLst>
          </a:blip>
          <a:srcRect l="3441" t="1904" r="2358" b="54437"/>
          <a:stretch/>
        </p:blipFill>
        <p:spPr>
          <a:xfrm>
            <a:off x="8049449" y="2206765"/>
            <a:ext cx="3727248" cy="3489959"/>
          </a:xfrm>
          <a:prstGeom prst="rect">
            <a:avLst/>
          </a:prstGeom>
        </p:spPr>
      </p:pic>
      <p:sp>
        <p:nvSpPr>
          <p:cNvPr id="2" name="Datumsplatzhalter 1">
            <a:extLst>
              <a:ext uri="{FF2B5EF4-FFF2-40B4-BE49-F238E27FC236}">
                <a16:creationId xmlns:a16="http://schemas.microsoft.com/office/drawing/2014/main" id="{CEB599DC-88CB-3459-F88E-9E95010DE70A}"/>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8ABA3D38-13D1-8975-1E4D-03480713B400}"/>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D965550B-5B1D-38DE-07C4-B7ED1DCBE349}"/>
              </a:ext>
            </a:extLst>
          </p:cNvPr>
          <p:cNvSpPr>
            <a:spLocks noGrp="1"/>
          </p:cNvSpPr>
          <p:nvPr>
            <p:ph type="sldNum" sz="quarter" idx="12"/>
          </p:nvPr>
        </p:nvSpPr>
        <p:spPr/>
        <p:txBody>
          <a:bodyPr/>
          <a:lstStyle/>
          <a:p>
            <a:fld id="{D949F9DF-37BD-4CD6-BF49-65BA579E1D7A}" type="slidenum">
              <a:rPr lang="de-DE" smtClean="0"/>
              <a:pPr/>
              <a:t>11</a:t>
            </a:fld>
            <a:endParaRPr lang="de-DE"/>
          </a:p>
        </p:txBody>
      </p:sp>
      <p:sp>
        <p:nvSpPr>
          <p:cNvPr id="10" name="Titel 9">
            <a:extLst>
              <a:ext uri="{FF2B5EF4-FFF2-40B4-BE49-F238E27FC236}">
                <a16:creationId xmlns:a16="http://schemas.microsoft.com/office/drawing/2014/main" id="{EF406ABD-406F-86BF-1241-18296468D059}"/>
              </a:ext>
            </a:extLst>
          </p:cNvPr>
          <p:cNvSpPr>
            <a:spLocks noGrp="1"/>
          </p:cNvSpPr>
          <p:nvPr>
            <p:ph type="title"/>
          </p:nvPr>
        </p:nvSpPr>
        <p:spPr/>
        <p:txBody>
          <a:bodyPr/>
          <a:lstStyle/>
          <a:p>
            <a:r>
              <a:rPr lang="de-DE" dirty="0"/>
              <a:t>Backtracking Line Search</a:t>
            </a:r>
          </a:p>
        </p:txBody>
      </p:sp>
      <p:sp>
        <p:nvSpPr>
          <p:cNvPr id="12" name="Textplatzhalter 11">
            <a:extLst>
              <a:ext uri="{FF2B5EF4-FFF2-40B4-BE49-F238E27FC236}">
                <a16:creationId xmlns:a16="http://schemas.microsoft.com/office/drawing/2014/main" id="{2C1821FC-D959-75AF-53B2-C0C0EFE11C63}"/>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54F70FED-ABA7-4C9C-F185-130DC6D025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73" name="Rounded Rectangle 72">
            <a:extLst>
              <a:ext uri="{FF2B5EF4-FFF2-40B4-BE49-F238E27FC236}">
                <a16:creationId xmlns:a16="http://schemas.microsoft.com/office/drawing/2014/main" id="{9F1C8EC7-872C-3E8D-A654-7B79C5D737DE}"/>
              </a:ext>
            </a:extLst>
          </p:cNvPr>
          <p:cNvSpPr/>
          <p:nvPr/>
        </p:nvSpPr>
        <p:spPr>
          <a:xfrm>
            <a:off x="801908" y="1390308"/>
            <a:ext cx="6656832" cy="5054737"/>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4302451C-5066-8C39-B457-17223C99BC88}"/>
              </a:ext>
            </a:extLst>
          </p:cNvPr>
          <p:cNvSpPr/>
          <p:nvPr/>
        </p:nvSpPr>
        <p:spPr>
          <a:xfrm>
            <a:off x="984788" y="1573189"/>
            <a:ext cx="6291072" cy="1404143"/>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a:extLst>
              <a:ext uri="{FF2B5EF4-FFF2-40B4-BE49-F238E27FC236}">
                <a16:creationId xmlns:a16="http://schemas.microsoft.com/office/drawing/2014/main" id="{22669C2B-1C79-8E48-EE78-EEB0189EFF57}"/>
              </a:ext>
            </a:extLst>
          </p:cNvPr>
          <p:cNvSpPr/>
          <p:nvPr/>
        </p:nvSpPr>
        <p:spPr>
          <a:xfrm>
            <a:off x="1149380" y="1719494"/>
            <a:ext cx="804672"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FFFFFF"/>
                </a:solidFill>
                <a:latin typeface="Avenir Next"/>
              </a:rPr>
              <a:t>1</a:t>
            </a:r>
          </a:p>
        </p:txBody>
      </p:sp>
      <p:sp>
        <p:nvSpPr>
          <p:cNvPr id="76" name="TextBox 75">
            <a:extLst>
              <a:ext uri="{FF2B5EF4-FFF2-40B4-BE49-F238E27FC236}">
                <a16:creationId xmlns:a16="http://schemas.microsoft.com/office/drawing/2014/main" id="{FA398066-DA66-5E2B-B2EB-AAD0B4B9D156}"/>
              </a:ext>
            </a:extLst>
          </p:cNvPr>
          <p:cNvSpPr txBox="1"/>
          <p:nvPr/>
        </p:nvSpPr>
        <p:spPr>
          <a:xfrm>
            <a:off x="1983732" y="1718545"/>
            <a:ext cx="5961888" cy="369332"/>
          </a:xfrm>
          <a:prstGeom prst="rect">
            <a:avLst/>
          </a:prstGeom>
          <a:noFill/>
        </p:spPr>
        <p:txBody>
          <a:bodyPr wrap="square" anchor="t">
            <a:spAutoFit/>
          </a:bodyPr>
          <a:lstStyle/>
          <a:p>
            <a:pPr algn="l"/>
            <a:r>
              <a:rPr lang="en-US" sz="1800" b="1" i="0" dirty="0">
                <a:solidFill>
                  <a:srgbClr val="17324D"/>
                </a:solidFill>
                <a:latin typeface="Avenir Next"/>
              </a:rPr>
              <a:t>Merit function</a:t>
            </a:r>
          </a:p>
        </p:txBody>
      </p:sp>
      <p:sp>
        <p:nvSpPr>
          <p:cNvPr id="77" name="Rounded Rectangle 76">
            <a:extLst>
              <a:ext uri="{FF2B5EF4-FFF2-40B4-BE49-F238E27FC236}">
                <a16:creationId xmlns:a16="http://schemas.microsoft.com/office/drawing/2014/main" id="{A1E2AD51-38A1-72B1-29E3-708BC6F1AC36}"/>
              </a:ext>
            </a:extLst>
          </p:cNvPr>
          <p:cNvSpPr/>
          <p:nvPr/>
        </p:nvSpPr>
        <p:spPr>
          <a:xfrm>
            <a:off x="1004177" y="3134856"/>
            <a:ext cx="6291072" cy="149343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extLst>
              <a:ext uri="{FF2B5EF4-FFF2-40B4-BE49-F238E27FC236}">
                <a16:creationId xmlns:a16="http://schemas.microsoft.com/office/drawing/2014/main" id="{C9218FFC-71A9-6D6E-7D72-56BCAFFF54D9}"/>
              </a:ext>
            </a:extLst>
          </p:cNvPr>
          <p:cNvSpPr/>
          <p:nvPr/>
        </p:nvSpPr>
        <p:spPr>
          <a:xfrm>
            <a:off x="1168769" y="3281160"/>
            <a:ext cx="804672"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17324D"/>
                </a:solidFill>
                <a:latin typeface="Avenir Next"/>
              </a:rPr>
              <a:t>2</a:t>
            </a:r>
          </a:p>
        </p:txBody>
      </p:sp>
      <p:sp>
        <p:nvSpPr>
          <p:cNvPr id="79" name="TextBox 78">
            <a:extLst>
              <a:ext uri="{FF2B5EF4-FFF2-40B4-BE49-F238E27FC236}">
                <a16:creationId xmlns:a16="http://schemas.microsoft.com/office/drawing/2014/main" id="{E425DB86-1D78-3290-5570-C12581C97114}"/>
              </a:ext>
            </a:extLst>
          </p:cNvPr>
          <p:cNvSpPr txBox="1"/>
          <p:nvPr/>
        </p:nvSpPr>
        <p:spPr>
          <a:xfrm>
            <a:off x="2042021" y="3297026"/>
            <a:ext cx="5961888" cy="369332"/>
          </a:xfrm>
          <a:prstGeom prst="rect">
            <a:avLst/>
          </a:prstGeom>
          <a:noFill/>
        </p:spPr>
        <p:txBody>
          <a:bodyPr wrap="square" anchor="t">
            <a:spAutoFit/>
          </a:bodyPr>
          <a:lstStyle/>
          <a:p>
            <a:pPr algn="l"/>
            <a:r>
              <a:rPr lang="en-US" sz="1800" b="1" i="0" dirty="0">
                <a:solidFill>
                  <a:srgbClr val="17324D"/>
                </a:solidFill>
                <a:latin typeface="Avenir Next"/>
              </a:rPr>
              <a:t>Backtracking rule</a:t>
            </a:r>
          </a:p>
        </p:txBody>
      </p:sp>
      <p:sp>
        <p:nvSpPr>
          <p:cNvPr id="80" name="Rounded Rectangle 79">
            <a:extLst>
              <a:ext uri="{FF2B5EF4-FFF2-40B4-BE49-F238E27FC236}">
                <a16:creationId xmlns:a16="http://schemas.microsoft.com/office/drawing/2014/main" id="{C9BF7C7B-E89D-765F-8AB7-9C9F677F5F25}"/>
              </a:ext>
            </a:extLst>
          </p:cNvPr>
          <p:cNvSpPr/>
          <p:nvPr/>
        </p:nvSpPr>
        <p:spPr>
          <a:xfrm>
            <a:off x="1019064" y="4859333"/>
            <a:ext cx="6291072" cy="126187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extLst>
              <a:ext uri="{FF2B5EF4-FFF2-40B4-BE49-F238E27FC236}">
                <a16:creationId xmlns:a16="http://schemas.microsoft.com/office/drawing/2014/main" id="{419AABB7-1065-1E40-ADFB-EF50DE1AEA31}"/>
              </a:ext>
            </a:extLst>
          </p:cNvPr>
          <p:cNvSpPr/>
          <p:nvPr/>
        </p:nvSpPr>
        <p:spPr>
          <a:xfrm>
            <a:off x="1174488" y="4913607"/>
            <a:ext cx="804672" cy="31089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FFFFFF"/>
                </a:solidFill>
                <a:latin typeface="Avenir Next"/>
              </a:rPr>
              <a:t>3</a:t>
            </a:r>
          </a:p>
        </p:txBody>
      </p:sp>
      <p:sp>
        <p:nvSpPr>
          <p:cNvPr id="82" name="TextBox 81">
            <a:extLst>
              <a:ext uri="{FF2B5EF4-FFF2-40B4-BE49-F238E27FC236}">
                <a16:creationId xmlns:a16="http://schemas.microsoft.com/office/drawing/2014/main" id="{A0F9C8D5-31D3-1AC1-D45D-25B968439AD2}"/>
              </a:ext>
            </a:extLst>
          </p:cNvPr>
          <p:cNvSpPr txBox="1"/>
          <p:nvPr/>
        </p:nvSpPr>
        <p:spPr>
          <a:xfrm>
            <a:off x="1983732" y="4929473"/>
            <a:ext cx="5961888" cy="369332"/>
          </a:xfrm>
          <a:prstGeom prst="rect">
            <a:avLst/>
          </a:prstGeom>
          <a:noFill/>
        </p:spPr>
        <p:txBody>
          <a:bodyPr wrap="square" anchor="t">
            <a:spAutoFit/>
          </a:bodyPr>
          <a:lstStyle/>
          <a:p>
            <a:pPr algn="l"/>
            <a:r>
              <a:rPr lang="en-US" sz="1800" b="1" i="0" dirty="0">
                <a:solidFill>
                  <a:srgbClr val="17324D"/>
                </a:solidFill>
                <a:latin typeface="Avenir Next"/>
              </a:rPr>
              <a:t>Accepted update</a:t>
            </a:r>
          </a:p>
        </p:txBody>
      </p:sp>
      <p:sp>
        <p:nvSpPr>
          <p:cNvPr id="84" name="Rounded Rectangle 83">
            <a:extLst>
              <a:ext uri="{FF2B5EF4-FFF2-40B4-BE49-F238E27FC236}">
                <a16:creationId xmlns:a16="http://schemas.microsoft.com/office/drawing/2014/main" id="{B1D5A445-0C52-EB5F-6C28-5B538DB1BFC5}"/>
              </a:ext>
            </a:extLst>
          </p:cNvPr>
          <p:cNvSpPr/>
          <p:nvPr/>
        </p:nvSpPr>
        <p:spPr>
          <a:xfrm>
            <a:off x="7989092" y="1554902"/>
            <a:ext cx="1505428" cy="292608"/>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17324D"/>
                </a:solidFill>
                <a:latin typeface="Avenir Next"/>
              </a:rPr>
              <a:t>INTUITION</a:t>
            </a:r>
            <a:endParaRPr sz="1100" b="1" i="0" dirty="0">
              <a:solidFill>
                <a:srgbClr val="17324D"/>
              </a:solidFill>
              <a:latin typeface="Avenir Next"/>
            </a:endParaRPr>
          </a:p>
        </p:txBody>
      </p:sp>
      <p:pic>
        <p:nvPicPr>
          <p:cNvPr id="107" name="Picture 106">
            <a:extLst>
              <a:ext uri="{FF2B5EF4-FFF2-40B4-BE49-F238E27FC236}">
                <a16:creationId xmlns:a16="http://schemas.microsoft.com/office/drawing/2014/main" id="{E92FF83A-CE50-2B1F-7BF6-38F4DCEE565F}"/>
              </a:ext>
            </a:extLst>
          </p:cNvPr>
          <p:cNvPicPr>
            <a:picLocks noChangeAspect="1"/>
          </p:cNvPicPr>
          <p:nvPr/>
        </p:nvPicPr>
        <p:blipFill>
          <a:blip r:embed="rId5"/>
          <a:stretch>
            <a:fillRect/>
          </a:stretch>
        </p:blipFill>
        <p:spPr>
          <a:xfrm>
            <a:off x="1294993" y="4092136"/>
            <a:ext cx="5329809" cy="457775"/>
          </a:xfrm>
          <a:prstGeom prst="rect">
            <a:avLst/>
          </a:prstGeom>
        </p:spPr>
      </p:pic>
      <p:pic>
        <p:nvPicPr>
          <p:cNvPr id="108" name="Picture 107">
            <a:extLst>
              <a:ext uri="{FF2B5EF4-FFF2-40B4-BE49-F238E27FC236}">
                <a16:creationId xmlns:a16="http://schemas.microsoft.com/office/drawing/2014/main" id="{1A36496A-9028-8650-93B3-DD5E8843ED55}"/>
              </a:ext>
            </a:extLst>
          </p:cNvPr>
          <p:cNvPicPr>
            <a:picLocks noChangeAspect="1"/>
          </p:cNvPicPr>
          <p:nvPr/>
        </p:nvPicPr>
        <p:blipFill>
          <a:blip r:embed="rId6"/>
          <a:stretch>
            <a:fillRect/>
          </a:stretch>
        </p:blipFill>
        <p:spPr>
          <a:xfrm>
            <a:off x="1203340" y="2586274"/>
            <a:ext cx="5269482" cy="292749"/>
          </a:xfrm>
          <a:prstGeom prst="rect">
            <a:avLst/>
          </a:prstGeom>
        </p:spPr>
      </p:pic>
      <p:pic>
        <p:nvPicPr>
          <p:cNvPr id="109" name="Picture 108">
            <a:extLst>
              <a:ext uri="{FF2B5EF4-FFF2-40B4-BE49-F238E27FC236}">
                <a16:creationId xmlns:a16="http://schemas.microsoft.com/office/drawing/2014/main" id="{27BFFBA0-9ED4-394F-3F31-4167CBF55C48}"/>
              </a:ext>
            </a:extLst>
          </p:cNvPr>
          <p:cNvPicPr>
            <a:picLocks noChangeAspect="1"/>
          </p:cNvPicPr>
          <p:nvPr/>
        </p:nvPicPr>
        <p:blipFill>
          <a:blip r:embed="rId7"/>
          <a:stretch>
            <a:fillRect/>
          </a:stretch>
        </p:blipFill>
        <p:spPr>
          <a:xfrm>
            <a:off x="1258838" y="2098622"/>
            <a:ext cx="2326288" cy="508876"/>
          </a:xfrm>
          <a:prstGeom prst="rect">
            <a:avLst/>
          </a:prstGeom>
        </p:spPr>
      </p:pic>
      <p:pic>
        <p:nvPicPr>
          <p:cNvPr id="110" name="Picture 109">
            <a:extLst>
              <a:ext uri="{FF2B5EF4-FFF2-40B4-BE49-F238E27FC236}">
                <a16:creationId xmlns:a16="http://schemas.microsoft.com/office/drawing/2014/main" id="{25705A07-3B1C-724C-457A-D0A808496207}"/>
              </a:ext>
            </a:extLst>
          </p:cNvPr>
          <p:cNvPicPr>
            <a:picLocks noChangeAspect="1"/>
          </p:cNvPicPr>
          <p:nvPr/>
        </p:nvPicPr>
        <p:blipFill>
          <a:blip r:embed="rId8"/>
          <a:stretch>
            <a:fillRect/>
          </a:stretch>
        </p:blipFill>
        <p:spPr>
          <a:xfrm>
            <a:off x="1294993" y="3689918"/>
            <a:ext cx="2253979" cy="351538"/>
          </a:xfrm>
          <a:prstGeom prst="rect">
            <a:avLst/>
          </a:prstGeom>
        </p:spPr>
      </p:pic>
      <p:pic>
        <p:nvPicPr>
          <p:cNvPr id="113" name="Picture 112">
            <a:extLst>
              <a:ext uri="{FF2B5EF4-FFF2-40B4-BE49-F238E27FC236}">
                <a16:creationId xmlns:a16="http://schemas.microsoft.com/office/drawing/2014/main" id="{72E2003E-D96D-0E3F-0496-5EF81D92C4B5}"/>
              </a:ext>
            </a:extLst>
          </p:cNvPr>
          <p:cNvPicPr>
            <a:picLocks noChangeAspect="1"/>
          </p:cNvPicPr>
          <p:nvPr/>
        </p:nvPicPr>
        <p:blipFill>
          <a:blip r:embed="rId9"/>
          <a:stretch>
            <a:fillRect/>
          </a:stretch>
        </p:blipFill>
        <p:spPr>
          <a:xfrm>
            <a:off x="1384957" y="5402591"/>
            <a:ext cx="5662474" cy="722869"/>
          </a:xfrm>
          <a:prstGeom prst="rect">
            <a:avLst/>
          </a:prstGeom>
        </p:spPr>
      </p:pic>
      <p:sp>
        <p:nvSpPr>
          <p:cNvPr id="115" name="TextBox 114">
            <a:extLst>
              <a:ext uri="{FF2B5EF4-FFF2-40B4-BE49-F238E27FC236}">
                <a16:creationId xmlns:a16="http://schemas.microsoft.com/office/drawing/2014/main" id="{41B26108-DB00-8A65-7B01-53D919CF1C12}"/>
              </a:ext>
            </a:extLst>
          </p:cNvPr>
          <p:cNvSpPr txBox="1"/>
          <p:nvPr/>
        </p:nvSpPr>
        <p:spPr>
          <a:xfrm>
            <a:off x="8893100" y="7161183"/>
            <a:ext cx="7558548" cy="923330"/>
          </a:xfrm>
          <a:prstGeom prst="rect">
            <a:avLst/>
          </a:prstGeom>
          <a:noFill/>
        </p:spPr>
        <p:txBody>
          <a:bodyPr wrap="square">
            <a:spAutoFit/>
          </a:bodyPr>
          <a:lstStyle/>
          <a:p>
            <a:r>
              <a:rPr lang="en-US" dirty="0"/>
              <a:t>https://convex-optimization-for-</a:t>
            </a:r>
            <a:r>
              <a:rPr lang="en-US" dirty="0" err="1"/>
              <a:t>all.github.io</a:t>
            </a:r>
            <a:r>
              <a:rPr lang="en-US" dirty="0"/>
              <a:t>/contents/chapter06/2021/03/20/06_02_02_backtracking_line_search/</a:t>
            </a:r>
          </a:p>
        </p:txBody>
      </p:sp>
      <p:pic>
        <p:nvPicPr>
          <p:cNvPr id="11" name="Picture 10" descr="A diagram of a weather forecast&#10;&#10;AI-generated content may be incorrect.">
            <a:extLst>
              <a:ext uri="{FF2B5EF4-FFF2-40B4-BE49-F238E27FC236}">
                <a16:creationId xmlns:a16="http://schemas.microsoft.com/office/drawing/2014/main" id="{7B86DC10-6956-19AB-6F51-F19BB1194CE6}"/>
              </a:ext>
            </a:extLst>
          </p:cNvPr>
          <p:cNvPicPr>
            <a:picLocks noChangeAspect="1"/>
          </p:cNvPicPr>
          <p:nvPr/>
        </p:nvPicPr>
        <p:blipFill>
          <a:blip r:embed="rId10">
            <a:extLst>
              <a:ext uri="{28A0092B-C50C-407E-A947-70E740481C1C}">
                <a14:useLocalDpi xmlns:a14="http://schemas.microsoft.com/office/drawing/2010/main" val="0"/>
              </a:ext>
            </a:extLst>
          </a:blip>
          <a:srcRect l="40415" t="3180" r="3458" b="3865"/>
          <a:stretch/>
        </p:blipFill>
        <p:spPr>
          <a:xfrm>
            <a:off x="15103283" y="2918914"/>
            <a:ext cx="3808838" cy="3880837"/>
          </a:xfrm>
          <a:prstGeom prst="rect">
            <a:avLst/>
          </a:prstGeom>
        </p:spPr>
      </p:pic>
      <p:sp>
        <p:nvSpPr>
          <p:cNvPr id="13" name="TextBox 12">
            <a:extLst>
              <a:ext uri="{FF2B5EF4-FFF2-40B4-BE49-F238E27FC236}">
                <a16:creationId xmlns:a16="http://schemas.microsoft.com/office/drawing/2014/main" id="{15E99812-AFF6-DDD6-70E8-093CB70EE14B}"/>
              </a:ext>
            </a:extLst>
          </p:cNvPr>
          <p:cNvSpPr txBox="1"/>
          <p:nvPr/>
        </p:nvSpPr>
        <p:spPr>
          <a:xfrm>
            <a:off x="11289384" y="2450863"/>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15" name="TextBox 14">
            <a:extLst>
              <a:ext uri="{FF2B5EF4-FFF2-40B4-BE49-F238E27FC236}">
                <a16:creationId xmlns:a16="http://schemas.microsoft.com/office/drawing/2014/main" id="{920E3F1E-BFE2-BF02-47DA-B81EF8343A32}"/>
              </a:ext>
            </a:extLst>
          </p:cNvPr>
          <p:cNvSpPr txBox="1"/>
          <p:nvPr/>
        </p:nvSpPr>
        <p:spPr>
          <a:xfrm>
            <a:off x="8061835" y="3274081"/>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
        <p:nvSpPr>
          <p:cNvPr id="16" name="TextBox 15">
            <a:extLst>
              <a:ext uri="{FF2B5EF4-FFF2-40B4-BE49-F238E27FC236}">
                <a16:creationId xmlns:a16="http://schemas.microsoft.com/office/drawing/2014/main" id="{B8082949-E13A-D358-1607-FFFEAB6136E6}"/>
              </a:ext>
            </a:extLst>
          </p:cNvPr>
          <p:cNvSpPr txBox="1"/>
          <p:nvPr/>
        </p:nvSpPr>
        <p:spPr>
          <a:xfrm>
            <a:off x="9432172" y="2591415"/>
            <a:ext cx="961802"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FF8311"/>
                </a:solidFill>
                <a:effectLst/>
                <a:uLnTx/>
                <a:uFillTx/>
                <a:latin typeface="Arial"/>
                <a:ea typeface="+mn-ea"/>
                <a:cs typeface="+mn-cs"/>
              </a:rPr>
              <a:t>Accepted</a:t>
            </a:r>
          </a:p>
        </p:txBody>
      </p:sp>
      <p:sp>
        <p:nvSpPr>
          <p:cNvPr id="17" name="TextBox 16">
            <a:extLst>
              <a:ext uri="{FF2B5EF4-FFF2-40B4-BE49-F238E27FC236}">
                <a16:creationId xmlns:a16="http://schemas.microsoft.com/office/drawing/2014/main" id="{5A340545-4988-8CDE-C607-86B2B7259F08}"/>
              </a:ext>
            </a:extLst>
          </p:cNvPr>
          <p:cNvSpPr txBox="1"/>
          <p:nvPr/>
        </p:nvSpPr>
        <p:spPr>
          <a:xfrm>
            <a:off x="10110811" y="5379646"/>
            <a:ext cx="410369"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latin typeface="Arial"/>
              </a:rPr>
              <a:t>End</a:t>
            </a:r>
            <a:endParaRPr kumimoji="0" lang="en-US" b="0" i="0" u="none" strike="noStrike" kern="1200" cap="none" spc="0" normalizeH="0" baseline="0" noProof="0" dirty="0">
              <a:ln>
                <a:noFill/>
              </a:ln>
              <a:effectLst/>
              <a:uLnTx/>
              <a:uFillTx/>
              <a:latin typeface="Arial"/>
              <a:ea typeface="+mn-ea"/>
              <a:cs typeface="+mn-cs"/>
            </a:endParaRPr>
          </a:p>
        </p:txBody>
      </p:sp>
      <p:pic>
        <p:nvPicPr>
          <p:cNvPr id="5" name="Picture 4">
            <a:extLst>
              <a:ext uri="{FF2B5EF4-FFF2-40B4-BE49-F238E27FC236}">
                <a16:creationId xmlns:a16="http://schemas.microsoft.com/office/drawing/2014/main" id="{8BB53CFF-F022-426B-3BFF-16D59716AEB1}"/>
              </a:ext>
            </a:extLst>
          </p:cNvPr>
          <p:cNvPicPr>
            <a:picLocks noChangeAspect="1"/>
          </p:cNvPicPr>
          <p:nvPr/>
        </p:nvPicPr>
        <p:blipFill>
          <a:blip r:embed="rId11"/>
          <a:stretch>
            <a:fillRect/>
          </a:stretch>
        </p:blipFill>
        <p:spPr>
          <a:xfrm>
            <a:off x="8003909" y="2098623"/>
            <a:ext cx="3895344" cy="3966945"/>
          </a:xfrm>
          <a:prstGeom prst="rect">
            <a:avLst/>
          </a:prstGeom>
        </p:spPr>
      </p:pic>
      <p:pic>
        <p:nvPicPr>
          <p:cNvPr id="9" name="Picture 8">
            <a:extLst>
              <a:ext uri="{FF2B5EF4-FFF2-40B4-BE49-F238E27FC236}">
                <a16:creationId xmlns:a16="http://schemas.microsoft.com/office/drawing/2014/main" id="{994E59E1-DBB4-9148-9317-6A570ACF7CB7}"/>
              </a:ext>
            </a:extLst>
          </p:cNvPr>
          <p:cNvPicPr>
            <a:picLocks/>
          </p:cNvPicPr>
          <p:nvPr/>
        </p:nvPicPr>
        <p:blipFill>
          <a:blip r:embed="rId12"/>
          <a:stretch>
            <a:fillRect/>
          </a:stretch>
        </p:blipFill>
        <p:spPr>
          <a:xfrm>
            <a:off x="7998654" y="2098622"/>
            <a:ext cx="3895344" cy="3968496"/>
          </a:xfrm>
          <a:prstGeom prst="rect">
            <a:avLst/>
          </a:prstGeom>
        </p:spPr>
      </p:pic>
      <p:sp>
        <p:nvSpPr>
          <p:cNvPr id="14" name="TextBox 13">
            <a:extLst>
              <a:ext uri="{FF2B5EF4-FFF2-40B4-BE49-F238E27FC236}">
                <a16:creationId xmlns:a16="http://schemas.microsoft.com/office/drawing/2014/main" id="{AF3753D5-B420-6CB4-9D2A-D7306ECAD037}"/>
              </a:ext>
            </a:extLst>
          </p:cNvPr>
          <p:cNvSpPr txBox="1"/>
          <p:nvPr/>
        </p:nvSpPr>
        <p:spPr>
          <a:xfrm>
            <a:off x="8822483" y="2414920"/>
            <a:ext cx="2346796" cy="281039"/>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prstClr val="black"/>
                </a:solidFill>
                <a:effectLst/>
                <a:uLnTx/>
                <a:uFillTx/>
                <a:latin typeface="Arial"/>
                <a:ea typeface="+mn-ea"/>
                <a:cs typeface="+mn-cs"/>
              </a:rPr>
              <a:t>F is decreased enough</a:t>
            </a:r>
          </a:p>
        </p:txBody>
      </p:sp>
    </p:spTree>
    <p:extLst>
      <p:ext uri="{BB962C8B-B14F-4D97-AF65-F5344CB8AC3E}">
        <p14:creationId xmlns:p14="http://schemas.microsoft.com/office/powerpoint/2010/main" val="1441904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CAED3-C8EE-5F44-9E21-B259C25C09F9}"/>
            </a:ext>
          </a:extLst>
        </p:cNvPr>
        <p:cNvGrpSpPr/>
        <p:nvPr/>
      </p:nvGrpSpPr>
      <p:grpSpPr>
        <a:xfrm>
          <a:off x="0" y="0"/>
          <a:ext cx="0" cy="0"/>
          <a:chOff x="0" y="0"/>
          <a:chExt cx="0" cy="0"/>
        </a:xfrm>
      </p:grpSpPr>
      <p:sp>
        <p:nvSpPr>
          <p:cNvPr id="83" name="Rounded Rectangle 82">
            <a:extLst>
              <a:ext uri="{FF2B5EF4-FFF2-40B4-BE49-F238E27FC236}">
                <a16:creationId xmlns:a16="http://schemas.microsoft.com/office/drawing/2014/main" id="{2DFE3B63-72B8-B99D-71F0-6EB2BE521AF5}"/>
              </a:ext>
            </a:extLst>
          </p:cNvPr>
          <p:cNvSpPr/>
          <p:nvPr/>
        </p:nvSpPr>
        <p:spPr>
          <a:xfrm>
            <a:off x="7661009" y="1390308"/>
            <a:ext cx="4399186" cy="4961065"/>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 map of a landscape&#10;&#10;AI-generated content may be incorrect.">
            <a:extLst>
              <a:ext uri="{FF2B5EF4-FFF2-40B4-BE49-F238E27FC236}">
                <a16:creationId xmlns:a16="http://schemas.microsoft.com/office/drawing/2014/main" id="{772ED7A8-F2A6-87FD-7691-FC4EE7CC7F8D}"/>
              </a:ext>
            </a:extLst>
          </p:cNvPr>
          <p:cNvPicPr>
            <a:picLocks noChangeAspect="1"/>
          </p:cNvPicPr>
          <p:nvPr/>
        </p:nvPicPr>
        <p:blipFill>
          <a:blip r:embed="rId3">
            <a:extLst>
              <a:ext uri="{28A0092B-C50C-407E-A947-70E740481C1C}">
                <a14:useLocalDpi xmlns:a14="http://schemas.microsoft.com/office/drawing/2010/main" val="0"/>
              </a:ext>
            </a:extLst>
          </a:blip>
          <a:srcRect l="3441" t="1904" r="2358" b="54437"/>
          <a:stretch/>
        </p:blipFill>
        <p:spPr>
          <a:xfrm>
            <a:off x="8049449" y="2206765"/>
            <a:ext cx="3727248" cy="3489959"/>
          </a:xfrm>
          <a:prstGeom prst="rect">
            <a:avLst/>
          </a:prstGeom>
        </p:spPr>
      </p:pic>
      <p:sp>
        <p:nvSpPr>
          <p:cNvPr id="2" name="Datumsplatzhalter 1">
            <a:extLst>
              <a:ext uri="{FF2B5EF4-FFF2-40B4-BE49-F238E27FC236}">
                <a16:creationId xmlns:a16="http://schemas.microsoft.com/office/drawing/2014/main" id="{10CBE335-06A1-E97D-D9ED-8ACF79BB4DC5}"/>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3B2287FE-2273-8165-173F-286C90987789}"/>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460689FA-2790-F4D2-C361-B43F1472AEFF}"/>
              </a:ext>
            </a:extLst>
          </p:cNvPr>
          <p:cNvSpPr>
            <a:spLocks noGrp="1"/>
          </p:cNvSpPr>
          <p:nvPr>
            <p:ph type="sldNum" sz="quarter" idx="12"/>
          </p:nvPr>
        </p:nvSpPr>
        <p:spPr/>
        <p:txBody>
          <a:bodyPr/>
          <a:lstStyle/>
          <a:p>
            <a:fld id="{D949F9DF-37BD-4CD6-BF49-65BA579E1D7A}" type="slidenum">
              <a:rPr lang="de-DE" smtClean="0"/>
              <a:pPr/>
              <a:t>12</a:t>
            </a:fld>
            <a:endParaRPr lang="de-DE"/>
          </a:p>
        </p:txBody>
      </p:sp>
      <p:sp>
        <p:nvSpPr>
          <p:cNvPr id="10" name="Titel 9">
            <a:extLst>
              <a:ext uri="{FF2B5EF4-FFF2-40B4-BE49-F238E27FC236}">
                <a16:creationId xmlns:a16="http://schemas.microsoft.com/office/drawing/2014/main" id="{027E260C-0CC7-D0DD-F087-8835051979B5}"/>
              </a:ext>
            </a:extLst>
          </p:cNvPr>
          <p:cNvSpPr>
            <a:spLocks noGrp="1"/>
          </p:cNvSpPr>
          <p:nvPr>
            <p:ph type="title"/>
          </p:nvPr>
        </p:nvSpPr>
        <p:spPr/>
        <p:txBody>
          <a:bodyPr/>
          <a:lstStyle/>
          <a:p>
            <a:r>
              <a:rPr lang="de-DE" dirty="0"/>
              <a:t>Backtracking Line Search</a:t>
            </a:r>
          </a:p>
        </p:txBody>
      </p:sp>
      <p:sp>
        <p:nvSpPr>
          <p:cNvPr id="12" name="Textplatzhalter 11">
            <a:extLst>
              <a:ext uri="{FF2B5EF4-FFF2-40B4-BE49-F238E27FC236}">
                <a16:creationId xmlns:a16="http://schemas.microsoft.com/office/drawing/2014/main" id="{53953F11-E3EA-4AE5-032D-919EFD9FD3E1}"/>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D851A03E-D37C-92D9-84B8-048053D3E3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73" name="Rounded Rectangle 72">
            <a:extLst>
              <a:ext uri="{FF2B5EF4-FFF2-40B4-BE49-F238E27FC236}">
                <a16:creationId xmlns:a16="http://schemas.microsoft.com/office/drawing/2014/main" id="{639E3546-C2EC-E4F0-87E7-0247CA7A7414}"/>
              </a:ext>
            </a:extLst>
          </p:cNvPr>
          <p:cNvSpPr/>
          <p:nvPr/>
        </p:nvSpPr>
        <p:spPr>
          <a:xfrm>
            <a:off x="801908" y="1390308"/>
            <a:ext cx="6656832" cy="5054737"/>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E1FC6541-A20D-2E73-A428-31048030BFC1}"/>
              </a:ext>
            </a:extLst>
          </p:cNvPr>
          <p:cNvSpPr/>
          <p:nvPr/>
        </p:nvSpPr>
        <p:spPr>
          <a:xfrm>
            <a:off x="984788" y="1573189"/>
            <a:ext cx="6291072" cy="1404143"/>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a:extLst>
              <a:ext uri="{FF2B5EF4-FFF2-40B4-BE49-F238E27FC236}">
                <a16:creationId xmlns:a16="http://schemas.microsoft.com/office/drawing/2014/main" id="{2FD03E32-CEE5-AFCA-8AD0-72E160143E68}"/>
              </a:ext>
            </a:extLst>
          </p:cNvPr>
          <p:cNvSpPr/>
          <p:nvPr/>
        </p:nvSpPr>
        <p:spPr>
          <a:xfrm>
            <a:off x="1149380" y="1719494"/>
            <a:ext cx="804672"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FFFFFF"/>
                </a:solidFill>
                <a:latin typeface="Avenir Next"/>
              </a:rPr>
              <a:t>1</a:t>
            </a:r>
          </a:p>
        </p:txBody>
      </p:sp>
      <p:sp>
        <p:nvSpPr>
          <p:cNvPr id="76" name="TextBox 75">
            <a:extLst>
              <a:ext uri="{FF2B5EF4-FFF2-40B4-BE49-F238E27FC236}">
                <a16:creationId xmlns:a16="http://schemas.microsoft.com/office/drawing/2014/main" id="{0803E2A3-C9D3-EEFE-1F0A-321827490485}"/>
              </a:ext>
            </a:extLst>
          </p:cNvPr>
          <p:cNvSpPr txBox="1"/>
          <p:nvPr/>
        </p:nvSpPr>
        <p:spPr>
          <a:xfrm>
            <a:off x="1983732" y="1718545"/>
            <a:ext cx="5961888" cy="369332"/>
          </a:xfrm>
          <a:prstGeom prst="rect">
            <a:avLst/>
          </a:prstGeom>
          <a:noFill/>
        </p:spPr>
        <p:txBody>
          <a:bodyPr wrap="square" anchor="t">
            <a:spAutoFit/>
          </a:bodyPr>
          <a:lstStyle/>
          <a:p>
            <a:pPr algn="l"/>
            <a:r>
              <a:rPr lang="en-US" sz="1800" b="1" i="0" dirty="0">
                <a:solidFill>
                  <a:srgbClr val="17324D"/>
                </a:solidFill>
                <a:latin typeface="Avenir Next"/>
              </a:rPr>
              <a:t>Merit function</a:t>
            </a:r>
          </a:p>
        </p:txBody>
      </p:sp>
      <p:sp>
        <p:nvSpPr>
          <p:cNvPr id="77" name="Rounded Rectangle 76">
            <a:extLst>
              <a:ext uri="{FF2B5EF4-FFF2-40B4-BE49-F238E27FC236}">
                <a16:creationId xmlns:a16="http://schemas.microsoft.com/office/drawing/2014/main" id="{3BD252EA-2573-19CE-E3B4-9C1F86C510F3}"/>
              </a:ext>
            </a:extLst>
          </p:cNvPr>
          <p:cNvSpPr/>
          <p:nvPr/>
        </p:nvSpPr>
        <p:spPr>
          <a:xfrm>
            <a:off x="1004177" y="3134856"/>
            <a:ext cx="6291072" cy="149343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extLst>
              <a:ext uri="{FF2B5EF4-FFF2-40B4-BE49-F238E27FC236}">
                <a16:creationId xmlns:a16="http://schemas.microsoft.com/office/drawing/2014/main" id="{1E073497-5F22-CDAB-899F-9AB9EB723704}"/>
              </a:ext>
            </a:extLst>
          </p:cNvPr>
          <p:cNvSpPr/>
          <p:nvPr/>
        </p:nvSpPr>
        <p:spPr>
          <a:xfrm>
            <a:off x="1168769" y="3281160"/>
            <a:ext cx="804672"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17324D"/>
                </a:solidFill>
                <a:latin typeface="Avenir Next"/>
              </a:rPr>
              <a:t>2</a:t>
            </a:r>
          </a:p>
        </p:txBody>
      </p:sp>
      <p:sp>
        <p:nvSpPr>
          <p:cNvPr id="79" name="TextBox 78">
            <a:extLst>
              <a:ext uri="{FF2B5EF4-FFF2-40B4-BE49-F238E27FC236}">
                <a16:creationId xmlns:a16="http://schemas.microsoft.com/office/drawing/2014/main" id="{79F846F9-87DB-FAD3-E077-410AA83D56C0}"/>
              </a:ext>
            </a:extLst>
          </p:cNvPr>
          <p:cNvSpPr txBox="1"/>
          <p:nvPr/>
        </p:nvSpPr>
        <p:spPr>
          <a:xfrm>
            <a:off x="2042021" y="3297026"/>
            <a:ext cx="5961888" cy="369332"/>
          </a:xfrm>
          <a:prstGeom prst="rect">
            <a:avLst/>
          </a:prstGeom>
          <a:noFill/>
        </p:spPr>
        <p:txBody>
          <a:bodyPr wrap="square" anchor="t">
            <a:spAutoFit/>
          </a:bodyPr>
          <a:lstStyle/>
          <a:p>
            <a:pPr algn="l"/>
            <a:r>
              <a:rPr lang="en-US" sz="1800" b="1" i="0" dirty="0">
                <a:solidFill>
                  <a:srgbClr val="17324D"/>
                </a:solidFill>
                <a:latin typeface="Avenir Next"/>
              </a:rPr>
              <a:t>Backtracking rule</a:t>
            </a:r>
          </a:p>
        </p:txBody>
      </p:sp>
      <p:sp>
        <p:nvSpPr>
          <p:cNvPr id="80" name="Rounded Rectangle 79">
            <a:extLst>
              <a:ext uri="{FF2B5EF4-FFF2-40B4-BE49-F238E27FC236}">
                <a16:creationId xmlns:a16="http://schemas.microsoft.com/office/drawing/2014/main" id="{EA092A70-266B-7253-90A9-CAD0FD923E12}"/>
              </a:ext>
            </a:extLst>
          </p:cNvPr>
          <p:cNvSpPr/>
          <p:nvPr/>
        </p:nvSpPr>
        <p:spPr>
          <a:xfrm>
            <a:off x="1019064" y="4859333"/>
            <a:ext cx="6291072" cy="126187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extLst>
              <a:ext uri="{FF2B5EF4-FFF2-40B4-BE49-F238E27FC236}">
                <a16:creationId xmlns:a16="http://schemas.microsoft.com/office/drawing/2014/main" id="{9D96C800-4425-AB73-52DE-9352FD387FDC}"/>
              </a:ext>
            </a:extLst>
          </p:cNvPr>
          <p:cNvSpPr/>
          <p:nvPr/>
        </p:nvSpPr>
        <p:spPr>
          <a:xfrm>
            <a:off x="1174488" y="4913607"/>
            <a:ext cx="804672" cy="31089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FFFFFF"/>
                </a:solidFill>
                <a:latin typeface="Avenir Next"/>
              </a:rPr>
              <a:t>3</a:t>
            </a:r>
          </a:p>
        </p:txBody>
      </p:sp>
      <p:sp>
        <p:nvSpPr>
          <p:cNvPr id="82" name="TextBox 81">
            <a:extLst>
              <a:ext uri="{FF2B5EF4-FFF2-40B4-BE49-F238E27FC236}">
                <a16:creationId xmlns:a16="http://schemas.microsoft.com/office/drawing/2014/main" id="{F95DE472-FC4E-6BE8-1A18-9F108800A650}"/>
              </a:ext>
            </a:extLst>
          </p:cNvPr>
          <p:cNvSpPr txBox="1"/>
          <p:nvPr/>
        </p:nvSpPr>
        <p:spPr>
          <a:xfrm>
            <a:off x="1983732" y="4929473"/>
            <a:ext cx="5961888" cy="369332"/>
          </a:xfrm>
          <a:prstGeom prst="rect">
            <a:avLst/>
          </a:prstGeom>
          <a:noFill/>
        </p:spPr>
        <p:txBody>
          <a:bodyPr wrap="square" anchor="t">
            <a:spAutoFit/>
          </a:bodyPr>
          <a:lstStyle/>
          <a:p>
            <a:pPr algn="l"/>
            <a:r>
              <a:rPr lang="en-US" sz="1800" b="1" i="0" dirty="0">
                <a:solidFill>
                  <a:srgbClr val="17324D"/>
                </a:solidFill>
                <a:latin typeface="Avenir Next"/>
              </a:rPr>
              <a:t>Accepted update</a:t>
            </a:r>
          </a:p>
        </p:txBody>
      </p:sp>
      <p:sp>
        <p:nvSpPr>
          <p:cNvPr id="84" name="Rounded Rectangle 83">
            <a:extLst>
              <a:ext uri="{FF2B5EF4-FFF2-40B4-BE49-F238E27FC236}">
                <a16:creationId xmlns:a16="http://schemas.microsoft.com/office/drawing/2014/main" id="{C04ABEB1-B96E-CAA0-8FF3-2921C7766311}"/>
              </a:ext>
            </a:extLst>
          </p:cNvPr>
          <p:cNvSpPr/>
          <p:nvPr/>
        </p:nvSpPr>
        <p:spPr>
          <a:xfrm>
            <a:off x="7989092" y="1554902"/>
            <a:ext cx="1505428" cy="292608"/>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17324D"/>
                </a:solidFill>
                <a:latin typeface="Avenir Next"/>
              </a:rPr>
              <a:t>INTUITION</a:t>
            </a:r>
            <a:endParaRPr sz="1100" b="1" i="0" dirty="0">
              <a:solidFill>
                <a:srgbClr val="17324D"/>
              </a:solidFill>
              <a:latin typeface="Avenir Next"/>
            </a:endParaRPr>
          </a:p>
        </p:txBody>
      </p:sp>
      <p:pic>
        <p:nvPicPr>
          <p:cNvPr id="107" name="Picture 106">
            <a:extLst>
              <a:ext uri="{FF2B5EF4-FFF2-40B4-BE49-F238E27FC236}">
                <a16:creationId xmlns:a16="http://schemas.microsoft.com/office/drawing/2014/main" id="{17538653-99C3-BF84-D536-BAA69E7971C9}"/>
              </a:ext>
            </a:extLst>
          </p:cNvPr>
          <p:cNvPicPr>
            <a:picLocks noChangeAspect="1"/>
          </p:cNvPicPr>
          <p:nvPr/>
        </p:nvPicPr>
        <p:blipFill>
          <a:blip r:embed="rId5"/>
          <a:stretch>
            <a:fillRect/>
          </a:stretch>
        </p:blipFill>
        <p:spPr>
          <a:xfrm>
            <a:off x="1294993" y="4092136"/>
            <a:ext cx="5329809" cy="457775"/>
          </a:xfrm>
          <a:prstGeom prst="rect">
            <a:avLst/>
          </a:prstGeom>
        </p:spPr>
      </p:pic>
      <p:pic>
        <p:nvPicPr>
          <p:cNvPr id="108" name="Picture 107">
            <a:extLst>
              <a:ext uri="{FF2B5EF4-FFF2-40B4-BE49-F238E27FC236}">
                <a16:creationId xmlns:a16="http://schemas.microsoft.com/office/drawing/2014/main" id="{EEB2263E-9555-CD7F-789F-FA369CC77F81}"/>
              </a:ext>
            </a:extLst>
          </p:cNvPr>
          <p:cNvPicPr>
            <a:picLocks noChangeAspect="1"/>
          </p:cNvPicPr>
          <p:nvPr/>
        </p:nvPicPr>
        <p:blipFill>
          <a:blip r:embed="rId6"/>
          <a:stretch>
            <a:fillRect/>
          </a:stretch>
        </p:blipFill>
        <p:spPr>
          <a:xfrm>
            <a:off x="1203340" y="2586274"/>
            <a:ext cx="5269482" cy="292749"/>
          </a:xfrm>
          <a:prstGeom prst="rect">
            <a:avLst/>
          </a:prstGeom>
        </p:spPr>
      </p:pic>
      <p:pic>
        <p:nvPicPr>
          <p:cNvPr id="109" name="Picture 108">
            <a:extLst>
              <a:ext uri="{FF2B5EF4-FFF2-40B4-BE49-F238E27FC236}">
                <a16:creationId xmlns:a16="http://schemas.microsoft.com/office/drawing/2014/main" id="{88B404AE-35A9-E650-0EAA-17A46A40B618}"/>
              </a:ext>
            </a:extLst>
          </p:cNvPr>
          <p:cNvPicPr>
            <a:picLocks noChangeAspect="1"/>
          </p:cNvPicPr>
          <p:nvPr/>
        </p:nvPicPr>
        <p:blipFill>
          <a:blip r:embed="rId7"/>
          <a:stretch>
            <a:fillRect/>
          </a:stretch>
        </p:blipFill>
        <p:spPr>
          <a:xfrm>
            <a:off x="1258838" y="2098622"/>
            <a:ext cx="2326288" cy="508876"/>
          </a:xfrm>
          <a:prstGeom prst="rect">
            <a:avLst/>
          </a:prstGeom>
        </p:spPr>
      </p:pic>
      <p:pic>
        <p:nvPicPr>
          <p:cNvPr id="110" name="Picture 109">
            <a:extLst>
              <a:ext uri="{FF2B5EF4-FFF2-40B4-BE49-F238E27FC236}">
                <a16:creationId xmlns:a16="http://schemas.microsoft.com/office/drawing/2014/main" id="{97B88271-F954-45A7-9B53-4D7C01857C6F}"/>
              </a:ext>
            </a:extLst>
          </p:cNvPr>
          <p:cNvPicPr>
            <a:picLocks noChangeAspect="1"/>
          </p:cNvPicPr>
          <p:nvPr/>
        </p:nvPicPr>
        <p:blipFill>
          <a:blip r:embed="rId8"/>
          <a:stretch>
            <a:fillRect/>
          </a:stretch>
        </p:blipFill>
        <p:spPr>
          <a:xfrm>
            <a:off x="1294993" y="3689918"/>
            <a:ext cx="2253979" cy="351538"/>
          </a:xfrm>
          <a:prstGeom prst="rect">
            <a:avLst/>
          </a:prstGeom>
        </p:spPr>
      </p:pic>
      <p:pic>
        <p:nvPicPr>
          <p:cNvPr id="113" name="Picture 112">
            <a:extLst>
              <a:ext uri="{FF2B5EF4-FFF2-40B4-BE49-F238E27FC236}">
                <a16:creationId xmlns:a16="http://schemas.microsoft.com/office/drawing/2014/main" id="{7AEE95F8-93CD-3D77-1DB4-8B5E1DE3C302}"/>
              </a:ext>
            </a:extLst>
          </p:cNvPr>
          <p:cNvPicPr>
            <a:picLocks noChangeAspect="1"/>
          </p:cNvPicPr>
          <p:nvPr/>
        </p:nvPicPr>
        <p:blipFill>
          <a:blip r:embed="rId9"/>
          <a:stretch>
            <a:fillRect/>
          </a:stretch>
        </p:blipFill>
        <p:spPr>
          <a:xfrm>
            <a:off x="1384957" y="5402591"/>
            <a:ext cx="5662474" cy="722869"/>
          </a:xfrm>
          <a:prstGeom prst="rect">
            <a:avLst/>
          </a:prstGeom>
        </p:spPr>
      </p:pic>
      <p:sp>
        <p:nvSpPr>
          <p:cNvPr id="115" name="TextBox 114">
            <a:extLst>
              <a:ext uri="{FF2B5EF4-FFF2-40B4-BE49-F238E27FC236}">
                <a16:creationId xmlns:a16="http://schemas.microsoft.com/office/drawing/2014/main" id="{E4B195BA-4EB7-06C4-5655-DEEAD604757F}"/>
              </a:ext>
            </a:extLst>
          </p:cNvPr>
          <p:cNvSpPr txBox="1"/>
          <p:nvPr/>
        </p:nvSpPr>
        <p:spPr>
          <a:xfrm>
            <a:off x="8893100" y="7161183"/>
            <a:ext cx="7558548" cy="923330"/>
          </a:xfrm>
          <a:prstGeom prst="rect">
            <a:avLst/>
          </a:prstGeom>
          <a:noFill/>
        </p:spPr>
        <p:txBody>
          <a:bodyPr wrap="square">
            <a:spAutoFit/>
          </a:bodyPr>
          <a:lstStyle/>
          <a:p>
            <a:r>
              <a:rPr lang="en-US" dirty="0"/>
              <a:t>https://convex-optimization-for-</a:t>
            </a:r>
            <a:r>
              <a:rPr lang="en-US" dirty="0" err="1"/>
              <a:t>all.github.io</a:t>
            </a:r>
            <a:r>
              <a:rPr lang="en-US" dirty="0"/>
              <a:t>/contents/chapter06/2021/03/20/06_02_02_backtracking_line_search/</a:t>
            </a:r>
          </a:p>
        </p:txBody>
      </p:sp>
      <p:pic>
        <p:nvPicPr>
          <p:cNvPr id="11" name="Picture 10" descr="A diagram of a weather forecast&#10;&#10;AI-generated content may be incorrect.">
            <a:extLst>
              <a:ext uri="{FF2B5EF4-FFF2-40B4-BE49-F238E27FC236}">
                <a16:creationId xmlns:a16="http://schemas.microsoft.com/office/drawing/2014/main" id="{C533BBA2-BAB6-0B43-55A4-458467758054}"/>
              </a:ext>
            </a:extLst>
          </p:cNvPr>
          <p:cNvPicPr>
            <a:picLocks noChangeAspect="1"/>
          </p:cNvPicPr>
          <p:nvPr/>
        </p:nvPicPr>
        <p:blipFill>
          <a:blip r:embed="rId10">
            <a:extLst>
              <a:ext uri="{28A0092B-C50C-407E-A947-70E740481C1C}">
                <a14:useLocalDpi xmlns:a14="http://schemas.microsoft.com/office/drawing/2010/main" val="0"/>
              </a:ext>
            </a:extLst>
          </a:blip>
          <a:srcRect l="40415" t="3180" r="3458" b="3865"/>
          <a:stretch/>
        </p:blipFill>
        <p:spPr>
          <a:xfrm>
            <a:off x="15103283" y="2918914"/>
            <a:ext cx="3808838" cy="3880837"/>
          </a:xfrm>
          <a:prstGeom prst="rect">
            <a:avLst/>
          </a:prstGeom>
        </p:spPr>
      </p:pic>
      <p:sp>
        <p:nvSpPr>
          <p:cNvPr id="13" name="TextBox 12">
            <a:extLst>
              <a:ext uri="{FF2B5EF4-FFF2-40B4-BE49-F238E27FC236}">
                <a16:creationId xmlns:a16="http://schemas.microsoft.com/office/drawing/2014/main" id="{9DF2A7CB-61DD-F8FF-24E4-0C8D96026C56}"/>
              </a:ext>
            </a:extLst>
          </p:cNvPr>
          <p:cNvSpPr txBox="1"/>
          <p:nvPr/>
        </p:nvSpPr>
        <p:spPr>
          <a:xfrm>
            <a:off x="11289384" y="2450863"/>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15" name="TextBox 14">
            <a:extLst>
              <a:ext uri="{FF2B5EF4-FFF2-40B4-BE49-F238E27FC236}">
                <a16:creationId xmlns:a16="http://schemas.microsoft.com/office/drawing/2014/main" id="{4A4FB66A-F94E-89D6-91D5-201D73E8A99A}"/>
              </a:ext>
            </a:extLst>
          </p:cNvPr>
          <p:cNvSpPr txBox="1"/>
          <p:nvPr/>
        </p:nvSpPr>
        <p:spPr>
          <a:xfrm>
            <a:off x="8061835" y="3274081"/>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
        <p:nvSpPr>
          <p:cNvPr id="16" name="TextBox 15">
            <a:extLst>
              <a:ext uri="{FF2B5EF4-FFF2-40B4-BE49-F238E27FC236}">
                <a16:creationId xmlns:a16="http://schemas.microsoft.com/office/drawing/2014/main" id="{3F1706B4-48E0-B911-CA95-959A9F22C8EA}"/>
              </a:ext>
            </a:extLst>
          </p:cNvPr>
          <p:cNvSpPr txBox="1"/>
          <p:nvPr/>
        </p:nvSpPr>
        <p:spPr>
          <a:xfrm>
            <a:off x="9432172" y="2591415"/>
            <a:ext cx="961802"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FF8311"/>
                </a:solidFill>
                <a:effectLst/>
                <a:uLnTx/>
                <a:uFillTx/>
                <a:latin typeface="Arial"/>
                <a:ea typeface="+mn-ea"/>
                <a:cs typeface="+mn-cs"/>
              </a:rPr>
              <a:t>Accepted</a:t>
            </a:r>
          </a:p>
        </p:txBody>
      </p:sp>
      <p:sp>
        <p:nvSpPr>
          <p:cNvPr id="17" name="TextBox 16">
            <a:extLst>
              <a:ext uri="{FF2B5EF4-FFF2-40B4-BE49-F238E27FC236}">
                <a16:creationId xmlns:a16="http://schemas.microsoft.com/office/drawing/2014/main" id="{DDA96AC3-E11E-1044-E8E3-B176423CB3B4}"/>
              </a:ext>
            </a:extLst>
          </p:cNvPr>
          <p:cNvSpPr txBox="1"/>
          <p:nvPr/>
        </p:nvSpPr>
        <p:spPr>
          <a:xfrm>
            <a:off x="10110811" y="5379646"/>
            <a:ext cx="410369"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latin typeface="Arial"/>
              </a:rPr>
              <a:t>End</a:t>
            </a:r>
            <a:endParaRPr kumimoji="0" lang="en-US" b="0" i="0" u="none" strike="noStrike" kern="1200" cap="none" spc="0" normalizeH="0" baseline="0" noProof="0" dirty="0">
              <a:ln>
                <a:noFill/>
              </a:ln>
              <a:effectLst/>
              <a:uLnTx/>
              <a:uFillTx/>
              <a:latin typeface="Arial"/>
              <a:ea typeface="+mn-ea"/>
              <a:cs typeface="+mn-cs"/>
            </a:endParaRPr>
          </a:p>
        </p:txBody>
      </p:sp>
      <p:pic>
        <p:nvPicPr>
          <p:cNvPr id="9" name="Picture 8">
            <a:extLst>
              <a:ext uri="{FF2B5EF4-FFF2-40B4-BE49-F238E27FC236}">
                <a16:creationId xmlns:a16="http://schemas.microsoft.com/office/drawing/2014/main" id="{9ECBAE2B-F391-2BC5-0B3A-85A65951D4BC}"/>
              </a:ext>
            </a:extLst>
          </p:cNvPr>
          <p:cNvPicPr>
            <a:picLocks/>
          </p:cNvPicPr>
          <p:nvPr/>
        </p:nvPicPr>
        <p:blipFill>
          <a:blip r:embed="rId11"/>
          <a:stretch>
            <a:fillRect/>
          </a:stretch>
        </p:blipFill>
        <p:spPr>
          <a:xfrm>
            <a:off x="7912930" y="2057208"/>
            <a:ext cx="3895344" cy="3968496"/>
          </a:xfrm>
          <a:prstGeom prst="rect">
            <a:avLst/>
          </a:prstGeom>
        </p:spPr>
      </p:pic>
      <p:sp>
        <p:nvSpPr>
          <p:cNvPr id="14" name="TextBox 13">
            <a:extLst>
              <a:ext uri="{FF2B5EF4-FFF2-40B4-BE49-F238E27FC236}">
                <a16:creationId xmlns:a16="http://schemas.microsoft.com/office/drawing/2014/main" id="{B968865E-131F-7023-28A4-A83313EF0C19}"/>
              </a:ext>
            </a:extLst>
          </p:cNvPr>
          <p:cNvSpPr txBox="1"/>
          <p:nvPr/>
        </p:nvSpPr>
        <p:spPr>
          <a:xfrm>
            <a:off x="8942629" y="2346047"/>
            <a:ext cx="1731243" cy="281039"/>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00B050"/>
                </a:solidFill>
                <a:effectLst/>
                <a:uLnTx/>
                <a:uFillTx/>
                <a:latin typeface="Arial"/>
                <a:ea typeface="+mn-ea"/>
                <a:cs typeface="+mn-cs"/>
              </a:rPr>
              <a:t>Accepted update</a:t>
            </a:r>
          </a:p>
        </p:txBody>
      </p:sp>
    </p:spTree>
    <p:extLst>
      <p:ext uri="{BB962C8B-B14F-4D97-AF65-F5344CB8AC3E}">
        <p14:creationId xmlns:p14="http://schemas.microsoft.com/office/powerpoint/2010/main" val="2483816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8E7B1-9FF0-0832-E200-5EBDC96958B2}"/>
            </a:ext>
          </a:extLst>
        </p:cNvPr>
        <p:cNvGrpSpPr/>
        <p:nvPr/>
      </p:nvGrpSpPr>
      <p:grpSpPr>
        <a:xfrm>
          <a:off x="0" y="0"/>
          <a:ext cx="0" cy="0"/>
          <a:chOff x="0" y="0"/>
          <a:chExt cx="0" cy="0"/>
        </a:xfrm>
      </p:grpSpPr>
      <p:sp>
        <p:nvSpPr>
          <p:cNvPr id="83" name="Rounded Rectangle 82">
            <a:extLst>
              <a:ext uri="{FF2B5EF4-FFF2-40B4-BE49-F238E27FC236}">
                <a16:creationId xmlns:a16="http://schemas.microsoft.com/office/drawing/2014/main" id="{1A5E9F2E-54DB-1517-BA6F-146E7C28B3DD}"/>
              </a:ext>
            </a:extLst>
          </p:cNvPr>
          <p:cNvSpPr/>
          <p:nvPr/>
        </p:nvSpPr>
        <p:spPr>
          <a:xfrm>
            <a:off x="7661009" y="1390308"/>
            <a:ext cx="4399186" cy="4961065"/>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 map of a landscape&#10;&#10;AI-generated content may be incorrect.">
            <a:extLst>
              <a:ext uri="{FF2B5EF4-FFF2-40B4-BE49-F238E27FC236}">
                <a16:creationId xmlns:a16="http://schemas.microsoft.com/office/drawing/2014/main" id="{C243BEC8-C5F3-91F1-8917-B91DD5410E97}"/>
              </a:ext>
            </a:extLst>
          </p:cNvPr>
          <p:cNvPicPr>
            <a:picLocks noChangeAspect="1"/>
          </p:cNvPicPr>
          <p:nvPr/>
        </p:nvPicPr>
        <p:blipFill>
          <a:blip r:embed="rId3">
            <a:extLst>
              <a:ext uri="{28A0092B-C50C-407E-A947-70E740481C1C}">
                <a14:useLocalDpi xmlns:a14="http://schemas.microsoft.com/office/drawing/2010/main" val="0"/>
              </a:ext>
            </a:extLst>
          </a:blip>
          <a:srcRect l="3441" t="1904" r="2358" b="54437"/>
          <a:stretch/>
        </p:blipFill>
        <p:spPr>
          <a:xfrm>
            <a:off x="8049449" y="2206765"/>
            <a:ext cx="3727248" cy="3489959"/>
          </a:xfrm>
          <a:prstGeom prst="rect">
            <a:avLst/>
          </a:prstGeom>
        </p:spPr>
      </p:pic>
      <p:sp>
        <p:nvSpPr>
          <p:cNvPr id="2" name="Datumsplatzhalter 1">
            <a:extLst>
              <a:ext uri="{FF2B5EF4-FFF2-40B4-BE49-F238E27FC236}">
                <a16:creationId xmlns:a16="http://schemas.microsoft.com/office/drawing/2014/main" id="{888A28E9-5F4A-0943-3244-D227544B37CD}"/>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4A9D367D-9B4E-E828-5732-AC4F6AACA080}"/>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BE418812-B93A-C3FC-A3D9-0B1BF8574BBD}"/>
              </a:ext>
            </a:extLst>
          </p:cNvPr>
          <p:cNvSpPr>
            <a:spLocks noGrp="1"/>
          </p:cNvSpPr>
          <p:nvPr>
            <p:ph type="sldNum" sz="quarter" idx="12"/>
          </p:nvPr>
        </p:nvSpPr>
        <p:spPr/>
        <p:txBody>
          <a:bodyPr/>
          <a:lstStyle/>
          <a:p>
            <a:fld id="{D949F9DF-37BD-4CD6-BF49-65BA579E1D7A}" type="slidenum">
              <a:rPr lang="de-DE" smtClean="0"/>
              <a:pPr/>
              <a:t>13</a:t>
            </a:fld>
            <a:endParaRPr lang="de-DE"/>
          </a:p>
        </p:txBody>
      </p:sp>
      <p:sp>
        <p:nvSpPr>
          <p:cNvPr id="10" name="Titel 9">
            <a:extLst>
              <a:ext uri="{FF2B5EF4-FFF2-40B4-BE49-F238E27FC236}">
                <a16:creationId xmlns:a16="http://schemas.microsoft.com/office/drawing/2014/main" id="{11955535-59C5-B2EC-CEDB-41323480C344}"/>
              </a:ext>
            </a:extLst>
          </p:cNvPr>
          <p:cNvSpPr>
            <a:spLocks noGrp="1"/>
          </p:cNvSpPr>
          <p:nvPr>
            <p:ph type="title"/>
          </p:nvPr>
        </p:nvSpPr>
        <p:spPr/>
        <p:txBody>
          <a:bodyPr/>
          <a:lstStyle/>
          <a:p>
            <a:r>
              <a:rPr lang="de-DE" dirty="0"/>
              <a:t>Backtracking Line Search</a:t>
            </a:r>
          </a:p>
        </p:txBody>
      </p:sp>
      <p:sp>
        <p:nvSpPr>
          <p:cNvPr id="12" name="Textplatzhalter 11">
            <a:extLst>
              <a:ext uri="{FF2B5EF4-FFF2-40B4-BE49-F238E27FC236}">
                <a16:creationId xmlns:a16="http://schemas.microsoft.com/office/drawing/2014/main" id="{9E47F4E1-51B9-E88A-8728-27553B6BF087}"/>
              </a:ext>
            </a:extLst>
          </p:cNvPr>
          <p:cNvSpPr>
            <a:spLocks noGrp="1"/>
          </p:cNvSpPr>
          <p:nvPr>
            <p:ph type="body" sz="quarter" idx="37"/>
          </p:nvPr>
        </p:nvSpPr>
        <p:spPr/>
        <p:txBody>
          <a:bodyPr/>
          <a:lstStyle/>
          <a:p>
            <a:r>
              <a:rPr lang="de-DE" dirty="0"/>
              <a:t>Method</a:t>
            </a:r>
          </a:p>
        </p:txBody>
      </p:sp>
      <p:pic>
        <p:nvPicPr>
          <p:cNvPr id="6" name="Picture 5" descr="A logo with blue lines and a horse&#10;&#10;AI-generated content may be incorrect.">
            <a:extLst>
              <a:ext uri="{FF2B5EF4-FFF2-40B4-BE49-F238E27FC236}">
                <a16:creationId xmlns:a16="http://schemas.microsoft.com/office/drawing/2014/main" id="{A7E69971-BBD4-D980-338C-AB9FA2D1B9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73" name="Rounded Rectangle 72">
            <a:extLst>
              <a:ext uri="{FF2B5EF4-FFF2-40B4-BE49-F238E27FC236}">
                <a16:creationId xmlns:a16="http://schemas.microsoft.com/office/drawing/2014/main" id="{07E7D48F-11B8-3110-504F-D4EBD1FCF245}"/>
              </a:ext>
            </a:extLst>
          </p:cNvPr>
          <p:cNvSpPr/>
          <p:nvPr/>
        </p:nvSpPr>
        <p:spPr>
          <a:xfrm>
            <a:off x="801908" y="1390308"/>
            <a:ext cx="6656832" cy="5054737"/>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FE871213-4483-A0E6-635F-000CC9BAB3EA}"/>
              </a:ext>
            </a:extLst>
          </p:cNvPr>
          <p:cNvSpPr/>
          <p:nvPr/>
        </p:nvSpPr>
        <p:spPr>
          <a:xfrm>
            <a:off x="984788" y="1573189"/>
            <a:ext cx="6291072" cy="1404143"/>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a:extLst>
              <a:ext uri="{FF2B5EF4-FFF2-40B4-BE49-F238E27FC236}">
                <a16:creationId xmlns:a16="http://schemas.microsoft.com/office/drawing/2014/main" id="{C1A456A8-118E-80F5-1DC7-4F7D770E34EA}"/>
              </a:ext>
            </a:extLst>
          </p:cNvPr>
          <p:cNvSpPr/>
          <p:nvPr/>
        </p:nvSpPr>
        <p:spPr>
          <a:xfrm>
            <a:off x="1149380" y="1719494"/>
            <a:ext cx="804672" cy="31089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FFFFFF"/>
                </a:solidFill>
                <a:latin typeface="Avenir Next"/>
              </a:rPr>
              <a:t>1</a:t>
            </a:r>
          </a:p>
        </p:txBody>
      </p:sp>
      <p:sp>
        <p:nvSpPr>
          <p:cNvPr id="76" name="TextBox 75">
            <a:extLst>
              <a:ext uri="{FF2B5EF4-FFF2-40B4-BE49-F238E27FC236}">
                <a16:creationId xmlns:a16="http://schemas.microsoft.com/office/drawing/2014/main" id="{C6E38E83-05E2-B226-07B1-0767752F6146}"/>
              </a:ext>
            </a:extLst>
          </p:cNvPr>
          <p:cNvSpPr txBox="1"/>
          <p:nvPr/>
        </p:nvSpPr>
        <p:spPr>
          <a:xfrm>
            <a:off x="1983732" y="1718545"/>
            <a:ext cx="5961888" cy="369332"/>
          </a:xfrm>
          <a:prstGeom prst="rect">
            <a:avLst/>
          </a:prstGeom>
          <a:noFill/>
        </p:spPr>
        <p:txBody>
          <a:bodyPr wrap="square" anchor="t">
            <a:spAutoFit/>
          </a:bodyPr>
          <a:lstStyle/>
          <a:p>
            <a:pPr algn="l"/>
            <a:r>
              <a:rPr lang="en-US" sz="1800" b="1" i="0" dirty="0">
                <a:solidFill>
                  <a:srgbClr val="17324D"/>
                </a:solidFill>
                <a:latin typeface="Avenir Next"/>
              </a:rPr>
              <a:t>Merit function</a:t>
            </a:r>
          </a:p>
        </p:txBody>
      </p:sp>
      <p:sp>
        <p:nvSpPr>
          <p:cNvPr id="77" name="Rounded Rectangle 76">
            <a:extLst>
              <a:ext uri="{FF2B5EF4-FFF2-40B4-BE49-F238E27FC236}">
                <a16:creationId xmlns:a16="http://schemas.microsoft.com/office/drawing/2014/main" id="{9736B289-03CE-F50E-1F08-418C15B47B8F}"/>
              </a:ext>
            </a:extLst>
          </p:cNvPr>
          <p:cNvSpPr/>
          <p:nvPr/>
        </p:nvSpPr>
        <p:spPr>
          <a:xfrm>
            <a:off x="1004177" y="3134856"/>
            <a:ext cx="6291072" cy="1493434"/>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extLst>
              <a:ext uri="{FF2B5EF4-FFF2-40B4-BE49-F238E27FC236}">
                <a16:creationId xmlns:a16="http://schemas.microsoft.com/office/drawing/2014/main" id="{51A23DB5-03B7-F05C-5A62-96C4865D5161}"/>
              </a:ext>
            </a:extLst>
          </p:cNvPr>
          <p:cNvSpPr/>
          <p:nvPr/>
        </p:nvSpPr>
        <p:spPr>
          <a:xfrm>
            <a:off x="1168769" y="3281160"/>
            <a:ext cx="804672"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600" b="1" i="0" dirty="0">
                <a:solidFill>
                  <a:srgbClr val="17324D"/>
                </a:solidFill>
                <a:latin typeface="Avenir Next"/>
              </a:rPr>
              <a:t>2</a:t>
            </a:r>
          </a:p>
        </p:txBody>
      </p:sp>
      <p:sp>
        <p:nvSpPr>
          <p:cNvPr id="79" name="TextBox 78">
            <a:extLst>
              <a:ext uri="{FF2B5EF4-FFF2-40B4-BE49-F238E27FC236}">
                <a16:creationId xmlns:a16="http://schemas.microsoft.com/office/drawing/2014/main" id="{65CD91D3-84F2-32AC-D342-F9310989D9AC}"/>
              </a:ext>
            </a:extLst>
          </p:cNvPr>
          <p:cNvSpPr txBox="1"/>
          <p:nvPr/>
        </p:nvSpPr>
        <p:spPr>
          <a:xfrm>
            <a:off x="2042021" y="3297026"/>
            <a:ext cx="5961888" cy="369332"/>
          </a:xfrm>
          <a:prstGeom prst="rect">
            <a:avLst/>
          </a:prstGeom>
          <a:noFill/>
        </p:spPr>
        <p:txBody>
          <a:bodyPr wrap="square" anchor="t">
            <a:spAutoFit/>
          </a:bodyPr>
          <a:lstStyle/>
          <a:p>
            <a:pPr algn="l"/>
            <a:r>
              <a:rPr lang="en-US" sz="1800" b="1" i="0" dirty="0">
                <a:solidFill>
                  <a:srgbClr val="17324D"/>
                </a:solidFill>
                <a:latin typeface="Avenir Next"/>
              </a:rPr>
              <a:t>Backtracking rule</a:t>
            </a:r>
          </a:p>
        </p:txBody>
      </p:sp>
      <p:sp>
        <p:nvSpPr>
          <p:cNvPr id="80" name="Rounded Rectangle 79">
            <a:extLst>
              <a:ext uri="{FF2B5EF4-FFF2-40B4-BE49-F238E27FC236}">
                <a16:creationId xmlns:a16="http://schemas.microsoft.com/office/drawing/2014/main" id="{3A47F8E6-BFB0-F9C3-DF5A-A8312B282DF5}"/>
              </a:ext>
            </a:extLst>
          </p:cNvPr>
          <p:cNvSpPr/>
          <p:nvPr/>
        </p:nvSpPr>
        <p:spPr>
          <a:xfrm>
            <a:off x="1019064" y="4859333"/>
            <a:ext cx="6291072" cy="126187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extLst>
              <a:ext uri="{FF2B5EF4-FFF2-40B4-BE49-F238E27FC236}">
                <a16:creationId xmlns:a16="http://schemas.microsoft.com/office/drawing/2014/main" id="{58C0DDE9-3840-BC92-FE5D-22089AC49A9D}"/>
              </a:ext>
            </a:extLst>
          </p:cNvPr>
          <p:cNvSpPr/>
          <p:nvPr/>
        </p:nvSpPr>
        <p:spPr>
          <a:xfrm>
            <a:off x="1174488" y="4913607"/>
            <a:ext cx="804672" cy="31089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FFFFFF"/>
                </a:solidFill>
                <a:latin typeface="Avenir Next"/>
              </a:rPr>
              <a:t>3</a:t>
            </a:r>
          </a:p>
        </p:txBody>
      </p:sp>
      <p:sp>
        <p:nvSpPr>
          <p:cNvPr id="82" name="TextBox 81">
            <a:extLst>
              <a:ext uri="{FF2B5EF4-FFF2-40B4-BE49-F238E27FC236}">
                <a16:creationId xmlns:a16="http://schemas.microsoft.com/office/drawing/2014/main" id="{D1D5528C-DE0F-D18C-21CC-C1475CEE6204}"/>
              </a:ext>
            </a:extLst>
          </p:cNvPr>
          <p:cNvSpPr txBox="1"/>
          <p:nvPr/>
        </p:nvSpPr>
        <p:spPr>
          <a:xfrm>
            <a:off x="1983732" y="4929473"/>
            <a:ext cx="5961888" cy="369332"/>
          </a:xfrm>
          <a:prstGeom prst="rect">
            <a:avLst/>
          </a:prstGeom>
          <a:noFill/>
        </p:spPr>
        <p:txBody>
          <a:bodyPr wrap="square" anchor="t">
            <a:spAutoFit/>
          </a:bodyPr>
          <a:lstStyle/>
          <a:p>
            <a:pPr algn="l"/>
            <a:r>
              <a:rPr lang="en-US" sz="1800" b="1" i="0" dirty="0">
                <a:solidFill>
                  <a:srgbClr val="17324D"/>
                </a:solidFill>
                <a:latin typeface="Avenir Next"/>
              </a:rPr>
              <a:t>Accepted update</a:t>
            </a:r>
          </a:p>
        </p:txBody>
      </p:sp>
      <p:sp>
        <p:nvSpPr>
          <p:cNvPr id="84" name="Rounded Rectangle 83">
            <a:extLst>
              <a:ext uri="{FF2B5EF4-FFF2-40B4-BE49-F238E27FC236}">
                <a16:creationId xmlns:a16="http://schemas.microsoft.com/office/drawing/2014/main" id="{C9718C61-D39C-4D3A-8103-83155F01B55F}"/>
              </a:ext>
            </a:extLst>
          </p:cNvPr>
          <p:cNvSpPr/>
          <p:nvPr/>
        </p:nvSpPr>
        <p:spPr>
          <a:xfrm>
            <a:off x="7989092" y="1554902"/>
            <a:ext cx="1505428" cy="292608"/>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b="1" i="0" dirty="0">
                <a:solidFill>
                  <a:srgbClr val="17324D"/>
                </a:solidFill>
                <a:latin typeface="Avenir Next"/>
              </a:rPr>
              <a:t>INTUITION</a:t>
            </a:r>
            <a:endParaRPr sz="1100" b="1" i="0" dirty="0">
              <a:solidFill>
                <a:srgbClr val="17324D"/>
              </a:solidFill>
              <a:latin typeface="Avenir Next"/>
            </a:endParaRPr>
          </a:p>
        </p:txBody>
      </p:sp>
      <p:pic>
        <p:nvPicPr>
          <p:cNvPr id="107" name="Picture 106">
            <a:extLst>
              <a:ext uri="{FF2B5EF4-FFF2-40B4-BE49-F238E27FC236}">
                <a16:creationId xmlns:a16="http://schemas.microsoft.com/office/drawing/2014/main" id="{5311BD13-27FA-A8D2-48B6-47DA716E3B96}"/>
              </a:ext>
            </a:extLst>
          </p:cNvPr>
          <p:cNvPicPr>
            <a:picLocks noChangeAspect="1"/>
          </p:cNvPicPr>
          <p:nvPr/>
        </p:nvPicPr>
        <p:blipFill>
          <a:blip r:embed="rId5"/>
          <a:stretch>
            <a:fillRect/>
          </a:stretch>
        </p:blipFill>
        <p:spPr>
          <a:xfrm>
            <a:off x="1294993" y="4092136"/>
            <a:ext cx="5329809" cy="457775"/>
          </a:xfrm>
          <a:prstGeom prst="rect">
            <a:avLst/>
          </a:prstGeom>
        </p:spPr>
      </p:pic>
      <p:pic>
        <p:nvPicPr>
          <p:cNvPr id="108" name="Picture 107">
            <a:extLst>
              <a:ext uri="{FF2B5EF4-FFF2-40B4-BE49-F238E27FC236}">
                <a16:creationId xmlns:a16="http://schemas.microsoft.com/office/drawing/2014/main" id="{AD6C530F-BF27-5B53-5E33-73A841A8FC81}"/>
              </a:ext>
            </a:extLst>
          </p:cNvPr>
          <p:cNvPicPr>
            <a:picLocks noChangeAspect="1"/>
          </p:cNvPicPr>
          <p:nvPr/>
        </p:nvPicPr>
        <p:blipFill>
          <a:blip r:embed="rId6"/>
          <a:stretch>
            <a:fillRect/>
          </a:stretch>
        </p:blipFill>
        <p:spPr>
          <a:xfrm>
            <a:off x="1203340" y="2586274"/>
            <a:ext cx="5269482" cy="292749"/>
          </a:xfrm>
          <a:prstGeom prst="rect">
            <a:avLst/>
          </a:prstGeom>
        </p:spPr>
      </p:pic>
      <p:pic>
        <p:nvPicPr>
          <p:cNvPr id="109" name="Picture 108">
            <a:extLst>
              <a:ext uri="{FF2B5EF4-FFF2-40B4-BE49-F238E27FC236}">
                <a16:creationId xmlns:a16="http://schemas.microsoft.com/office/drawing/2014/main" id="{E56E6499-D0D6-488D-2B02-203841DB0F22}"/>
              </a:ext>
            </a:extLst>
          </p:cNvPr>
          <p:cNvPicPr>
            <a:picLocks noChangeAspect="1"/>
          </p:cNvPicPr>
          <p:nvPr/>
        </p:nvPicPr>
        <p:blipFill>
          <a:blip r:embed="rId7"/>
          <a:stretch>
            <a:fillRect/>
          </a:stretch>
        </p:blipFill>
        <p:spPr>
          <a:xfrm>
            <a:off x="1258838" y="2098622"/>
            <a:ext cx="2326288" cy="508876"/>
          </a:xfrm>
          <a:prstGeom prst="rect">
            <a:avLst/>
          </a:prstGeom>
        </p:spPr>
      </p:pic>
      <p:pic>
        <p:nvPicPr>
          <p:cNvPr id="110" name="Picture 109">
            <a:extLst>
              <a:ext uri="{FF2B5EF4-FFF2-40B4-BE49-F238E27FC236}">
                <a16:creationId xmlns:a16="http://schemas.microsoft.com/office/drawing/2014/main" id="{BF0782F2-56DB-0110-EEA8-34790007BCAD}"/>
              </a:ext>
            </a:extLst>
          </p:cNvPr>
          <p:cNvPicPr>
            <a:picLocks noChangeAspect="1"/>
          </p:cNvPicPr>
          <p:nvPr/>
        </p:nvPicPr>
        <p:blipFill>
          <a:blip r:embed="rId8"/>
          <a:stretch>
            <a:fillRect/>
          </a:stretch>
        </p:blipFill>
        <p:spPr>
          <a:xfrm>
            <a:off x="1294993" y="3689918"/>
            <a:ext cx="2253979" cy="351538"/>
          </a:xfrm>
          <a:prstGeom prst="rect">
            <a:avLst/>
          </a:prstGeom>
        </p:spPr>
      </p:pic>
      <p:pic>
        <p:nvPicPr>
          <p:cNvPr id="113" name="Picture 112">
            <a:extLst>
              <a:ext uri="{FF2B5EF4-FFF2-40B4-BE49-F238E27FC236}">
                <a16:creationId xmlns:a16="http://schemas.microsoft.com/office/drawing/2014/main" id="{4439CDD6-F720-2D3E-33C9-AF47C85798A0}"/>
              </a:ext>
            </a:extLst>
          </p:cNvPr>
          <p:cNvPicPr>
            <a:picLocks noChangeAspect="1"/>
          </p:cNvPicPr>
          <p:nvPr/>
        </p:nvPicPr>
        <p:blipFill>
          <a:blip r:embed="rId9"/>
          <a:stretch>
            <a:fillRect/>
          </a:stretch>
        </p:blipFill>
        <p:spPr>
          <a:xfrm>
            <a:off x="1384957" y="5402591"/>
            <a:ext cx="5662474" cy="722869"/>
          </a:xfrm>
          <a:prstGeom prst="rect">
            <a:avLst/>
          </a:prstGeom>
        </p:spPr>
      </p:pic>
      <p:sp>
        <p:nvSpPr>
          <p:cNvPr id="115" name="TextBox 114">
            <a:extLst>
              <a:ext uri="{FF2B5EF4-FFF2-40B4-BE49-F238E27FC236}">
                <a16:creationId xmlns:a16="http://schemas.microsoft.com/office/drawing/2014/main" id="{BF290D11-B513-4723-3577-99544D1167C7}"/>
              </a:ext>
            </a:extLst>
          </p:cNvPr>
          <p:cNvSpPr txBox="1"/>
          <p:nvPr/>
        </p:nvSpPr>
        <p:spPr>
          <a:xfrm>
            <a:off x="8893100" y="7161183"/>
            <a:ext cx="7558548" cy="923330"/>
          </a:xfrm>
          <a:prstGeom prst="rect">
            <a:avLst/>
          </a:prstGeom>
          <a:noFill/>
        </p:spPr>
        <p:txBody>
          <a:bodyPr wrap="square">
            <a:spAutoFit/>
          </a:bodyPr>
          <a:lstStyle/>
          <a:p>
            <a:r>
              <a:rPr lang="en-US" dirty="0"/>
              <a:t>https://convex-optimization-for-</a:t>
            </a:r>
            <a:r>
              <a:rPr lang="en-US" dirty="0" err="1"/>
              <a:t>all.github.io</a:t>
            </a:r>
            <a:r>
              <a:rPr lang="en-US" dirty="0"/>
              <a:t>/contents/chapter06/2021/03/20/06_02_02_backtracking_line_search/</a:t>
            </a:r>
          </a:p>
        </p:txBody>
      </p:sp>
      <p:pic>
        <p:nvPicPr>
          <p:cNvPr id="11" name="Picture 10" descr="A diagram of a weather forecast&#10;&#10;AI-generated content may be incorrect.">
            <a:extLst>
              <a:ext uri="{FF2B5EF4-FFF2-40B4-BE49-F238E27FC236}">
                <a16:creationId xmlns:a16="http://schemas.microsoft.com/office/drawing/2014/main" id="{2B3ACE93-D70D-01C9-8BD8-0D83853B096A}"/>
              </a:ext>
            </a:extLst>
          </p:cNvPr>
          <p:cNvPicPr>
            <a:picLocks noChangeAspect="1"/>
          </p:cNvPicPr>
          <p:nvPr/>
        </p:nvPicPr>
        <p:blipFill>
          <a:blip r:embed="rId10">
            <a:extLst>
              <a:ext uri="{28A0092B-C50C-407E-A947-70E740481C1C}">
                <a14:useLocalDpi xmlns:a14="http://schemas.microsoft.com/office/drawing/2010/main" val="0"/>
              </a:ext>
            </a:extLst>
          </a:blip>
          <a:srcRect l="40415" t="3180" r="3458" b="3865"/>
          <a:stretch/>
        </p:blipFill>
        <p:spPr>
          <a:xfrm>
            <a:off x="15103283" y="2918914"/>
            <a:ext cx="3808838" cy="3880837"/>
          </a:xfrm>
          <a:prstGeom prst="rect">
            <a:avLst/>
          </a:prstGeom>
        </p:spPr>
      </p:pic>
      <p:sp>
        <p:nvSpPr>
          <p:cNvPr id="13" name="TextBox 12">
            <a:extLst>
              <a:ext uri="{FF2B5EF4-FFF2-40B4-BE49-F238E27FC236}">
                <a16:creationId xmlns:a16="http://schemas.microsoft.com/office/drawing/2014/main" id="{B80FA865-15EE-612A-4A79-681A4CA3580A}"/>
              </a:ext>
            </a:extLst>
          </p:cNvPr>
          <p:cNvSpPr txBox="1"/>
          <p:nvPr/>
        </p:nvSpPr>
        <p:spPr>
          <a:xfrm>
            <a:off x="11289384" y="2450863"/>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15" name="TextBox 14">
            <a:extLst>
              <a:ext uri="{FF2B5EF4-FFF2-40B4-BE49-F238E27FC236}">
                <a16:creationId xmlns:a16="http://schemas.microsoft.com/office/drawing/2014/main" id="{03BDFA72-CF19-3B85-DBCD-CA74586600FE}"/>
              </a:ext>
            </a:extLst>
          </p:cNvPr>
          <p:cNvSpPr txBox="1"/>
          <p:nvPr/>
        </p:nvSpPr>
        <p:spPr>
          <a:xfrm>
            <a:off x="8061835" y="3274081"/>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
        <p:nvSpPr>
          <p:cNvPr id="16" name="TextBox 15">
            <a:extLst>
              <a:ext uri="{FF2B5EF4-FFF2-40B4-BE49-F238E27FC236}">
                <a16:creationId xmlns:a16="http://schemas.microsoft.com/office/drawing/2014/main" id="{528BA95B-96D3-DE33-5CA0-87ED736AC2B7}"/>
              </a:ext>
            </a:extLst>
          </p:cNvPr>
          <p:cNvSpPr txBox="1"/>
          <p:nvPr/>
        </p:nvSpPr>
        <p:spPr>
          <a:xfrm>
            <a:off x="9432172" y="2591415"/>
            <a:ext cx="961802"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FF8311"/>
                </a:solidFill>
                <a:effectLst/>
                <a:uLnTx/>
                <a:uFillTx/>
                <a:latin typeface="Arial"/>
                <a:ea typeface="+mn-ea"/>
                <a:cs typeface="+mn-cs"/>
              </a:rPr>
              <a:t>Accepted</a:t>
            </a:r>
          </a:p>
        </p:txBody>
      </p:sp>
      <p:sp>
        <p:nvSpPr>
          <p:cNvPr id="17" name="TextBox 16">
            <a:extLst>
              <a:ext uri="{FF2B5EF4-FFF2-40B4-BE49-F238E27FC236}">
                <a16:creationId xmlns:a16="http://schemas.microsoft.com/office/drawing/2014/main" id="{78129F4E-4539-E8A6-8DF4-8FDA336759A4}"/>
              </a:ext>
            </a:extLst>
          </p:cNvPr>
          <p:cNvSpPr txBox="1"/>
          <p:nvPr/>
        </p:nvSpPr>
        <p:spPr>
          <a:xfrm>
            <a:off x="10110811" y="5379646"/>
            <a:ext cx="410369"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latin typeface="Arial"/>
              </a:rPr>
              <a:t>End</a:t>
            </a:r>
            <a:endParaRPr kumimoji="0" lang="en-US" b="0" i="0" u="none" strike="noStrike" kern="1200" cap="none" spc="0" normalizeH="0" baseline="0" noProof="0" dirty="0">
              <a:ln>
                <a:noFill/>
              </a:ln>
              <a:effectLst/>
              <a:uLnTx/>
              <a:uFillTx/>
              <a:latin typeface="Arial"/>
              <a:ea typeface="+mn-ea"/>
              <a:cs typeface="+mn-cs"/>
            </a:endParaRPr>
          </a:p>
        </p:txBody>
      </p:sp>
      <p:pic>
        <p:nvPicPr>
          <p:cNvPr id="5" name="Picture 4">
            <a:extLst>
              <a:ext uri="{FF2B5EF4-FFF2-40B4-BE49-F238E27FC236}">
                <a16:creationId xmlns:a16="http://schemas.microsoft.com/office/drawing/2014/main" id="{B712C9C3-3E0C-826C-4377-4FF86E580F20}"/>
              </a:ext>
            </a:extLst>
          </p:cNvPr>
          <p:cNvPicPr>
            <a:picLocks/>
          </p:cNvPicPr>
          <p:nvPr/>
        </p:nvPicPr>
        <p:blipFill>
          <a:blip r:embed="rId11"/>
          <a:stretch>
            <a:fillRect/>
          </a:stretch>
        </p:blipFill>
        <p:spPr>
          <a:xfrm>
            <a:off x="7896193" y="2011916"/>
            <a:ext cx="3895344" cy="3968496"/>
          </a:xfrm>
          <a:prstGeom prst="rect">
            <a:avLst/>
          </a:prstGeom>
        </p:spPr>
      </p:pic>
      <p:sp>
        <p:nvSpPr>
          <p:cNvPr id="14" name="TextBox 13">
            <a:extLst>
              <a:ext uri="{FF2B5EF4-FFF2-40B4-BE49-F238E27FC236}">
                <a16:creationId xmlns:a16="http://schemas.microsoft.com/office/drawing/2014/main" id="{C0F49ED9-9359-144E-2E12-952E8A10DA27}"/>
              </a:ext>
            </a:extLst>
          </p:cNvPr>
          <p:cNvSpPr txBox="1"/>
          <p:nvPr/>
        </p:nvSpPr>
        <p:spPr>
          <a:xfrm>
            <a:off x="11238442" y="2353060"/>
            <a:ext cx="487313"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prstClr val="black"/>
                </a:solidFill>
                <a:latin typeface="Arial"/>
              </a:rPr>
              <a:t>S</a:t>
            </a:r>
            <a:r>
              <a:rPr kumimoji="0" lang="en-US" b="0" i="0" u="none" strike="noStrike" kern="1200" cap="none" spc="0" normalizeH="0" baseline="0" noProof="0" dirty="0">
                <a:ln>
                  <a:noFill/>
                </a:ln>
                <a:solidFill>
                  <a:prstClr val="black"/>
                </a:solidFill>
                <a:effectLst/>
                <a:uLnTx/>
                <a:uFillTx/>
                <a:latin typeface="Arial"/>
                <a:ea typeface="+mn-ea"/>
                <a:cs typeface="+mn-cs"/>
              </a:rPr>
              <a:t>tart</a:t>
            </a:r>
          </a:p>
        </p:txBody>
      </p:sp>
      <p:sp>
        <p:nvSpPr>
          <p:cNvPr id="18" name="TextBox 17">
            <a:extLst>
              <a:ext uri="{FF2B5EF4-FFF2-40B4-BE49-F238E27FC236}">
                <a16:creationId xmlns:a16="http://schemas.microsoft.com/office/drawing/2014/main" id="{CE372B70-41E0-90EA-52CB-88AD50B73E78}"/>
              </a:ext>
            </a:extLst>
          </p:cNvPr>
          <p:cNvSpPr txBox="1"/>
          <p:nvPr/>
        </p:nvSpPr>
        <p:spPr>
          <a:xfrm>
            <a:off x="8491778" y="5349717"/>
            <a:ext cx="910506"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solidFill>
                  <a:srgbClr val="FF0000"/>
                </a:solidFill>
                <a:latin typeface="Arial"/>
              </a:rPr>
              <a:t>R</a:t>
            </a:r>
            <a:r>
              <a:rPr kumimoji="0" lang="en-US" b="0" i="0" u="none" strike="noStrike" kern="1200" cap="none" spc="0" normalizeH="0" baseline="0" noProof="0" dirty="0">
                <a:ln>
                  <a:noFill/>
                </a:ln>
                <a:solidFill>
                  <a:srgbClr val="FF0000"/>
                </a:solidFill>
                <a:effectLst/>
                <a:uLnTx/>
                <a:uFillTx/>
                <a:latin typeface="Arial"/>
                <a:ea typeface="+mn-ea"/>
                <a:cs typeface="+mn-cs"/>
              </a:rPr>
              <a:t>ejected</a:t>
            </a:r>
          </a:p>
        </p:txBody>
      </p:sp>
      <p:sp>
        <p:nvSpPr>
          <p:cNvPr id="19" name="TextBox 18">
            <a:extLst>
              <a:ext uri="{FF2B5EF4-FFF2-40B4-BE49-F238E27FC236}">
                <a16:creationId xmlns:a16="http://schemas.microsoft.com/office/drawing/2014/main" id="{3600C2C9-3BDC-1926-B459-EF11E7CD1C09}"/>
              </a:ext>
            </a:extLst>
          </p:cNvPr>
          <p:cNvSpPr txBox="1"/>
          <p:nvPr/>
        </p:nvSpPr>
        <p:spPr>
          <a:xfrm>
            <a:off x="9326233" y="2472646"/>
            <a:ext cx="961802"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en-US" b="0" i="0" u="none" strike="noStrike" kern="1200" cap="none" spc="0" normalizeH="0" baseline="0" noProof="0" dirty="0">
                <a:ln>
                  <a:noFill/>
                </a:ln>
                <a:solidFill>
                  <a:srgbClr val="FF8311"/>
                </a:solidFill>
                <a:effectLst/>
                <a:uLnTx/>
                <a:uFillTx/>
                <a:latin typeface="Arial"/>
                <a:ea typeface="+mn-ea"/>
                <a:cs typeface="+mn-cs"/>
              </a:rPr>
              <a:t>Accepted</a:t>
            </a:r>
          </a:p>
        </p:txBody>
      </p:sp>
      <p:sp>
        <p:nvSpPr>
          <p:cNvPr id="20" name="TextBox 19">
            <a:extLst>
              <a:ext uri="{FF2B5EF4-FFF2-40B4-BE49-F238E27FC236}">
                <a16:creationId xmlns:a16="http://schemas.microsoft.com/office/drawing/2014/main" id="{F19E8906-E88D-0AAE-36A8-C18E48A0558A}"/>
              </a:ext>
            </a:extLst>
          </p:cNvPr>
          <p:cNvSpPr txBox="1"/>
          <p:nvPr/>
        </p:nvSpPr>
        <p:spPr>
          <a:xfrm>
            <a:off x="10090519" y="5521551"/>
            <a:ext cx="410369" cy="281103"/>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en-US" dirty="0">
                <a:latin typeface="Arial"/>
              </a:rPr>
              <a:t>End</a:t>
            </a:r>
            <a:endParaRPr kumimoji="0" lang="en-US" b="0" i="0" u="none" strike="noStrike" kern="120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2954649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AA916-ECA0-CFAB-E936-7CC35901AF55}"/>
              </a:ext>
            </a:extLst>
          </p:cNvPr>
          <p:cNvSpPr>
            <a:spLocks noGrp="1"/>
          </p:cNvSpPr>
          <p:nvPr>
            <p:ph type="dt" sz="half" idx="10"/>
          </p:nvPr>
        </p:nvSpPr>
        <p:spPr/>
        <p:txBody>
          <a:bodyPr/>
          <a:lstStyle/>
          <a:p>
            <a:fld id="{A4E4BF54-E288-44CA-9624-72B71A8A42AB}" type="datetime4">
              <a:rPr lang="de-DE" smtClean="0"/>
              <a:t>30. April 2026</a:t>
            </a:fld>
            <a:endParaRPr lang="de-DE" dirty="0"/>
          </a:p>
        </p:txBody>
      </p:sp>
      <p:sp>
        <p:nvSpPr>
          <p:cNvPr id="3" name="Footer Placeholder 2">
            <a:extLst>
              <a:ext uri="{FF2B5EF4-FFF2-40B4-BE49-F238E27FC236}">
                <a16:creationId xmlns:a16="http://schemas.microsoft.com/office/drawing/2014/main" id="{EF09A120-5FC1-CE73-BB93-8EE39D97CB66}"/>
              </a:ext>
            </a:extLst>
          </p:cNvPr>
          <p:cNvSpPr>
            <a:spLocks noGrp="1"/>
          </p:cNvSpPr>
          <p:nvPr>
            <p:ph type="ftr" sz="quarter" idx="11"/>
          </p:nvPr>
        </p:nvSpPr>
        <p:spPr/>
        <p:txBody>
          <a:bodyPr/>
          <a:lstStyle/>
          <a:p>
            <a:r>
              <a:rPr lang="de-DE"/>
              <a:t>Technische Fakultät</a:t>
            </a:r>
            <a:endParaRPr lang="de-DE" dirty="0"/>
          </a:p>
        </p:txBody>
      </p:sp>
      <p:sp>
        <p:nvSpPr>
          <p:cNvPr id="4" name="Slide Number Placeholder 3">
            <a:extLst>
              <a:ext uri="{FF2B5EF4-FFF2-40B4-BE49-F238E27FC236}">
                <a16:creationId xmlns:a16="http://schemas.microsoft.com/office/drawing/2014/main" id="{0F92A809-BC3C-93CE-B030-AA374E08E270}"/>
              </a:ext>
            </a:extLst>
          </p:cNvPr>
          <p:cNvSpPr>
            <a:spLocks noGrp="1"/>
          </p:cNvSpPr>
          <p:nvPr>
            <p:ph type="sldNum" sz="quarter" idx="12"/>
          </p:nvPr>
        </p:nvSpPr>
        <p:spPr/>
        <p:txBody>
          <a:bodyPr/>
          <a:lstStyle/>
          <a:p>
            <a:fld id="{D949F9DF-37BD-4CD6-BF49-65BA579E1D7A}" type="slidenum">
              <a:rPr lang="de-DE" smtClean="0"/>
              <a:pPr/>
              <a:t>14</a:t>
            </a:fld>
            <a:endParaRPr lang="de-DE"/>
          </a:p>
        </p:txBody>
      </p:sp>
      <p:sp>
        <p:nvSpPr>
          <p:cNvPr id="5" name="Text Placeholder 4">
            <a:extLst>
              <a:ext uri="{FF2B5EF4-FFF2-40B4-BE49-F238E27FC236}">
                <a16:creationId xmlns:a16="http://schemas.microsoft.com/office/drawing/2014/main" id="{DF06A5B9-A07B-ED40-3031-57B0C2142541}"/>
              </a:ext>
            </a:extLst>
          </p:cNvPr>
          <p:cNvSpPr>
            <a:spLocks noGrp="1"/>
          </p:cNvSpPr>
          <p:nvPr>
            <p:ph type="body" sz="quarter" idx="13"/>
          </p:nvPr>
        </p:nvSpPr>
        <p:spPr/>
        <p:txBody>
          <a:bodyPr/>
          <a:lstStyle/>
          <a:p>
            <a:endParaRPr lang="en-US"/>
          </a:p>
        </p:txBody>
      </p:sp>
      <p:sp>
        <p:nvSpPr>
          <p:cNvPr id="6" name="Title 5">
            <a:extLst>
              <a:ext uri="{FF2B5EF4-FFF2-40B4-BE49-F238E27FC236}">
                <a16:creationId xmlns:a16="http://schemas.microsoft.com/office/drawing/2014/main" id="{26F06BE5-E653-8A54-10DB-9794D1220538}"/>
              </a:ext>
            </a:extLst>
          </p:cNvPr>
          <p:cNvSpPr>
            <a:spLocks noGrp="1"/>
          </p:cNvSpPr>
          <p:nvPr>
            <p:ph type="title"/>
          </p:nvPr>
        </p:nvSpPr>
        <p:spPr/>
        <p:txBody>
          <a:bodyPr/>
          <a:lstStyle/>
          <a:p>
            <a:endParaRPr lang="en-US"/>
          </a:p>
        </p:txBody>
      </p:sp>
      <p:sp>
        <p:nvSpPr>
          <p:cNvPr id="7" name="Picture Placeholder 6">
            <a:extLst>
              <a:ext uri="{FF2B5EF4-FFF2-40B4-BE49-F238E27FC236}">
                <a16:creationId xmlns:a16="http://schemas.microsoft.com/office/drawing/2014/main" id="{35C20CD0-EE13-8C4E-0CD3-84F305492A45}"/>
              </a:ext>
            </a:extLst>
          </p:cNvPr>
          <p:cNvSpPr>
            <a:spLocks noGrp="1"/>
          </p:cNvSpPr>
          <p:nvPr>
            <p:ph type="pic" sz="quarter" idx="25"/>
          </p:nvPr>
        </p:nvSpPr>
        <p:spPr/>
        <p:txBody>
          <a:bodyPr/>
          <a:lstStyle/>
          <a:p>
            <a:endParaRPr lang="en-US"/>
          </a:p>
        </p:txBody>
      </p:sp>
      <p:sp>
        <p:nvSpPr>
          <p:cNvPr id="8" name="Text Placeholder 7">
            <a:extLst>
              <a:ext uri="{FF2B5EF4-FFF2-40B4-BE49-F238E27FC236}">
                <a16:creationId xmlns:a16="http://schemas.microsoft.com/office/drawing/2014/main" id="{EE2FFDA1-01E4-6E34-6958-739BFCC6C4E3}"/>
              </a:ext>
            </a:extLst>
          </p:cNvPr>
          <p:cNvSpPr>
            <a:spLocks noGrp="1"/>
          </p:cNvSpPr>
          <p:nvPr>
            <p:ph type="body" sz="quarter" idx="37"/>
          </p:nvPr>
        </p:nvSpPr>
        <p:spPr/>
        <p:txBody>
          <a:bodyPr/>
          <a:lstStyle/>
          <a:p>
            <a:endParaRPr lang="en-US"/>
          </a:p>
        </p:txBody>
      </p:sp>
      <p:sp>
        <p:nvSpPr>
          <p:cNvPr id="9" name="Picture Placeholder 8">
            <a:extLst>
              <a:ext uri="{FF2B5EF4-FFF2-40B4-BE49-F238E27FC236}">
                <a16:creationId xmlns:a16="http://schemas.microsoft.com/office/drawing/2014/main" id="{DEDD4B25-80E9-64B9-5738-D559C9E6A953}"/>
              </a:ext>
            </a:extLst>
          </p:cNvPr>
          <p:cNvSpPr>
            <a:spLocks noGrp="1"/>
          </p:cNvSpPr>
          <p:nvPr>
            <p:ph type="pic" sz="quarter" idx="39"/>
          </p:nvPr>
        </p:nvSpPr>
        <p:spPr/>
        <p:txBody>
          <a:bodyPr/>
          <a:lstStyle/>
          <a:p>
            <a:endParaRPr lang="en-US"/>
          </a:p>
        </p:txBody>
      </p:sp>
      <p:pic>
        <p:nvPicPr>
          <p:cNvPr id="14" name="2026-04-23 17-00-32">
            <a:hlinkClick r:id="" action="ppaction://media"/>
            <a:extLst>
              <a:ext uri="{FF2B5EF4-FFF2-40B4-BE49-F238E27FC236}">
                <a16:creationId xmlns:a16="http://schemas.microsoft.com/office/drawing/2014/main" id="{DE03C075-4AB6-DB07-4E48-6DCC2E244E1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763" y="3175"/>
            <a:ext cx="12192000" cy="6858000"/>
          </a:xfrm>
          <a:prstGeom prst="rect">
            <a:avLst/>
          </a:prstGeom>
        </p:spPr>
      </p:pic>
    </p:spTree>
    <p:extLst>
      <p:ext uri="{BB962C8B-B14F-4D97-AF65-F5344CB8AC3E}">
        <p14:creationId xmlns:p14="http://schemas.microsoft.com/office/powerpoint/2010/main" val="367789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41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66919-3000-7FF5-BE32-4440A95713A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35E364E2-2B64-D056-1E8D-E50993239D54}"/>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B1350910-E418-E207-E540-2D4EAFFEF84F}"/>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F8FE4051-AD27-0746-A2F5-8991488B1E7E}"/>
              </a:ext>
            </a:extLst>
          </p:cNvPr>
          <p:cNvSpPr>
            <a:spLocks noGrp="1"/>
          </p:cNvSpPr>
          <p:nvPr>
            <p:ph type="sldNum" sz="quarter" idx="12"/>
          </p:nvPr>
        </p:nvSpPr>
        <p:spPr/>
        <p:txBody>
          <a:bodyPr/>
          <a:lstStyle/>
          <a:p>
            <a:fld id="{D949F9DF-37BD-4CD6-BF49-65BA579E1D7A}" type="slidenum">
              <a:rPr lang="de-DE" smtClean="0"/>
              <a:pPr/>
              <a:t>15</a:t>
            </a:fld>
            <a:endParaRPr lang="de-DE"/>
          </a:p>
        </p:txBody>
      </p:sp>
      <p:sp>
        <p:nvSpPr>
          <p:cNvPr id="10" name="Titel 9">
            <a:extLst>
              <a:ext uri="{FF2B5EF4-FFF2-40B4-BE49-F238E27FC236}">
                <a16:creationId xmlns:a16="http://schemas.microsoft.com/office/drawing/2014/main" id="{C887A9ED-FE36-6603-71DB-069E74959291}"/>
              </a:ext>
            </a:extLst>
          </p:cNvPr>
          <p:cNvSpPr>
            <a:spLocks noGrp="1"/>
          </p:cNvSpPr>
          <p:nvPr>
            <p:ph type="title"/>
          </p:nvPr>
        </p:nvSpPr>
        <p:spPr/>
        <p:txBody>
          <a:bodyPr/>
          <a:lstStyle/>
          <a:p>
            <a:r>
              <a:rPr lang="en-US" dirty="0"/>
              <a:t>Experimental Setup</a:t>
            </a:r>
            <a:endParaRPr lang="de-DE" dirty="0"/>
          </a:p>
        </p:txBody>
      </p:sp>
      <p:sp>
        <p:nvSpPr>
          <p:cNvPr id="12" name="Textplatzhalter 11">
            <a:extLst>
              <a:ext uri="{FF2B5EF4-FFF2-40B4-BE49-F238E27FC236}">
                <a16:creationId xmlns:a16="http://schemas.microsoft.com/office/drawing/2014/main" id="{8F6D0B06-7B2C-1964-3FD3-9F98C075F890}"/>
              </a:ext>
            </a:extLst>
          </p:cNvPr>
          <p:cNvSpPr>
            <a:spLocks noGrp="1"/>
          </p:cNvSpPr>
          <p:nvPr>
            <p:ph type="body" sz="quarter" idx="37"/>
          </p:nvPr>
        </p:nvSpPr>
        <p:spPr/>
        <p:txBody>
          <a:bodyPr/>
          <a:lstStyle/>
          <a:p>
            <a:r>
              <a:rPr lang="de-DE" dirty="0"/>
              <a:t>Experiments</a:t>
            </a:r>
          </a:p>
        </p:txBody>
      </p:sp>
      <p:pic>
        <p:nvPicPr>
          <p:cNvPr id="6" name="Picture 5" descr="A logo with blue lines and a horse&#10;&#10;AI-generated content may be incorrect.">
            <a:extLst>
              <a:ext uri="{FF2B5EF4-FFF2-40B4-BE49-F238E27FC236}">
                <a16:creationId xmlns:a16="http://schemas.microsoft.com/office/drawing/2014/main" id="{3C8E1758-C2DF-86B3-1757-22F89B662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20" name="Rounded Rectangle 19">
            <a:extLst>
              <a:ext uri="{FF2B5EF4-FFF2-40B4-BE49-F238E27FC236}">
                <a16:creationId xmlns:a16="http://schemas.microsoft.com/office/drawing/2014/main" id="{FAF2000E-1EC2-12CF-E17F-BF10624664AA}"/>
              </a:ext>
            </a:extLst>
          </p:cNvPr>
          <p:cNvSpPr/>
          <p:nvPr/>
        </p:nvSpPr>
        <p:spPr>
          <a:xfrm>
            <a:off x="518317" y="1729060"/>
            <a:ext cx="3571104" cy="3399494"/>
          </a:xfrm>
          <a:prstGeom prst="roundRect">
            <a:avLst/>
          </a:prstGeom>
          <a:solidFill>
            <a:srgbClr val="FFFFFF"/>
          </a:solidFill>
          <a:ln w="9525" cap="flat" cmpd="sng" algn="ctr">
            <a:solidFill>
              <a:srgbClr val="FFFFFF"/>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17324D"/>
                </a:solidFill>
                <a:effectLst/>
                <a:uLnTx/>
                <a:uFillTx/>
                <a:latin typeface="Avenir Next"/>
                <a:ea typeface="+mn-ea"/>
                <a:cs typeface="+mn-cs"/>
              </a:rPr>
              <a:t>Data</a:t>
            </a:r>
          </a:p>
          <a:p>
            <a:pPr marL="285750" marR="0" lvl="0" indent="-285750" defTabSz="45720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sz="2000" b="0" i="0" u="none" strike="noStrike" kern="0" cap="none" spc="0" normalizeH="0" baseline="0" noProof="0" dirty="0">
                <a:ln>
                  <a:noFill/>
                </a:ln>
                <a:solidFill>
                  <a:srgbClr val="4B647A"/>
                </a:solidFill>
                <a:effectLst/>
                <a:uLnTx/>
                <a:uFillTx/>
                <a:latin typeface="Avenir Next"/>
                <a:ea typeface="+mn-ea"/>
                <a:cs typeface="+mn-cs"/>
              </a:rPr>
              <a:t>European/German-inspired MV and HV parameter ranges</a:t>
            </a:r>
          </a:p>
          <a:p>
            <a:pPr marL="285750" marR="0" lvl="0" indent="-285750" defTabSz="45720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sz="2000" b="0" i="0" u="none" strike="noStrike" kern="0" cap="none" spc="0" normalizeH="0" baseline="0" noProof="0" dirty="0">
                <a:ln>
                  <a:noFill/>
                </a:ln>
                <a:solidFill>
                  <a:srgbClr val="4B647A"/>
                </a:solidFill>
                <a:effectLst/>
                <a:uLnTx/>
                <a:uFillTx/>
                <a:latin typeface="Avenir Next"/>
                <a:ea typeface="+mn-ea"/>
                <a:cs typeface="+mn-cs"/>
              </a:rPr>
              <a:t>33,182 HV scenarios and 31,500 MV scenarios</a:t>
            </a:r>
          </a:p>
          <a:p>
            <a:pPr marL="285750" marR="0" lvl="0" indent="-285750" defTabSz="45720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sz="2000" b="0" i="0" u="none" strike="noStrike" kern="0" cap="none" spc="0" normalizeH="0" baseline="0" noProof="0" dirty="0">
                <a:ln>
                  <a:noFill/>
                </a:ln>
                <a:solidFill>
                  <a:srgbClr val="4B647A"/>
                </a:solidFill>
                <a:effectLst/>
                <a:uLnTx/>
                <a:uFillTx/>
                <a:latin typeface="Avenir Next"/>
                <a:ea typeface="+mn-ea"/>
                <a:cs typeface="+mn-cs"/>
              </a:rPr>
              <a:t>All training cases </a:t>
            </a:r>
            <a:r>
              <a:rPr kumimoji="0" lang="en-US" sz="2000" b="0" i="0" u="none" strike="noStrike" kern="0" cap="none" spc="0" normalizeH="0" baseline="0" noProof="0" dirty="0">
                <a:ln>
                  <a:noFill/>
                </a:ln>
                <a:solidFill>
                  <a:srgbClr val="4B647A"/>
                </a:solidFill>
                <a:effectLst/>
                <a:uLnTx/>
                <a:uFillTx/>
                <a:latin typeface="Avenir Next"/>
                <a:ea typeface="+mn-ea"/>
                <a:cs typeface="+mn-cs"/>
              </a:rPr>
              <a:t>use grid sizes from</a:t>
            </a:r>
            <a:r>
              <a:rPr kumimoji="0" sz="2000" b="0" i="0" u="none" strike="noStrike" kern="0" cap="none" spc="0" normalizeH="0" baseline="0" noProof="0" dirty="0">
                <a:ln>
                  <a:noFill/>
                </a:ln>
                <a:solidFill>
                  <a:srgbClr val="4B647A"/>
                </a:solidFill>
                <a:effectLst/>
                <a:uLnTx/>
                <a:uFillTx/>
                <a:latin typeface="Avenir Next"/>
                <a:ea typeface="+mn-ea"/>
                <a:cs typeface="+mn-cs"/>
              </a:rPr>
              <a:t> 4 to 32 </a:t>
            </a:r>
          </a:p>
        </p:txBody>
      </p:sp>
      <p:sp>
        <p:nvSpPr>
          <p:cNvPr id="21" name="Rounded Rectangle 20">
            <a:extLst>
              <a:ext uri="{FF2B5EF4-FFF2-40B4-BE49-F238E27FC236}">
                <a16:creationId xmlns:a16="http://schemas.microsoft.com/office/drawing/2014/main" id="{AC816202-A9B7-4A91-212C-FA1552850F35}"/>
              </a:ext>
            </a:extLst>
          </p:cNvPr>
          <p:cNvSpPr/>
          <p:nvPr/>
        </p:nvSpPr>
        <p:spPr>
          <a:xfrm>
            <a:off x="4460100" y="1736801"/>
            <a:ext cx="3571104" cy="3399494"/>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17324D"/>
                </a:solidFill>
                <a:effectLst/>
                <a:uLnTx/>
                <a:uFillTx/>
                <a:latin typeface="Avenir Next"/>
                <a:ea typeface="+mn-ea"/>
                <a:cs typeface="+mn-cs"/>
              </a:rPr>
              <a:t>Training</a:t>
            </a:r>
          </a:p>
          <a:p>
            <a:pPr marL="285750" marR="0" lvl="0" indent="-285750" defTabSz="45720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4B647A"/>
                </a:solidFill>
                <a:effectLst/>
                <a:uLnTx/>
                <a:uFillTx/>
                <a:latin typeface="Avenir Next"/>
                <a:ea typeface="+mn-ea"/>
                <a:cs typeface="+mn-cs"/>
              </a:rPr>
              <a:t>Physics informed loss</a:t>
            </a:r>
            <a:r>
              <a:rPr kumimoji="0" sz="2000" b="0" i="0" u="none" strike="noStrike" kern="0" cap="none" spc="0" normalizeH="0" baseline="0" noProof="0" dirty="0">
                <a:ln>
                  <a:noFill/>
                </a:ln>
                <a:solidFill>
                  <a:srgbClr val="4B647A"/>
                </a:solidFill>
                <a:effectLst/>
                <a:uLnTx/>
                <a:uFillTx/>
                <a:latin typeface="Avenir Next"/>
                <a:ea typeface="+mn-ea"/>
                <a:cs typeface="+mn-cs"/>
              </a:rPr>
              <a:t> discounted</a:t>
            </a:r>
            <a:r>
              <a:rPr kumimoji="0" lang="en-US" sz="2000" b="0" i="0" u="none" strike="noStrike" kern="0" cap="none" spc="0" normalizeH="0" baseline="0" noProof="0" dirty="0">
                <a:ln>
                  <a:noFill/>
                </a:ln>
                <a:solidFill>
                  <a:srgbClr val="4B647A"/>
                </a:solidFill>
                <a:effectLst/>
                <a:uLnTx/>
                <a:uFillTx/>
                <a:latin typeface="Avenir Next"/>
                <a:ea typeface="+mn-ea"/>
                <a:cs typeface="+mn-cs"/>
              </a:rPr>
              <a:t> over steps</a:t>
            </a:r>
            <a:endParaRPr kumimoji="0" sz="2000" b="0" i="0" u="none" strike="noStrike" kern="0" cap="none" spc="0" normalizeH="0" baseline="0" noProof="0" dirty="0">
              <a:ln>
                <a:noFill/>
              </a:ln>
              <a:solidFill>
                <a:srgbClr val="4B647A"/>
              </a:solidFill>
              <a:effectLst/>
              <a:uLnTx/>
              <a:uFillTx/>
              <a:latin typeface="Avenir Next"/>
              <a:ea typeface="+mn-ea"/>
              <a:cs typeface="+mn-cs"/>
            </a:endParaRPr>
          </a:p>
          <a:p>
            <a:pPr marL="285750" marR="0" lvl="0" indent="-285750" defTabSz="45720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sz="2000" b="0" i="0" u="none" strike="noStrike" kern="0" cap="none" spc="0" normalizeH="0" baseline="0" noProof="0" dirty="0">
                <a:ln>
                  <a:noFill/>
                </a:ln>
                <a:solidFill>
                  <a:srgbClr val="4B647A"/>
                </a:solidFill>
                <a:effectLst/>
                <a:uLnTx/>
                <a:uFillTx/>
                <a:latin typeface="Avenir Next"/>
                <a:ea typeface="+mn-ea"/>
                <a:cs typeface="+mn-cs"/>
              </a:rPr>
              <a:t>K = 40 correction steps</a:t>
            </a:r>
          </a:p>
          <a:p>
            <a:pPr marL="285750" marR="0" lvl="0" indent="-285750" defTabSz="45720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sz="2000" b="0" i="0" u="none" strike="noStrike" kern="0" cap="none" spc="0" normalizeH="0" baseline="0" noProof="0" dirty="0" err="1">
                <a:ln>
                  <a:noFill/>
                </a:ln>
                <a:solidFill>
                  <a:srgbClr val="4B647A"/>
                </a:solidFill>
                <a:effectLst/>
                <a:uLnTx/>
                <a:uFillTx/>
                <a:latin typeface="Avenir Next"/>
                <a:ea typeface="+mn-ea"/>
                <a:cs typeface="+mn-cs"/>
              </a:rPr>
              <a:t>AdamW</a:t>
            </a:r>
            <a:r>
              <a:rPr kumimoji="0" sz="2000" b="0" i="0" u="none" strike="noStrike" kern="0" cap="none" spc="0" normalizeH="0" baseline="0" noProof="0" dirty="0">
                <a:ln>
                  <a:noFill/>
                </a:ln>
                <a:solidFill>
                  <a:srgbClr val="4B647A"/>
                </a:solidFill>
                <a:effectLst/>
                <a:uLnTx/>
                <a:uFillTx/>
                <a:latin typeface="Avenir Next"/>
                <a:ea typeface="+mn-ea"/>
                <a:cs typeface="+mn-cs"/>
              </a:rPr>
              <a:t> + cosine LR schedule</a:t>
            </a:r>
          </a:p>
        </p:txBody>
      </p:sp>
      <p:sp>
        <p:nvSpPr>
          <p:cNvPr id="22" name="Rounded Rectangle 21">
            <a:extLst>
              <a:ext uri="{FF2B5EF4-FFF2-40B4-BE49-F238E27FC236}">
                <a16:creationId xmlns:a16="http://schemas.microsoft.com/office/drawing/2014/main" id="{3244D2FE-191B-BCDF-95F5-F6B34839DAE3}"/>
              </a:ext>
            </a:extLst>
          </p:cNvPr>
          <p:cNvSpPr/>
          <p:nvPr/>
        </p:nvSpPr>
        <p:spPr>
          <a:xfrm>
            <a:off x="8361151" y="1729060"/>
            <a:ext cx="3571104" cy="3399494"/>
          </a:xfrm>
          <a:prstGeom prst="roundRect">
            <a:avLst/>
          </a:prstGeom>
          <a:solidFill>
            <a:srgbClr val="FFFFFF"/>
          </a:solidFill>
          <a:ln w="9525" cap="flat" cmpd="sng" algn="ctr">
            <a:solidFill>
              <a:srgbClr val="FFFFFF"/>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17324D"/>
                </a:solidFill>
                <a:effectLst/>
                <a:uLnTx/>
                <a:uFillTx/>
                <a:latin typeface="Avenir Next"/>
                <a:ea typeface="+mn-ea"/>
                <a:cs typeface="+mn-cs"/>
              </a:rPr>
              <a:t>Evaluation</a:t>
            </a:r>
            <a:endParaRPr lang="en-US" sz="2000" b="1" kern="0" dirty="0">
              <a:solidFill>
                <a:srgbClr val="17324D"/>
              </a:solidFill>
              <a:latin typeface="Avenir Next"/>
            </a:endParaRPr>
          </a:p>
          <a:p>
            <a:pPr marL="285750" indent="-285750" defTabSz="457200">
              <a:spcAft>
                <a:spcPts val="500"/>
              </a:spcAft>
              <a:buFont typeface="Arial" panose="020B0604020202020204" pitchFamily="34" charset="0"/>
              <a:buChar char="•"/>
            </a:pPr>
            <a:r>
              <a:rPr kumimoji="0" lang="en-US" sz="2000" b="0" i="0" u="none" strike="noStrike" kern="0" cap="none" spc="0" normalizeH="0" baseline="0" noProof="0" dirty="0">
                <a:ln>
                  <a:noFill/>
                </a:ln>
                <a:solidFill>
                  <a:srgbClr val="4B647A"/>
                </a:solidFill>
                <a:effectLst/>
                <a:uLnTx/>
                <a:uFillTx/>
                <a:latin typeface="Avenir Next"/>
                <a:ea typeface="+mn-ea"/>
                <a:cs typeface="+mn-cs"/>
              </a:rPr>
              <a:t>Comparison against Newton-Raphson</a:t>
            </a:r>
          </a:p>
          <a:p>
            <a:pPr marL="285750" indent="-285750" defTabSz="457200">
              <a:spcAft>
                <a:spcPts val="500"/>
              </a:spcAft>
              <a:buFont typeface="Arial" panose="020B0604020202020204" pitchFamily="34" charset="0"/>
              <a:buChar char="•"/>
            </a:pPr>
            <a:r>
              <a:rPr lang="en-US" sz="2000" kern="0" dirty="0">
                <a:solidFill>
                  <a:srgbClr val="4B647A"/>
                </a:solidFill>
                <a:latin typeface="Avenir Next"/>
              </a:rPr>
              <a:t>V</a:t>
            </a:r>
            <a:r>
              <a:rPr kumimoji="0" lang="en-US" sz="2000" b="0" i="0" u="none" strike="noStrike" kern="0" cap="none" spc="0" normalizeH="0" baseline="0" noProof="0" dirty="0" err="1">
                <a:ln>
                  <a:noFill/>
                </a:ln>
                <a:solidFill>
                  <a:srgbClr val="4B647A"/>
                </a:solidFill>
                <a:effectLst/>
                <a:uLnTx/>
                <a:uFillTx/>
                <a:latin typeface="Avenir Next"/>
                <a:ea typeface="+mn-ea"/>
                <a:cs typeface="+mn-cs"/>
              </a:rPr>
              <a:t>oltage</a:t>
            </a:r>
            <a:r>
              <a:rPr kumimoji="0" lang="en-US" sz="2000" b="0" i="0" u="none" strike="noStrike" kern="0" cap="none" spc="0" normalizeH="0" baseline="0" noProof="0" dirty="0">
                <a:ln>
                  <a:noFill/>
                </a:ln>
                <a:solidFill>
                  <a:srgbClr val="4B647A"/>
                </a:solidFill>
                <a:effectLst/>
                <a:uLnTx/>
                <a:uFillTx/>
                <a:latin typeface="Avenir Next"/>
                <a:ea typeface="+mn-ea"/>
                <a:cs typeface="+mn-cs"/>
              </a:rPr>
              <a:t> RMSE, </a:t>
            </a:r>
            <a:r>
              <a:rPr lang="en-US" sz="2000" kern="0" dirty="0">
                <a:solidFill>
                  <a:srgbClr val="4B647A"/>
                </a:solidFill>
                <a:latin typeface="Avenir Next"/>
              </a:rPr>
              <a:t>a</a:t>
            </a:r>
            <a:r>
              <a:rPr kumimoji="0" lang="en-US" sz="2000" b="0" i="0" u="none" strike="noStrike" kern="0" cap="none" spc="0" normalizeH="0" baseline="0" noProof="0" dirty="0" err="1">
                <a:ln>
                  <a:noFill/>
                </a:ln>
                <a:solidFill>
                  <a:srgbClr val="4B647A"/>
                </a:solidFill>
                <a:effectLst/>
                <a:uLnTx/>
                <a:uFillTx/>
                <a:latin typeface="Avenir Next"/>
                <a:ea typeface="+mn-ea"/>
                <a:cs typeface="+mn-cs"/>
              </a:rPr>
              <a:t>ngle</a:t>
            </a:r>
            <a:r>
              <a:rPr kumimoji="0" lang="en-US" sz="2000" b="0" i="0" u="none" strike="noStrike" kern="0" cap="none" spc="0" normalizeH="0" baseline="0" noProof="0" dirty="0">
                <a:ln>
                  <a:noFill/>
                </a:ln>
                <a:solidFill>
                  <a:srgbClr val="4B647A"/>
                </a:solidFill>
                <a:effectLst/>
                <a:uLnTx/>
                <a:uFillTx/>
                <a:latin typeface="Avenir Next"/>
                <a:ea typeface="+mn-ea"/>
                <a:cs typeface="+mn-cs"/>
              </a:rPr>
              <a:t> RMSE</a:t>
            </a:r>
            <a:endParaRPr kumimoji="0" sz="2000" b="0" i="0" u="none" strike="noStrike" kern="0" cap="none" spc="0" normalizeH="0" baseline="0" noProof="0" dirty="0">
              <a:ln>
                <a:noFill/>
              </a:ln>
              <a:solidFill>
                <a:srgbClr val="4B647A"/>
              </a:solidFill>
              <a:effectLst/>
              <a:uLnTx/>
              <a:uFillTx/>
              <a:latin typeface="Avenir Next"/>
              <a:ea typeface="+mn-ea"/>
              <a:cs typeface="+mn-cs"/>
            </a:endParaRPr>
          </a:p>
          <a:p>
            <a:pPr marL="285750" marR="0" lvl="0" indent="-285750" defTabSz="457200" eaLnBrk="1" fontAlgn="auto" latinLnBrk="0" hangingPunct="1">
              <a:lnSpc>
                <a:spcPct val="100000"/>
              </a:lnSpc>
              <a:spcBef>
                <a:spcPts val="0"/>
              </a:spcBef>
              <a:spcAft>
                <a:spcPts val="500"/>
              </a:spcAft>
              <a:buClrTx/>
              <a:buSzTx/>
              <a:buFont typeface="Arial" panose="020B0604020202020204" pitchFamily="34" charset="0"/>
              <a:buChar char="•"/>
              <a:tabLst/>
              <a:defRPr/>
            </a:pPr>
            <a:r>
              <a:rPr kumimoji="0" sz="2000" b="0" i="0" u="none" strike="noStrike" kern="0" cap="none" spc="0" normalizeH="0" baseline="0" noProof="0" dirty="0">
                <a:ln>
                  <a:noFill/>
                </a:ln>
                <a:solidFill>
                  <a:srgbClr val="4B647A"/>
                </a:solidFill>
                <a:effectLst/>
                <a:uLnTx/>
                <a:uFillTx/>
                <a:latin typeface="Avenir Next"/>
                <a:ea typeface="+mn-ea"/>
                <a:cs typeface="+mn-cs"/>
              </a:rPr>
              <a:t>Single-case and multi-scenario throughput</a:t>
            </a:r>
          </a:p>
        </p:txBody>
      </p:sp>
      <p:sp>
        <p:nvSpPr>
          <p:cNvPr id="23" name="Rounded Rectangle 22">
            <a:extLst>
              <a:ext uri="{FF2B5EF4-FFF2-40B4-BE49-F238E27FC236}">
                <a16:creationId xmlns:a16="http://schemas.microsoft.com/office/drawing/2014/main" id="{6F8C38AC-2030-C273-9737-92F9B067451F}"/>
              </a:ext>
            </a:extLst>
          </p:cNvPr>
          <p:cNvSpPr/>
          <p:nvPr/>
        </p:nvSpPr>
        <p:spPr>
          <a:xfrm>
            <a:off x="852616" y="5709009"/>
            <a:ext cx="3428251" cy="310896"/>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FFFFFF"/>
                </a:solidFill>
                <a:effectLst/>
                <a:uLnTx/>
                <a:uFillTx/>
                <a:latin typeface="Avenir Next"/>
                <a:ea typeface="+mn-ea"/>
                <a:cs typeface="+mn-cs"/>
              </a:rPr>
              <a:t>Train / </a:t>
            </a:r>
            <a:r>
              <a:rPr kumimoji="0" sz="2000" b="1" i="0" u="none" strike="noStrike" kern="0" cap="none" spc="0" normalizeH="0" baseline="0" noProof="0" dirty="0" err="1">
                <a:ln>
                  <a:noFill/>
                </a:ln>
                <a:solidFill>
                  <a:srgbClr val="FFFFFF"/>
                </a:solidFill>
                <a:effectLst/>
                <a:uLnTx/>
                <a:uFillTx/>
                <a:latin typeface="Avenir Next"/>
                <a:ea typeface="+mn-ea"/>
                <a:cs typeface="+mn-cs"/>
              </a:rPr>
              <a:t>val</a:t>
            </a:r>
            <a:r>
              <a:rPr kumimoji="0" sz="2000" b="1" i="0" u="none" strike="noStrike" kern="0" cap="none" spc="0" normalizeH="0" baseline="0" noProof="0" dirty="0">
                <a:ln>
                  <a:noFill/>
                </a:ln>
                <a:solidFill>
                  <a:srgbClr val="FFFFFF"/>
                </a:solidFill>
                <a:effectLst/>
                <a:uLnTx/>
                <a:uFillTx/>
                <a:latin typeface="Avenir Next"/>
                <a:ea typeface="+mn-ea"/>
                <a:cs typeface="+mn-cs"/>
              </a:rPr>
              <a:t> / test = 1 : 1 : 1</a:t>
            </a:r>
          </a:p>
        </p:txBody>
      </p:sp>
      <p:sp>
        <p:nvSpPr>
          <p:cNvPr id="24" name="Rounded Rectangle 23">
            <a:extLst>
              <a:ext uri="{FF2B5EF4-FFF2-40B4-BE49-F238E27FC236}">
                <a16:creationId xmlns:a16="http://schemas.microsoft.com/office/drawing/2014/main" id="{59CD4C49-6B79-2CC8-83F2-C0D14879208C}"/>
              </a:ext>
            </a:extLst>
          </p:cNvPr>
          <p:cNvSpPr/>
          <p:nvPr/>
        </p:nvSpPr>
        <p:spPr>
          <a:xfrm>
            <a:off x="4785083" y="5709009"/>
            <a:ext cx="2921138" cy="310896"/>
          </a:xfrm>
          <a:prstGeom prst="roundRect">
            <a:avLst/>
          </a:prstGeom>
          <a:solidFill>
            <a:srgbClr val="17324D"/>
          </a:solidFill>
          <a:ln w="9525" cap="flat" cmpd="sng" algn="ctr">
            <a:solidFill>
              <a:srgbClr val="17324D"/>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FFFFFF"/>
                </a:solidFill>
                <a:effectLst/>
                <a:uLnTx/>
                <a:uFillTx/>
                <a:latin typeface="Avenir Next"/>
                <a:ea typeface="+mn-ea"/>
                <a:cs typeface="+mn-cs"/>
              </a:rPr>
              <a:t>RTX 3070 + i7-12700</a:t>
            </a:r>
          </a:p>
        </p:txBody>
      </p:sp>
      <p:sp>
        <p:nvSpPr>
          <p:cNvPr id="25" name="Rounded Rectangle 24">
            <a:extLst>
              <a:ext uri="{FF2B5EF4-FFF2-40B4-BE49-F238E27FC236}">
                <a16:creationId xmlns:a16="http://schemas.microsoft.com/office/drawing/2014/main" id="{DBDCDE99-1766-0801-47DF-33A4F52E9508}"/>
              </a:ext>
            </a:extLst>
          </p:cNvPr>
          <p:cNvSpPr/>
          <p:nvPr/>
        </p:nvSpPr>
        <p:spPr>
          <a:xfrm>
            <a:off x="8361151" y="5709009"/>
            <a:ext cx="3428250" cy="310896"/>
          </a:xfrm>
          <a:prstGeom prst="roundRect">
            <a:avLst/>
          </a:prstGeom>
          <a:solidFill>
            <a:srgbClr val="6B8A77"/>
          </a:solidFill>
          <a:ln w="9525" cap="flat" cmpd="sng" algn="ctr">
            <a:solidFill>
              <a:srgbClr val="6B8A77"/>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FFFFFF"/>
                </a:solidFill>
                <a:effectLst/>
                <a:uLnTx/>
                <a:uFillTx/>
                <a:latin typeface="Avenir Next"/>
                <a:ea typeface="+mn-ea"/>
                <a:cs typeface="+mn-cs"/>
              </a:rPr>
              <a:t>Block-diagonal batching</a:t>
            </a:r>
          </a:p>
        </p:txBody>
      </p:sp>
    </p:spTree>
    <p:extLst>
      <p:ext uri="{BB962C8B-B14F-4D97-AF65-F5344CB8AC3E}">
        <p14:creationId xmlns:p14="http://schemas.microsoft.com/office/powerpoint/2010/main" val="3090689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E103C-0083-64F5-9CC2-3F8DE4250B2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963E97E7-57BF-00AE-B9F8-3B34D1BEFE27}"/>
              </a:ext>
            </a:extLst>
          </p:cNvPr>
          <p:cNvSpPr>
            <a:spLocks noGrp="1"/>
          </p:cNvSpPr>
          <p:nvPr>
            <p:ph type="dt" sz="half" idx="10"/>
          </p:nvPr>
        </p:nvSpPr>
        <p:spPr>
          <a:xfrm>
            <a:off x="10479134" y="6690974"/>
            <a:ext cx="849593" cy="123111"/>
          </a:xfrm>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DE61EEC1-DC46-04BD-2CCD-25298E20BA19}"/>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5FCD4696-A9AC-98CE-C74B-695C3ABBA186}"/>
              </a:ext>
            </a:extLst>
          </p:cNvPr>
          <p:cNvSpPr>
            <a:spLocks noGrp="1"/>
          </p:cNvSpPr>
          <p:nvPr>
            <p:ph type="sldNum" sz="quarter" idx="12"/>
          </p:nvPr>
        </p:nvSpPr>
        <p:spPr>
          <a:xfrm>
            <a:off x="11543882" y="6690974"/>
            <a:ext cx="193964" cy="123111"/>
          </a:xfrm>
        </p:spPr>
        <p:txBody>
          <a:bodyPr/>
          <a:lstStyle/>
          <a:p>
            <a:fld id="{D949F9DF-37BD-4CD6-BF49-65BA579E1D7A}" type="slidenum">
              <a:rPr lang="de-DE" smtClean="0"/>
              <a:pPr/>
              <a:t>16</a:t>
            </a:fld>
            <a:endParaRPr lang="de-DE" dirty="0"/>
          </a:p>
        </p:txBody>
      </p:sp>
      <p:sp>
        <p:nvSpPr>
          <p:cNvPr id="10" name="Titel 9">
            <a:extLst>
              <a:ext uri="{FF2B5EF4-FFF2-40B4-BE49-F238E27FC236}">
                <a16:creationId xmlns:a16="http://schemas.microsoft.com/office/drawing/2014/main" id="{D6D86A8D-30A7-925F-E4EA-14C053F2A4CF}"/>
              </a:ext>
            </a:extLst>
          </p:cNvPr>
          <p:cNvSpPr>
            <a:spLocks noGrp="1"/>
          </p:cNvSpPr>
          <p:nvPr>
            <p:ph type="title"/>
          </p:nvPr>
        </p:nvSpPr>
        <p:spPr/>
        <p:txBody>
          <a:bodyPr/>
          <a:lstStyle/>
          <a:p>
            <a:r>
              <a:rPr lang="en-US" dirty="0"/>
              <a:t>Main Results with ablation study</a:t>
            </a:r>
            <a:endParaRPr lang="de-DE" dirty="0"/>
          </a:p>
        </p:txBody>
      </p:sp>
      <p:sp>
        <p:nvSpPr>
          <p:cNvPr id="12" name="Textplatzhalter 11">
            <a:extLst>
              <a:ext uri="{FF2B5EF4-FFF2-40B4-BE49-F238E27FC236}">
                <a16:creationId xmlns:a16="http://schemas.microsoft.com/office/drawing/2014/main" id="{EC9B445C-B394-9FBE-FF87-33A0496683F8}"/>
              </a:ext>
            </a:extLst>
          </p:cNvPr>
          <p:cNvSpPr>
            <a:spLocks noGrp="1"/>
          </p:cNvSpPr>
          <p:nvPr>
            <p:ph type="body" sz="quarter" idx="37"/>
          </p:nvPr>
        </p:nvSpPr>
        <p:spPr/>
        <p:txBody>
          <a:bodyPr/>
          <a:lstStyle/>
          <a:p>
            <a:r>
              <a:rPr lang="de-DE" dirty="0"/>
              <a:t>Experiments</a:t>
            </a:r>
          </a:p>
        </p:txBody>
      </p:sp>
      <p:pic>
        <p:nvPicPr>
          <p:cNvPr id="6" name="Picture 5" descr="A logo with blue lines and a horse&#10;&#10;AI-generated content may be incorrect.">
            <a:extLst>
              <a:ext uri="{FF2B5EF4-FFF2-40B4-BE49-F238E27FC236}">
                <a16:creationId xmlns:a16="http://schemas.microsoft.com/office/drawing/2014/main" id="{CCAD15E1-C677-A756-AF3F-5535CE7CB0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409" name="Rounded Rectangle 408">
            <a:extLst>
              <a:ext uri="{FF2B5EF4-FFF2-40B4-BE49-F238E27FC236}">
                <a16:creationId xmlns:a16="http://schemas.microsoft.com/office/drawing/2014/main" id="{55B05DC7-3E7C-C7BC-B18B-D53EF5B0023C}"/>
              </a:ext>
            </a:extLst>
          </p:cNvPr>
          <p:cNvSpPr/>
          <p:nvPr/>
        </p:nvSpPr>
        <p:spPr>
          <a:xfrm>
            <a:off x="184186" y="1351149"/>
            <a:ext cx="5669401" cy="4435352"/>
          </a:xfrm>
          <a:prstGeom prst="roundRect">
            <a:avLst/>
          </a:prstGeom>
          <a:solidFill>
            <a:srgbClr val="FFFFFF"/>
          </a:solidFill>
          <a:ln w="9525" cap="flat" cmpd="sng" algn="ctr">
            <a:solidFill>
              <a:srgbClr val="FFFFF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10" name="Rounded Rectangle 409">
            <a:extLst>
              <a:ext uri="{FF2B5EF4-FFF2-40B4-BE49-F238E27FC236}">
                <a16:creationId xmlns:a16="http://schemas.microsoft.com/office/drawing/2014/main" id="{24570E0B-A433-4974-7D81-CD26CDBBB318}"/>
              </a:ext>
            </a:extLst>
          </p:cNvPr>
          <p:cNvSpPr/>
          <p:nvPr/>
        </p:nvSpPr>
        <p:spPr>
          <a:xfrm>
            <a:off x="504070" y="1343238"/>
            <a:ext cx="1737360" cy="292608"/>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FFFFFF"/>
                </a:solidFill>
                <a:effectLst/>
                <a:uLnTx/>
                <a:uFillTx/>
                <a:latin typeface="Avenir Next"/>
                <a:ea typeface="+mn-ea"/>
                <a:cs typeface="+mn-cs"/>
              </a:rPr>
              <a:t>QUESTION 1</a:t>
            </a:r>
          </a:p>
        </p:txBody>
      </p:sp>
      <p:sp>
        <p:nvSpPr>
          <p:cNvPr id="411" name="TextBox 410">
            <a:extLst>
              <a:ext uri="{FF2B5EF4-FFF2-40B4-BE49-F238E27FC236}">
                <a16:creationId xmlns:a16="http://schemas.microsoft.com/office/drawing/2014/main" id="{5723392C-A74F-D1BA-E7DA-1E2880665098}"/>
              </a:ext>
            </a:extLst>
          </p:cNvPr>
          <p:cNvSpPr txBox="1"/>
          <p:nvPr/>
        </p:nvSpPr>
        <p:spPr>
          <a:xfrm>
            <a:off x="522358" y="1727286"/>
            <a:ext cx="5038344" cy="347472"/>
          </a:xfrm>
          <a:prstGeom prst="rect">
            <a:avLst/>
          </a:prstGeom>
          <a:noFill/>
        </p:spPr>
        <p:txBody>
          <a:bodyPr wrap="square" anchor="t">
            <a:spAutoFit/>
          </a:bodyPr>
          <a:lstStyle/>
          <a:p>
            <a:pPr defTabSz="457200"/>
            <a:r>
              <a:rPr sz="2100" b="1" dirty="0">
                <a:solidFill>
                  <a:srgbClr val="17324D"/>
                </a:solidFill>
                <a:latin typeface="Avenir Next"/>
              </a:rPr>
              <a:t>Effect of the message aggregator</a:t>
            </a:r>
          </a:p>
        </p:txBody>
      </p:sp>
      <p:sp>
        <p:nvSpPr>
          <p:cNvPr id="412" name="TextBox 411">
            <a:extLst>
              <a:ext uri="{FF2B5EF4-FFF2-40B4-BE49-F238E27FC236}">
                <a16:creationId xmlns:a16="http://schemas.microsoft.com/office/drawing/2014/main" id="{C6110836-A435-FB76-6540-C9726C50B89A}"/>
              </a:ext>
            </a:extLst>
          </p:cNvPr>
          <p:cNvSpPr txBox="1"/>
          <p:nvPr/>
        </p:nvSpPr>
        <p:spPr>
          <a:xfrm>
            <a:off x="522358" y="2074942"/>
            <a:ext cx="5038344" cy="292608"/>
          </a:xfrm>
          <a:prstGeom prst="rect">
            <a:avLst/>
          </a:prstGeom>
          <a:noFill/>
        </p:spPr>
        <p:txBody>
          <a:bodyPr wrap="square" anchor="t">
            <a:spAutoFit/>
          </a:bodyPr>
          <a:lstStyle/>
          <a:p>
            <a:pPr defTabSz="457200"/>
            <a:r>
              <a:rPr dirty="0">
                <a:solidFill>
                  <a:srgbClr val="4B647A"/>
                </a:solidFill>
                <a:latin typeface="Avenir Next"/>
              </a:rPr>
              <a:t>Fixed condition: Voltage caps + line search</a:t>
            </a:r>
          </a:p>
        </p:txBody>
      </p:sp>
      <p:sp>
        <p:nvSpPr>
          <p:cNvPr id="415" name="TextBox 414">
            <a:extLst>
              <a:ext uri="{FF2B5EF4-FFF2-40B4-BE49-F238E27FC236}">
                <a16:creationId xmlns:a16="http://schemas.microsoft.com/office/drawing/2014/main" id="{35D5E611-F183-A9DB-155C-E60951CB522F}"/>
              </a:ext>
            </a:extLst>
          </p:cNvPr>
          <p:cNvSpPr txBox="1"/>
          <p:nvPr/>
        </p:nvSpPr>
        <p:spPr>
          <a:xfrm>
            <a:off x="357768" y="2795901"/>
            <a:ext cx="1481326" cy="369332"/>
          </a:xfrm>
          <a:prstGeom prst="rect">
            <a:avLst/>
          </a:prstGeom>
          <a:noFill/>
        </p:spPr>
        <p:txBody>
          <a:bodyPr wrap="square" anchor="t">
            <a:spAutoFit/>
          </a:bodyPr>
          <a:lstStyle/>
          <a:p>
            <a:pPr defTabSz="457200"/>
            <a:r>
              <a:rPr b="1" dirty="0">
                <a:solidFill>
                  <a:srgbClr val="17324D"/>
                </a:solidFill>
                <a:latin typeface="Avenir Next"/>
              </a:rPr>
              <a:t>HV Voltage</a:t>
            </a:r>
          </a:p>
        </p:txBody>
      </p:sp>
      <p:sp>
        <p:nvSpPr>
          <p:cNvPr id="416" name="Rounded Rectangle 415">
            <a:extLst>
              <a:ext uri="{FF2B5EF4-FFF2-40B4-BE49-F238E27FC236}">
                <a16:creationId xmlns:a16="http://schemas.microsoft.com/office/drawing/2014/main" id="{C2CC722A-DDD4-9E3F-5264-A24FCD475D59}"/>
              </a:ext>
            </a:extLst>
          </p:cNvPr>
          <p:cNvSpPr/>
          <p:nvPr/>
        </p:nvSpPr>
        <p:spPr>
          <a:xfrm>
            <a:off x="1875670" y="2832477"/>
            <a:ext cx="1234440" cy="219456"/>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17" name="Rounded Rectangle 416">
            <a:extLst>
              <a:ext uri="{FF2B5EF4-FFF2-40B4-BE49-F238E27FC236}">
                <a16:creationId xmlns:a16="http://schemas.microsoft.com/office/drawing/2014/main" id="{AB71F311-15B4-4645-6A0A-AD7C93F5AFE7}"/>
              </a:ext>
            </a:extLst>
          </p:cNvPr>
          <p:cNvSpPr/>
          <p:nvPr/>
        </p:nvSpPr>
        <p:spPr>
          <a:xfrm>
            <a:off x="1875670" y="2832477"/>
            <a:ext cx="1234440" cy="219456"/>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18" name="Rounded Rectangle 417">
            <a:extLst>
              <a:ext uri="{FF2B5EF4-FFF2-40B4-BE49-F238E27FC236}">
                <a16:creationId xmlns:a16="http://schemas.microsoft.com/office/drawing/2014/main" id="{A7DBBED2-4381-4D78-940A-F626FECA2F7D}"/>
              </a:ext>
            </a:extLst>
          </p:cNvPr>
          <p:cNvSpPr/>
          <p:nvPr/>
        </p:nvSpPr>
        <p:spPr>
          <a:xfrm>
            <a:off x="3485014" y="2832477"/>
            <a:ext cx="1234440" cy="219456"/>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19" name="Rounded Rectangle 418">
            <a:extLst>
              <a:ext uri="{FF2B5EF4-FFF2-40B4-BE49-F238E27FC236}">
                <a16:creationId xmlns:a16="http://schemas.microsoft.com/office/drawing/2014/main" id="{4541600B-832E-72A8-FBB0-EA23125C1685}"/>
              </a:ext>
            </a:extLst>
          </p:cNvPr>
          <p:cNvSpPr/>
          <p:nvPr/>
        </p:nvSpPr>
        <p:spPr>
          <a:xfrm>
            <a:off x="3485014" y="2832477"/>
            <a:ext cx="754379" cy="219456"/>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20" name="TextBox 419">
            <a:extLst>
              <a:ext uri="{FF2B5EF4-FFF2-40B4-BE49-F238E27FC236}">
                <a16:creationId xmlns:a16="http://schemas.microsoft.com/office/drawing/2014/main" id="{41D48190-C3D0-E1BF-4E21-99F05599C568}"/>
              </a:ext>
            </a:extLst>
          </p:cNvPr>
          <p:cNvSpPr txBox="1"/>
          <p:nvPr/>
        </p:nvSpPr>
        <p:spPr>
          <a:xfrm>
            <a:off x="1875670" y="3079365"/>
            <a:ext cx="1234440" cy="274320"/>
          </a:xfrm>
          <a:prstGeom prst="rect">
            <a:avLst/>
          </a:prstGeom>
          <a:noFill/>
        </p:spPr>
        <p:txBody>
          <a:bodyPr wrap="square" anchor="t">
            <a:spAutoFit/>
          </a:bodyPr>
          <a:lstStyle/>
          <a:p>
            <a:pPr algn="ctr" defTabSz="457200"/>
            <a:r>
              <a:rPr b="1">
                <a:solidFill>
                  <a:srgbClr val="17324D"/>
                </a:solidFill>
                <a:latin typeface="Avenir Next"/>
              </a:rPr>
              <a:t>5.4e-4</a:t>
            </a:r>
          </a:p>
        </p:txBody>
      </p:sp>
      <p:sp>
        <p:nvSpPr>
          <p:cNvPr id="421" name="TextBox 420">
            <a:extLst>
              <a:ext uri="{FF2B5EF4-FFF2-40B4-BE49-F238E27FC236}">
                <a16:creationId xmlns:a16="http://schemas.microsoft.com/office/drawing/2014/main" id="{64BB326F-3E16-6C67-B7A3-967DF6F1C93E}"/>
              </a:ext>
            </a:extLst>
          </p:cNvPr>
          <p:cNvSpPr txBox="1"/>
          <p:nvPr/>
        </p:nvSpPr>
        <p:spPr>
          <a:xfrm>
            <a:off x="3485014" y="3079365"/>
            <a:ext cx="1234440" cy="274320"/>
          </a:xfrm>
          <a:prstGeom prst="rect">
            <a:avLst/>
          </a:prstGeom>
          <a:noFill/>
        </p:spPr>
        <p:txBody>
          <a:bodyPr wrap="square" anchor="t">
            <a:spAutoFit/>
          </a:bodyPr>
          <a:lstStyle/>
          <a:p>
            <a:pPr algn="ctr" defTabSz="457200"/>
            <a:r>
              <a:rPr b="1">
                <a:solidFill>
                  <a:srgbClr val="17324D"/>
                </a:solidFill>
                <a:latin typeface="Avenir Next"/>
              </a:rPr>
              <a:t>3.3e-4</a:t>
            </a:r>
          </a:p>
        </p:txBody>
      </p:sp>
      <p:sp>
        <p:nvSpPr>
          <p:cNvPr id="422" name="Rounded Rectangle 421">
            <a:extLst>
              <a:ext uri="{FF2B5EF4-FFF2-40B4-BE49-F238E27FC236}">
                <a16:creationId xmlns:a16="http://schemas.microsoft.com/office/drawing/2014/main" id="{B742319A-8A04-3233-4555-9DAD720113B5}"/>
              </a:ext>
            </a:extLst>
          </p:cNvPr>
          <p:cNvSpPr/>
          <p:nvPr/>
        </p:nvSpPr>
        <p:spPr>
          <a:xfrm>
            <a:off x="4801750" y="2832477"/>
            <a:ext cx="841248" cy="329184"/>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-39%</a:t>
            </a:r>
          </a:p>
        </p:txBody>
      </p:sp>
      <p:sp>
        <p:nvSpPr>
          <p:cNvPr id="423" name="TextBox 422">
            <a:extLst>
              <a:ext uri="{FF2B5EF4-FFF2-40B4-BE49-F238E27FC236}">
                <a16:creationId xmlns:a16="http://schemas.microsoft.com/office/drawing/2014/main" id="{62C755C1-C29D-E7EB-AE6B-678B4A5CCADF}"/>
              </a:ext>
            </a:extLst>
          </p:cNvPr>
          <p:cNvSpPr txBox="1"/>
          <p:nvPr/>
        </p:nvSpPr>
        <p:spPr>
          <a:xfrm>
            <a:off x="504070" y="3563997"/>
            <a:ext cx="1335024" cy="329184"/>
          </a:xfrm>
          <a:prstGeom prst="rect">
            <a:avLst/>
          </a:prstGeom>
          <a:noFill/>
        </p:spPr>
        <p:txBody>
          <a:bodyPr wrap="square" anchor="t">
            <a:spAutoFit/>
          </a:bodyPr>
          <a:lstStyle/>
          <a:p>
            <a:pPr defTabSz="457200"/>
            <a:r>
              <a:rPr b="1">
                <a:solidFill>
                  <a:srgbClr val="17324D"/>
                </a:solidFill>
                <a:latin typeface="Avenir Next"/>
              </a:rPr>
              <a:t>HV Angle</a:t>
            </a:r>
          </a:p>
        </p:txBody>
      </p:sp>
      <p:sp>
        <p:nvSpPr>
          <p:cNvPr id="424" name="Rounded Rectangle 423">
            <a:extLst>
              <a:ext uri="{FF2B5EF4-FFF2-40B4-BE49-F238E27FC236}">
                <a16:creationId xmlns:a16="http://schemas.microsoft.com/office/drawing/2014/main" id="{C55A3250-4909-F7FF-5300-C54EFCD6EBB4}"/>
              </a:ext>
            </a:extLst>
          </p:cNvPr>
          <p:cNvSpPr/>
          <p:nvPr/>
        </p:nvSpPr>
        <p:spPr>
          <a:xfrm>
            <a:off x="1875670" y="3600573"/>
            <a:ext cx="1234440" cy="219456"/>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25" name="Rounded Rectangle 424">
            <a:extLst>
              <a:ext uri="{FF2B5EF4-FFF2-40B4-BE49-F238E27FC236}">
                <a16:creationId xmlns:a16="http://schemas.microsoft.com/office/drawing/2014/main" id="{A45B2CC3-4F7A-FFFB-E79F-33E89A072361}"/>
              </a:ext>
            </a:extLst>
          </p:cNvPr>
          <p:cNvSpPr/>
          <p:nvPr/>
        </p:nvSpPr>
        <p:spPr>
          <a:xfrm>
            <a:off x="1875670" y="3600573"/>
            <a:ext cx="1234440" cy="219456"/>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26" name="Rounded Rectangle 425">
            <a:extLst>
              <a:ext uri="{FF2B5EF4-FFF2-40B4-BE49-F238E27FC236}">
                <a16:creationId xmlns:a16="http://schemas.microsoft.com/office/drawing/2014/main" id="{E5F9C748-AD9B-DDEA-A049-26BC7A9AD7B1}"/>
              </a:ext>
            </a:extLst>
          </p:cNvPr>
          <p:cNvSpPr/>
          <p:nvPr/>
        </p:nvSpPr>
        <p:spPr>
          <a:xfrm>
            <a:off x="3485014" y="3600573"/>
            <a:ext cx="1234440" cy="219456"/>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27" name="Rounded Rectangle 426">
            <a:extLst>
              <a:ext uri="{FF2B5EF4-FFF2-40B4-BE49-F238E27FC236}">
                <a16:creationId xmlns:a16="http://schemas.microsoft.com/office/drawing/2014/main" id="{069500CC-AA98-3E8C-6E17-027ED97395C9}"/>
              </a:ext>
            </a:extLst>
          </p:cNvPr>
          <p:cNvSpPr/>
          <p:nvPr/>
        </p:nvSpPr>
        <p:spPr>
          <a:xfrm>
            <a:off x="3485014" y="3600573"/>
            <a:ext cx="329184" cy="219456"/>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28" name="TextBox 427">
            <a:extLst>
              <a:ext uri="{FF2B5EF4-FFF2-40B4-BE49-F238E27FC236}">
                <a16:creationId xmlns:a16="http://schemas.microsoft.com/office/drawing/2014/main" id="{21C03FC0-6387-4662-E9F9-21631CC15B8B}"/>
              </a:ext>
            </a:extLst>
          </p:cNvPr>
          <p:cNvSpPr txBox="1"/>
          <p:nvPr/>
        </p:nvSpPr>
        <p:spPr>
          <a:xfrm>
            <a:off x="1875670" y="3847461"/>
            <a:ext cx="1234440" cy="274320"/>
          </a:xfrm>
          <a:prstGeom prst="rect">
            <a:avLst/>
          </a:prstGeom>
          <a:noFill/>
        </p:spPr>
        <p:txBody>
          <a:bodyPr wrap="square" anchor="t">
            <a:spAutoFit/>
          </a:bodyPr>
          <a:lstStyle/>
          <a:p>
            <a:pPr algn="ctr" defTabSz="457200"/>
            <a:r>
              <a:rPr b="1">
                <a:solidFill>
                  <a:srgbClr val="17324D"/>
                </a:solidFill>
                <a:latin typeface="Avenir Next"/>
              </a:rPr>
              <a:t>0.30</a:t>
            </a:r>
          </a:p>
        </p:txBody>
      </p:sp>
      <p:sp>
        <p:nvSpPr>
          <p:cNvPr id="429" name="TextBox 428">
            <a:extLst>
              <a:ext uri="{FF2B5EF4-FFF2-40B4-BE49-F238E27FC236}">
                <a16:creationId xmlns:a16="http://schemas.microsoft.com/office/drawing/2014/main" id="{A6DBFB8B-F1ED-BB45-C481-C44B6A9385EF}"/>
              </a:ext>
            </a:extLst>
          </p:cNvPr>
          <p:cNvSpPr txBox="1"/>
          <p:nvPr/>
        </p:nvSpPr>
        <p:spPr>
          <a:xfrm>
            <a:off x="3485014" y="3847461"/>
            <a:ext cx="1234440" cy="274320"/>
          </a:xfrm>
          <a:prstGeom prst="rect">
            <a:avLst/>
          </a:prstGeom>
          <a:noFill/>
        </p:spPr>
        <p:txBody>
          <a:bodyPr wrap="square" anchor="t">
            <a:spAutoFit/>
          </a:bodyPr>
          <a:lstStyle/>
          <a:p>
            <a:pPr algn="ctr" defTabSz="457200"/>
            <a:r>
              <a:rPr b="1">
                <a:solidFill>
                  <a:srgbClr val="17324D"/>
                </a:solidFill>
                <a:latin typeface="Avenir Next"/>
              </a:rPr>
              <a:t>0.08</a:t>
            </a:r>
          </a:p>
        </p:txBody>
      </p:sp>
      <p:sp>
        <p:nvSpPr>
          <p:cNvPr id="430" name="Rounded Rectangle 429">
            <a:extLst>
              <a:ext uri="{FF2B5EF4-FFF2-40B4-BE49-F238E27FC236}">
                <a16:creationId xmlns:a16="http://schemas.microsoft.com/office/drawing/2014/main" id="{A1DB54BD-C46E-5206-4AC2-74AB3144164C}"/>
              </a:ext>
            </a:extLst>
          </p:cNvPr>
          <p:cNvSpPr/>
          <p:nvPr/>
        </p:nvSpPr>
        <p:spPr>
          <a:xfrm>
            <a:off x="4801750" y="3600573"/>
            <a:ext cx="841248" cy="329184"/>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17324D"/>
                </a:solidFill>
                <a:effectLst/>
                <a:uLnTx/>
                <a:uFillTx/>
                <a:latin typeface="Avenir Next"/>
                <a:ea typeface="+mn-ea"/>
                <a:cs typeface="+mn-cs"/>
              </a:rPr>
              <a:t>-73%</a:t>
            </a:r>
          </a:p>
        </p:txBody>
      </p:sp>
      <p:sp>
        <p:nvSpPr>
          <p:cNvPr id="431" name="TextBox 430">
            <a:extLst>
              <a:ext uri="{FF2B5EF4-FFF2-40B4-BE49-F238E27FC236}">
                <a16:creationId xmlns:a16="http://schemas.microsoft.com/office/drawing/2014/main" id="{AEEB2540-8BD1-E5E9-C652-28B1B22BE101}"/>
              </a:ext>
            </a:extLst>
          </p:cNvPr>
          <p:cNvSpPr txBox="1"/>
          <p:nvPr/>
        </p:nvSpPr>
        <p:spPr>
          <a:xfrm>
            <a:off x="278506" y="4309414"/>
            <a:ext cx="1654907" cy="369332"/>
          </a:xfrm>
          <a:prstGeom prst="rect">
            <a:avLst/>
          </a:prstGeom>
          <a:noFill/>
        </p:spPr>
        <p:txBody>
          <a:bodyPr wrap="square" anchor="t">
            <a:spAutoFit/>
          </a:bodyPr>
          <a:lstStyle/>
          <a:p>
            <a:pPr defTabSz="457200"/>
            <a:r>
              <a:rPr b="1" dirty="0">
                <a:solidFill>
                  <a:srgbClr val="17324D"/>
                </a:solidFill>
                <a:latin typeface="Avenir Next"/>
              </a:rPr>
              <a:t>MV Voltage</a:t>
            </a:r>
          </a:p>
        </p:txBody>
      </p:sp>
      <p:sp>
        <p:nvSpPr>
          <p:cNvPr id="432" name="Rounded Rectangle 431">
            <a:extLst>
              <a:ext uri="{FF2B5EF4-FFF2-40B4-BE49-F238E27FC236}">
                <a16:creationId xmlns:a16="http://schemas.microsoft.com/office/drawing/2014/main" id="{B683EB62-9FDE-DF17-F373-F364C2DF9DD3}"/>
              </a:ext>
            </a:extLst>
          </p:cNvPr>
          <p:cNvSpPr/>
          <p:nvPr/>
        </p:nvSpPr>
        <p:spPr>
          <a:xfrm>
            <a:off x="1875670" y="4368669"/>
            <a:ext cx="1234440" cy="219456"/>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33" name="Rounded Rectangle 432">
            <a:extLst>
              <a:ext uri="{FF2B5EF4-FFF2-40B4-BE49-F238E27FC236}">
                <a16:creationId xmlns:a16="http://schemas.microsoft.com/office/drawing/2014/main" id="{0C83EFC9-5637-026A-E480-168BED1951CE}"/>
              </a:ext>
            </a:extLst>
          </p:cNvPr>
          <p:cNvSpPr/>
          <p:nvPr/>
        </p:nvSpPr>
        <p:spPr>
          <a:xfrm>
            <a:off x="1875670" y="4368669"/>
            <a:ext cx="1234440" cy="219456"/>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34" name="Rounded Rectangle 433">
            <a:extLst>
              <a:ext uri="{FF2B5EF4-FFF2-40B4-BE49-F238E27FC236}">
                <a16:creationId xmlns:a16="http://schemas.microsoft.com/office/drawing/2014/main" id="{51592AA0-12E5-3F44-A399-9FD1AF199FC7}"/>
              </a:ext>
            </a:extLst>
          </p:cNvPr>
          <p:cNvSpPr/>
          <p:nvPr/>
        </p:nvSpPr>
        <p:spPr>
          <a:xfrm>
            <a:off x="3485014" y="4368669"/>
            <a:ext cx="1234440" cy="219456"/>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35" name="Rounded Rectangle 434">
            <a:extLst>
              <a:ext uri="{FF2B5EF4-FFF2-40B4-BE49-F238E27FC236}">
                <a16:creationId xmlns:a16="http://schemas.microsoft.com/office/drawing/2014/main" id="{D14009AB-F9D1-68D9-0C50-F9440A1C8C38}"/>
              </a:ext>
            </a:extLst>
          </p:cNvPr>
          <p:cNvSpPr/>
          <p:nvPr/>
        </p:nvSpPr>
        <p:spPr>
          <a:xfrm>
            <a:off x="3485014" y="4368669"/>
            <a:ext cx="464730" cy="219456"/>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36" name="TextBox 435">
            <a:extLst>
              <a:ext uri="{FF2B5EF4-FFF2-40B4-BE49-F238E27FC236}">
                <a16:creationId xmlns:a16="http://schemas.microsoft.com/office/drawing/2014/main" id="{039EB18C-27EE-400A-8181-447D3C5075C6}"/>
              </a:ext>
            </a:extLst>
          </p:cNvPr>
          <p:cNvSpPr txBox="1"/>
          <p:nvPr/>
        </p:nvSpPr>
        <p:spPr>
          <a:xfrm>
            <a:off x="1875670" y="4615557"/>
            <a:ext cx="1234440" cy="274320"/>
          </a:xfrm>
          <a:prstGeom prst="rect">
            <a:avLst/>
          </a:prstGeom>
          <a:noFill/>
        </p:spPr>
        <p:txBody>
          <a:bodyPr wrap="square" anchor="t">
            <a:spAutoFit/>
          </a:bodyPr>
          <a:lstStyle/>
          <a:p>
            <a:pPr algn="ctr" defTabSz="457200"/>
            <a:r>
              <a:rPr b="1">
                <a:solidFill>
                  <a:srgbClr val="17324D"/>
                </a:solidFill>
                <a:latin typeface="Avenir Next"/>
              </a:rPr>
              <a:t>1.7e-3</a:t>
            </a:r>
          </a:p>
        </p:txBody>
      </p:sp>
      <p:sp>
        <p:nvSpPr>
          <p:cNvPr id="437" name="TextBox 436">
            <a:extLst>
              <a:ext uri="{FF2B5EF4-FFF2-40B4-BE49-F238E27FC236}">
                <a16:creationId xmlns:a16="http://schemas.microsoft.com/office/drawing/2014/main" id="{0FE1FA55-DAA2-F66A-6618-08D372173215}"/>
              </a:ext>
            </a:extLst>
          </p:cNvPr>
          <p:cNvSpPr txBox="1"/>
          <p:nvPr/>
        </p:nvSpPr>
        <p:spPr>
          <a:xfrm>
            <a:off x="3485014" y="4615557"/>
            <a:ext cx="1234440" cy="274320"/>
          </a:xfrm>
          <a:prstGeom prst="rect">
            <a:avLst/>
          </a:prstGeom>
          <a:noFill/>
        </p:spPr>
        <p:txBody>
          <a:bodyPr wrap="square" anchor="t">
            <a:spAutoFit/>
          </a:bodyPr>
          <a:lstStyle/>
          <a:p>
            <a:pPr algn="ctr" defTabSz="457200"/>
            <a:r>
              <a:rPr b="1">
                <a:solidFill>
                  <a:srgbClr val="17324D"/>
                </a:solidFill>
                <a:latin typeface="Avenir Next"/>
              </a:rPr>
              <a:t>6.4e-4</a:t>
            </a:r>
          </a:p>
        </p:txBody>
      </p:sp>
      <p:sp>
        <p:nvSpPr>
          <p:cNvPr id="438" name="Rounded Rectangle 437">
            <a:extLst>
              <a:ext uri="{FF2B5EF4-FFF2-40B4-BE49-F238E27FC236}">
                <a16:creationId xmlns:a16="http://schemas.microsoft.com/office/drawing/2014/main" id="{A0B8E0C1-5E2F-D6B3-396F-8366E2A364BA}"/>
              </a:ext>
            </a:extLst>
          </p:cNvPr>
          <p:cNvSpPr/>
          <p:nvPr/>
        </p:nvSpPr>
        <p:spPr>
          <a:xfrm>
            <a:off x="4801750" y="4368669"/>
            <a:ext cx="841248" cy="329184"/>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17324D"/>
                </a:solidFill>
                <a:effectLst/>
                <a:uLnTx/>
                <a:uFillTx/>
                <a:latin typeface="Avenir Next"/>
                <a:ea typeface="+mn-ea"/>
                <a:cs typeface="+mn-cs"/>
              </a:rPr>
              <a:t>-62%</a:t>
            </a:r>
          </a:p>
        </p:txBody>
      </p:sp>
      <p:sp>
        <p:nvSpPr>
          <p:cNvPr id="439" name="TextBox 438">
            <a:extLst>
              <a:ext uri="{FF2B5EF4-FFF2-40B4-BE49-F238E27FC236}">
                <a16:creationId xmlns:a16="http://schemas.microsoft.com/office/drawing/2014/main" id="{F6B639F6-10A2-3DCE-CD2E-8F2ACDE51D64}"/>
              </a:ext>
            </a:extLst>
          </p:cNvPr>
          <p:cNvSpPr txBox="1"/>
          <p:nvPr/>
        </p:nvSpPr>
        <p:spPr>
          <a:xfrm>
            <a:off x="504070" y="5100189"/>
            <a:ext cx="1335024" cy="329184"/>
          </a:xfrm>
          <a:prstGeom prst="rect">
            <a:avLst/>
          </a:prstGeom>
          <a:noFill/>
        </p:spPr>
        <p:txBody>
          <a:bodyPr wrap="square" anchor="t">
            <a:spAutoFit/>
          </a:bodyPr>
          <a:lstStyle/>
          <a:p>
            <a:pPr defTabSz="457200"/>
            <a:r>
              <a:rPr b="1">
                <a:solidFill>
                  <a:srgbClr val="17324D"/>
                </a:solidFill>
                <a:latin typeface="Avenir Next"/>
              </a:rPr>
              <a:t>MV Angle</a:t>
            </a:r>
          </a:p>
        </p:txBody>
      </p:sp>
      <p:sp>
        <p:nvSpPr>
          <p:cNvPr id="440" name="Rounded Rectangle 439">
            <a:extLst>
              <a:ext uri="{FF2B5EF4-FFF2-40B4-BE49-F238E27FC236}">
                <a16:creationId xmlns:a16="http://schemas.microsoft.com/office/drawing/2014/main" id="{E116B071-5060-668C-8932-CAD4E21C8905}"/>
              </a:ext>
            </a:extLst>
          </p:cNvPr>
          <p:cNvSpPr/>
          <p:nvPr/>
        </p:nvSpPr>
        <p:spPr>
          <a:xfrm>
            <a:off x="1875670" y="5136765"/>
            <a:ext cx="1234440" cy="219456"/>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41" name="Rounded Rectangle 440">
            <a:extLst>
              <a:ext uri="{FF2B5EF4-FFF2-40B4-BE49-F238E27FC236}">
                <a16:creationId xmlns:a16="http://schemas.microsoft.com/office/drawing/2014/main" id="{12CB96CA-55AC-5431-9C60-7968FF168886}"/>
              </a:ext>
            </a:extLst>
          </p:cNvPr>
          <p:cNvSpPr/>
          <p:nvPr/>
        </p:nvSpPr>
        <p:spPr>
          <a:xfrm>
            <a:off x="1875670" y="5136765"/>
            <a:ext cx="1234440" cy="219456"/>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42" name="Rounded Rectangle 441">
            <a:extLst>
              <a:ext uri="{FF2B5EF4-FFF2-40B4-BE49-F238E27FC236}">
                <a16:creationId xmlns:a16="http://schemas.microsoft.com/office/drawing/2014/main" id="{04016CCF-47F0-4EC6-7345-1C3EA25FDEBE}"/>
              </a:ext>
            </a:extLst>
          </p:cNvPr>
          <p:cNvSpPr/>
          <p:nvPr/>
        </p:nvSpPr>
        <p:spPr>
          <a:xfrm>
            <a:off x="3485014" y="5136765"/>
            <a:ext cx="1234440" cy="219456"/>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43" name="Rounded Rectangle 442">
            <a:extLst>
              <a:ext uri="{FF2B5EF4-FFF2-40B4-BE49-F238E27FC236}">
                <a16:creationId xmlns:a16="http://schemas.microsoft.com/office/drawing/2014/main" id="{559D677C-1426-7104-DD24-371F1F2C4DC7}"/>
              </a:ext>
            </a:extLst>
          </p:cNvPr>
          <p:cNvSpPr/>
          <p:nvPr/>
        </p:nvSpPr>
        <p:spPr>
          <a:xfrm>
            <a:off x="3485014" y="5136765"/>
            <a:ext cx="349048" cy="219456"/>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44" name="TextBox 443">
            <a:extLst>
              <a:ext uri="{FF2B5EF4-FFF2-40B4-BE49-F238E27FC236}">
                <a16:creationId xmlns:a16="http://schemas.microsoft.com/office/drawing/2014/main" id="{E1A7E182-4EE2-E048-37C6-B4A9D6785AF0}"/>
              </a:ext>
            </a:extLst>
          </p:cNvPr>
          <p:cNvSpPr txBox="1"/>
          <p:nvPr/>
        </p:nvSpPr>
        <p:spPr>
          <a:xfrm>
            <a:off x="1875670" y="5383653"/>
            <a:ext cx="1234440" cy="274320"/>
          </a:xfrm>
          <a:prstGeom prst="rect">
            <a:avLst/>
          </a:prstGeom>
          <a:noFill/>
        </p:spPr>
        <p:txBody>
          <a:bodyPr wrap="square" anchor="t">
            <a:spAutoFit/>
          </a:bodyPr>
          <a:lstStyle/>
          <a:p>
            <a:pPr algn="ctr" defTabSz="457200"/>
            <a:r>
              <a:rPr b="1">
                <a:solidFill>
                  <a:srgbClr val="17324D"/>
                </a:solidFill>
                <a:latin typeface="Avenir Next"/>
              </a:rPr>
              <a:t>1.45</a:t>
            </a:r>
          </a:p>
        </p:txBody>
      </p:sp>
      <p:sp>
        <p:nvSpPr>
          <p:cNvPr id="445" name="TextBox 444">
            <a:extLst>
              <a:ext uri="{FF2B5EF4-FFF2-40B4-BE49-F238E27FC236}">
                <a16:creationId xmlns:a16="http://schemas.microsoft.com/office/drawing/2014/main" id="{FD014D38-7136-72D6-5187-09E4AE95DCAB}"/>
              </a:ext>
            </a:extLst>
          </p:cNvPr>
          <p:cNvSpPr txBox="1"/>
          <p:nvPr/>
        </p:nvSpPr>
        <p:spPr>
          <a:xfrm>
            <a:off x="3485014" y="5383653"/>
            <a:ext cx="1234440" cy="274320"/>
          </a:xfrm>
          <a:prstGeom prst="rect">
            <a:avLst/>
          </a:prstGeom>
          <a:noFill/>
        </p:spPr>
        <p:txBody>
          <a:bodyPr wrap="square" anchor="t">
            <a:spAutoFit/>
          </a:bodyPr>
          <a:lstStyle/>
          <a:p>
            <a:pPr algn="ctr" defTabSz="457200"/>
            <a:r>
              <a:rPr b="1">
                <a:solidFill>
                  <a:srgbClr val="17324D"/>
                </a:solidFill>
                <a:latin typeface="Avenir Next"/>
              </a:rPr>
              <a:t>0.41</a:t>
            </a:r>
          </a:p>
        </p:txBody>
      </p:sp>
      <p:sp>
        <p:nvSpPr>
          <p:cNvPr id="446" name="Rounded Rectangle 445">
            <a:extLst>
              <a:ext uri="{FF2B5EF4-FFF2-40B4-BE49-F238E27FC236}">
                <a16:creationId xmlns:a16="http://schemas.microsoft.com/office/drawing/2014/main" id="{91C18968-7760-6B97-543B-31904D3D89C4}"/>
              </a:ext>
            </a:extLst>
          </p:cNvPr>
          <p:cNvSpPr/>
          <p:nvPr/>
        </p:nvSpPr>
        <p:spPr>
          <a:xfrm>
            <a:off x="4801750" y="5136765"/>
            <a:ext cx="841248" cy="329184"/>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17324D"/>
                </a:solidFill>
                <a:effectLst/>
                <a:uLnTx/>
                <a:uFillTx/>
                <a:latin typeface="Avenir Next"/>
                <a:ea typeface="+mn-ea"/>
                <a:cs typeface="+mn-cs"/>
              </a:rPr>
              <a:t>-72%</a:t>
            </a:r>
          </a:p>
        </p:txBody>
      </p:sp>
      <p:sp>
        <p:nvSpPr>
          <p:cNvPr id="448" name="Rounded Rectangle 447">
            <a:extLst>
              <a:ext uri="{FF2B5EF4-FFF2-40B4-BE49-F238E27FC236}">
                <a16:creationId xmlns:a16="http://schemas.microsoft.com/office/drawing/2014/main" id="{A978A57C-46B8-93A5-C2A7-D022DD6FE9FC}"/>
              </a:ext>
            </a:extLst>
          </p:cNvPr>
          <p:cNvSpPr/>
          <p:nvPr/>
        </p:nvSpPr>
        <p:spPr>
          <a:xfrm>
            <a:off x="5988051" y="1351147"/>
            <a:ext cx="6019763" cy="4435353"/>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49" name="Rounded Rectangle 448">
            <a:extLst>
              <a:ext uri="{FF2B5EF4-FFF2-40B4-BE49-F238E27FC236}">
                <a16:creationId xmlns:a16="http://schemas.microsoft.com/office/drawing/2014/main" id="{F5143316-FB39-9EC5-13D4-8DA7AB6B2D53}"/>
              </a:ext>
            </a:extLst>
          </p:cNvPr>
          <p:cNvSpPr/>
          <p:nvPr/>
        </p:nvSpPr>
        <p:spPr>
          <a:xfrm>
            <a:off x="6170932" y="1343237"/>
            <a:ext cx="1737360" cy="292608"/>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17324D"/>
                </a:solidFill>
                <a:effectLst/>
                <a:uLnTx/>
                <a:uFillTx/>
                <a:latin typeface="Avenir Next"/>
                <a:ea typeface="+mn-ea"/>
                <a:cs typeface="+mn-cs"/>
              </a:rPr>
              <a:t>QUESTION 2</a:t>
            </a:r>
          </a:p>
        </p:txBody>
      </p:sp>
      <p:sp>
        <p:nvSpPr>
          <p:cNvPr id="450" name="TextBox 449">
            <a:extLst>
              <a:ext uri="{FF2B5EF4-FFF2-40B4-BE49-F238E27FC236}">
                <a16:creationId xmlns:a16="http://schemas.microsoft.com/office/drawing/2014/main" id="{C236C59A-E94C-5CF7-F643-6755D2882E66}"/>
              </a:ext>
            </a:extLst>
          </p:cNvPr>
          <p:cNvSpPr txBox="1"/>
          <p:nvPr/>
        </p:nvSpPr>
        <p:spPr>
          <a:xfrm>
            <a:off x="6189220" y="1751999"/>
            <a:ext cx="4581144" cy="347472"/>
          </a:xfrm>
          <a:prstGeom prst="rect">
            <a:avLst/>
          </a:prstGeom>
          <a:noFill/>
        </p:spPr>
        <p:txBody>
          <a:bodyPr wrap="square" anchor="t">
            <a:spAutoFit/>
          </a:bodyPr>
          <a:lstStyle/>
          <a:p>
            <a:pPr defTabSz="457200"/>
            <a:r>
              <a:rPr sz="2100" b="1">
                <a:solidFill>
                  <a:srgbClr val="17324D"/>
                </a:solidFill>
                <a:latin typeface="Avenir Next"/>
              </a:rPr>
              <a:t>Effect of inference correction</a:t>
            </a:r>
          </a:p>
        </p:txBody>
      </p:sp>
      <p:sp>
        <p:nvSpPr>
          <p:cNvPr id="451" name="TextBox 450">
            <a:extLst>
              <a:ext uri="{FF2B5EF4-FFF2-40B4-BE49-F238E27FC236}">
                <a16:creationId xmlns:a16="http://schemas.microsoft.com/office/drawing/2014/main" id="{10CB57B4-DF7D-192C-092C-252FC8F5F4D1}"/>
              </a:ext>
            </a:extLst>
          </p:cNvPr>
          <p:cNvSpPr txBox="1"/>
          <p:nvPr/>
        </p:nvSpPr>
        <p:spPr>
          <a:xfrm>
            <a:off x="6189220" y="2197832"/>
            <a:ext cx="5480422" cy="646331"/>
          </a:xfrm>
          <a:prstGeom prst="rect">
            <a:avLst/>
          </a:prstGeom>
          <a:noFill/>
        </p:spPr>
        <p:txBody>
          <a:bodyPr wrap="square" anchor="t">
            <a:spAutoFit/>
          </a:bodyPr>
          <a:lstStyle/>
          <a:p>
            <a:pPr defTabSz="457200"/>
            <a:r>
              <a:rPr dirty="0">
                <a:solidFill>
                  <a:srgbClr val="4B647A"/>
                </a:solidFill>
                <a:latin typeface="Avenir Next"/>
              </a:rPr>
              <a:t>Fixed model: PIGNN-Attn. Compare </a:t>
            </a:r>
            <a:r>
              <a:rPr lang="en-US" dirty="0">
                <a:solidFill>
                  <a:srgbClr val="4B647A"/>
                </a:solidFill>
                <a:latin typeface="Avenir Next"/>
              </a:rPr>
              <a:t>no-correction</a:t>
            </a:r>
            <a:r>
              <a:rPr dirty="0">
                <a:solidFill>
                  <a:srgbClr val="4B647A"/>
                </a:solidFill>
                <a:latin typeface="Avenir Next"/>
              </a:rPr>
              <a:t>, only caps, only line search, and combined.</a:t>
            </a:r>
          </a:p>
        </p:txBody>
      </p:sp>
      <p:sp>
        <p:nvSpPr>
          <p:cNvPr id="452" name="Rounded Rectangle 451">
            <a:extLst>
              <a:ext uri="{FF2B5EF4-FFF2-40B4-BE49-F238E27FC236}">
                <a16:creationId xmlns:a16="http://schemas.microsoft.com/office/drawing/2014/main" id="{141FD031-FC74-706A-2983-3F5ED6E9E3C1}"/>
              </a:ext>
            </a:extLst>
          </p:cNvPr>
          <p:cNvSpPr/>
          <p:nvPr/>
        </p:nvSpPr>
        <p:spPr>
          <a:xfrm>
            <a:off x="7141852" y="2944002"/>
            <a:ext cx="841248" cy="630936"/>
          </a:xfrm>
          <a:prstGeom prst="roundRect">
            <a:avLst/>
          </a:prstGeom>
          <a:solidFill>
            <a:srgbClr val="FFFFFF"/>
          </a:solidFill>
          <a:ln w="9525" cap="flat" cmpd="sng" algn="ctr">
            <a:solidFill>
              <a:srgbClr val="FFFFFF"/>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17324D"/>
                </a:solidFill>
                <a:effectLst/>
                <a:uLnTx/>
                <a:uFillTx/>
                <a:latin typeface="Avenir Next"/>
                <a:ea typeface="+mn-ea"/>
                <a:cs typeface="+mn-cs"/>
              </a:rPr>
              <a:t>base</a:t>
            </a:r>
            <a:endParaRPr kumimoji="0" sz="1800" b="1" i="0" u="none" strike="noStrike" kern="0" cap="none" spc="0" normalizeH="0" baseline="0" noProof="0" dirty="0">
              <a:ln>
                <a:noFill/>
              </a:ln>
              <a:solidFill>
                <a:srgbClr val="17324D"/>
              </a:solidFill>
              <a:effectLst/>
              <a:uLnTx/>
              <a:uFillTx/>
              <a:latin typeface="Avenir Next"/>
              <a:ea typeface="+mn-ea"/>
              <a:cs typeface="+mn-cs"/>
            </a:endParaRPr>
          </a:p>
        </p:txBody>
      </p:sp>
      <p:sp>
        <p:nvSpPr>
          <p:cNvPr id="453" name="Rounded Rectangle 452">
            <a:extLst>
              <a:ext uri="{FF2B5EF4-FFF2-40B4-BE49-F238E27FC236}">
                <a16:creationId xmlns:a16="http://schemas.microsoft.com/office/drawing/2014/main" id="{6454EA3C-F648-2C01-7E3A-37EA588E2387}"/>
              </a:ext>
            </a:extLst>
          </p:cNvPr>
          <p:cNvSpPr/>
          <p:nvPr/>
        </p:nvSpPr>
        <p:spPr>
          <a:xfrm>
            <a:off x="8042500" y="2953079"/>
            <a:ext cx="1005840" cy="603504"/>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only Caps</a:t>
            </a:r>
          </a:p>
        </p:txBody>
      </p:sp>
      <p:sp>
        <p:nvSpPr>
          <p:cNvPr id="454" name="Rounded Rectangle 453">
            <a:extLst>
              <a:ext uri="{FF2B5EF4-FFF2-40B4-BE49-F238E27FC236}">
                <a16:creationId xmlns:a16="http://schemas.microsoft.com/office/drawing/2014/main" id="{1B05AFE3-6D62-33C7-A1A1-A798FDF34C7E}"/>
              </a:ext>
            </a:extLst>
          </p:cNvPr>
          <p:cNvSpPr/>
          <p:nvPr/>
        </p:nvSpPr>
        <p:spPr>
          <a:xfrm>
            <a:off x="9107740" y="2934791"/>
            <a:ext cx="877824" cy="621792"/>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only LS</a:t>
            </a:r>
          </a:p>
        </p:txBody>
      </p:sp>
      <p:sp>
        <p:nvSpPr>
          <p:cNvPr id="455" name="Rounded Rectangle 454">
            <a:extLst>
              <a:ext uri="{FF2B5EF4-FFF2-40B4-BE49-F238E27FC236}">
                <a16:creationId xmlns:a16="http://schemas.microsoft.com/office/drawing/2014/main" id="{B19D961A-B833-F689-0E20-549D8BD60E30}"/>
              </a:ext>
            </a:extLst>
          </p:cNvPr>
          <p:cNvSpPr/>
          <p:nvPr/>
        </p:nvSpPr>
        <p:spPr>
          <a:xfrm>
            <a:off x="10049644" y="2944002"/>
            <a:ext cx="914400" cy="636508"/>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Caps + LS</a:t>
            </a:r>
          </a:p>
        </p:txBody>
      </p:sp>
      <p:sp>
        <p:nvSpPr>
          <p:cNvPr id="456" name="TextBox 455">
            <a:extLst>
              <a:ext uri="{FF2B5EF4-FFF2-40B4-BE49-F238E27FC236}">
                <a16:creationId xmlns:a16="http://schemas.microsoft.com/office/drawing/2014/main" id="{08E16AD5-BD18-3661-0F55-17F9C29B6EAE}"/>
              </a:ext>
            </a:extLst>
          </p:cNvPr>
          <p:cNvSpPr txBox="1"/>
          <p:nvPr/>
        </p:nvSpPr>
        <p:spPr>
          <a:xfrm>
            <a:off x="6144970" y="3820028"/>
            <a:ext cx="1170432" cy="329184"/>
          </a:xfrm>
          <a:prstGeom prst="rect">
            <a:avLst/>
          </a:prstGeom>
          <a:noFill/>
        </p:spPr>
        <p:txBody>
          <a:bodyPr wrap="square" anchor="t">
            <a:spAutoFit/>
          </a:bodyPr>
          <a:lstStyle/>
          <a:p>
            <a:pPr defTabSz="457200"/>
            <a:r>
              <a:rPr b="1" dirty="0">
                <a:solidFill>
                  <a:srgbClr val="17324D"/>
                </a:solidFill>
                <a:latin typeface="Avenir Next"/>
              </a:rPr>
              <a:t>HV Voltage</a:t>
            </a:r>
          </a:p>
        </p:txBody>
      </p:sp>
      <p:sp>
        <p:nvSpPr>
          <p:cNvPr id="457" name="Rounded Rectangle 456">
            <a:extLst>
              <a:ext uri="{FF2B5EF4-FFF2-40B4-BE49-F238E27FC236}">
                <a16:creationId xmlns:a16="http://schemas.microsoft.com/office/drawing/2014/main" id="{BF12571A-6581-3040-803C-CDCEAF8BC3E1}"/>
              </a:ext>
            </a:extLst>
          </p:cNvPr>
          <p:cNvSpPr/>
          <p:nvPr/>
        </p:nvSpPr>
        <p:spPr>
          <a:xfrm>
            <a:off x="7169098" y="3845673"/>
            <a:ext cx="914400" cy="146304"/>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58" name="Rounded Rectangle 457">
            <a:extLst>
              <a:ext uri="{FF2B5EF4-FFF2-40B4-BE49-F238E27FC236}">
                <a16:creationId xmlns:a16="http://schemas.microsoft.com/office/drawing/2014/main" id="{EE4F5F1F-8484-FC56-45A2-B506E1F2FEEE}"/>
              </a:ext>
            </a:extLst>
          </p:cNvPr>
          <p:cNvSpPr/>
          <p:nvPr/>
        </p:nvSpPr>
        <p:spPr>
          <a:xfrm>
            <a:off x="7169098" y="3845673"/>
            <a:ext cx="914400" cy="146304"/>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59" name="TextBox 458">
            <a:extLst>
              <a:ext uri="{FF2B5EF4-FFF2-40B4-BE49-F238E27FC236}">
                <a16:creationId xmlns:a16="http://schemas.microsoft.com/office/drawing/2014/main" id="{90A064E8-A13A-7637-7381-2DF243A74D1D}"/>
              </a:ext>
            </a:extLst>
          </p:cNvPr>
          <p:cNvSpPr txBox="1"/>
          <p:nvPr/>
        </p:nvSpPr>
        <p:spPr>
          <a:xfrm>
            <a:off x="7169098" y="4083417"/>
            <a:ext cx="914400" cy="274320"/>
          </a:xfrm>
          <a:prstGeom prst="rect">
            <a:avLst/>
          </a:prstGeom>
          <a:noFill/>
        </p:spPr>
        <p:txBody>
          <a:bodyPr wrap="square" anchor="t">
            <a:spAutoFit/>
          </a:bodyPr>
          <a:lstStyle/>
          <a:p>
            <a:pPr algn="ctr" defTabSz="457200"/>
            <a:r>
              <a:rPr b="1" dirty="0">
                <a:solidFill>
                  <a:srgbClr val="17324D"/>
                </a:solidFill>
                <a:latin typeface="Avenir Next"/>
              </a:rPr>
              <a:t>8.0e-3</a:t>
            </a:r>
          </a:p>
        </p:txBody>
      </p:sp>
      <p:sp>
        <p:nvSpPr>
          <p:cNvPr id="460" name="Rounded Rectangle 459">
            <a:extLst>
              <a:ext uri="{FF2B5EF4-FFF2-40B4-BE49-F238E27FC236}">
                <a16:creationId xmlns:a16="http://schemas.microsoft.com/office/drawing/2014/main" id="{92FDDA40-E071-C4D7-2A08-32719A566277}"/>
              </a:ext>
            </a:extLst>
          </p:cNvPr>
          <p:cNvSpPr/>
          <p:nvPr/>
        </p:nvSpPr>
        <p:spPr>
          <a:xfrm>
            <a:off x="8138362" y="3845673"/>
            <a:ext cx="914400" cy="146304"/>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61" name="Rounded Rectangle 460">
            <a:extLst>
              <a:ext uri="{FF2B5EF4-FFF2-40B4-BE49-F238E27FC236}">
                <a16:creationId xmlns:a16="http://schemas.microsoft.com/office/drawing/2014/main" id="{82DD21EF-0604-A10B-D774-38260E6D4B54}"/>
              </a:ext>
            </a:extLst>
          </p:cNvPr>
          <p:cNvSpPr/>
          <p:nvPr/>
        </p:nvSpPr>
        <p:spPr>
          <a:xfrm>
            <a:off x="8138362" y="3845673"/>
            <a:ext cx="73152" cy="146304"/>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62" name="TextBox 461">
            <a:extLst>
              <a:ext uri="{FF2B5EF4-FFF2-40B4-BE49-F238E27FC236}">
                <a16:creationId xmlns:a16="http://schemas.microsoft.com/office/drawing/2014/main" id="{C15DB561-3E1E-30F4-0308-24BC45B025AA}"/>
              </a:ext>
            </a:extLst>
          </p:cNvPr>
          <p:cNvSpPr txBox="1"/>
          <p:nvPr/>
        </p:nvSpPr>
        <p:spPr>
          <a:xfrm>
            <a:off x="8138362" y="4083417"/>
            <a:ext cx="914400" cy="274320"/>
          </a:xfrm>
          <a:prstGeom prst="rect">
            <a:avLst/>
          </a:prstGeom>
          <a:noFill/>
        </p:spPr>
        <p:txBody>
          <a:bodyPr wrap="square" anchor="t">
            <a:spAutoFit/>
          </a:bodyPr>
          <a:lstStyle/>
          <a:p>
            <a:pPr algn="ctr" defTabSz="457200"/>
            <a:r>
              <a:rPr b="1">
                <a:solidFill>
                  <a:srgbClr val="17324D"/>
                </a:solidFill>
                <a:latin typeface="Avenir Next"/>
              </a:rPr>
              <a:t>5.4e-4</a:t>
            </a:r>
          </a:p>
        </p:txBody>
      </p:sp>
      <p:sp>
        <p:nvSpPr>
          <p:cNvPr id="463" name="Rounded Rectangle 462">
            <a:extLst>
              <a:ext uri="{FF2B5EF4-FFF2-40B4-BE49-F238E27FC236}">
                <a16:creationId xmlns:a16="http://schemas.microsoft.com/office/drawing/2014/main" id="{97A9E3B6-FDD9-3942-859D-6DA149756532}"/>
              </a:ext>
            </a:extLst>
          </p:cNvPr>
          <p:cNvSpPr/>
          <p:nvPr/>
        </p:nvSpPr>
        <p:spPr>
          <a:xfrm>
            <a:off x="9107626" y="3845673"/>
            <a:ext cx="914400" cy="146304"/>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64" name="Rounded Rectangle 463">
            <a:extLst>
              <a:ext uri="{FF2B5EF4-FFF2-40B4-BE49-F238E27FC236}">
                <a16:creationId xmlns:a16="http://schemas.microsoft.com/office/drawing/2014/main" id="{C8CD4398-1AE7-A5B7-BAF9-C25530AEE827}"/>
              </a:ext>
            </a:extLst>
          </p:cNvPr>
          <p:cNvSpPr/>
          <p:nvPr/>
        </p:nvSpPr>
        <p:spPr>
          <a:xfrm>
            <a:off x="9107626" y="3845673"/>
            <a:ext cx="73152" cy="146304"/>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65" name="TextBox 464">
            <a:extLst>
              <a:ext uri="{FF2B5EF4-FFF2-40B4-BE49-F238E27FC236}">
                <a16:creationId xmlns:a16="http://schemas.microsoft.com/office/drawing/2014/main" id="{053556BA-75A3-F345-483B-87E7C304D558}"/>
              </a:ext>
            </a:extLst>
          </p:cNvPr>
          <p:cNvSpPr txBox="1"/>
          <p:nvPr/>
        </p:nvSpPr>
        <p:spPr>
          <a:xfrm>
            <a:off x="9107626" y="4083417"/>
            <a:ext cx="914400" cy="274320"/>
          </a:xfrm>
          <a:prstGeom prst="rect">
            <a:avLst/>
          </a:prstGeom>
          <a:noFill/>
        </p:spPr>
        <p:txBody>
          <a:bodyPr wrap="square" anchor="t">
            <a:spAutoFit/>
          </a:bodyPr>
          <a:lstStyle/>
          <a:p>
            <a:pPr algn="ctr" defTabSz="457200"/>
            <a:r>
              <a:rPr b="1">
                <a:solidFill>
                  <a:srgbClr val="17324D"/>
                </a:solidFill>
                <a:latin typeface="Avenir Next"/>
              </a:rPr>
              <a:t>4.6e-4</a:t>
            </a:r>
          </a:p>
        </p:txBody>
      </p:sp>
      <p:sp>
        <p:nvSpPr>
          <p:cNvPr id="466" name="Rounded Rectangle 465">
            <a:extLst>
              <a:ext uri="{FF2B5EF4-FFF2-40B4-BE49-F238E27FC236}">
                <a16:creationId xmlns:a16="http://schemas.microsoft.com/office/drawing/2014/main" id="{243C2305-F234-A3FA-35FB-16D40772F649}"/>
              </a:ext>
            </a:extLst>
          </p:cNvPr>
          <p:cNvSpPr/>
          <p:nvPr/>
        </p:nvSpPr>
        <p:spPr>
          <a:xfrm>
            <a:off x="10076890" y="3845673"/>
            <a:ext cx="914400" cy="146304"/>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67" name="Rounded Rectangle 466">
            <a:extLst>
              <a:ext uri="{FF2B5EF4-FFF2-40B4-BE49-F238E27FC236}">
                <a16:creationId xmlns:a16="http://schemas.microsoft.com/office/drawing/2014/main" id="{57726373-2913-910F-9098-670ED820C22E}"/>
              </a:ext>
            </a:extLst>
          </p:cNvPr>
          <p:cNvSpPr/>
          <p:nvPr/>
        </p:nvSpPr>
        <p:spPr>
          <a:xfrm>
            <a:off x="10076890" y="3845673"/>
            <a:ext cx="73152" cy="146304"/>
          </a:xfrm>
          <a:prstGeom prst="roundRect">
            <a:avLst/>
          </a:prstGeom>
          <a:solidFill>
            <a:srgbClr val="C88A2C"/>
          </a:solidFill>
          <a:ln w="9525" cap="flat" cmpd="sng" algn="ctr">
            <a:solidFill>
              <a:srgbClr val="C88A2C"/>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68" name="TextBox 467">
            <a:extLst>
              <a:ext uri="{FF2B5EF4-FFF2-40B4-BE49-F238E27FC236}">
                <a16:creationId xmlns:a16="http://schemas.microsoft.com/office/drawing/2014/main" id="{4998D211-6E46-599A-BCBA-FB222F7C7DA2}"/>
              </a:ext>
            </a:extLst>
          </p:cNvPr>
          <p:cNvSpPr txBox="1"/>
          <p:nvPr/>
        </p:nvSpPr>
        <p:spPr>
          <a:xfrm>
            <a:off x="10076890" y="4083417"/>
            <a:ext cx="914400" cy="274320"/>
          </a:xfrm>
          <a:prstGeom prst="rect">
            <a:avLst/>
          </a:prstGeom>
          <a:noFill/>
        </p:spPr>
        <p:txBody>
          <a:bodyPr wrap="square" anchor="t">
            <a:spAutoFit/>
          </a:bodyPr>
          <a:lstStyle/>
          <a:p>
            <a:pPr algn="ctr" defTabSz="457200"/>
            <a:r>
              <a:rPr b="1" dirty="0">
                <a:solidFill>
                  <a:srgbClr val="17324D"/>
                </a:solidFill>
                <a:latin typeface="Avenir Next"/>
              </a:rPr>
              <a:t>3.3e-4</a:t>
            </a:r>
          </a:p>
        </p:txBody>
      </p:sp>
      <p:sp>
        <p:nvSpPr>
          <p:cNvPr id="469" name="TextBox 468">
            <a:extLst>
              <a:ext uri="{FF2B5EF4-FFF2-40B4-BE49-F238E27FC236}">
                <a16:creationId xmlns:a16="http://schemas.microsoft.com/office/drawing/2014/main" id="{2832CAB0-079D-7B31-BDDA-A41366DAB09F}"/>
              </a:ext>
            </a:extLst>
          </p:cNvPr>
          <p:cNvSpPr txBox="1"/>
          <p:nvPr/>
        </p:nvSpPr>
        <p:spPr>
          <a:xfrm>
            <a:off x="7356616" y="4309413"/>
            <a:ext cx="647282" cy="369332"/>
          </a:xfrm>
          <a:prstGeom prst="rect">
            <a:avLst/>
          </a:prstGeom>
          <a:noFill/>
        </p:spPr>
        <p:txBody>
          <a:bodyPr wrap="square" anchor="t">
            <a:spAutoFit/>
          </a:bodyPr>
          <a:lstStyle/>
          <a:p>
            <a:pPr defTabSz="457200"/>
            <a:r>
              <a:rPr i="1" dirty="0" err="1">
                <a:solidFill>
                  <a:srgbClr val="4B647A"/>
                </a:solidFill>
                <a:latin typeface="Avenir Next"/>
              </a:rPr>
              <a:t>p.u</a:t>
            </a:r>
            <a:r>
              <a:rPr i="1" dirty="0">
                <a:solidFill>
                  <a:srgbClr val="4B647A"/>
                </a:solidFill>
                <a:latin typeface="Avenir Next"/>
              </a:rPr>
              <a:t>.</a:t>
            </a:r>
          </a:p>
        </p:txBody>
      </p:sp>
      <p:sp>
        <p:nvSpPr>
          <p:cNvPr id="470" name="TextBox 469">
            <a:extLst>
              <a:ext uri="{FF2B5EF4-FFF2-40B4-BE49-F238E27FC236}">
                <a16:creationId xmlns:a16="http://schemas.microsoft.com/office/drawing/2014/main" id="{EBB8E32E-0617-6CAD-AF31-94A275E34A01}"/>
              </a:ext>
            </a:extLst>
          </p:cNvPr>
          <p:cNvSpPr txBox="1"/>
          <p:nvPr/>
        </p:nvSpPr>
        <p:spPr>
          <a:xfrm>
            <a:off x="6144970" y="4697852"/>
            <a:ext cx="1170432" cy="329184"/>
          </a:xfrm>
          <a:prstGeom prst="rect">
            <a:avLst/>
          </a:prstGeom>
          <a:noFill/>
        </p:spPr>
        <p:txBody>
          <a:bodyPr wrap="square" anchor="t">
            <a:spAutoFit/>
          </a:bodyPr>
          <a:lstStyle/>
          <a:p>
            <a:pPr defTabSz="457200"/>
            <a:r>
              <a:rPr b="1">
                <a:solidFill>
                  <a:srgbClr val="17324D"/>
                </a:solidFill>
                <a:latin typeface="Avenir Next"/>
              </a:rPr>
              <a:t>HV Angle</a:t>
            </a:r>
          </a:p>
        </p:txBody>
      </p:sp>
      <p:sp>
        <p:nvSpPr>
          <p:cNvPr id="471" name="Rounded Rectangle 470">
            <a:extLst>
              <a:ext uri="{FF2B5EF4-FFF2-40B4-BE49-F238E27FC236}">
                <a16:creationId xmlns:a16="http://schemas.microsoft.com/office/drawing/2014/main" id="{6A4693A3-CC2E-7278-2155-9E6ED035461D}"/>
              </a:ext>
            </a:extLst>
          </p:cNvPr>
          <p:cNvSpPr/>
          <p:nvPr/>
        </p:nvSpPr>
        <p:spPr>
          <a:xfrm>
            <a:off x="7169098" y="4741785"/>
            <a:ext cx="914400" cy="146304"/>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72" name="Rounded Rectangle 471">
            <a:extLst>
              <a:ext uri="{FF2B5EF4-FFF2-40B4-BE49-F238E27FC236}">
                <a16:creationId xmlns:a16="http://schemas.microsoft.com/office/drawing/2014/main" id="{4580DF49-AAE3-0670-4CB1-CCFC2AB20FFC}"/>
              </a:ext>
            </a:extLst>
          </p:cNvPr>
          <p:cNvSpPr/>
          <p:nvPr/>
        </p:nvSpPr>
        <p:spPr>
          <a:xfrm>
            <a:off x="7169098" y="4741785"/>
            <a:ext cx="914400" cy="146304"/>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73" name="TextBox 472">
            <a:extLst>
              <a:ext uri="{FF2B5EF4-FFF2-40B4-BE49-F238E27FC236}">
                <a16:creationId xmlns:a16="http://schemas.microsoft.com/office/drawing/2014/main" id="{0C269153-7DB4-E7D5-4509-BB4711BC4197}"/>
              </a:ext>
            </a:extLst>
          </p:cNvPr>
          <p:cNvSpPr txBox="1"/>
          <p:nvPr/>
        </p:nvSpPr>
        <p:spPr>
          <a:xfrm>
            <a:off x="7169098" y="4979529"/>
            <a:ext cx="914400" cy="274320"/>
          </a:xfrm>
          <a:prstGeom prst="rect">
            <a:avLst/>
          </a:prstGeom>
          <a:noFill/>
        </p:spPr>
        <p:txBody>
          <a:bodyPr wrap="square" anchor="t">
            <a:spAutoFit/>
          </a:bodyPr>
          <a:lstStyle/>
          <a:p>
            <a:pPr algn="ctr" defTabSz="457200"/>
            <a:r>
              <a:rPr b="1">
                <a:solidFill>
                  <a:srgbClr val="17324D"/>
                </a:solidFill>
                <a:latin typeface="Avenir Next"/>
              </a:rPr>
              <a:t>0.67</a:t>
            </a:r>
          </a:p>
        </p:txBody>
      </p:sp>
      <p:sp>
        <p:nvSpPr>
          <p:cNvPr id="474" name="Rounded Rectangle 473">
            <a:extLst>
              <a:ext uri="{FF2B5EF4-FFF2-40B4-BE49-F238E27FC236}">
                <a16:creationId xmlns:a16="http://schemas.microsoft.com/office/drawing/2014/main" id="{2F8B549B-1EFF-236C-612D-E621196AB401}"/>
              </a:ext>
            </a:extLst>
          </p:cNvPr>
          <p:cNvSpPr/>
          <p:nvPr/>
        </p:nvSpPr>
        <p:spPr>
          <a:xfrm>
            <a:off x="8138362" y="4741785"/>
            <a:ext cx="914400" cy="146304"/>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75" name="Rounded Rectangle 474">
            <a:extLst>
              <a:ext uri="{FF2B5EF4-FFF2-40B4-BE49-F238E27FC236}">
                <a16:creationId xmlns:a16="http://schemas.microsoft.com/office/drawing/2014/main" id="{1AC2CE5E-9E81-57D6-0365-13EEA5413E36}"/>
              </a:ext>
            </a:extLst>
          </p:cNvPr>
          <p:cNvSpPr/>
          <p:nvPr/>
        </p:nvSpPr>
        <p:spPr>
          <a:xfrm>
            <a:off x="8138362" y="4741785"/>
            <a:ext cx="218364" cy="146304"/>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76" name="TextBox 475">
            <a:extLst>
              <a:ext uri="{FF2B5EF4-FFF2-40B4-BE49-F238E27FC236}">
                <a16:creationId xmlns:a16="http://schemas.microsoft.com/office/drawing/2014/main" id="{87F116A9-8B45-B33B-8F83-F8D93ECA8B9F}"/>
              </a:ext>
            </a:extLst>
          </p:cNvPr>
          <p:cNvSpPr txBox="1"/>
          <p:nvPr/>
        </p:nvSpPr>
        <p:spPr>
          <a:xfrm>
            <a:off x="8138362" y="4979529"/>
            <a:ext cx="914400" cy="274320"/>
          </a:xfrm>
          <a:prstGeom prst="rect">
            <a:avLst/>
          </a:prstGeom>
          <a:noFill/>
        </p:spPr>
        <p:txBody>
          <a:bodyPr wrap="square" anchor="t">
            <a:spAutoFit/>
          </a:bodyPr>
          <a:lstStyle/>
          <a:p>
            <a:pPr algn="ctr" defTabSz="457200"/>
            <a:r>
              <a:rPr b="1">
                <a:solidFill>
                  <a:srgbClr val="17324D"/>
                </a:solidFill>
                <a:latin typeface="Avenir Next"/>
              </a:rPr>
              <a:t>0.16</a:t>
            </a:r>
          </a:p>
        </p:txBody>
      </p:sp>
      <p:sp>
        <p:nvSpPr>
          <p:cNvPr id="477" name="Rounded Rectangle 476">
            <a:extLst>
              <a:ext uri="{FF2B5EF4-FFF2-40B4-BE49-F238E27FC236}">
                <a16:creationId xmlns:a16="http://schemas.microsoft.com/office/drawing/2014/main" id="{C19A0AD1-FA63-3AEC-A6C7-41FDB5BDFC48}"/>
              </a:ext>
            </a:extLst>
          </p:cNvPr>
          <p:cNvSpPr/>
          <p:nvPr/>
        </p:nvSpPr>
        <p:spPr>
          <a:xfrm>
            <a:off x="9107626" y="4741785"/>
            <a:ext cx="914400" cy="146304"/>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78" name="Rounded Rectangle 477">
            <a:extLst>
              <a:ext uri="{FF2B5EF4-FFF2-40B4-BE49-F238E27FC236}">
                <a16:creationId xmlns:a16="http://schemas.microsoft.com/office/drawing/2014/main" id="{C31F37A7-5F41-55DF-A344-D5923F1A512D}"/>
              </a:ext>
            </a:extLst>
          </p:cNvPr>
          <p:cNvSpPr/>
          <p:nvPr/>
        </p:nvSpPr>
        <p:spPr>
          <a:xfrm>
            <a:off x="9107626" y="4741785"/>
            <a:ext cx="163773" cy="146304"/>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79" name="TextBox 478">
            <a:extLst>
              <a:ext uri="{FF2B5EF4-FFF2-40B4-BE49-F238E27FC236}">
                <a16:creationId xmlns:a16="http://schemas.microsoft.com/office/drawing/2014/main" id="{BEA10DFC-3A71-DAE0-DAAE-0961D89D0C41}"/>
              </a:ext>
            </a:extLst>
          </p:cNvPr>
          <p:cNvSpPr txBox="1"/>
          <p:nvPr/>
        </p:nvSpPr>
        <p:spPr>
          <a:xfrm>
            <a:off x="9107626" y="4979529"/>
            <a:ext cx="914400" cy="274320"/>
          </a:xfrm>
          <a:prstGeom prst="rect">
            <a:avLst/>
          </a:prstGeom>
          <a:noFill/>
        </p:spPr>
        <p:txBody>
          <a:bodyPr wrap="square" anchor="t">
            <a:spAutoFit/>
          </a:bodyPr>
          <a:lstStyle/>
          <a:p>
            <a:pPr algn="ctr" defTabSz="457200"/>
            <a:r>
              <a:rPr b="1">
                <a:solidFill>
                  <a:srgbClr val="17324D"/>
                </a:solidFill>
                <a:latin typeface="Avenir Next"/>
              </a:rPr>
              <a:t>0.12</a:t>
            </a:r>
          </a:p>
        </p:txBody>
      </p:sp>
      <p:sp>
        <p:nvSpPr>
          <p:cNvPr id="480" name="Rounded Rectangle 479">
            <a:extLst>
              <a:ext uri="{FF2B5EF4-FFF2-40B4-BE49-F238E27FC236}">
                <a16:creationId xmlns:a16="http://schemas.microsoft.com/office/drawing/2014/main" id="{E7B3C5F6-1981-BC75-6AD4-AA20E4E55BAF}"/>
              </a:ext>
            </a:extLst>
          </p:cNvPr>
          <p:cNvSpPr/>
          <p:nvPr/>
        </p:nvSpPr>
        <p:spPr>
          <a:xfrm>
            <a:off x="10076890" y="4741785"/>
            <a:ext cx="914400" cy="146304"/>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81" name="Rounded Rectangle 480">
            <a:extLst>
              <a:ext uri="{FF2B5EF4-FFF2-40B4-BE49-F238E27FC236}">
                <a16:creationId xmlns:a16="http://schemas.microsoft.com/office/drawing/2014/main" id="{5CC137F7-70E7-0CDE-DC27-E0AA3B80DFC6}"/>
              </a:ext>
            </a:extLst>
          </p:cNvPr>
          <p:cNvSpPr/>
          <p:nvPr/>
        </p:nvSpPr>
        <p:spPr>
          <a:xfrm>
            <a:off x="10076890" y="4741785"/>
            <a:ext cx="109182" cy="146304"/>
          </a:xfrm>
          <a:prstGeom prst="roundRect">
            <a:avLst/>
          </a:prstGeom>
          <a:solidFill>
            <a:srgbClr val="2D6F80"/>
          </a:solidFill>
          <a:ln w="9525" cap="flat" cmpd="sng" algn="ctr">
            <a:solidFill>
              <a:srgbClr val="2D6F8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82" name="TextBox 481">
            <a:extLst>
              <a:ext uri="{FF2B5EF4-FFF2-40B4-BE49-F238E27FC236}">
                <a16:creationId xmlns:a16="http://schemas.microsoft.com/office/drawing/2014/main" id="{6FF1773D-6E3F-C111-7C56-9CC6C1EF56C5}"/>
              </a:ext>
            </a:extLst>
          </p:cNvPr>
          <p:cNvSpPr txBox="1"/>
          <p:nvPr/>
        </p:nvSpPr>
        <p:spPr>
          <a:xfrm>
            <a:off x="10076890" y="4979529"/>
            <a:ext cx="914400" cy="274320"/>
          </a:xfrm>
          <a:prstGeom prst="rect">
            <a:avLst/>
          </a:prstGeom>
          <a:noFill/>
        </p:spPr>
        <p:txBody>
          <a:bodyPr wrap="square" anchor="t">
            <a:spAutoFit/>
          </a:bodyPr>
          <a:lstStyle/>
          <a:p>
            <a:pPr algn="ctr" defTabSz="457200"/>
            <a:r>
              <a:rPr b="1">
                <a:solidFill>
                  <a:srgbClr val="17324D"/>
                </a:solidFill>
                <a:latin typeface="Avenir Next"/>
              </a:rPr>
              <a:t>0.08</a:t>
            </a:r>
          </a:p>
        </p:txBody>
      </p:sp>
      <p:sp>
        <p:nvSpPr>
          <p:cNvPr id="483" name="TextBox 482">
            <a:extLst>
              <a:ext uri="{FF2B5EF4-FFF2-40B4-BE49-F238E27FC236}">
                <a16:creationId xmlns:a16="http://schemas.microsoft.com/office/drawing/2014/main" id="{9F34B210-CD29-741C-3BF2-E3515BE24B42}"/>
              </a:ext>
            </a:extLst>
          </p:cNvPr>
          <p:cNvSpPr txBox="1"/>
          <p:nvPr/>
        </p:nvSpPr>
        <p:spPr>
          <a:xfrm>
            <a:off x="7296044" y="5288640"/>
            <a:ext cx="849592" cy="369332"/>
          </a:xfrm>
          <a:prstGeom prst="rect">
            <a:avLst/>
          </a:prstGeom>
          <a:noFill/>
        </p:spPr>
        <p:txBody>
          <a:bodyPr wrap="square" anchor="t">
            <a:spAutoFit/>
          </a:bodyPr>
          <a:lstStyle/>
          <a:p>
            <a:pPr defTabSz="457200"/>
            <a:r>
              <a:rPr i="1" dirty="0">
                <a:solidFill>
                  <a:srgbClr val="4B647A"/>
                </a:solidFill>
                <a:latin typeface="Avenir Next"/>
              </a:rPr>
              <a:t>deg</a:t>
            </a:r>
          </a:p>
        </p:txBody>
      </p:sp>
      <p:sp>
        <p:nvSpPr>
          <p:cNvPr id="486" name="Rounded Rectangle 485">
            <a:extLst>
              <a:ext uri="{FF2B5EF4-FFF2-40B4-BE49-F238E27FC236}">
                <a16:creationId xmlns:a16="http://schemas.microsoft.com/office/drawing/2014/main" id="{6838E293-B468-5FAE-19A7-46B6D9B7078E}"/>
              </a:ext>
            </a:extLst>
          </p:cNvPr>
          <p:cNvSpPr/>
          <p:nvPr/>
        </p:nvSpPr>
        <p:spPr>
          <a:xfrm>
            <a:off x="732405" y="5978378"/>
            <a:ext cx="10515600" cy="384048"/>
          </a:xfrm>
          <a:prstGeom prst="roundRect">
            <a:avLst/>
          </a:prstGeom>
          <a:solidFill>
            <a:srgbClr val="17324D"/>
          </a:solidFill>
          <a:ln w="9525" cap="flat" cmpd="sng" algn="ctr">
            <a:solidFill>
              <a:srgbClr val="17324D"/>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Avenir Next"/>
                <a:ea typeface="+mn-ea"/>
                <a:cs typeface="+mn-cs"/>
              </a:rPr>
              <a:t>Main Takeaway: Attention improves representation, line search drives robustness.</a:t>
            </a:r>
          </a:p>
        </p:txBody>
      </p:sp>
      <p:sp>
        <p:nvSpPr>
          <p:cNvPr id="488" name="Rounded Rectangle 487">
            <a:extLst>
              <a:ext uri="{FF2B5EF4-FFF2-40B4-BE49-F238E27FC236}">
                <a16:creationId xmlns:a16="http://schemas.microsoft.com/office/drawing/2014/main" id="{BE6FABA6-C2C0-9D63-4E75-8B1AADD75166}"/>
              </a:ext>
            </a:extLst>
          </p:cNvPr>
          <p:cNvSpPr/>
          <p:nvPr/>
        </p:nvSpPr>
        <p:spPr>
          <a:xfrm>
            <a:off x="11086331" y="3827385"/>
            <a:ext cx="811033" cy="329184"/>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a:t>
            </a:r>
            <a:r>
              <a:rPr kumimoji="0" lang="en-US" sz="1800" b="1" i="0" u="none" strike="noStrike" kern="0" cap="none" spc="0" normalizeH="0" baseline="0" noProof="0" dirty="0">
                <a:ln>
                  <a:noFill/>
                </a:ln>
                <a:solidFill>
                  <a:srgbClr val="17324D"/>
                </a:solidFill>
                <a:effectLst/>
                <a:uLnTx/>
                <a:uFillTx/>
                <a:latin typeface="Avenir Next"/>
                <a:ea typeface="+mn-ea"/>
                <a:cs typeface="+mn-cs"/>
              </a:rPr>
              <a:t>96</a:t>
            </a:r>
            <a:r>
              <a:rPr kumimoji="0" sz="1800" b="1" i="0" u="none" strike="noStrike" kern="0" cap="none" spc="0" normalizeH="0" baseline="0" noProof="0" dirty="0">
                <a:ln>
                  <a:noFill/>
                </a:ln>
                <a:solidFill>
                  <a:srgbClr val="17324D"/>
                </a:solidFill>
                <a:effectLst/>
                <a:uLnTx/>
                <a:uFillTx/>
                <a:latin typeface="Avenir Next"/>
                <a:ea typeface="+mn-ea"/>
                <a:cs typeface="+mn-cs"/>
              </a:rPr>
              <a:t>%</a:t>
            </a:r>
          </a:p>
        </p:txBody>
      </p:sp>
      <p:sp>
        <p:nvSpPr>
          <p:cNvPr id="489" name="Rounded Rectangle 488">
            <a:extLst>
              <a:ext uri="{FF2B5EF4-FFF2-40B4-BE49-F238E27FC236}">
                <a16:creationId xmlns:a16="http://schemas.microsoft.com/office/drawing/2014/main" id="{B84DC8A7-F423-DD62-2C85-7F12EA81ACA1}"/>
              </a:ext>
            </a:extLst>
          </p:cNvPr>
          <p:cNvSpPr/>
          <p:nvPr/>
        </p:nvSpPr>
        <p:spPr>
          <a:xfrm>
            <a:off x="11056116" y="4723497"/>
            <a:ext cx="841248" cy="329184"/>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a:t>
            </a:r>
            <a:r>
              <a:rPr lang="en-US" b="1" kern="0" dirty="0">
                <a:solidFill>
                  <a:srgbClr val="17324D"/>
                </a:solidFill>
                <a:latin typeface="Avenir Next"/>
              </a:rPr>
              <a:t>88</a:t>
            </a:r>
            <a:r>
              <a:rPr kumimoji="0" sz="1800" b="1" i="0" u="none" strike="noStrike" kern="0" cap="none" spc="0" normalizeH="0" baseline="0" noProof="0" dirty="0">
                <a:ln>
                  <a:noFill/>
                </a:ln>
                <a:solidFill>
                  <a:srgbClr val="17324D"/>
                </a:solidFill>
                <a:effectLst/>
                <a:uLnTx/>
                <a:uFillTx/>
                <a:latin typeface="Avenir Next"/>
                <a:ea typeface="+mn-ea"/>
                <a:cs typeface="+mn-cs"/>
              </a:rPr>
              <a:t>%</a:t>
            </a:r>
          </a:p>
        </p:txBody>
      </p:sp>
      <p:sp>
        <p:nvSpPr>
          <p:cNvPr id="490" name="Rounded Rectangle 489">
            <a:extLst>
              <a:ext uri="{FF2B5EF4-FFF2-40B4-BE49-F238E27FC236}">
                <a16:creationId xmlns:a16="http://schemas.microsoft.com/office/drawing/2014/main" id="{256D3DA6-C59F-BFC1-7308-C814B5C75AF6}"/>
              </a:ext>
            </a:extLst>
          </p:cNvPr>
          <p:cNvSpPr/>
          <p:nvPr/>
        </p:nvSpPr>
        <p:spPr>
          <a:xfrm>
            <a:off x="2059909" y="2442867"/>
            <a:ext cx="841248" cy="315468"/>
          </a:xfrm>
          <a:prstGeom prst="roundRect">
            <a:avLst/>
          </a:prstGeom>
          <a:solidFill>
            <a:srgbClr val="FFFFFF"/>
          </a:solidFill>
          <a:ln w="9525" cap="flat" cmpd="sng" algn="ctr">
            <a:solidFill>
              <a:srgbClr val="FFFFFF"/>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17324D"/>
                </a:solidFill>
                <a:effectLst/>
                <a:uLnTx/>
                <a:uFillTx/>
                <a:latin typeface="Avenir Next"/>
                <a:ea typeface="+mn-ea"/>
                <a:cs typeface="+mn-cs"/>
              </a:rPr>
              <a:t>MLP</a:t>
            </a:r>
            <a:endParaRPr kumimoji="0" sz="1800" b="1" i="0" u="none" strike="noStrike" kern="0" cap="none" spc="0" normalizeH="0" baseline="0" noProof="0" dirty="0">
              <a:ln>
                <a:noFill/>
              </a:ln>
              <a:solidFill>
                <a:srgbClr val="17324D"/>
              </a:solidFill>
              <a:effectLst/>
              <a:uLnTx/>
              <a:uFillTx/>
              <a:latin typeface="Avenir Next"/>
              <a:ea typeface="+mn-ea"/>
              <a:cs typeface="+mn-cs"/>
            </a:endParaRPr>
          </a:p>
        </p:txBody>
      </p:sp>
      <p:sp>
        <p:nvSpPr>
          <p:cNvPr id="491" name="Rounded Rectangle 490">
            <a:extLst>
              <a:ext uri="{FF2B5EF4-FFF2-40B4-BE49-F238E27FC236}">
                <a16:creationId xmlns:a16="http://schemas.microsoft.com/office/drawing/2014/main" id="{A46977A6-5F54-E57E-1664-D6EE91721A13}"/>
              </a:ext>
            </a:extLst>
          </p:cNvPr>
          <p:cNvSpPr/>
          <p:nvPr/>
        </p:nvSpPr>
        <p:spPr>
          <a:xfrm>
            <a:off x="3716368" y="2425011"/>
            <a:ext cx="839975" cy="347472"/>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17324D"/>
                </a:solidFill>
                <a:effectLst/>
                <a:uLnTx/>
                <a:uFillTx/>
                <a:latin typeface="Avenir Next"/>
                <a:ea typeface="+mn-ea"/>
                <a:cs typeface="+mn-cs"/>
              </a:rPr>
              <a:t>Attn</a:t>
            </a:r>
            <a:endParaRPr kumimoji="0" sz="1800" b="1" i="0" u="none" strike="noStrike" kern="0" cap="none" spc="0" normalizeH="0" baseline="0" noProof="0" dirty="0">
              <a:ln>
                <a:noFill/>
              </a:ln>
              <a:solidFill>
                <a:srgbClr val="17324D"/>
              </a:solidFill>
              <a:effectLst/>
              <a:uLnTx/>
              <a:uFillTx/>
              <a:latin typeface="Avenir Next"/>
              <a:ea typeface="+mn-ea"/>
              <a:cs typeface="+mn-cs"/>
            </a:endParaRPr>
          </a:p>
        </p:txBody>
      </p:sp>
    </p:spTree>
    <p:extLst>
      <p:ext uri="{BB962C8B-B14F-4D97-AF65-F5344CB8AC3E}">
        <p14:creationId xmlns:p14="http://schemas.microsoft.com/office/powerpoint/2010/main" val="4027535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BA5E-B932-CD32-0848-B06ABFD6068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CD6BBA34-A079-D3A9-84DB-97F35623EDC5}"/>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513A038A-946C-8B17-7878-BCCAE2F3F1C8}"/>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05C1D130-674D-D6BA-EF04-5D2EC1B6082D}"/>
              </a:ext>
            </a:extLst>
          </p:cNvPr>
          <p:cNvSpPr>
            <a:spLocks noGrp="1"/>
          </p:cNvSpPr>
          <p:nvPr>
            <p:ph type="sldNum" sz="quarter" idx="12"/>
          </p:nvPr>
        </p:nvSpPr>
        <p:spPr/>
        <p:txBody>
          <a:bodyPr/>
          <a:lstStyle/>
          <a:p>
            <a:fld id="{D949F9DF-37BD-4CD6-BF49-65BA579E1D7A}" type="slidenum">
              <a:rPr lang="de-DE" smtClean="0"/>
              <a:pPr/>
              <a:t>17</a:t>
            </a:fld>
            <a:endParaRPr lang="de-DE"/>
          </a:p>
        </p:txBody>
      </p:sp>
      <p:sp>
        <p:nvSpPr>
          <p:cNvPr id="10" name="Titel 9">
            <a:extLst>
              <a:ext uri="{FF2B5EF4-FFF2-40B4-BE49-F238E27FC236}">
                <a16:creationId xmlns:a16="http://schemas.microsoft.com/office/drawing/2014/main" id="{9115F999-A9B1-1F97-213B-34D1702E9C9F}"/>
              </a:ext>
            </a:extLst>
          </p:cNvPr>
          <p:cNvSpPr>
            <a:spLocks noGrp="1"/>
          </p:cNvSpPr>
          <p:nvPr>
            <p:ph type="title"/>
          </p:nvPr>
        </p:nvSpPr>
        <p:spPr/>
        <p:txBody>
          <a:bodyPr/>
          <a:lstStyle/>
          <a:p>
            <a:r>
              <a:rPr lang="en-US" dirty="0"/>
              <a:t>Throughput</a:t>
            </a:r>
          </a:p>
        </p:txBody>
      </p:sp>
      <p:sp>
        <p:nvSpPr>
          <p:cNvPr id="12" name="Textplatzhalter 11">
            <a:extLst>
              <a:ext uri="{FF2B5EF4-FFF2-40B4-BE49-F238E27FC236}">
                <a16:creationId xmlns:a16="http://schemas.microsoft.com/office/drawing/2014/main" id="{F689C475-040C-846B-1634-AB898A2F4103}"/>
              </a:ext>
            </a:extLst>
          </p:cNvPr>
          <p:cNvSpPr>
            <a:spLocks noGrp="1"/>
          </p:cNvSpPr>
          <p:nvPr>
            <p:ph type="body" sz="quarter" idx="37"/>
          </p:nvPr>
        </p:nvSpPr>
        <p:spPr/>
        <p:txBody>
          <a:bodyPr/>
          <a:lstStyle/>
          <a:p>
            <a:r>
              <a:rPr lang="de-DE" dirty="0"/>
              <a:t>Experiments</a:t>
            </a:r>
          </a:p>
        </p:txBody>
      </p:sp>
      <p:pic>
        <p:nvPicPr>
          <p:cNvPr id="6" name="Picture 5" descr="A logo with blue lines and a horse&#10;&#10;AI-generated content may be incorrect.">
            <a:extLst>
              <a:ext uri="{FF2B5EF4-FFF2-40B4-BE49-F238E27FC236}">
                <a16:creationId xmlns:a16="http://schemas.microsoft.com/office/drawing/2014/main" id="{15EDC9B4-905D-64E9-735B-68666EBD07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50" name="Rounded Rectangle 49">
            <a:extLst>
              <a:ext uri="{FF2B5EF4-FFF2-40B4-BE49-F238E27FC236}">
                <a16:creationId xmlns:a16="http://schemas.microsoft.com/office/drawing/2014/main" id="{9174A3BF-8FC8-89C4-17CF-22DBEC618563}"/>
              </a:ext>
            </a:extLst>
          </p:cNvPr>
          <p:cNvSpPr/>
          <p:nvPr/>
        </p:nvSpPr>
        <p:spPr>
          <a:xfrm>
            <a:off x="868680" y="1303170"/>
            <a:ext cx="4800600" cy="1107996"/>
          </a:xfrm>
          <a:prstGeom prst="roundRect">
            <a:avLst/>
          </a:prstGeom>
          <a:solidFill>
            <a:srgbClr val="FFFFFF"/>
          </a:solidFill>
          <a:ln w="9525" cap="flat" cmpd="sng" algn="ctr">
            <a:solidFill>
              <a:srgbClr val="FFFFFF"/>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Single-scenario regime</a:t>
            </a:r>
          </a:p>
          <a:p>
            <a:pPr marL="0" marR="0" lvl="0" indent="0" defTabSz="457200" eaLnBrk="1" fontAlgn="auto" latinLnBrk="0" hangingPunct="1">
              <a:lnSpc>
                <a:spcPct val="100000"/>
              </a:lnSpc>
              <a:spcBef>
                <a:spcPts val="0"/>
              </a:spcBef>
              <a:spcAft>
                <a:spcPts val="500"/>
              </a:spcAft>
              <a:buClrTx/>
              <a:buSzTx/>
              <a:buFontTx/>
              <a:buNone/>
              <a:tabLst/>
              <a:defRPr/>
            </a:pPr>
            <a:r>
              <a:rPr kumimoji="0" lang="en-US" b="0" i="0" u="none" strike="noStrike" kern="0" cap="none" spc="0" normalizeH="0" baseline="0" noProof="0" dirty="0">
                <a:ln>
                  <a:noFill/>
                </a:ln>
                <a:solidFill>
                  <a:srgbClr val="4B647A"/>
                </a:solidFill>
                <a:effectLst/>
                <a:uLnTx/>
                <a:uFillTx/>
                <a:latin typeface="Avenir Next"/>
                <a:ea typeface="+mn-ea"/>
                <a:cs typeface="+mn-cs"/>
              </a:rPr>
              <a:t>1</a:t>
            </a:r>
            <a:r>
              <a:rPr kumimoji="0" b="0" i="0" u="none" strike="noStrike" kern="0" cap="none" spc="0" normalizeH="0" baseline="0" noProof="0" dirty="0">
                <a:ln>
                  <a:noFill/>
                </a:ln>
                <a:solidFill>
                  <a:srgbClr val="4B647A"/>
                </a:solidFill>
                <a:effectLst/>
                <a:uLnTx/>
                <a:uFillTx/>
                <a:latin typeface="Avenir Next"/>
                <a:ea typeface="+mn-ea"/>
                <a:cs typeface="+mn-cs"/>
              </a:rPr>
              <a:t> case per N, </a:t>
            </a:r>
            <a:r>
              <a:rPr kumimoji="0" lang="en-US" b="0" i="0" u="none" strike="noStrike" kern="0" cap="none" spc="0" normalizeH="0" baseline="0" noProof="0" dirty="0">
                <a:ln>
                  <a:noFill/>
                </a:ln>
                <a:solidFill>
                  <a:srgbClr val="4B647A"/>
                </a:solidFill>
                <a:effectLst/>
                <a:uLnTx/>
                <a:uFillTx/>
                <a:latin typeface="Avenir Next"/>
                <a:ea typeface="+mn-ea"/>
                <a:cs typeface="+mn-cs"/>
              </a:rPr>
              <a:t>one CPU worker for NR. ,</a:t>
            </a:r>
            <a:r>
              <a:rPr kumimoji="0" b="0" i="0" u="none" strike="noStrike" kern="0" cap="none" spc="0" normalizeH="0" baseline="0" noProof="0" dirty="0">
                <a:ln>
                  <a:noFill/>
                </a:ln>
                <a:solidFill>
                  <a:srgbClr val="4B647A"/>
                </a:solidFill>
                <a:effectLst/>
                <a:uLnTx/>
                <a:uFillTx/>
                <a:latin typeface="Avenir Next"/>
                <a:ea typeface="+mn-ea"/>
                <a:cs typeface="+mn-cs"/>
              </a:rPr>
              <a:t>GPU batch size 1 for PIGNN</a:t>
            </a:r>
          </a:p>
        </p:txBody>
      </p:sp>
      <p:sp>
        <p:nvSpPr>
          <p:cNvPr id="51" name="Rounded Rectangle 50">
            <a:extLst>
              <a:ext uri="{FF2B5EF4-FFF2-40B4-BE49-F238E27FC236}">
                <a16:creationId xmlns:a16="http://schemas.microsoft.com/office/drawing/2014/main" id="{55665797-D4F0-545C-41F4-AB29DAE9A9A1}"/>
              </a:ext>
            </a:extLst>
          </p:cNvPr>
          <p:cNvSpPr/>
          <p:nvPr/>
        </p:nvSpPr>
        <p:spPr>
          <a:xfrm>
            <a:off x="6247670" y="1303170"/>
            <a:ext cx="5664244" cy="1126017"/>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1800" b="1" i="0" u="none" strike="noStrike" kern="0" cap="none" spc="0" normalizeH="0" baseline="0" noProof="0" dirty="0">
                <a:ln>
                  <a:noFill/>
                </a:ln>
                <a:solidFill>
                  <a:srgbClr val="17324D"/>
                </a:solidFill>
                <a:effectLst/>
                <a:uLnTx/>
                <a:uFillTx/>
                <a:latin typeface="Avenir Next"/>
                <a:ea typeface="+mn-ea"/>
                <a:cs typeface="+mn-cs"/>
              </a:rPr>
              <a:t>Multi-scenario regime</a:t>
            </a:r>
          </a:p>
          <a:p>
            <a:pPr marL="0" marR="0" lvl="0" indent="0" defTabSz="457200" eaLnBrk="1" fontAlgn="auto" latinLnBrk="0" hangingPunct="1">
              <a:lnSpc>
                <a:spcPct val="100000"/>
              </a:lnSpc>
              <a:spcBef>
                <a:spcPts val="0"/>
              </a:spcBef>
              <a:spcAft>
                <a:spcPts val="500"/>
              </a:spcAft>
              <a:buClrTx/>
              <a:buSzTx/>
              <a:buFontTx/>
              <a:buNone/>
              <a:tabLst/>
              <a:defRPr/>
            </a:pPr>
            <a:r>
              <a:rPr kumimoji="0" b="0" i="0" u="none" strike="noStrike" kern="0" cap="none" spc="0" normalizeH="0" baseline="0" noProof="0" dirty="0">
                <a:ln>
                  <a:noFill/>
                </a:ln>
                <a:solidFill>
                  <a:srgbClr val="4B647A"/>
                </a:solidFill>
                <a:effectLst/>
                <a:uLnTx/>
                <a:uFillTx/>
                <a:latin typeface="Avenir Next"/>
                <a:ea typeface="+mn-ea"/>
                <a:cs typeface="+mn-cs"/>
              </a:rPr>
              <a:t>4096 cases per N, 20 CPU workers</a:t>
            </a:r>
            <a:r>
              <a:rPr kumimoji="0" lang="en-US" b="0" i="0" u="none" strike="noStrike" kern="0" cap="none" spc="0" normalizeH="0" baseline="0" noProof="0" dirty="0">
                <a:ln>
                  <a:noFill/>
                </a:ln>
                <a:solidFill>
                  <a:srgbClr val="4B647A"/>
                </a:solidFill>
                <a:effectLst/>
                <a:uLnTx/>
                <a:uFillTx/>
                <a:latin typeface="Avenir Next"/>
                <a:ea typeface="+mn-ea"/>
                <a:cs typeface="+mn-cs"/>
              </a:rPr>
              <a:t> for NR</a:t>
            </a:r>
            <a:r>
              <a:rPr kumimoji="0" b="0" i="0" u="none" strike="noStrike" kern="0" cap="none" spc="0" normalizeH="0" baseline="0" noProof="0" dirty="0">
                <a:ln>
                  <a:noFill/>
                </a:ln>
                <a:solidFill>
                  <a:srgbClr val="4B647A"/>
                </a:solidFill>
                <a:effectLst/>
                <a:uLnTx/>
                <a:uFillTx/>
                <a:latin typeface="Avenir Next"/>
                <a:ea typeface="+mn-ea"/>
                <a:cs typeface="+mn-cs"/>
              </a:rPr>
              <a:t>,</a:t>
            </a:r>
            <a:r>
              <a:rPr kumimoji="0" lang="en-US" b="0" i="0" u="none" strike="noStrike" kern="0" cap="none" spc="0" normalizeH="0" baseline="0" noProof="0" dirty="0">
                <a:ln>
                  <a:noFill/>
                </a:ln>
                <a:solidFill>
                  <a:srgbClr val="4B647A"/>
                </a:solidFill>
                <a:effectLst/>
                <a:uLnTx/>
                <a:uFillTx/>
                <a:latin typeface="Avenir Next"/>
                <a:ea typeface="+mn-ea"/>
                <a:cs typeface="+mn-cs"/>
              </a:rPr>
              <a:t> one</a:t>
            </a:r>
            <a:r>
              <a:rPr kumimoji="0" b="0" i="0" u="none" strike="noStrike" kern="0" cap="none" spc="0" normalizeH="0" baseline="0" noProof="0" dirty="0">
                <a:ln>
                  <a:noFill/>
                </a:ln>
                <a:solidFill>
                  <a:srgbClr val="4B647A"/>
                </a:solidFill>
                <a:effectLst/>
                <a:uLnTx/>
                <a:uFillTx/>
                <a:latin typeface="Avenir Next"/>
                <a:ea typeface="+mn-ea"/>
                <a:cs typeface="+mn-cs"/>
              </a:rPr>
              <a:t> 8 GB GPU with streaming micro-batches</a:t>
            </a:r>
            <a:r>
              <a:rPr kumimoji="0" lang="en-US" b="0" i="0" u="none" strike="noStrike" kern="0" cap="none" spc="0" normalizeH="0" baseline="0" noProof="0" dirty="0">
                <a:ln>
                  <a:noFill/>
                </a:ln>
                <a:solidFill>
                  <a:srgbClr val="4B647A"/>
                </a:solidFill>
                <a:effectLst/>
                <a:uLnTx/>
                <a:uFillTx/>
                <a:latin typeface="Avenir Next"/>
                <a:ea typeface="+mn-ea"/>
                <a:cs typeface="+mn-cs"/>
              </a:rPr>
              <a:t> PIGNN</a:t>
            </a:r>
            <a:r>
              <a:rPr kumimoji="0" b="0" i="0" u="none" strike="noStrike" kern="0" cap="none" spc="0" normalizeH="0" baseline="0" noProof="0" dirty="0">
                <a:ln>
                  <a:noFill/>
                </a:ln>
                <a:solidFill>
                  <a:srgbClr val="4B647A"/>
                </a:solidFill>
                <a:effectLst/>
                <a:uLnTx/>
                <a:uFillTx/>
                <a:latin typeface="Avenir Next"/>
                <a:ea typeface="+mn-ea"/>
                <a:cs typeface="+mn-cs"/>
              </a:rPr>
              <a:t>.</a:t>
            </a:r>
          </a:p>
        </p:txBody>
      </p:sp>
      <p:sp>
        <p:nvSpPr>
          <p:cNvPr id="67" name="Rounded Rectangle 66">
            <a:extLst>
              <a:ext uri="{FF2B5EF4-FFF2-40B4-BE49-F238E27FC236}">
                <a16:creationId xmlns:a16="http://schemas.microsoft.com/office/drawing/2014/main" id="{90446FF2-365B-6A24-7760-FBC4C69E63E8}"/>
              </a:ext>
            </a:extLst>
          </p:cNvPr>
          <p:cNvSpPr/>
          <p:nvPr/>
        </p:nvSpPr>
        <p:spPr>
          <a:xfrm>
            <a:off x="10558284" y="4303326"/>
            <a:ext cx="1417320" cy="457200"/>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sz="1150" b="1" i="0" u="none" strike="noStrike" kern="0" cap="none" spc="0" normalizeH="0" baseline="0" noProof="0" dirty="0">
                <a:ln>
                  <a:noFill/>
                </a:ln>
                <a:solidFill>
                  <a:srgbClr val="17324D"/>
                </a:solidFill>
                <a:effectLst/>
                <a:uLnTx/>
                <a:uFillTx/>
                <a:latin typeface="Avenir Next"/>
                <a:ea typeface="+mn-ea"/>
                <a:cs typeface="+mn-cs"/>
              </a:rPr>
              <a:t>Faster at all tested grid sizes</a:t>
            </a:r>
          </a:p>
        </p:txBody>
      </p:sp>
      <p:pic>
        <p:nvPicPr>
          <p:cNvPr id="69" name="Picture 68" descr="A graph of different colored lines&#10;&#10;AI-generated content may be incorrect.">
            <a:extLst>
              <a:ext uri="{FF2B5EF4-FFF2-40B4-BE49-F238E27FC236}">
                <a16:creationId xmlns:a16="http://schemas.microsoft.com/office/drawing/2014/main" id="{601FF195-C96C-0ACE-EC2D-E037CDF2EE6E}"/>
              </a:ext>
            </a:extLst>
          </p:cNvPr>
          <p:cNvPicPr>
            <a:picLocks noChangeAspect="1"/>
          </p:cNvPicPr>
          <p:nvPr/>
        </p:nvPicPr>
        <p:blipFill>
          <a:blip r:embed="rId4">
            <a:extLst>
              <a:ext uri="{28A0092B-C50C-407E-A947-70E740481C1C}">
                <a14:useLocalDpi xmlns:a14="http://schemas.microsoft.com/office/drawing/2010/main" val="0"/>
              </a:ext>
            </a:extLst>
          </a:blip>
          <a:srcRect r="50000"/>
          <a:stretch/>
        </p:blipFill>
        <p:spPr>
          <a:xfrm>
            <a:off x="1165881" y="2621681"/>
            <a:ext cx="3886200" cy="3887020"/>
          </a:xfrm>
          <a:prstGeom prst="rect">
            <a:avLst/>
          </a:prstGeom>
        </p:spPr>
      </p:pic>
      <p:pic>
        <p:nvPicPr>
          <p:cNvPr id="70" name="Picture 69" descr="A graph of different colored lines&#10;&#10;AI-generated content may be incorrect.">
            <a:extLst>
              <a:ext uri="{FF2B5EF4-FFF2-40B4-BE49-F238E27FC236}">
                <a16:creationId xmlns:a16="http://schemas.microsoft.com/office/drawing/2014/main" id="{F86C9544-3CE6-6DD4-7F76-0D8DF157F5C8}"/>
              </a:ext>
            </a:extLst>
          </p:cNvPr>
          <p:cNvPicPr>
            <a:picLocks noChangeAspect="1"/>
          </p:cNvPicPr>
          <p:nvPr/>
        </p:nvPicPr>
        <p:blipFill>
          <a:blip r:embed="rId4">
            <a:extLst>
              <a:ext uri="{28A0092B-C50C-407E-A947-70E740481C1C}">
                <a14:useLocalDpi xmlns:a14="http://schemas.microsoft.com/office/drawing/2010/main" val="0"/>
              </a:ext>
            </a:extLst>
          </a:blip>
          <a:srcRect l="50000"/>
          <a:stretch/>
        </p:blipFill>
        <p:spPr>
          <a:xfrm>
            <a:off x="6668985" y="2621681"/>
            <a:ext cx="3886200" cy="3887020"/>
          </a:xfrm>
          <a:prstGeom prst="rect">
            <a:avLst/>
          </a:prstGeom>
        </p:spPr>
      </p:pic>
      <p:sp>
        <p:nvSpPr>
          <p:cNvPr id="71" name="Rounded Rectangle 70">
            <a:extLst>
              <a:ext uri="{FF2B5EF4-FFF2-40B4-BE49-F238E27FC236}">
                <a16:creationId xmlns:a16="http://schemas.microsoft.com/office/drawing/2014/main" id="{E9E77858-A471-0575-D996-795713CDD157}"/>
              </a:ext>
            </a:extLst>
          </p:cNvPr>
          <p:cNvSpPr/>
          <p:nvPr/>
        </p:nvSpPr>
        <p:spPr>
          <a:xfrm>
            <a:off x="1861544" y="4233840"/>
            <a:ext cx="1511849" cy="715571"/>
          </a:xfrm>
          <a:prstGeom prst="roundRect">
            <a:avLst/>
          </a:prstGeom>
          <a:noFill/>
          <a:ln w="9525" cap="flat" cmpd="sng" algn="ctr">
            <a:solidFill>
              <a:srgbClr val="F4E6CF"/>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lang="en-US" sz="1200" b="1" i="0" u="none" strike="noStrike" kern="0" cap="none" spc="0" normalizeH="0" baseline="0" noProof="0" dirty="0">
                <a:ln>
                  <a:noFill/>
                </a:ln>
                <a:solidFill>
                  <a:srgbClr val="17324D"/>
                </a:solidFill>
                <a:effectLst/>
                <a:uLnTx/>
                <a:uFillTx/>
                <a:latin typeface="Avenir Next"/>
                <a:ea typeface="+mn-ea"/>
                <a:cs typeface="+mn-cs"/>
              </a:rPr>
              <a:t>2x faster on average </a:t>
            </a:r>
            <a:r>
              <a:rPr kumimoji="0" lang="en-US" sz="1200" b="1" i="0" u="none" strike="noStrike" kern="0" cap="none" spc="0" normalizeH="0" baseline="0" noProof="0" dirty="0" err="1">
                <a:ln>
                  <a:noFill/>
                </a:ln>
                <a:solidFill>
                  <a:srgbClr val="17324D"/>
                </a:solidFill>
                <a:effectLst/>
                <a:uLnTx/>
                <a:uFillTx/>
                <a:latin typeface="Avenir Next"/>
                <a:ea typeface="+mn-ea"/>
                <a:cs typeface="+mn-cs"/>
              </a:rPr>
              <a:t>fo</a:t>
            </a:r>
            <a:r>
              <a:rPr lang="en-US" sz="1200" b="1" kern="0" dirty="0">
                <a:solidFill>
                  <a:srgbClr val="17324D"/>
                </a:solidFill>
                <a:latin typeface="Avenir Next"/>
              </a:rPr>
              <a:t>r N=256 to 896</a:t>
            </a:r>
            <a:endParaRPr kumimoji="0" sz="1200" b="1" i="0" u="none" strike="noStrike" kern="0" cap="none" spc="0" normalizeH="0" baseline="0" noProof="0" dirty="0">
              <a:ln>
                <a:noFill/>
              </a:ln>
              <a:solidFill>
                <a:srgbClr val="17324D"/>
              </a:solidFill>
              <a:effectLst/>
              <a:uLnTx/>
              <a:uFillTx/>
              <a:latin typeface="Avenir Next"/>
              <a:ea typeface="+mn-ea"/>
              <a:cs typeface="+mn-cs"/>
            </a:endParaRPr>
          </a:p>
        </p:txBody>
      </p:sp>
    </p:spTree>
    <p:extLst>
      <p:ext uri="{BB962C8B-B14F-4D97-AF65-F5344CB8AC3E}">
        <p14:creationId xmlns:p14="http://schemas.microsoft.com/office/powerpoint/2010/main" val="2155631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965D8-4536-BB71-BB10-E158C169453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BCE7EC08-27CE-4041-8DBB-392AC0C5FBAF}"/>
              </a:ext>
            </a:extLst>
          </p:cNvPr>
          <p:cNvSpPr>
            <a:spLocks noGrp="1"/>
          </p:cNvSpPr>
          <p:nvPr>
            <p:ph type="dt" sz="half" idx="10"/>
          </p:nvPr>
        </p:nvSpPr>
        <p:spPr/>
        <p:txBody>
          <a:bodyPr/>
          <a:lstStyle/>
          <a:p>
            <a:fld id="{7B7E7033-F2A6-4AC1-B039-BEB8CBA444FC}" type="datetime4">
              <a:rPr lang="de-DE" smtClean="0"/>
              <a:pPr/>
              <a:t>30. April 2026</a:t>
            </a:fld>
            <a:endParaRPr lang="de-DE" dirty="0"/>
          </a:p>
        </p:txBody>
      </p:sp>
      <p:sp>
        <p:nvSpPr>
          <p:cNvPr id="3" name="Fußzeilenplatzhalter 2">
            <a:extLst>
              <a:ext uri="{FF2B5EF4-FFF2-40B4-BE49-F238E27FC236}">
                <a16:creationId xmlns:a16="http://schemas.microsoft.com/office/drawing/2014/main" id="{F8425EC2-F8E5-6A86-D966-A607724B002C}"/>
              </a:ext>
            </a:extLst>
          </p:cNvPr>
          <p:cNvSpPr>
            <a:spLocks noGrp="1"/>
          </p:cNvSpPr>
          <p:nvPr>
            <p:ph type="ftr" sz="quarter" idx="11"/>
          </p:nvPr>
        </p:nvSpPr>
        <p:spPr/>
        <p:txBody>
          <a:bodyPr/>
          <a:lstStyle/>
          <a:p>
            <a:r>
              <a:rPr lang="de-DE" dirty="0"/>
              <a:t>Physics-</a:t>
            </a:r>
            <a:r>
              <a:rPr lang="de-DE" dirty="0" err="1"/>
              <a:t>Informed</a:t>
            </a:r>
            <a:r>
              <a:rPr lang="de-DE" dirty="0"/>
              <a:t> AC power </a:t>
            </a:r>
            <a:r>
              <a:rPr lang="de-DE" dirty="0" err="1"/>
              <a:t>flow</a:t>
            </a:r>
            <a:r>
              <a:rPr lang="de-DE" dirty="0"/>
              <a:t> </a:t>
            </a:r>
            <a:r>
              <a:rPr lang="de-DE" dirty="0" err="1"/>
              <a:t>surrogate</a:t>
            </a:r>
            <a:r>
              <a:rPr lang="de-DE" dirty="0"/>
              <a:t> | ICASSP 2026 </a:t>
            </a:r>
          </a:p>
        </p:txBody>
      </p:sp>
      <p:sp>
        <p:nvSpPr>
          <p:cNvPr id="4" name="Foliennummernplatzhalter 3">
            <a:extLst>
              <a:ext uri="{FF2B5EF4-FFF2-40B4-BE49-F238E27FC236}">
                <a16:creationId xmlns:a16="http://schemas.microsoft.com/office/drawing/2014/main" id="{91D82E57-FE2E-001E-AF1A-C8E787683475}"/>
              </a:ext>
            </a:extLst>
          </p:cNvPr>
          <p:cNvSpPr>
            <a:spLocks noGrp="1"/>
          </p:cNvSpPr>
          <p:nvPr>
            <p:ph type="sldNum" sz="quarter" idx="12"/>
          </p:nvPr>
        </p:nvSpPr>
        <p:spPr/>
        <p:txBody>
          <a:bodyPr/>
          <a:lstStyle/>
          <a:p>
            <a:fld id="{D949F9DF-37BD-4CD6-BF49-65BA579E1D7A}" type="slidenum">
              <a:rPr lang="de-DE" smtClean="0"/>
              <a:pPr/>
              <a:t>18</a:t>
            </a:fld>
            <a:endParaRPr lang="de-DE"/>
          </a:p>
        </p:txBody>
      </p:sp>
      <p:sp>
        <p:nvSpPr>
          <p:cNvPr id="10" name="Titel 9">
            <a:extLst>
              <a:ext uri="{FF2B5EF4-FFF2-40B4-BE49-F238E27FC236}">
                <a16:creationId xmlns:a16="http://schemas.microsoft.com/office/drawing/2014/main" id="{6D06B7D2-9E2D-DBDF-465D-71287C3D4BC6}"/>
              </a:ext>
            </a:extLst>
          </p:cNvPr>
          <p:cNvSpPr>
            <a:spLocks noGrp="1"/>
          </p:cNvSpPr>
          <p:nvPr>
            <p:ph type="title"/>
          </p:nvPr>
        </p:nvSpPr>
        <p:spPr/>
        <p:txBody>
          <a:bodyPr/>
          <a:lstStyle/>
          <a:p>
            <a:r>
              <a:rPr lang="en-US" dirty="0"/>
              <a:t>Conclusion</a:t>
            </a:r>
          </a:p>
        </p:txBody>
      </p:sp>
      <p:sp>
        <p:nvSpPr>
          <p:cNvPr id="12" name="Textplatzhalter 11">
            <a:extLst>
              <a:ext uri="{FF2B5EF4-FFF2-40B4-BE49-F238E27FC236}">
                <a16:creationId xmlns:a16="http://schemas.microsoft.com/office/drawing/2014/main" id="{1618DFBE-46C1-7C5C-69A0-F3E7FFB2CD73}"/>
              </a:ext>
            </a:extLst>
          </p:cNvPr>
          <p:cNvSpPr>
            <a:spLocks noGrp="1"/>
          </p:cNvSpPr>
          <p:nvPr>
            <p:ph type="body" sz="quarter" idx="37"/>
          </p:nvPr>
        </p:nvSpPr>
        <p:spPr/>
        <p:txBody>
          <a:bodyPr/>
          <a:lstStyle/>
          <a:p>
            <a:r>
              <a:rPr lang="de-DE" dirty="0" err="1"/>
              <a:t>Conclusion</a:t>
            </a:r>
            <a:endParaRPr lang="de-DE" dirty="0"/>
          </a:p>
        </p:txBody>
      </p:sp>
      <p:pic>
        <p:nvPicPr>
          <p:cNvPr id="6" name="Picture 5" descr="A logo with blue lines and a horse&#10;&#10;AI-generated content may be incorrect.">
            <a:extLst>
              <a:ext uri="{FF2B5EF4-FFF2-40B4-BE49-F238E27FC236}">
                <a16:creationId xmlns:a16="http://schemas.microsoft.com/office/drawing/2014/main" id="{AB67EDD4-B320-B121-3759-7099DD830A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1662" y="199907"/>
            <a:ext cx="1175489" cy="626171"/>
          </a:xfrm>
          <a:prstGeom prst="rect">
            <a:avLst/>
          </a:prstGeom>
        </p:spPr>
      </p:pic>
      <p:sp>
        <p:nvSpPr>
          <p:cNvPr id="13" name="Rounded Rectangle 12">
            <a:extLst>
              <a:ext uri="{FF2B5EF4-FFF2-40B4-BE49-F238E27FC236}">
                <a16:creationId xmlns:a16="http://schemas.microsoft.com/office/drawing/2014/main" id="{98E45921-F57E-434E-BA20-4CF666C06439}"/>
              </a:ext>
            </a:extLst>
          </p:cNvPr>
          <p:cNvSpPr/>
          <p:nvPr/>
        </p:nvSpPr>
        <p:spPr>
          <a:xfrm>
            <a:off x="868679" y="1965959"/>
            <a:ext cx="2947085" cy="2897967"/>
          </a:xfrm>
          <a:prstGeom prst="roundRect">
            <a:avLst/>
          </a:prstGeom>
          <a:solidFill>
            <a:srgbClr val="DCECEF"/>
          </a:solidFill>
          <a:ln w="9525" cap="flat" cmpd="sng" algn="ctr">
            <a:solidFill>
              <a:srgbClr val="DCECEF"/>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2600" b="1" i="0" u="none" strike="noStrike" kern="0" cap="none" spc="0" normalizeH="0" baseline="0" noProof="0" dirty="0">
                <a:ln>
                  <a:noFill/>
                </a:ln>
                <a:solidFill>
                  <a:srgbClr val="17324D"/>
                </a:solidFill>
                <a:effectLst/>
                <a:uLnTx/>
                <a:uFillTx/>
                <a:latin typeface="Avenir Next"/>
                <a:ea typeface="+mn-ea"/>
                <a:cs typeface="+mn-cs"/>
              </a:rPr>
              <a:t>01</a:t>
            </a:r>
          </a:p>
          <a:p>
            <a:pPr marL="0" marR="0" lvl="0" indent="0"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17324D"/>
                </a:solidFill>
                <a:effectLst/>
                <a:uLnTx/>
                <a:uFillTx/>
                <a:latin typeface="Avenir Next"/>
                <a:ea typeface="+mn-ea"/>
                <a:cs typeface="+mn-cs"/>
              </a:rPr>
              <a:t>Physics-aware representation</a:t>
            </a:r>
          </a:p>
          <a:p>
            <a:pPr marL="0" marR="0" lvl="0" indent="0" defTabSz="457200" eaLnBrk="1" fontAlgn="auto" latinLnBrk="0" hangingPunct="1">
              <a:lnSpc>
                <a:spcPct val="100000"/>
              </a:lnSpc>
              <a:spcBef>
                <a:spcPts val="0"/>
              </a:spcBef>
              <a:spcAft>
                <a:spcPts val="500"/>
              </a:spcAft>
              <a:buClrTx/>
              <a:buSzTx/>
              <a:buFontTx/>
              <a:buNone/>
              <a:tabLst/>
              <a:defRPr/>
            </a:pPr>
            <a:r>
              <a:rPr kumimoji="0" b="0" i="0" u="none" strike="noStrike" kern="0" cap="none" spc="0" normalizeH="0" baseline="0" noProof="0" dirty="0">
                <a:ln>
                  <a:noFill/>
                </a:ln>
                <a:solidFill>
                  <a:srgbClr val="4B647A"/>
                </a:solidFill>
                <a:effectLst/>
                <a:uLnTx/>
                <a:uFillTx/>
                <a:latin typeface="Avenir Next"/>
                <a:ea typeface="+mn-ea"/>
                <a:cs typeface="+mn-cs"/>
              </a:rPr>
              <a:t>Edge-aware attention injects line admittance information directly into message scoring</a:t>
            </a:r>
            <a:r>
              <a:rPr kumimoji="0" sz="1300" b="0" i="0" u="none" strike="noStrike" kern="0" cap="none" spc="0" normalizeH="0" baseline="0" noProof="0" dirty="0">
                <a:ln>
                  <a:noFill/>
                </a:ln>
                <a:solidFill>
                  <a:srgbClr val="4B647A"/>
                </a:solidFill>
                <a:effectLst/>
                <a:uLnTx/>
                <a:uFillTx/>
                <a:latin typeface="Avenir Next"/>
                <a:ea typeface="+mn-ea"/>
                <a:cs typeface="+mn-cs"/>
              </a:rPr>
              <a:t>.</a:t>
            </a:r>
          </a:p>
        </p:txBody>
      </p:sp>
      <p:sp>
        <p:nvSpPr>
          <p:cNvPr id="14" name="Rounded Rectangle 13">
            <a:extLst>
              <a:ext uri="{FF2B5EF4-FFF2-40B4-BE49-F238E27FC236}">
                <a16:creationId xmlns:a16="http://schemas.microsoft.com/office/drawing/2014/main" id="{2EC38DE4-D8B4-12F6-AD7C-AF6CE7B75081}"/>
              </a:ext>
            </a:extLst>
          </p:cNvPr>
          <p:cNvSpPr/>
          <p:nvPr/>
        </p:nvSpPr>
        <p:spPr>
          <a:xfrm>
            <a:off x="4274201" y="1965958"/>
            <a:ext cx="2947085" cy="2897967"/>
          </a:xfrm>
          <a:prstGeom prst="roundRect">
            <a:avLst/>
          </a:prstGeom>
          <a:solidFill>
            <a:srgbClr val="F4E6CF"/>
          </a:solidFill>
          <a:ln w="9525" cap="flat" cmpd="sng" algn="ctr">
            <a:solidFill>
              <a:srgbClr val="F4E6CF"/>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2600" b="1" i="0" u="none" strike="noStrike" kern="0" cap="none" spc="0" normalizeH="0" baseline="0" noProof="0" dirty="0">
                <a:ln>
                  <a:noFill/>
                </a:ln>
                <a:solidFill>
                  <a:srgbClr val="17324D"/>
                </a:solidFill>
                <a:effectLst/>
                <a:uLnTx/>
                <a:uFillTx/>
                <a:latin typeface="Avenir Next"/>
                <a:ea typeface="+mn-ea"/>
                <a:cs typeface="+mn-cs"/>
              </a:rPr>
              <a:t>02</a:t>
            </a:r>
          </a:p>
          <a:p>
            <a:pPr marL="0" marR="0" lvl="0" indent="0"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17324D"/>
                </a:solidFill>
                <a:effectLst/>
                <a:uLnTx/>
                <a:uFillTx/>
                <a:latin typeface="Avenir Next"/>
                <a:ea typeface="+mn-ea"/>
                <a:cs typeface="+mn-cs"/>
              </a:rPr>
              <a:t>Physics-aware inference</a:t>
            </a:r>
          </a:p>
          <a:p>
            <a:pPr marL="0" marR="0" lvl="0" indent="0" defTabSz="457200" eaLnBrk="1" fontAlgn="auto" latinLnBrk="0" hangingPunct="1">
              <a:lnSpc>
                <a:spcPct val="100000"/>
              </a:lnSpc>
              <a:spcBef>
                <a:spcPts val="0"/>
              </a:spcBef>
              <a:spcAft>
                <a:spcPts val="500"/>
              </a:spcAft>
              <a:buClrTx/>
              <a:buSzTx/>
              <a:buFontTx/>
              <a:buNone/>
              <a:tabLst/>
              <a:defRPr/>
            </a:pPr>
            <a:r>
              <a:rPr kumimoji="0" b="0" i="0" u="none" strike="noStrike" kern="0" cap="none" spc="0" normalizeH="0" baseline="0" noProof="0" dirty="0">
                <a:ln>
                  <a:noFill/>
                </a:ln>
                <a:solidFill>
                  <a:srgbClr val="4B647A"/>
                </a:solidFill>
                <a:effectLst/>
                <a:uLnTx/>
                <a:uFillTx/>
                <a:latin typeface="Avenir Next"/>
                <a:ea typeface="+mn-ea"/>
                <a:cs typeface="+mn-cs"/>
              </a:rPr>
              <a:t>Backtracking line search restores an operative decrease criterion at deployment.</a:t>
            </a:r>
          </a:p>
        </p:txBody>
      </p:sp>
      <p:sp>
        <p:nvSpPr>
          <p:cNvPr id="15" name="Rounded Rectangle 14">
            <a:extLst>
              <a:ext uri="{FF2B5EF4-FFF2-40B4-BE49-F238E27FC236}">
                <a16:creationId xmlns:a16="http://schemas.microsoft.com/office/drawing/2014/main" id="{DC108513-44CA-48CA-F943-87ED074DE0AC}"/>
              </a:ext>
            </a:extLst>
          </p:cNvPr>
          <p:cNvSpPr/>
          <p:nvPr/>
        </p:nvSpPr>
        <p:spPr>
          <a:xfrm>
            <a:off x="7693608" y="1965960"/>
            <a:ext cx="2947086" cy="2897968"/>
          </a:xfrm>
          <a:prstGeom prst="roundRect">
            <a:avLst/>
          </a:prstGeom>
          <a:solidFill>
            <a:srgbClr val="E0E9E2"/>
          </a:solidFill>
          <a:ln w="9525" cap="flat" cmpd="sng" algn="ctr">
            <a:solidFill>
              <a:srgbClr val="E0E9E2"/>
            </a:solidFill>
            <a:prstDash val="solid"/>
          </a:ln>
          <a:effectLst>
            <a:outerShdw blurRad="40000" dist="23000" dir="5400000" rotWithShape="0">
              <a:srgbClr val="000000">
                <a:alpha val="35000"/>
              </a:srgbClr>
            </a:outerShdw>
          </a:effectLst>
        </p:spPr>
        <p:txBody>
          <a:bodyPr wrap="square" rtlCol="0" anchor="t"/>
          <a:lstStyle/>
          <a:p>
            <a:pPr marL="0" marR="0" lvl="0" indent="0" defTabSz="457200" eaLnBrk="1" fontAlgn="auto" latinLnBrk="0" hangingPunct="1">
              <a:lnSpc>
                <a:spcPct val="100000"/>
              </a:lnSpc>
              <a:spcBef>
                <a:spcPts val="0"/>
              </a:spcBef>
              <a:spcAft>
                <a:spcPts val="500"/>
              </a:spcAft>
              <a:buClrTx/>
              <a:buSzTx/>
              <a:buFontTx/>
              <a:buNone/>
              <a:tabLst/>
              <a:defRPr/>
            </a:pPr>
            <a:r>
              <a:rPr kumimoji="0" sz="2600" b="1" i="0" u="none" strike="noStrike" kern="0" cap="none" spc="0" normalizeH="0" baseline="0" noProof="0" dirty="0">
                <a:ln>
                  <a:noFill/>
                </a:ln>
                <a:solidFill>
                  <a:srgbClr val="17324D"/>
                </a:solidFill>
                <a:effectLst/>
                <a:uLnTx/>
                <a:uFillTx/>
                <a:latin typeface="Avenir Next"/>
                <a:ea typeface="+mn-ea"/>
                <a:cs typeface="+mn-cs"/>
              </a:rPr>
              <a:t>03</a:t>
            </a:r>
          </a:p>
          <a:p>
            <a:pPr marL="0" marR="0" lvl="0" indent="0"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17324D"/>
                </a:solidFill>
                <a:effectLst/>
                <a:uLnTx/>
                <a:uFillTx/>
                <a:latin typeface="Avenir Next"/>
                <a:ea typeface="+mn-ea"/>
                <a:cs typeface="+mn-cs"/>
              </a:rPr>
              <a:t>Empirical outcome</a:t>
            </a:r>
          </a:p>
          <a:p>
            <a:pPr marL="0" marR="0" lvl="0" indent="0" defTabSz="457200" eaLnBrk="1" fontAlgn="auto" latinLnBrk="0" hangingPunct="1">
              <a:lnSpc>
                <a:spcPct val="100000"/>
              </a:lnSpc>
              <a:spcBef>
                <a:spcPts val="0"/>
              </a:spcBef>
              <a:spcAft>
                <a:spcPts val="500"/>
              </a:spcAft>
              <a:buClrTx/>
              <a:buSzTx/>
              <a:buFontTx/>
              <a:buNone/>
              <a:tabLst/>
              <a:defRPr/>
            </a:pPr>
            <a:r>
              <a:rPr kumimoji="0" b="0" i="0" u="none" strike="noStrike" kern="0" cap="none" spc="0" normalizeH="0" baseline="0" noProof="0" dirty="0">
                <a:ln>
                  <a:noFill/>
                </a:ln>
                <a:solidFill>
                  <a:srgbClr val="4B647A"/>
                </a:solidFill>
                <a:effectLst/>
                <a:uLnTx/>
                <a:uFillTx/>
                <a:latin typeface="Avenir Next"/>
                <a:ea typeface="+mn-ea"/>
                <a:cs typeface="+mn-cs"/>
              </a:rPr>
              <a:t>The final model reaches NR-level accuracy while retaining substantial throughput advantages.</a:t>
            </a:r>
          </a:p>
        </p:txBody>
      </p:sp>
      <p:sp>
        <p:nvSpPr>
          <p:cNvPr id="16" name="Rounded Rectangle 15">
            <a:extLst>
              <a:ext uri="{FF2B5EF4-FFF2-40B4-BE49-F238E27FC236}">
                <a16:creationId xmlns:a16="http://schemas.microsoft.com/office/drawing/2014/main" id="{9BEC4B32-A732-3C44-402B-5010E82AFAE3}"/>
              </a:ext>
            </a:extLst>
          </p:cNvPr>
          <p:cNvSpPr/>
          <p:nvPr/>
        </p:nvSpPr>
        <p:spPr>
          <a:xfrm>
            <a:off x="518317" y="5396138"/>
            <a:ext cx="11262832" cy="811591"/>
          </a:xfrm>
          <a:prstGeom prst="roundRect">
            <a:avLst/>
          </a:prstGeom>
          <a:solidFill>
            <a:srgbClr val="17324D"/>
          </a:solidFill>
          <a:ln w="9525" cap="flat" cmpd="sng" algn="ctr">
            <a:solidFill>
              <a:srgbClr val="17324D"/>
            </a:solidFill>
            <a:prstDash val="solid"/>
          </a:ln>
          <a:effectLst>
            <a:outerShdw blurRad="40000" dist="23000" dir="5400000" rotWithShape="0">
              <a:srgbClr val="000000">
                <a:alpha val="35000"/>
              </a:srgbClr>
            </a:outerShdw>
          </a:effectLst>
        </p:spPr>
        <p:txBody>
          <a:bodyPr wrap="square" rtlCol="0" anchor="t"/>
          <a:lstStyle/>
          <a:p>
            <a:pPr marL="0" marR="0" lvl="0" indent="0" algn="ctr" defTabSz="457200" eaLnBrk="1" fontAlgn="auto" latinLnBrk="0" hangingPunct="1">
              <a:lnSpc>
                <a:spcPct val="100000"/>
              </a:lnSpc>
              <a:spcBef>
                <a:spcPts val="0"/>
              </a:spcBef>
              <a:spcAft>
                <a:spcPts val="500"/>
              </a:spcAft>
              <a:buClrTx/>
              <a:buSzTx/>
              <a:buFontTx/>
              <a:buNone/>
              <a:tabLst/>
              <a:defRPr/>
            </a:pPr>
            <a:r>
              <a:rPr kumimoji="0" sz="2000" b="1" i="0" u="none" strike="noStrike" kern="0" cap="none" spc="0" normalizeH="0" baseline="0" noProof="0" dirty="0">
                <a:ln>
                  <a:noFill/>
                </a:ln>
                <a:solidFill>
                  <a:srgbClr val="FFFFFF"/>
                </a:solidFill>
                <a:effectLst/>
                <a:uLnTx/>
                <a:uFillTx/>
                <a:latin typeface="Avenir Next"/>
                <a:ea typeface="+mn-ea"/>
                <a:cs typeface="+mn-cs"/>
              </a:rPr>
              <a:t>Broader message: encode the right structure both in representation and in inference, and surrogate AC power-flow solvers become both accurate and usable.</a:t>
            </a:r>
          </a:p>
        </p:txBody>
      </p:sp>
    </p:spTree>
    <p:extLst>
      <p:ext uri="{BB962C8B-B14F-4D97-AF65-F5344CB8AC3E}">
        <p14:creationId xmlns:p14="http://schemas.microsoft.com/office/powerpoint/2010/main" val="3874649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82D04-96F9-EE1D-E3ED-C4851635BE0D}"/>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2994E39D-5ED3-D2BF-E87A-B8D04D85BC0C}"/>
              </a:ext>
            </a:extLst>
          </p:cNvPr>
          <p:cNvSpPr>
            <a:spLocks noGrp="1"/>
          </p:cNvSpPr>
          <p:nvPr>
            <p:ph type="body" sz="quarter" idx="12"/>
          </p:nvPr>
        </p:nvSpPr>
        <p:spPr/>
        <p:txBody>
          <a:bodyPr/>
          <a:lstStyle/>
          <a:p>
            <a:endParaRPr lang="en-US" dirty="0"/>
          </a:p>
        </p:txBody>
      </p:sp>
      <p:pic>
        <p:nvPicPr>
          <p:cNvPr id="9" name="Bildplatzhalter 8" descr="Ein Bild, das Text, Geschirr enthält.&#10;&#10;Automatisch generierte Beschreibung">
            <a:extLst>
              <a:ext uri="{FF2B5EF4-FFF2-40B4-BE49-F238E27FC236}">
                <a16:creationId xmlns:a16="http://schemas.microsoft.com/office/drawing/2014/main" id="{93DAD199-3302-FAED-3A55-0AB26D3A8C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1875" b="11875"/>
          <a:stretch>
            <a:fillRect/>
          </a:stretch>
        </p:blipFill>
        <p:spPr>
          <a:xfrm>
            <a:off x="0" y="1294726"/>
            <a:ext cx="12192000" cy="5563275"/>
          </a:xfrm>
        </p:spPr>
      </p:pic>
      <p:sp>
        <p:nvSpPr>
          <p:cNvPr id="12" name="Textplatzhalter 11">
            <a:extLst>
              <a:ext uri="{FF2B5EF4-FFF2-40B4-BE49-F238E27FC236}">
                <a16:creationId xmlns:a16="http://schemas.microsoft.com/office/drawing/2014/main" id="{ED6AF33A-09E9-4106-28CD-69BF9344B572}"/>
              </a:ext>
            </a:extLst>
          </p:cNvPr>
          <p:cNvSpPr>
            <a:spLocks noGrp="1"/>
          </p:cNvSpPr>
          <p:nvPr>
            <p:ph type="body" sz="quarter" idx="13"/>
          </p:nvPr>
        </p:nvSpPr>
        <p:spPr/>
        <p:txBody>
          <a:bodyPr/>
          <a:lstStyle/>
          <a:p>
            <a:r>
              <a:rPr lang="de-DE" dirty="0" err="1"/>
              <a:t>Thank</a:t>
            </a:r>
            <a:r>
              <a:rPr lang="de-DE" dirty="0"/>
              <a:t> </a:t>
            </a:r>
            <a:r>
              <a:rPr lang="de-DE" dirty="0" err="1"/>
              <a:t>you</a:t>
            </a:r>
            <a:r>
              <a:rPr lang="de-DE" dirty="0"/>
              <a:t> </a:t>
            </a:r>
            <a:r>
              <a:rPr lang="de-DE" dirty="0" err="1"/>
              <a:t>for</a:t>
            </a:r>
            <a:r>
              <a:rPr lang="de-DE" dirty="0"/>
              <a:t> </a:t>
            </a:r>
            <a:r>
              <a:rPr lang="de-DE" dirty="0" err="1"/>
              <a:t>your</a:t>
            </a:r>
            <a:r>
              <a:rPr lang="de-DE" dirty="0"/>
              <a:t> </a:t>
            </a:r>
            <a:r>
              <a:rPr lang="de-DE" dirty="0" err="1"/>
              <a:t>attention</a:t>
            </a:r>
            <a:r>
              <a:rPr lang="de-DE" dirty="0"/>
              <a:t>!</a:t>
            </a:r>
          </a:p>
          <a:p>
            <a:r>
              <a:rPr lang="de-DE" dirty="0"/>
              <a:t>Any Questions?</a:t>
            </a:r>
          </a:p>
        </p:txBody>
      </p:sp>
      <p:sp>
        <p:nvSpPr>
          <p:cNvPr id="3" name="Rounded Rectangle 2">
            <a:extLst>
              <a:ext uri="{FF2B5EF4-FFF2-40B4-BE49-F238E27FC236}">
                <a16:creationId xmlns:a16="http://schemas.microsoft.com/office/drawing/2014/main" id="{F0035F3D-C57B-7FC7-C7C6-9487BB22A48E}"/>
              </a:ext>
            </a:extLst>
          </p:cNvPr>
          <p:cNvSpPr/>
          <p:nvPr/>
        </p:nvSpPr>
        <p:spPr>
          <a:xfrm>
            <a:off x="6876847" y="161078"/>
            <a:ext cx="1575293" cy="867115"/>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t>
            </a:r>
            <a:endParaRPr dirty="0"/>
          </a:p>
        </p:txBody>
      </p:sp>
      <p:pic>
        <p:nvPicPr>
          <p:cNvPr id="4" name="Picture 3" descr="A logo with blue lines and a horse&#10;&#10;AI-generated content may be incorrect.">
            <a:extLst>
              <a:ext uri="{FF2B5EF4-FFF2-40B4-BE49-F238E27FC236}">
                <a16:creationId xmlns:a16="http://schemas.microsoft.com/office/drawing/2014/main" id="{7CE07ED6-ACC2-BA67-3764-BBA0E3B460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1923" y="216489"/>
            <a:ext cx="1372257" cy="730987"/>
          </a:xfrm>
          <a:prstGeom prst="rect">
            <a:avLst/>
          </a:prstGeom>
        </p:spPr>
      </p:pic>
    </p:spTree>
    <p:extLst>
      <p:ext uri="{BB962C8B-B14F-4D97-AF65-F5344CB8AC3E}">
        <p14:creationId xmlns:p14="http://schemas.microsoft.com/office/powerpoint/2010/main" val="1747032902"/>
      </p:ext>
    </p:extLst>
  </p:cSld>
  <p:clrMapOvr>
    <a:masterClrMapping/>
  </p:clrMapOvr>
</p:sld>
</file>

<file path=ppt/theme/theme1.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schemeClr val="tx1"/>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FBE955-EBBF-441B-94AE-DC551CE16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1A7FE3-81F7-4596-A188-3EE8D4188E1F}">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e1a9e197-d112-4abb-aa0c-4ed035d690a3"/>
    <ds:schemaRef ds:uri="http://schemas.microsoft.com/office/infopath/2007/PartnerControls"/>
    <ds:schemaRef ds:uri="5d4c14f1-5e26-4315-944b-e10ebb29e5be"/>
    <ds:schemaRef ds:uri="http://www.w3.org/XML/1998/namespace"/>
  </ds:schemaRefs>
</ds:datastoreItem>
</file>

<file path=customXml/itemProps3.xml><?xml version="1.0" encoding="utf-8"?>
<ds:datastoreItem xmlns:ds="http://schemas.openxmlformats.org/officeDocument/2006/customXml" ds:itemID="{E457329C-FB5F-4A4D-B331-82D30E9A7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19202</TotalTime>
  <Words>5804</Words>
  <Application>Microsoft Office PowerPoint</Application>
  <PresentationFormat>Widescreen</PresentationFormat>
  <Paragraphs>639</Paragraphs>
  <Slides>19</Slides>
  <Notes>18</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Symbol</vt:lpstr>
      <vt:lpstr>Avenir Next</vt:lpstr>
      <vt:lpstr>Arial</vt:lpstr>
      <vt:lpstr>Google Sans</vt:lpstr>
      <vt:lpstr>Calibri</vt:lpstr>
      <vt:lpstr>-apple-system</vt:lpstr>
      <vt:lpstr>FAU - Technische Fakultät</vt:lpstr>
      <vt:lpstr>Physics-Informed GNN for Medium- High Voltage AC Power Flow with Edge-Aware Attention and  Line Search Correction Operator</vt:lpstr>
      <vt:lpstr>Motivation and Problem</vt:lpstr>
      <vt:lpstr>Graph Formulation of AC Power Flow</vt:lpstr>
      <vt:lpstr>Limitations of existing method familes</vt:lpstr>
      <vt:lpstr>Research Question and Gap</vt:lpstr>
      <vt:lpstr>Method Overview</vt:lpstr>
      <vt:lpstr>Edge-Aware Attention</vt:lpstr>
      <vt:lpstr>Backtracking Line Search</vt:lpstr>
      <vt:lpstr>Backtracking Line Search</vt:lpstr>
      <vt:lpstr>Backtracking Line Search</vt:lpstr>
      <vt:lpstr>Backtracking Line Search</vt:lpstr>
      <vt:lpstr>Backtracking Line Search</vt:lpstr>
      <vt:lpstr>Backtracking Line Search</vt:lpstr>
      <vt:lpstr>PowerPoint Presentation</vt:lpstr>
      <vt:lpstr>Experimental Setup</vt:lpstr>
      <vt:lpstr>Main Results with ablation study</vt:lpstr>
      <vt:lpstr>Throughput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Julia Gutschmidt</dc:creator>
  <cp:lastModifiedBy>창헌 김</cp:lastModifiedBy>
  <cp:revision>154</cp:revision>
  <cp:lastPrinted>2026-04-16T19:57:15Z</cp:lastPrinted>
  <dcterms:created xsi:type="dcterms:W3CDTF">2021-11-18T07:49:57Z</dcterms:created>
  <dcterms:modified xsi:type="dcterms:W3CDTF">2026-04-30T07:53:11Z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