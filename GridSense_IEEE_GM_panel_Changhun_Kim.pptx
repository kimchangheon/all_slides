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82"/>
  </p:notesMasterIdLst>
  <p:sldIdLst>
    <p:sldId id="256" r:id="rId3"/>
    <p:sldId id="257" r:id="rId4"/>
    <p:sldId id="258" r:id="rId5"/>
    <p:sldId id="276" r:id="rId6"/>
    <p:sldId id="260" r:id="rId7"/>
    <p:sldId id="284" r:id="rId8"/>
    <p:sldId id="263" r:id="rId9"/>
    <p:sldId id="280" r:id="rId10"/>
    <p:sldId id="285" r:id="rId11"/>
    <p:sldId id="281" r:id="rId12"/>
    <p:sldId id="283" r:id="rId13"/>
    <p:sldId id="286" r:id="rId14"/>
    <p:sldId id="282" r:id="rId15"/>
    <p:sldId id="264" r:id="rId16"/>
    <p:sldId id="265" r:id="rId17"/>
    <p:sldId id="266" r:id="rId18"/>
    <p:sldId id="267" r:id="rId19"/>
    <p:sldId id="273" r:id="rId20"/>
    <p:sldId id="5026" r:id="rId21"/>
    <p:sldId id="268" r:id="rId22"/>
    <p:sldId id="269" r:id="rId23"/>
    <p:sldId id="270" r:id="rId24"/>
    <p:sldId id="271" r:id="rId25"/>
    <p:sldId id="272" r:id="rId26"/>
    <p:sldId id="5025" r:id="rId27"/>
    <p:sldId id="4935" r:id="rId28"/>
    <p:sldId id="4987" r:id="rId29"/>
    <p:sldId id="4986" r:id="rId30"/>
    <p:sldId id="4981" r:id="rId31"/>
    <p:sldId id="4996" r:id="rId32"/>
    <p:sldId id="5004" r:id="rId33"/>
    <p:sldId id="4980" r:id="rId34"/>
    <p:sldId id="4994" r:id="rId35"/>
    <p:sldId id="4993" r:id="rId36"/>
    <p:sldId id="5009" r:id="rId37"/>
    <p:sldId id="5017" r:id="rId38"/>
    <p:sldId id="4990" r:id="rId39"/>
    <p:sldId id="5016" r:id="rId40"/>
    <p:sldId id="288" r:id="rId41"/>
    <p:sldId id="4934" r:id="rId42"/>
    <p:sldId id="4936" r:id="rId43"/>
    <p:sldId id="4913" r:id="rId44"/>
    <p:sldId id="4937" r:id="rId45"/>
    <p:sldId id="4943" r:id="rId46"/>
    <p:sldId id="4938" r:id="rId47"/>
    <p:sldId id="4942" r:id="rId48"/>
    <p:sldId id="4956" r:id="rId49"/>
    <p:sldId id="4957" r:id="rId50"/>
    <p:sldId id="4939" r:id="rId51"/>
    <p:sldId id="4929" r:id="rId52"/>
    <p:sldId id="4923" r:id="rId53"/>
    <p:sldId id="4973" r:id="rId54"/>
    <p:sldId id="4974" r:id="rId55"/>
    <p:sldId id="4975" r:id="rId56"/>
    <p:sldId id="4914" r:id="rId57"/>
    <p:sldId id="4926" r:id="rId58"/>
    <p:sldId id="4927" r:id="rId59"/>
    <p:sldId id="4940" r:id="rId60"/>
    <p:sldId id="4941" r:id="rId61"/>
    <p:sldId id="4924" r:id="rId62"/>
    <p:sldId id="4928" r:id="rId63"/>
    <p:sldId id="4930" r:id="rId64"/>
    <p:sldId id="4931" r:id="rId65"/>
    <p:sldId id="4932" r:id="rId66"/>
    <p:sldId id="4933" r:id="rId67"/>
    <p:sldId id="4915" r:id="rId68"/>
    <p:sldId id="4944" r:id="rId69"/>
    <p:sldId id="4945" r:id="rId70"/>
    <p:sldId id="4916" r:id="rId71"/>
    <p:sldId id="4946" r:id="rId72"/>
    <p:sldId id="4947" r:id="rId73"/>
    <p:sldId id="4948" r:id="rId74"/>
    <p:sldId id="4950" r:id="rId75"/>
    <p:sldId id="4951" r:id="rId76"/>
    <p:sldId id="4952" r:id="rId77"/>
    <p:sldId id="4949" r:id="rId78"/>
    <p:sldId id="261" r:id="rId79"/>
    <p:sldId id="262" r:id="rId80"/>
    <p:sldId id="259" r:id="rId8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33C"/>
    <a:srgbClr val="FFFFFF"/>
    <a:srgbClr val="39AE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10"/>
    <p:restoredTop sz="65598"/>
  </p:normalViewPr>
  <p:slideViewPr>
    <p:cSldViewPr snapToGrid="0">
      <p:cViewPr>
        <p:scale>
          <a:sx n="77" d="100"/>
          <a:sy n="77" d="100"/>
        </p:scale>
        <p:origin x="968" y="192"/>
      </p:cViewPr>
      <p:guideLst/>
    </p:cSldViewPr>
  </p:slideViewPr>
  <p:notesTextViewPr>
    <p:cViewPr>
      <p:scale>
        <a:sx n="165" d="100"/>
        <a:sy n="16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EA6361-B92E-4895-983B-B3D92D36A008}" type="doc">
      <dgm:prSet loTypeId="urn:microsoft.com/office/officeart/2005/8/layout/cycle2" loCatId="cycle" qsTypeId="urn:microsoft.com/office/officeart/2005/8/quickstyle/simple1" qsCatId="simple" csTypeId="urn:microsoft.com/office/officeart/2005/8/colors/colorful3" csCatId="colorful" phldr="1"/>
      <dgm:spPr/>
      <dgm:t>
        <a:bodyPr/>
        <a:lstStyle/>
        <a:p>
          <a:endParaRPr lang="en-US"/>
        </a:p>
      </dgm:t>
    </dgm:pt>
    <dgm:pt modelId="{BC4FA6ED-AF74-4671-BA14-2EDD4D243C06}">
      <dgm:prSet phldrT="[Text]" phldr="0"/>
      <dgm:spPr/>
      <dgm:t>
        <a:bodyPr/>
        <a:lstStyle/>
        <a:p>
          <a:pPr rtl="0"/>
          <a:r>
            <a:rPr lang="en-US">
              <a:latin typeface="Arial"/>
            </a:rPr>
            <a:t>Reason </a:t>
          </a:r>
          <a:endParaRPr lang="en-US"/>
        </a:p>
      </dgm:t>
    </dgm:pt>
    <dgm:pt modelId="{7A7E7BA8-94FE-42AF-A931-9C0459C82BDA}" type="parTrans" cxnId="{BD7FA8B4-426E-45FF-825E-0F066C452AF0}">
      <dgm:prSet/>
      <dgm:spPr/>
      <dgm:t>
        <a:bodyPr/>
        <a:lstStyle/>
        <a:p>
          <a:endParaRPr lang="en-US"/>
        </a:p>
      </dgm:t>
    </dgm:pt>
    <dgm:pt modelId="{AE140478-DB7E-456E-AF78-E5AE86FB23F7}" type="sibTrans" cxnId="{BD7FA8B4-426E-45FF-825E-0F066C452AF0}">
      <dgm:prSet/>
      <dgm:spPr/>
      <dgm:t>
        <a:bodyPr/>
        <a:lstStyle/>
        <a:p>
          <a:endParaRPr lang="en-US"/>
        </a:p>
      </dgm:t>
    </dgm:pt>
    <dgm:pt modelId="{D721C644-6A11-4C92-8C71-6A4108D1D110}">
      <dgm:prSet phldrT="[Text]" phldr="0"/>
      <dgm:spPr/>
      <dgm:t>
        <a:bodyPr/>
        <a:lstStyle/>
        <a:p>
          <a:r>
            <a:rPr lang="en-US">
              <a:latin typeface="Arial"/>
            </a:rPr>
            <a:t>Act</a:t>
          </a:r>
          <a:endParaRPr lang="en-US"/>
        </a:p>
      </dgm:t>
    </dgm:pt>
    <dgm:pt modelId="{2B46B942-1AAE-4981-BD4E-C374A5F4D508}" type="parTrans" cxnId="{11221EA8-E6C7-42AB-B9CC-279DD2FD035F}">
      <dgm:prSet/>
      <dgm:spPr/>
      <dgm:t>
        <a:bodyPr/>
        <a:lstStyle/>
        <a:p>
          <a:endParaRPr lang="en-US"/>
        </a:p>
      </dgm:t>
    </dgm:pt>
    <dgm:pt modelId="{5E5EBB57-5EC8-4E7E-A835-115B75EB1309}" type="sibTrans" cxnId="{11221EA8-E6C7-42AB-B9CC-279DD2FD035F}">
      <dgm:prSet/>
      <dgm:spPr/>
      <dgm:t>
        <a:bodyPr/>
        <a:lstStyle/>
        <a:p>
          <a:endParaRPr lang="en-US"/>
        </a:p>
      </dgm:t>
    </dgm:pt>
    <dgm:pt modelId="{94CA76DD-5BFC-4491-A827-6F0CD7A08127}">
      <dgm:prSet phldrT="[Text]" phldr="0"/>
      <dgm:spPr/>
      <dgm:t>
        <a:bodyPr/>
        <a:lstStyle/>
        <a:p>
          <a:r>
            <a:rPr lang="en-US">
              <a:latin typeface="Arial"/>
            </a:rPr>
            <a:t>Reflect</a:t>
          </a:r>
          <a:endParaRPr lang="en-US"/>
        </a:p>
      </dgm:t>
    </dgm:pt>
    <dgm:pt modelId="{657FAB0B-8245-4B23-95F8-8E1955650BF6}" type="parTrans" cxnId="{FF7D5ED7-A412-436B-A57F-42E5A7BFA211}">
      <dgm:prSet/>
      <dgm:spPr/>
      <dgm:t>
        <a:bodyPr/>
        <a:lstStyle/>
        <a:p>
          <a:endParaRPr lang="en-US"/>
        </a:p>
      </dgm:t>
    </dgm:pt>
    <dgm:pt modelId="{C1569C65-7D7E-4B88-9CE5-54665E4C7273}" type="sibTrans" cxnId="{FF7D5ED7-A412-436B-A57F-42E5A7BFA211}">
      <dgm:prSet/>
      <dgm:spPr/>
      <dgm:t>
        <a:bodyPr/>
        <a:lstStyle/>
        <a:p>
          <a:endParaRPr lang="en-US"/>
        </a:p>
      </dgm:t>
    </dgm:pt>
    <dgm:pt modelId="{B4D42C19-8832-4046-801F-DDE742F46369}" type="pres">
      <dgm:prSet presAssocID="{21EA6361-B92E-4895-983B-B3D92D36A008}" presName="cycle" presStyleCnt="0">
        <dgm:presLayoutVars>
          <dgm:dir/>
          <dgm:resizeHandles val="exact"/>
        </dgm:presLayoutVars>
      </dgm:prSet>
      <dgm:spPr/>
    </dgm:pt>
    <dgm:pt modelId="{A6C49940-C98C-4D32-A410-5EB04F74CAD2}" type="pres">
      <dgm:prSet presAssocID="{BC4FA6ED-AF74-4671-BA14-2EDD4D243C06}" presName="node" presStyleLbl="node1" presStyleIdx="0" presStyleCnt="3">
        <dgm:presLayoutVars>
          <dgm:bulletEnabled val="1"/>
        </dgm:presLayoutVars>
      </dgm:prSet>
      <dgm:spPr/>
    </dgm:pt>
    <dgm:pt modelId="{FD241496-E6E5-4EF7-AEF0-6B573B7BB84A}" type="pres">
      <dgm:prSet presAssocID="{AE140478-DB7E-456E-AF78-E5AE86FB23F7}" presName="sibTrans" presStyleLbl="sibTrans2D1" presStyleIdx="0" presStyleCnt="3"/>
      <dgm:spPr/>
    </dgm:pt>
    <dgm:pt modelId="{F60247D9-37B9-49FD-A49D-C463DE145BA4}" type="pres">
      <dgm:prSet presAssocID="{AE140478-DB7E-456E-AF78-E5AE86FB23F7}" presName="connectorText" presStyleLbl="sibTrans2D1" presStyleIdx="0" presStyleCnt="3"/>
      <dgm:spPr/>
    </dgm:pt>
    <dgm:pt modelId="{1DA5828F-A5A3-4A2E-8C07-0E6049ABE760}" type="pres">
      <dgm:prSet presAssocID="{D721C644-6A11-4C92-8C71-6A4108D1D110}" presName="node" presStyleLbl="node1" presStyleIdx="1" presStyleCnt="3">
        <dgm:presLayoutVars>
          <dgm:bulletEnabled val="1"/>
        </dgm:presLayoutVars>
      </dgm:prSet>
      <dgm:spPr/>
    </dgm:pt>
    <dgm:pt modelId="{6DC68BBA-4681-47B5-98BC-18B0B2BC7638}" type="pres">
      <dgm:prSet presAssocID="{5E5EBB57-5EC8-4E7E-A835-115B75EB1309}" presName="sibTrans" presStyleLbl="sibTrans2D1" presStyleIdx="1" presStyleCnt="3"/>
      <dgm:spPr/>
    </dgm:pt>
    <dgm:pt modelId="{2A7B51E2-8EFD-4B0F-B7CA-004C8FEA9B26}" type="pres">
      <dgm:prSet presAssocID="{5E5EBB57-5EC8-4E7E-A835-115B75EB1309}" presName="connectorText" presStyleLbl="sibTrans2D1" presStyleIdx="1" presStyleCnt="3"/>
      <dgm:spPr/>
    </dgm:pt>
    <dgm:pt modelId="{AE41C1EC-DB4E-45B3-AD24-097DACE68335}" type="pres">
      <dgm:prSet presAssocID="{94CA76DD-5BFC-4491-A827-6F0CD7A08127}" presName="node" presStyleLbl="node1" presStyleIdx="2" presStyleCnt="3">
        <dgm:presLayoutVars>
          <dgm:bulletEnabled val="1"/>
        </dgm:presLayoutVars>
      </dgm:prSet>
      <dgm:spPr/>
    </dgm:pt>
    <dgm:pt modelId="{A4022E87-3A91-4865-9F69-D13CDED1B17F}" type="pres">
      <dgm:prSet presAssocID="{C1569C65-7D7E-4B88-9CE5-54665E4C7273}" presName="sibTrans" presStyleLbl="sibTrans2D1" presStyleIdx="2" presStyleCnt="3"/>
      <dgm:spPr/>
    </dgm:pt>
    <dgm:pt modelId="{7F028065-C60C-4D22-BC38-5A76B933DAC5}" type="pres">
      <dgm:prSet presAssocID="{C1569C65-7D7E-4B88-9CE5-54665E4C7273}" presName="connectorText" presStyleLbl="sibTrans2D1" presStyleIdx="2" presStyleCnt="3"/>
      <dgm:spPr/>
    </dgm:pt>
  </dgm:ptLst>
  <dgm:cxnLst>
    <dgm:cxn modelId="{F2142F04-8A61-4922-B053-344A5ED0AA91}" type="presOf" srcId="{D721C644-6A11-4C92-8C71-6A4108D1D110}" destId="{1DA5828F-A5A3-4A2E-8C07-0E6049ABE760}" srcOrd="0" destOrd="0" presId="urn:microsoft.com/office/officeart/2005/8/layout/cycle2"/>
    <dgm:cxn modelId="{71477C13-BBB4-4D74-8FD9-C337392338DA}" type="presOf" srcId="{C1569C65-7D7E-4B88-9CE5-54665E4C7273}" destId="{7F028065-C60C-4D22-BC38-5A76B933DAC5}" srcOrd="1" destOrd="0" presId="urn:microsoft.com/office/officeart/2005/8/layout/cycle2"/>
    <dgm:cxn modelId="{6086FA2F-57D7-4C1A-9408-39136811775B}" type="presOf" srcId="{C1569C65-7D7E-4B88-9CE5-54665E4C7273}" destId="{A4022E87-3A91-4865-9F69-D13CDED1B17F}" srcOrd="0" destOrd="0" presId="urn:microsoft.com/office/officeart/2005/8/layout/cycle2"/>
    <dgm:cxn modelId="{373DFD4B-E705-416C-9116-CA18509C826F}" type="presOf" srcId="{AE140478-DB7E-456E-AF78-E5AE86FB23F7}" destId="{F60247D9-37B9-49FD-A49D-C463DE145BA4}" srcOrd="1" destOrd="0" presId="urn:microsoft.com/office/officeart/2005/8/layout/cycle2"/>
    <dgm:cxn modelId="{5DA1BF51-38C5-4959-BC12-431FD587F400}" type="presOf" srcId="{5E5EBB57-5EC8-4E7E-A835-115B75EB1309}" destId="{2A7B51E2-8EFD-4B0F-B7CA-004C8FEA9B26}" srcOrd="1" destOrd="0" presId="urn:microsoft.com/office/officeart/2005/8/layout/cycle2"/>
    <dgm:cxn modelId="{B739428A-530C-4478-8897-4D884FE6B1CF}" type="presOf" srcId="{AE140478-DB7E-456E-AF78-E5AE86FB23F7}" destId="{FD241496-E6E5-4EF7-AEF0-6B573B7BB84A}" srcOrd="0" destOrd="0" presId="urn:microsoft.com/office/officeart/2005/8/layout/cycle2"/>
    <dgm:cxn modelId="{11221EA8-E6C7-42AB-B9CC-279DD2FD035F}" srcId="{21EA6361-B92E-4895-983B-B3D92D36A008}" destId="{D721C644-6A11-4C92-8C71-6A4108D1D110}" srcOrd="1" destOrd="0" parTransId="{2B46B942-1AAE-4981-BD4E-C374A5F4D508}" sibTransId="{5E5EBB57-5EC8-4E7E-A835-115B75EB1309}"/>
    <dgm:cxn modelId="{230813AF-E040-450B-AF96-79E0D8EA482A}" type="presOf" srcId="{5E5EBB57-5EC8-4E7E-A835-115B75EB1309}" destId="{6DC68BBA-4681-47B5-98BC-18B0B2BC7638}" srcOrd="0" destOrd="0" presId="urn:microsoft.com/office/officeart/2005/8/layout/cycle2"/>
    <dgm:cxn modelId="{BD7FA8B4-426E-45FF-825E-0F066C452AF0}" srcId="{21EA6361-B92E-4895-983B-B3D92D36A008}" destId="{BC4FA6ED-AF74-4671-BA14-2EDD4D243C06}" srcOrd="0" destOrd="0" parTransId="{7A7E7BA8-94FE-42AF-A931-9C0459C82BDA}" sibTransId="{AE140478-DB7E-456E-AF78-E5AE86FB23F7}"/>
    <dgm:cxn modelId="{318D6FCA-4657-4529-863D-08AE398986E9}" type="presOf" srcId="{21EA6361-B92E-4895-983B-B3D92D36A008}" destId="{B4D42C19-8832-4046-801F-DDE742F46369}" srcOrd="0" destOrd="0" presId="urn:microsoft.com/office/officeart/2005/8/layout/cycle2"/>
    <dgm:cxn modelId="{FF7D5ED7-A412-436B-A57F-42E5A7BFA211}" srcId="{21EA6361-B92E-4895-983B-B3D92D36A008}" destId="{94CA76DD-5BFC-4491-A827-6F0CD7A08127}" srcOrd="2" destOrd="0" parTransId="{657FAB0B-8245-4B23-95F8-8E1955650BF6}" sibTransId="{C1569C65-7D7E-4B88-9CE5-54665E4C7273}"/>
    <dgm:cxn modelId="{B00717DB-95C2-480B-B29B-E20BF0DA02BB}" type="presOf" srcId="{BC4FA6ED-AF74-4671-BA14-2EDD4D243C06}" destId="{A6C49940-C98C-4D32-A410-5EB04F74CAD2}" srcOrd="0" destOrd="0" presId="urn:microsoft.com/office/officeart/2005/8/layout/cycle2"/>
    <dgm:cxn modelId="{F1586EF0-D0F0-49D6-B20A-6072C16A3EF1}" type="presOf" srcId="{94CA76DD-5BFC-4491-A827-6F0CD7A08127}" destId="{AE41C1EC-DB4E-45B3-AD24-097DACE68335}" srcOrd="0" destOrd="0" presId="urn:microsoft.com/office/officeart/2005/8/layout/cycle2"/>
    <dgm:cxn modelId="{E4209EC6-FE05-48C8-AF0D-A330EBBBC6FA}" type="presParOf" srcId="{B4D42C19-8832-4046-801F-DDE742F46369}" destId="{A6C49940-C98C-4D32-A410-5EB04F74CAD2}" srcOrd="0" destOrd="0" presId="urn:microsoft.com/office/officeart/2005/8/layout/cycle2"/>
    <dgm:cxn modelId="{6F2E6E56-3760-4D7B-8E0C-4125AF850722}" type="presParOf" srcId="{B4D42C19-8832-4046-801F-DDE742F46369}" destId="{FD241496-E6E5-4EF7-AEF0-6B573B7BB84A}" srcOrd="1" destOrd="0" presId="urn:microsoft.com/office/officeart/2005/8/layout/cycle2"/>
    <dgm:cxn modelId="{54BE7C29-7A20-4AF8-8533-70A8E18A61ED}" type="presParOf" srcId="{FD241496-E6E5-4EF7-AEF0-6B573B7BB84A}" destId="{F60247D9-37B9-49FD-A49D-C463DE145BA4}" srcOrd="0" destOrd="0" presId="urn:microsoft.com/office/officeart/2005/8/layout/cycle2"/>
    <dgm:cxn modelId="{17F4DF06-2A9E-49C8-945C-A29C63014274}" type="presParOf" srcId="{B4D42C19-8832-4046-801F-DDE742F46369}" destId="{1DA5828F-A5A3-4A2E-8C07-0E6049ABE760}" srcOrd="2" destOrd="0" presId="urn:microsoft.com/office/officeart/2005/8/layout/cycle2"/>
    <dgm:cxn modelId="{A8E44FFA-1AFC-41F4-A6B1-B7061B3AFCB0}" type="presParOf" srcId="{B4D42C19-8832-4046-801F-DDE742F46369}" destId="{6DC68BBA-4681-47B5-98BC-18B0B2BC7638}" srcOrd="3" destOrd="0" presId="urn:microsoft.com/office/officeart/2005/8/layout/cycle2"/>
    <dgm:cxn modelId="{E8B52A97-540B-4504-A0D3-B081CC722346}" type="presParOf" srcId="{6DC68BBA-4681-47B5-98BC-18B0B2BC7638}" destId="{2A7B51E2-8EFD-4B0F-B7CA-004C8FEA9B26}" srcOrd="0" destOrd="0" presId="urn:microsoft.com/office/officeart/2005/8/layout/cycle2"/>
    <dgm:cxn modelId="{84E4E294-18B7-4241-B832-3F534F264687}" type="presParOf" srcId="{B4D42C19-8832-4046-801F-DDE742F46369}" destId="{AE41C1EC-DB4E-45B3-AD24-097DACE68335}" srcOrd="4" destOrd="0" presId="urn:microsoft.com/office/officeart/2005/8/layout/cycle2"/>
    <dgm:cxn modelId="{02592949-1CB1-48C8-BCC7-E18B7E1C4DB6}" type="presParOf" srcId="{B4D42C19-8832-4046-801F-DDE742F46369}" destId="{A4022E87-3A91-4865-9F69-D13CDED1B17F}" srcOrd="5" destOrd="0" presId="urn:microsoft.com/office/officeart/2005/8/layout/cycle2"/>
    <dgm:cxn modelId="{F30C4C8C-C3B3-4FA3-8741-F49904FC7C0C}" type="presParOf" srcId="{A4022E87-3A91-4865-9F69-D13CDED1B17F}" destId="{7F028065-C60C-4D22-BC38-5A76B933DAC5}" srcOrd="0" destOrd="0" presId="urn:microsoft.com/office/officeart/2005/8/layout/cycle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49940-C98C-4D32-A410-5EB04F74CAD2}">
      <dsp:nvSpPr>
        <dsp:cNvPr id="0" name=""/>
        <dsp:cNvSpPr/>
      </dsp:nvSpPr>
      <dsp:spPr>
        <a:xfrm>
          <a:off x="1318803" y="451"/>
          <a:ext cx="1285282" cy="128528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rtl="0">
            <a:lnSpc>
              <a:spcPct val="90000"/>
            </a:lnSpc>
            <a:spcBef>
              <a:spcPct val="0"/>
            </a:spcBef>
            <a:spcAft>
              <a:spcPct val="35000"/>
            </a:spcAft>
            <a:buNone/>
          </a:pPr>
          <a:r>
            <a:rPr lang="en-US" sz="1900" kern="1200">
              <a:latin typeface="Arial"/>
            </a:rPr>
            <a:t>Reason </a:t>
          </a:r>
          <a:endParaRPr lang="en-US" sz="1900" kern="1200"/>
        </a:p>
      </dsp:txBody>
      <dsp:txXfrm>
        <a:off x="1507028" y="188676"/>
        <a:ext cx="908832" cy="908832"/>
      </dsp:txXfrm>
    </dsp:sp>
    <dsp:sp modelId="{FD241496-E6E5-4EF7-AEF0-6B573B7BB84A}">
      <dsp:nvSpPr>
        <dsp:cNvPr id="0" name=""/>
        <dsp:cNvSpPr/>
      </dsp:nvSpPr>
      <dsp:spPr>
        <a:xfrm rot="3600000">
          <a:off x="2268220" y="1254261"/>
          <a:ext cx="342610" cy="43378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293916" y="1296511"/>
        <a:ext cx="239827" cy="260270"/>
      </dsp:txXfrm>
    </dsp:sp>
    <dsp:sp modelId="{1DA5828F-A5A3-4A2E-8C07-0E6049ABE760}">
      <dsp:nvSpPr>
        <dsp:cNvPr id="0" name=""/>
        <dsp:cNvSpPr/>
      </dsp:nvSpPr>
      <dsp:spPr>
        <a:xfrm>
          <a:off x="2284661" y="1673367"/>
          <a:ext cx="1285282" cy="1285282"/>
        </a:xfrm>
        <a:prstGeom prst="ellipse">
          <a:avLst/>
        </a:prstGeom>
        <a:solidFill>
          <a:schemeClr val="accent3">
            <a:hueOff val="247131"/>
            <a:satOff val="-10477"/>
            <a:lumOff val="15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a:rPr>
            <a:t>Act</a:t>
          </a:r>
          <a:endParaRPr lang="en-US" sz="1900" kern="1200"/>
        </a:p>
      </dsp:txBody>
      <dsp:txXfrm>
        <a:off x="2472886" y="1861592"/>
        <a:ext cx="908832" cy="908832"/>
      </dsp:txXfrm>
    </dsp:sp>
    <dsp:sp modelId="{6DC68BBA-4681-47B5-98BC-18B0B2BC7638}">
      <dsp:nvSpPr>
        <dsp:cNvPr id="0" name=""/>
        <dsp:cNvSpPr/>
      </dsp:nvSpPr>
      <dsp:spPr>
        <a:xfrm rot="10800000">
          <a:off x="1799835" y="2099117"/>
          <a:ext cx="342610" cy="433782"/>
        </a:xfrm>
        <a:prstGeom prst="rightArrow">
          <a:avLst>
            <a:gd name="adj1" fmla="val 60000"/>
            <a:gd name="adj2" fmla="val 50000"/>
          </a:avLst>
        </a:prstGeom>
        <a:solidFill>
          <a:schemeClr val="accent3">
            <a:hueOff val="247131"/>
            <a:satOff val="-10477"/>
            <a:lumOff val="15686"/>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1902618" y="2185873"/>
        <a:ext cx="239827" cy="260270"/>
      </dsp:txXfrm>
    </dsp:sp>
    <dsp:sp modelId="{AE41C1EC-DB4E-45B3-AD24-097DACE68335}">
      <dsp:nvSpPr>
        <dsp:cNvPr id="0" name=""/>
        <dsp:cNvSpPr/>
      </dsp:nvSpPr>
      <dsp:spPr>
        <a:xfrm>
          <a:off x="352944" y="1673367"/>
          <a:ext cx="1285282" cy="1285282"/>
        </a:xfrm>
        <a:prstGeom prst="ellipse">
          <a:avLst/>
        </a:prstGeom>
        <a:solidFill>
          <a:schemeClr val="accent3">
            <a:hueOff val="494261"/>
            <a:satOff val="-20954"/>
            <a:lumOff val="3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a:rPr>
            <a:t>Reflect</a:t>
          </a:r>
          <a:endParaRPr lang="en-US" sz="1900" kern="1200"/>
        </a:p>
      </dsp:txBody>
      <dsp:txXfrm>
        <a:off x="541169" y="1861592"/>
        <a:ext cx="908832" cy="908832"/>
      </dsp:txXfrm>
    </dsp:sp>
    <dsp:sp modelId="{A4022E87-3A91-4865-9F69-D13CDED1B17F}">
      <dsp:nvSpPr>
        <dsp:cNvPr id="0" name=""/>
        <dsp:cNvSpPr/>
      </dsp:nvSpPr>
      <dsp:spPr>
        <a:xfrm rot="18000000">
          <a:off x="1302361" y="1271056"/>
          <a:ext cx="342610" cy="433782"/>
        </a:xfrm>
        <a:prstGeom prst="rightArrow">
          <a:avLst>
            <a:gd name="adj1" fmla="val 60000"/>
            <a:gd name="adj2" fmla="val 50000"/>
          </a:avLst>
        </a:prstGeom>
        <a:solidFill>
          <a:schemeClr val="accent3">
            <a:hueOff val="494261"/>
            <a:satOff val="-20954"/>
            <a:lumOff val="3137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328057" y="1402318"/>
        <a:ext cx="239827" cy="260270"/>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Hello everyone. My name is Changhun Kim, from the Pattern Recognition Lab at Friedrich-Alexander University Erlangen-Nürnberg in Germany.</a:t>
            </a:r>
          </a:p>
          <a:p>
            <a:r>
              <a:rPr lang="en-US" dirty="0"/>
              <a:t>Today, I will present our ongoing work, </a:t>
            </a:r>
            <a:r>
              <a:rPr lang="en-US" b="1" dirty="0" err="1"/>
              <a:t>GridSense</a:t>
            </a:r>
            <a:r>
              <a:rPr lang="en-US" b="1" dirty="0"/>
              <a:t>: Ask Your Power Grid</a:t>
            </a:r>
            <a:r>
              <a:rPr lang="en-US" dirty="0"/>
              <a:t>, which is an LLM-based approach for power-grid analysis. This work is part of the </a:t>
            </a:r>
            <a:r>
              <a:rPr lang="en-US" dirty="0" err="1"/>
              <a:t>GridAssist</a:t>
            </a:r>
            <a:r>
              <a:rPr lang="en-US" dirty="0"/>
              <a:t> consortium, together with colleagues from our lab and Professor Jaeger’s group as well as companies like siemens opal-rt, TSO and DSO.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Let me start with the motivation.</a:t>
            </a:r>
            <a:br>
              <a:rPr lang="en-US" dirty="0"/>
            </a:br>
            <a:r>
              <a:rPr lang="en-US" dirty="0"/>
              <a:t>Modern grid operation is becoming both data-intensive and context-intensive. Operators increasingly need to reason across dynamic and uncertain conditions: distributed energy resources, extreme weather, electric vehicles, flexible loads, data-center demand, aging infrastructure, and cyber-physical risks. </a:t>
            </a:r>
          </a:p>
          <a:p>
            <a:r>
              <a:rPr lang="en-US" dirty="0"/>
              <a:t>Because of this, even a single operational question often depends on many pieces of context. Operators need to identify the relevant data, understand the current grid state, choose the right analysis method, and interpret the result in a way that supports a decision. </a:t>
            </a:r>
            <a:r>
              <a:rPr lang="en-US" dirty="0" err="1"/>
              <a:t>GridSense</a:t>
            </a:r>
            <a:r>
              <a:rPr lang="en-US" dirty="0"/>
              <a:t> is useful because it helps connect these scattered pieces into one reliable workflow.</a:t>
            </a:r>
          </a:p>
          <a:p>
            <a:endParaRPr lang="en-US" dirty="0"/>
          </a:p>
          <a:p>
            <a:r>
              <a:rPr lang="en-US" dirty="0"/>
              <a:t>---</a:t>
            </a:r>
          </a:p>
          <a:p>
            <a:endParaRPr lang="en-US" dirty="0"/>
          </a:p>
          <a:p>
            <a:r>
              <a:rPr dirty="0"/>
              <a:t>Modern grid operation is becoming data-intensive and context-intensive</a:t>
            </a:r>
            <a:r>
              <a:rPr lang="ko-KR" altLang="en-US" dirty="0"/>
              <a:t> </a:t>
            </a:r>
            <a:r>
              <a:rPr lang="en-US" altLang="ko-KR" dirty="0"/>
              <a:t>with the highly dynamic and uncertain properties</a:t>
            </a:r>
            <a:r>
              <a:rPr dirty="0"/>
              <a:t>. </a:t>
            </a:r>
            <a:endParaRPr lang="en-US" dirty="0"/>
          </a:p>
          <a:p>
            <a:endParaRPr lang="en-US" dirty="0"/>
          </a:p>
          <a:p>
            <a:r>
              <a:rPr dirty="0"/>
              <a:t>Operators need to reason across topology, assets, measurements, simulations, weather, flexibility, and operational constraints. </a:t>
            </a:r>
            <a:endParaRPr lang="en-US" dirty="0"/>
          </a:p>
          <a:p>
            <a:endParaRPr lang="en-US" dirty="0"/>
          </a:p>
          <a:p>
            <a:r>
              <a:rPr dirty="0"/>
              <a:t>But these pieces are often separated across different tools and data formats, so even simple questions can become manual workflows. The difficult part is not only running a power-flow calculation. The difficult part is connecting the right data, tools, and operational intent into one reliable decision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Of course, </a:t>
            </a:r>
            <a:r>
              <a:rPr lang="en-US" dirty="0" err="1"/>
              <a:t>GridSense</a:t>
            </a:r>
            <a:r>
              <a:rPr lang="en-US" dirty="0"/>
              <a:t> is not the only work exploring LLM agent for power systems. Recent LLM-based grid-agent systems already show important directions.</a:t>
            </a:r>
          </a:p>
          <a:p>
            <a:r>
              <a:rPr lang="en-US" dirty="0"/>
              <a:t>For example, Grid-Agent focuses on autonomous violation detection and corrective control. </a:t>
            </a:r>
            <a:r>
              <a:rPr lang="en-US" dirty="0" err="1"/>
              <a:t>GridMind</a:t>
            </a:r>
            <a:r>
              <a:rPr lang="en-US" dirty="0"/>
              <a:t> focuses on conversational AC optimal power flow and N-1 contingency analysis. X-</a:t>
            </a:r>
            <a:r>
              <a:rPr lang="en-US" dirty="0" err="1"/>
              <a:t>GridAgent</a:t>
            </a:r>
            <a:r>
              <a:rPr lang="en-US" dirty="0"/>
              <a:t> takes a broader direction, using RAG, MCP, and extensible tool servers for different power-grid analysis tasks.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these systems differ in scope, they share one engineering pattern: rather than simply guessing grid answers, they are used to call deterministic tools, access structured grid data, and produce results that can be validated and explained.</a:t>
            </a:r>
          </a:p>
          <a:p>
            <a:endParaRPr lang="en-US" dirty="0"/>
          </a:p>
          <a:p>
            <a:r>
              <a:rPr lang="en-US" dirty="0"/>
              <a:t>---</a:t>
            </a:r>
          </a:p>
          <a:p>
            <a:r>
              <a:rPr lang="en-US" dirty="0"/>
              <a:t>Recent LLM-agent research shows a promising direction: LLMs should not replace power-system tools, but they can act as an intent-understanding and orchestration layer connected to structured data, solvers, validation, and audit trails. </a:t>
            </a:r>
          </a:p>
          <a:p>
            <a:endParaRPr lang="en-US" dirty="0"/>
          </a:p>
          <a:p>
            <a:r>
              <a:rPr dirty="0"/>
              <a:t>Recent LLM-agent research gives a useful message. LLMs should not replace power-system tools, protection logic, or operator judgment. Their value is different. </a:t>
            </a:r>
            <a:r>
              <a:rPr dirty="0" err="1"/>
              <a:t>GridMind</a:t>
            </a:r>
            <a:r>
              <a:rPr dirty="0"/>
              <a:t> shows conversational scientific computing with deterministic solvers. Grid-Agent shows planning with sandbox validation and rollback. X-</a:t>
            </a:r>
            <a:r>
              <a:rPr dirty="0" err="1"/>
              <a:t>GridAgent</a:t>
            </a:r>
            <a:r>
              <a:rPr dirty="0"/>
              <a:t> shows natural-language coordination of multiple grid-analysis tools. So the LLM is valuable as an intent-understanding and orchestration layer, while the numerical and factual claims remain grounded.</a:t>
            </a:r>
            <a:endParaRPr lang="en-US" dirty="0"/>
          </a:p>
          <a:p>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So what is the novelty of </a:t>
            </a:r>
            <a:r>
              <a:rPr lang="en-US" dirty="0" err="1"/>
              <a:t>GridSense</a:t>
            </a:r>
            <a:r>
              <a:rPr lang="en-US" dirty="0"/>
              <a:t>?</a:t>
            </a:r>
          </a:p>
          <a:p>
            <a:pPr>
              <a:buNone/>
            </a:pPr>
            <a:r>
              <a:rPr lang="en-US" dirty="0"/>
              <a:t>Compared with these existing LLM-agent approaches, </a:t>
            </a:r>
            <a:r>
              <a:rPr lang="en-US" dirty="0" err="1"/>
              <a:t>GridSense</a:t>
            </a:r>
            <a:r>
              <a:rPr lang="en-US" dirty="0"/>
              <a:t> adds a data foundation that is especially relevant for European grid operation. It starts from European standard grid data, namely CGMES. Then it converts the grid model into a heterogeneous Neo4j graph database.</a:t>
            </a:r>
          </a:p>
          <a:p>
            <a:pPr>
              <a:buNone/>
            </a:pPr>
            <a:r>
              <a:rPr lang="en-US" dirty="0"/>
              <a:t>On top of this graph, </a:t>
            </a:r>
            <a:r>
              <a:rPr lang="en-US" dirty="0" err="1"/>
              <a:t>GridSense</a:t>
            </a:r>
            <a:r>
              <a:rPr lang="en-US" dirty="0"/>
              <a:t> uses schema-aware Cypher queries for correct and traceable retrieval. This means the LLM is not answering from memory. It is guided by the graph schema, retrieves explicit grid evidence, and produces answers that can be checked.</a:t>
            </a:r>
          </a:p>
          <a:p>
            <a:pPr>
              <a:buNone/>
            </a:pPr>
            <a:r>
              <a:rPr lang="en-US" dirty="0"/>
              <a:t>This graph foundation also allows us to go beyond static grid topology. We can link time-series operating snapshots to the same physical assets. We can use shortest-path algorithms for restoration support. And we can incorporate external context, such as weather data, into the same heterogeneous graph.</a:t>
            </a:r>
          </a:p>
          <a:p>
            <a:r>
              <a:rPr lang="en-US" dirty="0"/>
              <a:t>So the key novelty is not simply natural-language interaction. The key novelty is </a:t>
            </a:r>
            <a:r>
              <a:rPr lang="en-US" dirty="0" err="1"/>
              <a:t>knoweldge</a:t>
            </a:r>
            <a:r>
              <a:rPr lang="en-US" dirty="0"/>
              <a:t> </a:t>
            </a:r>
            <a:r>
              <a:rPr lang="en-US" b="1" dirty="0"/>
              <a:t>graph-grounded, standards-based, and verifiable grid intelligence</a:t>
            </a:r>
            <a:r>
              <a:rPr lang="en-US" dirty="0"/>
              <a:t>.</a:t>
            </a:r>
          </a:p>
          <a:p>
            <a:endParaRPr lang="en-US" dirty="0"/>
          </a:p>
          <a:p>
            <a:endParaRPr lang="en-US" dirty="0"/>
          </a:p>
          <a:p>
            <a:endParaRPr lang="en-US" dirty="0"/>
          </a:p>
          <a:p>
            <a:r>
              <a:rPr lang="en-US" dirty="0" err="1"/>
              <a:t>GridSense</a:t>
            </a:r>
            <a:r>
              <a:rPr lang="en-US" dirty="0"/>
              <a:t> follows this principle. It lets users ask natural-language questions about the power grid, translates them into graph-based </a:t>
            </a:r>
          </a:p>
          <a:p>
            <a:r>
              <a:rPr lang="en-US" dirty="0"/>
              <a:t>queries and analysis workflows, and returns answers grounded in the grid model. In this sense, </a:t>
            </a:r>
            <a:r>
              <a:rPr lang="en-US" dirty="0" err="1"/>
              <a:t>GridSense</a:t>
            </a:r>
            <a:r>
              <a:rPr lang="en-US" dirty="0"/>
              <a:t> is not a chatbot for the grid; it is a human-centered interface to structured, verifiable grid intelligence.”</a:t>
            </a:r>
          </a:p>
          <a:p>
            <a:endParaRPr lang="en-US" dirty="0"/>
          </a:p>
          <a:p>
            <a:r>
              <a:rPr dirty="0"/>
              <a:t>Here I want to emphasize the novelty of </a:t>
            </a:r>
            <a:r>
              <a:rPr dirty="0" err="1"/>
              <a:t>GridSense</a:t>
            </a:r>
            <a:r>
              <a:rPr dirty="0"/>
              <a:t> compared with existing LLM-agent grid methods. Grid-Agent, </a:t>
            </a:r>
            <a:r>
              <a:rPr dirty="0" err="1"/>
              <a:t>GridMind</a:t>
            </a:r>
            <a:r>
              <a:rPr dirty="0"/>
              <a:t>, and X-</a:t>
            </a:r>
            <a:r>
              <a:rPr dirty="0" err="1"/>
              <a:t>GridAgent</a:t>
            </a:r>
            <a:r>
              <a:rPr dirty="0"/>
              <a:t> show that LLM agents can coordinate grid analysis and tools. </a:t>
            </a:r>
            <a:r>
              <a:rPr b="1" dirty="0" err="1"/>
              <a:t>GridSense</a:t>
            </a:r>
            <a:r>
              <a:rPr b="1" dirty="0"/>
              <a:t> adds a data foundation that is especially relevant for European grid operation</a:t>
            </a:r>
            <a:r>
              <a:rPr dirty="0"/>
              <a:t>. It starts from CGMES and CIM, converts the grid model into a heterogeneous Neo4j graph, and uses schema-aware Cypher queries for correct, traceable retrieval. On top of that graph, </a:t>
            </a:r>
            <a:r>
              <a:rPr dirty="0" err="1"/>
              <a:t>GridSense</a:t>
            </a:r>
            <a:r>
              <a:rPr dirty="0"/>
              <a:t> can link time-series operating snapshots to the same assets, use shortest-path algorithms for restoration support, and incorporate weather or other external context. So the key novelty is not simply natural language. It is graph-grounded, standards-based, verifiable grid intelligence.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From now on, I will show you the demo video of </a:t>
            </a:r>
            <a:r>
              <a:rPr lang="en-US" dirty="0" err="1"/>
              <a:t>GridSense</a:t>
            </a:r>
            <a:r>
              <a:rPr lang="en-US" dirty="0"/>
              <a:t> which has </a:t>
            </a:r>
          </a:p>
          <a:p>
            <a:pPr>
              <a:buNone/>
            </a:pPr>
            <a:endParaRPr lang="en-US" dirty="0"/>
          </a:p>
          <a:p>
            <a:pPr>
              <a:buNone/>
            </a:pPr>
            <a:r>
              <a:rPr lang="en-US" dirty="0"/>
              <a:t>---</a:t>
            </a:r>
          </a:p>
          <a:p>
            <a:pPr>
              <a:buNone/>
            </a:pPr>
            <a:r>
              <a:rPr lang="en-US" dirty="0"/>
              <a:t>Finally, let me show how this appears to the user.</a:t>
            </a:r>
          </a:p>
          <a:p>
            <a:pPr>
              <a:buNone/>
            </a:pPr>
            <a:r>
              <a:rPr lang="en-US" dirty="0"/>
              <a:t>The interface is designed to be simple for the operator. The operator sees the grid, asks a question in natural language, and receives an answer. But importantly, the generated Cypher query is also visible.</a:t>
            </a:r>
          </a:p>
          <a:p>
            <a:pPr>
              <a:buNone/>
            </a:pPr>
            <a:r>
              <a:rPr lang="en-US" dirty="0"/>
              <a:t>This is a central design choice. </a:t>
            </a:r>
            <a:r>
              <a:rPr lang="en-US" dirty="0" err="1"/>
              <a:t>GridSense</a:t>
            </a:r>
            <a:r>
              <a:rPr lang="en-US" dirty="0"/>
              <a:t> should be conversational, but it should not be opaque. The user can see not only the final answer, but also the evidence path behind that answer. In this way, the LLM becomes an interface to structured grid knowledge, while the graph database remains the source of truth.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C3941-D001-3DF3-4F98-A2584A4C9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F7FB0-0FB2-4FED-6FEB-CA430F3A5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BE1C6-8187-7CF3-1D3A-7E4D8EE956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B412CB-06D1-0CFC-1428-08F21736F79C}"/>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0473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restoration demo is the strongest operational example. After an outage, GridSense detects energized and de-energized areas, searches candidate restoration paths, ranks alternatives, and lists equipment that must be reclosed or reconnected. This remains decision support; the operator reviews the evidence and approves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2BF1-D271-A520-E2CD-5FCB0AF72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8120E-8A8A-D03D-9170-904BB481A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12245-7784-C900-8746-E29FF590B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440C52-C886-F32A-1BE4-20801931F80B}"/>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99568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557F-D624-3D29-D30B-6161648EE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315E2-80E9-C6A9-F939-9D90086A0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12403-4202-CF2F-A9BB-992109BEA39C}"/>
              </a:ext>
            </a:extLst>
          </p:cNvPr>
          <p:cNvSpPr>
            <a:spLocks noGrp="1"/>
          </p:cNvSpPr>
          <p:nvPr>
            <p:ph type="body" idx="1"/>
          </p:nvPr>
        </p:nvSpPr>
        <p:spPr/>
        <p:txBody>
          <a:bodyPr/>
          <a:lstStyle/>
          <a:p>
            <a:r>
              <a:t>For numerical analysis, the LLM should not invent calculations. The graph query retrieves connectivity and parameters. Then deterministic computation or solver tools do the numerical work. This is the pattern we want in power systems: language for intent, databases for facts, and tools for physics.</a:t>
            </a:r>
          </a:p>
        </p:txBody>
      </p:sp>
      <p:sp>
        <p:nvSpPr>
          <p:cNvPr id="4" name="Slide Number Placeholder 3">
            <a:extLst>
              <a:ext uri="{FF2B5EF4-FFF2-40B4-BE49-F238E27FC236}">
                <a16:creationId xmlns:a16="http://schemas.microsoft.com/office/drawing/2014/main" id="{DE82EBD8-8CA0-F17A-2558-856CB5A532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08038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6270E-27A1-114F-8DB9-4A0E95F9E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1717D-D4C6-8AF3-5428-FADFEBDD7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905C0-4110-D780-81A0-37D01CD097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3A8DE7-6C85-A89F-489B-8767438979E4}"/>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857022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3A8A-176F-0F07-351C-EE973D8AD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11276-FC77-0294-3568-B4FEB0147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55476-0150-660E-9A90-53A26D6339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8F54-2E6F-C824-DBAC-EB520DE2808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80784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F4918-1C7D-E222-C5F6-961E5F718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AA6B8-55B6-C6A0-8BED-FA652A4B2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AB1F3-06CE-70B2-8CD4-C9DA52E19601}"/>
              </a:ext>
            </a:extLst>
          </p:cNvPr>
          <p:cNvSpPr>
            <a:spLocks noGrp="1"/>
          </p:cNvSpPr>
          <p:nvPr>
            <p:ph type="body" idx="1"/>
          </p:nvPr>
        </p:nvSpPr>
        <p:spPr/>
        <p:txBody>
          <a:bodyPr/>
          <a:lstStyle/>
          <a:p>
            <a:r>
              <a:rPr lang="en-US" dirty="0"/>
              <a:t>In the first demo, the user asks basic operational questions such as how many buses, lines, or transformers are in the model. The answer is not impressive because it is a count. It is impressive because the system finds the right graph objects, generates the Cypher, executes it, and returns a traceable answer.</a:t>
            </a:r>
          </a:p>
        </p:txBody>
      </p:sp>
      <p:sp>
        <p:nvSpPr>
          <p:cNvPr id="4" name="Slide Number Placeholder 3">
            <a:extLst>
              <a:ext uri="{FF2B5EF4-FFF2-40B4-BE49-F238E27FC236}">
                <a16:creationId xmlns:a16="http://schemas.microsoft.com/office/drawing/2014/main" id="{40A9F8EE-0637-5283-8266-BC9E5F632CA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44429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6EC52-6239-02B7-2E1D-030450996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ADE5F-30CE-CF72-739C-3DF6DC2C6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DF6EF-3500-11F9-D88C-F949DA9C54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547987-2C29-8F66-D119-1A66C912046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200761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Trust is the central issue. </a:t>
            </a:r>
            <a:r>
              <a:rPr dirty="0" err="1"/>
              <a:t>GridSense</a:t>
            </a:r>
            <a:r>
              <a:rPr dirty="0"/>
              <a:t> does not claim that an LLM should autonomously operate the grid. The safeguards are grounding, visible Cypher, verified tool execution, and human approval for critical actions. In our prototype validation, moving from a simpler </a:t>
            </a:r>
            <a:r>
              <a:rPr dirty="0" err="1"/>
              <a:t>LangChain</a:t>
            </a:r>
            <a:r>
              <a:rPr dirty="0"/>
              <a:t> setup to a </a:t>
            </a:r>
            <a:r>
              <a:rPr dirty="0" err="1"/>
              <a:t>LangGraph</a:t>
            </a:r>
            <a:r>
              <a:rPr dirty="0"/>
              <a:t> workflow improved overall accuracy from 31.73 percent to 71.15 percent on 104 semantic questions</a:t>
            </a:r>
            <a:r>
              <a:rPr lang="en-US" dirty="0"/>
              <a:t> at GPT4o</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European AI solution, the key requirement is to work with existing grid data in a transparent and interoperable way. </a:t>
            </a:r>
            <a:r>
              <a:rPr lang="en-US" dirty="0" err="1"/>
              <a:t>GridSense</a:t>
            </a:r>
            <a:r>
              <a:rPr lang="en-US" dirty="0"/>
              <a:t> starts from CGMES and CIM, supports a bring-your-own-grid workflow, and can extend the graph with GIS, SCADA or EMS, AMI, weather, documents, and maintenance context.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roadmap is a controlled agentic workflow. The </a:t>
            </a:r>
            <a:r>
              <a:rPr lang="en-US" dirty="0" err="1"/>
              <a:t>LangGraph</a:t>
            </a:r>
            <a:r>
              <a:rPr dirty="0"/>
              <a:t> reasoning core interprets the question. Neo4j and files provide context. Trusted tools such as </a:t>
            </a:r>
            <a:r>
              <a:rPr dirty="0" err="1"/>
              <a:t>pandapower</a:t>
            </a:r>
            <a:r>
              <a:rPr dirty="0"/>
              <a:t>, </a:t>
            </a:r>
            <a:r>
              <a:rPr dirty="0" err="1"/>
              <a:t>PowerFactory</a:t>
            </a:r>
            <a:r>
              <a:rPr dirty="0"/>
              <a:t>, or </a:t>
            </a:r>
            <a:r>
              <a:rPr lang="en-US" dirty="0"/>
              <a:t>task-specific neural network</a:t>
            </a:r>
            <a:r>
              <a:rPr dirty="0"/>
              <a:t> modules run calculations. OPAL-RT</a:t>
            </a:r>
            <a:r>
              <a:rPr lang="en-US" dirty="0"/>
              <a:t>’s </a:t>
            </a:r>
            <a:r>
              <a:rPr lang="en-US" b="1" i="0" dirty="0" err="1">
                <a:solidFill>
                  <a:srgbClr val="767676"/>
                </a:solidFill>
                <a:effectLst/>
                <a:latin typeface="Arial" panose="020B0604020202020204" pitchFamily="34" charset="0"/>
              </a:rPr>
              <a:t>ePHASORSIM</a:t>
            </a:r>
            <a:r>
              <a:rPr dirty="0"/>
              <a:t> can support real-time validation. The final step is still human approval.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to wrap up this presentation, the main takeaway is: ask the grid, but verify the answer. Natural language is the interface. The graph is the evidence layer. Solvers and humans keep the system safe. </a:t>
            </a:r>
            <a:r>
              <a:rPr lang="en-US" dirty="0" err="1"/>
              <a:t>GridSense</a:t>
            </a:r>
            <a:r>
              <a:rPr lang="en-US" dirty="0"/>
              <a:t> is a bridge from interoperable grid models to trustworthy operator assistance for the control room of the future.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I am happy to discuss the graph representation, the LLM-to-Cypher workflow, or the restoration and tool-integration demos.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109AA1-113C-9F40-9E98-63D20E56E086}" type="slidenum">
              <a:rPr lang="en-US" smtClean="0"/>
              <a:t>19</a:t>
            </a:fld>
            <a:endParaRPr lang="en-US"/>
          </a:p>
        </p:txBody>
      </p:sp>
    </p:spTree>
    <p:extLst>
      <p:ext uri="{BB962C8B-B14F-4D97-AF65-F5344CB8AC3E}">
        <p14:creationId xmlns:p14="http://schemas.microsoft.com/office/powerpoint/2010/main" val="1981178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backup slide if someone asks how the graph is organized. The static layer stores the physical and logical model. The dynamic layer stores operating states as snapshots linked back to the same equipment.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963251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if someone asks how a graph query becomes a power-system matrix. The query recovers the two endpoint buses of each line and the electrical parameters. Then a normal numerical routine builds the Y-bus matrix.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76084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backup slide for validation questions. The validation was not based on subjective answer quality; it compared the generated Cypher result with expected ground truth. The improved workflow performed much better, but complex topology and fault reasoning remain important research problems.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3768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for algorithm questions. The restoration planner is deliberately built from explainable graph primitives. The output is a ranked list of candidate options and equipment actions for human review.</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29065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backup slide if someone asks about weather. The current concept treats weather as exogenous context. It can explain likely fault causes, flag risky paths, and penalize restoration routes through high-risk branches.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560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B7DC-1A4D-CF19-01E7-9901C98ABE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C6B91-CAB6-9F7B-E767-441A935F7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FC0D5-B8F0-B1FB-6100-7A1154E72486}"/>
              </a:ext>
            </a:extLst>
          </p:cNvPr>
          <p:cNvSpPr>
            <a:spLocks noGrp="1"/>
          </p:cNvSpPr>
          <p:nvPr>
            <p:ph type="body" idx="1"/>
          </p:nvPr>
        </p:nvSpPr>
        <p:spPr/>
        <p:txBody>
          <a:bodyPr/>
          <a:lstStyle/>
          <a:p>
            <a:pPr algn="l">
              <a:buNone/>
            </a:pPr>
            <a:r>
              <a:rPr lang="en-US" b="0" i="0" u="none" strike="noStrike" dirty="0">
                <a:solidFill>
                  <a:srgbClr val="000000"/>
                </a:solidFill>
                <a:effectLst/>
                <a:latin typeface="-webkit-standard"/>
              </a:rPr>
              <a:t>And It shows the recent trend of agentic AI for Power gird across academia can </a:t>
            </a:r>
            <a:r>
              <a:rPr lang="en-US" b="0" i="0" u="none" strike="noStrike" dirty="0" err="1">
                <a:solidFill>
                  <a:srgbClr val="000000"/>
                </a:solidFill>
                <a:effectLst/>
                <a:latin typeface="-webkit-standard"/>
              </a:rPr>
              <a:t>indistruy</a:t>
            </a:r>
            <a:endParaRPr lang="en-US" b="0" i="0" u="none" strike="noStrike" dirty="0">
              <a:solidFill>
                <a:srgbClr val="000000"/>
              </a:solidFill>
              <a:effectLst/>
              <a:latin typeface="-webkit-standard"/>
            </a:endParaRPr>
          </a:p>
          <a:p>
            <a:pPr algn="l">
              <a:buNone/>
            </a:pPr>
            <a:r>
              <a:rPr lang="en-US" altLang="ko-KR" b="0" i="0" u="none" strike="noStrike" dirty="0">
                <a:solidFill>
                  <a:srgbClr val="000000"/>
                </a:solidFill>
                <a:effectLst/>
                <a:latin typeface="-webkit-standard"/>
              </a:rPr>
              <a:t>First there are Grid foundation models from the </a:t>
            </a:r>
            <a:r>
              <a:rPr lang="en-US" altLang="ko-KR" b="0" i="0" u="none" strike="noStrike" dirty="0" err="1">
                <a:solidFill>
                  <a:srgbClr val="000000"/>
                </a:solidFill>
                <a:effectLst/>
                <a:latin typeface="-webkit-standard"/>
              </a:rPr>
              <a:t>linux</a:t>
            </a:r>
            <a:r>
              <a:rPr lang="en-US" altLang="ko-KR" b="0" i="0" u="none" strike="noStrike" dirty="0">
                <a:solidFill>
                  <a:srgbClr val="000000"/>
                </a:solidFill>
                <a:effectLst/>
                <a:latin typeface="-webkit-standard"/>
              </a:rPr>
              <a:t> </a:t>
            </a:r>
            <a:r>
              <a:rPr lang="en-US" altLang="ko-KR" b="0" i="0" u="none" strike="noStrike" dirty="0" err="1">
                <a:solidFill>
                  <a:srgbClr val="000000"/>
                </a:solidFill>
                <a:effectLst/>
                <a:latin typeface="-webkit-standard"/>
              </a:rPr>
              <a:t>founcdation</a:t>
            </a:r>
            <a:r>
              <a:rPr lang="en-US" altLang="ko-KR" b="0" i="0" u="none" strike="noStrike" dirty="0">
                <a:solidFill>
                  <a:srgbClr val="000000"/>
                </a:solidFill>
                <a:effectLst/>
                <a:latin typeface="-webkit-standard"/>
              </a:rPr>
              <a:t> and </a:t>
            </a:r>
            <a:r>
              <a:rPr lang="en-US" altLang="ko-KR" b="0" i="0" u="none" strike="noStrike" dirty="0" err="1">
                <a:solidFill>
                  <a:srgbClr val="000000"/>
                </a:solidFill>
                <a:effectLst/>
                <a:latin typeface="-webkit-standard"/>
              </a:rPr>
              <a:t>microsft</a:t>
            </a:r>
            <a:r>
              <a:rPr lang="en-US" altLang="ko-KR" b="0" i="0" u="none" strike="noStrike" dirty="0">
                <a:solidFill>
                  <a:srgbClr val="000000"/>
                </a:solidFill>
                <a:effectLst/>
                <a:latin typeface="-webkit-standard"/>
              </a:rPr>
              <a:t> and Havard univ release Power Agent opensource </a:t>
            </a:r>
            <a:r>
              <a:rPr lang="en-US" altLang="ko-KR" b="0" i="0" u="none" strike="noStrike" dirty="0" err="1">
                <a:solidFill>
                  <a:srgbClr val="000000"/>
                </a:solidFill>
                <a:effectLst/>
                <a:latin typeface="-webkit-standard"/>
              </a:rPr>
              <a:t>commnigut</a:t>
            </a:r>
            <a:endParaRPr lang="en-US" altLang="ko-KR" b="0" i="0" u="none" strike="noStrike" dirty="0">
              <a:solidFill>
                <a:srgbClr val="000000"/>
              </a:solidFill>
              <a:effectLst/>
              <a:latin typeface="-webkit-standard"/>
            </a:endParaRPr>
          </a:p>
          <a:p>
            <a:pPr algn="l">
              <a:buNone/>
            </a:pPr>
            <a:endParaRPr lang="en-US" altLang="ko-KR" b="0" i="0" u="none" strike="noStrike" dirty="0">
              <a:solidFill>
                <a:srgbClr val="000000"/>
              </a:solidFill>
              <a:effectLst/>
              <a:latin typeface="-webkit-standard"/>
            </a:endParaRPr>
          </a:p>
          <a:p>
            <a:pPr algn="l">
              <a:buNone/>
            </a:pPr>
            <a:r>
              <a:rPr lang="en-US" altLang="ko-KR" b="0" i="0" u="none" strike="noStrike" dirty="0">
                <a:solidFill>
                  <a:srgbClr val="000000"/>
                </a:solidFill>
                <a:effectLst/>
                <a:latin typeface="-webkit-standard"/>
              </a:rPr>
              <a:t>There are some </a:t>
            </a:r>
            <a:r>
              <a:rPr lang="en-US" altLang="ko-KR" b="0" i="0" u="none" strike="noStrike" dirty="0" err="1">
                <a:solidFill>
                  <a:srgbClr val="000000"/>
                </a:solidFill>
                <a:effectLst/>
                <a:latin typeface="-webkit-standard"/>
              </a:rPr>
              <a:t>poupur</a:t>
            </a:r>
            <a:r>
              <a:rPr lang="en-US" altLang="ko-KR" b="0" i="0" u="none" strike="noStrike" dirty="0">
                <a:solidFill>
                  <a:srgbClr val="000000"/>
                </a:solidFill>
                <a:effectLst/>
                <a:latin typeface="-webkit-standard"/>
              </a:rPr>
              <a:t> open source community such as </a:t>
            </a:r>
            <a:r>
              <a:rPr lang="en-US" altLang="ko-KR" b="0" i="0" u="none" strike="noStrike" dirty="0" err="1">
                <a:solidFill>
                  <a:srgbClr val="000000"/>
                </a:solidFill>
                <a:effectLst/>
                <a:latin typeface="-webkit-standard"/>
              </a:rPr>
              <a:t>GridFM</a:t>
            </a:r>
            <a:r>
              <a:rPr lang="en-US" altLang="ko-KR" b="0" i="0" u="none" strike="noStrike" dirty="0">
                <a:solidFill>
                  <a:srgbClr val="000000"/>
                </a:solidFill>
                <a:effectLst/>
                <a:latin typeface="-webkit-standard"/>
              </a:rPr>
              <a:t> and </a:t>
            </a:r>
            <a:r>
              <a:rPr lang="en-US" altLang="ko-KR" b="0" i="0" u="none" strike="noStrike" dirty="0" err="1">
                <a:solidFill>
                  <a:srgbClr val="000000"/>
                </a:solidFill>
                <a:effectLst/>
                <a:latin typeface="-webkit-standard"/>
              </a:rPr>
              <a:t>GridSFM</a:t>
            </a:r>
            <a:r>
              <a:rPr lang="en-US" altLang="ko-KR" b="0" i="0" u="none" strike="noStrike" dirty="0">
                <a:solidFill>
                  <a:srgbClr val="000000"/>
                </a:solidFill>
                <a:effectLst/>
                <a:latin typeface="-webkit-standard"/>
              </a:rPr>
              <a:t> and Power </a:t>
            </a:r>
            <a:r>
              <a:rPr lang="en-US" altLang="ko-KR" b="0" i="0" u="none" strike="noStrike" dirty="0" err="1">
                <a:solidFill>
                  <a:srgbClr val="000000"/>
                </a:solidFill>
                <a:effectLst/>
                <a:latin typeface="-webkit-standard"/>
              </a:rPr>
              <a:t>agetn</a:t>
            </a:r>
            <a:endParaRPr lang="en-US" altLang="ko-KR" dirty="0"/>
          </a:p>
        </p:txBody>
      </p:sp>
      <p:sp>
        <p:nvSpPr>
          <p:cNvPr id="4" name="Slide Number Placeholder 3">
            <a:extLst>
              <a:ext uri="{FF2B5EF4-FFF2-40B4-BE49-F238E27FC236}">
                <a16:creationId xmlns:a16="http://schemas.microsoft.com/office/drawing/2014/main" id="{386FA30D-5EBD-353E-5F3E-4BE12F4CCA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63977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36E8-6704-51C2-3C5B-0CEC50C3F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97927-847D-47A3-EE80-44108087A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F2C30-6702-CB4D-4DB2-C6ED3C309637}"/>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2E063B07-13F5-0D5A-9DC8-1F6D31E4B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2807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98A81-BEEF-E29F-28E8-336996CDF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3CCE1-4F9D-043A-8EFD-916A7734D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D4FD0-39D2-375A-9172-B52AAC16DD7C}"/>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A5D90E37-C55A-ECBA-3746-8964334216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8426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0079D-F9C0-C783-50D2-10852A683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A05A7-09B4-3DB1-45EA-C1E464264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BAD8AC-9BCA-216E-9A8B-FE5A271EBF19}"/>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81A7499B-66D3-1B6A-994F-C4F2633E5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1471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5FA6-B3E5-A31F-F8B9-3E3FDB869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F54A6-18AE-B52D-B1C3-50205923D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9D52C-D092-4A2C-4EC8-3DB9AB31644E}"/>
              </a:ext>
            </a:extLst>
          </p:cNvPr>
          <p:cNvSpPr>
            <a:spLocks noGrp="1"/>
          </p:cNvSpPr>
          <p:nvPr>
            <p:ph type="body" idx="1"/>
          </p:nvPr>
        </p:nvSpPr>
        <p:spPr/>
        <p:txBody>
          <a:bodyPr/>
          <a:lstStyle/>
          <a:p>
            <a:pPr algn="l">
              <a:buNone/>
            </a:pPr>
            <a:r>
              <a:rPr lang="en-US" b="1" i="0" u="none" strike="noStrike" dirty="0">
                <a:solidFill>
                  <a:srgbClr val="000000"/>
                </a:solidFill>
                <a:effectLst/>
              </a:rPr>
              <a:t>1) CGMES (the blueprint)</a:t>
            </a:r>
          </a:p>
          <a:p>
            <a:pPr algn="l">
              <a:buNone/>
            </a:pPr>
            <a:r>
              <a:rPr lang="en-US" b="1" i="0" u="none" strike="noStrike" dirty="0">
                <a:solidFill>
                  <a:srgbClr val="000000"/>
                </a:solidFill>
                <a:effectLst/>
              </a:rPr>
              <a:t>What it is:</a:t>
            </a:r>
            <a:r>
              <a:rPr lang="en-US" b="0" i="0" u="none" strike="noStrike" dirty="0">
                <a:solidFill>
                  <a:srgbClr val="000000"/>
                </a:solidFill>
                <a:effectLst/>
              </a:rPr>
              <a:t> A standardized file that describes the network at a point in time—buses, lines, transformers, generators, switch states, electrical parameters.</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Load the snapshot into a simulator to run power flow or contingency studies.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“If Line L-10 trips, will anything overload?” → Load CGMES, run the study, see the result.</a:t>
            </a:r>
          </a:p>
          <a:p>
            <a:pPr algn="l">
              <a:buNone/>
            </a:pPr>
            <a:r>
              <a:rPr lang="en-US" b="0" i="1" u="none" strike="noStrike" dirty="0">
                <a:solidFill>
                  <a:srgbClr val="000000"/>
                </a:solidFill>
                <a:effectLst/>
              </a:rPr>
              <a:t>Limit:</a:t>
            </a:r>
            <a:r>
              <a:rPr lang="en-US" b="0" i="0" u="none" strike="noStrike" dirty="0">
                <a:solidFill>
                  <a:srgbClr val="000000"/>
                </a:solidFill>
                <a:effectLst/>
              </a:rPr>
              <a:t> Great for studies, but it’s just a snapshot. It doesn’t tell you where equipment sits on a map, what’s happening live, or which customers are out.</a:t>
            </a:r>
          </a:p>
          <a:p>
            <a:pPr algn="l">
              <a:buNone/>
            </a:pPr>
            <a:endParaRPr lang="en-US" b="0" i="0" u="none" strike="noStrike" dirty="0">
              <a:solidFill>
                <a:srgbClr val="000000"/>
              </a:solidFill>
              <a:effectLst/>
            </a:endParaRPr>
          </a:p>
          <a:p>
            <a:pPr algn="l">
              <a:buNone/>
            </a:pPr>
            <a:r>
              <a:rPr lang="en-US" b="1" i="0" u="none" strike="noStrike" dirty="0">
                <a:solidFill>
                  <a:srgbClr val="000000"/>
                </a:solidFill>
                <a:effectLst/>
              </a:rPr>
              <a:t>2) GIS (the map)</a:t>
            </a:r>
          </a:p>
          <a:p>
            <a:pPr algn="l">
              <a:buNone/>
            </a:pPr>
            <a:r>
              <a:rPr lang="en-US" b="1" i="0" u="none" strike="noStrike" dirty="0">
                <a:solidFill>
                  <a:srgbClr val="000000"/>
                </a:solidFill>
                <a:effectLst/>
              </a:rPr>
              <a:t>What it is:</a:t>
            </a:r>
            <a:r>
              <a:rPr lang="en-US" b="0" i="0" u="none" strike="noStrike" dirty="0">
                <a:solidFill>
                  <a:srgbClr val="000000"/>
                </a:solidFill>
                <a:effectLst/>
              </a:rPr>
              <a:t> Geographic positions of substations, poles, towers, underground routes, and right-of-way.</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Locate assets, plan switching or patrol routes, overlay risks (e.g., flood zones).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“Where is the open point that isolated Feeder F-17?” → The map shows the exact pole and switch to close.</a:t>
            </a:r>
          </a:p>
          <a:p>
            <a:pPr algn="l">
              <a:buNone/>
            </a:pPr>
            <a:endParaRPr lang="en-US" b="1" i="0" u="none" strike="noStrike" dirty="0">
              <a:solidFill>
                <a:srgbClr val="000000"/>
              </a:solidFill>
              <a:effectLst/>
            </a:endParaRPr>
          </a:p>
          <a:p>
            <a:pPr algn="l">
              <a:buNone/>
            </a:pPr>
            <a:r>
              <a:rPr lang="en-US" b="1" i="0" u="none" strike="noStrike" dirty="0">
                <a:solidFill>
                  <a:srgbClr val="000000"/>
                </a:solidFill>
                <a:effectLst/>
              </a:rPr>
              <a:t>3) SCADA &amp; EMS (the live sensors and control room apps)</a:t>
            </a:r>
          </a:p>
          <a:p>
            <a:pPr algn="l">
              <a:buNone/>
            </a:pPr>
            <a:r>
              <a:rPr lang="en-US" b="1" i="0" u="none" strike="noStrike" dirty="0">
                <a:solidFill>
                  <a:srgbClr val="000000"/>
                </a:solidFill>
                <a:effectLst/>
              </a:rPr>
              <a:t>SCADA</a:t>
            </a:r>
            <a:r>
              <a:rPr lang="en-US" b="0" i="0" u="none" strike="noStrike" dirty="0">
                <a:solidFill>
                  <a:srgbClr val="000000"/>
                </a:solidFill>
                <a:effectLst/>
              </a:rPr>
              <a:t> = live measurements and remote control (voltages, currents, breaker status).</a:t>
            </a:r>
            <a:br>
              <a:rPr lang="en-US" b="0" i="0" u="none" strike="noStrike" dirty="0">
                <a:solidFill>
                  <a:srgbClr val="000000"/>
                </a:solidFill>
                <a:effectLst/>
              </a:rPr>
            </a:br>
            <a:r>
              <a:rPr lang="en-US" b="1" i="0" u="none" strike="noStrike" dirty="0">
                <a:solidFill>
                  <a:srgbClr val="000000"/>
                </a:solidFill>
                <a:effectLst/>
              </a:rPr>
              <a:t>EMS</a:t>
            </a:r>
            <a:r>
              <a:rPr lang="en-US" b="0" i="0" u="none" strike="noStrike" dirty="0">
                <a:solidFill>
                  <a:srgbClr val="000000"/>
                </a:solidFill>
                <a:effectLst/>
              </a:rPr>
              <a:t> = control-room apps that use SCADA data (state estimation, contingency checks, optimal dispatch).</a:t>
            </a:r>
          </a:p>
          <a:p>
            <a:pPr algn="l"/>
            <a:r>
              <a:rPr lang="en-US" b="1" i="0" u="none" strike="noStrike" dirty="0">
                <a:solidFill>
                  <a:srgbClr val="000000"/>
                </a:solidFill>
                <a:effectLst/>
              </a:rPr>
              <a:t>How they’re used:</a:t>
            </a:r>
            <a:r>
              <a:rPr lang="en-US" b="0" i="0" u="none" strike="noStrike" dirty="0">
                <a:solidFill>
                  <a:srgbClr val="000000"/>
                </a:solidFill>
                <a:effectLst/>
              </a:rPr>
              <a:t> See what’s happening now, receive alarms, and make safe control actions.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“Is Bus B </a:t>
            </a:r>
            <a:r>
              <a:rPr lang="en-US" b="0" i="1" u="none" strike="noStrike" dirty="0">
                <a:solidFill>
                  <a:srgbClr val="000000"/>
                </a:solidFill>
                <a:effectLst/>
              </a:rPr>
              <a:t>really</a:t>
            </a:r>
            <a:r>
              <a:rPr lang="en-US" b="0" i="0" u="none" strike="noStrike" dirty="0">
                <a:solidFill>
                  <a:srgbClr val="000000"/>
                </a:solidFill>
                <a:effectLst/>
              </a:rPr>
              <a:t> low voltage?” → SCADA confirms the low reading and shows a nearby line is heavily loaded.</a:t>
            </a:r>
          </a:p>
        </p:txBody>
      </p:sp>
      <p:sp>
        <p:nvSpPr>
          <p:cNvPr id="4" name="Slide Number Placeholder 3">
            <a:extLst>
              <a:ext uri="{FF2B5EF4-FFF2-40B4-BE49-F238E27FC236}">
                <a16:creationId xmlns:a16="http://schemas.microsoft.com/office/drawing/2014/main" id="{2AE1D728-41E4-141F-1B82-F9321E888C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5510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70520-0717-97D1-E553-F71057E30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566E3-760E-6DAA-092D-B8BADB7CD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D52B7-2A6F-1CC0-1542-6FEA9B6D1792}"/>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C67B4C16-A422-3585-29D7-A4C77BEF021C}"/>
              </a:ext>
            </a:extLst>
          </p:cNvPr>
          <p:cNvSpPr>
            <a:spLocks noGrp="1"/>
          </p:cNvSpPr>
          <p:nvPr>
            <p:ph type="sldNum" sz="quarter" idx="5"/>
          </p:nvPr>
        </p:nvSpPr>
        <p:spPr/>
        <p:txBody>
          <a:bodyPr/>
          <a:lstStyle/>
          <a:p>
            <a:fld id="{E1F93703-73BA-47D5-8B02-C172375928DA}" type="slidenum">
              <a:rPr lang="de-DE" smtClean="0"/>
              <a:t>30</a:t>
            </a:fld>
            <a:endParaRPr lang="de-DE"/>
          </a:p>
        </p:txBody>
      </p:sp>
    </p:spTree>
    <p:extLst>
      <p:ext uri="{BB962C8B-B14F-4D97-AF65-F5344CB8AC3E}">
        <p14:creationId xmlns:p14="http://schemas.microsoft.com/office/powerpoint/2010/main" val="10313308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5ADD2-4017-D422-F8D6-50696CF6B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9BD8F-B8F5-BC74-2BD3-9F5AE0140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1EFF2-ADC4-7B4F-EC61-5EBC4EFE0406}"/>
              </a:ext>
            </a:extLst>
          </p:cNvPr>
          <p:cNvSpPr>
            <a:spLocks noGrp="1"/>
          </p:cNvSpPr>
          <p:nvPr>
            <p:ph type="body" idx="1"/>
          </p:nvPr>
        </p:nvSpPr>
        <p:spPr/>
        <p:txBody>
          <a:bodyPr/>
          <a:lstStyle/>
          <a:p>
            <a:pPr>
              <a:buNone/>
            </a:pPr>
            <a:r>
              <a:rPr lang="en-US" b="1" dirty="0"/>
              <a:t>CAPE (Convective Available Potential Energy)</a:t>
            </a:r>
            <a:r>
              <a:rPr lang="en-US" dirty="0"/>
              <a:t> — a measure of atmospheric instability (in J/kg). It indicates how much energy is available for air to rise rapidly. High CAPE means strong updrafts, which fuel thunderstorms and lightning. Values above 2,500–3,500 J/kg signal severe thunderstorm potential.</a:t>
            </a:r>
          </a:p>
          <a:p>
            <a:r>
              <a:rPr lang="en-US" b="1" dirty="0"/>
              <a:t>Wind gusts</a:t>
            </a:r>
            <a:r>
              <a:rPr lang="en-US" dirty="0"/>
              <a:t> — brief, sudden increases in wind speed that exceed the sustained (average) wind speed. For example, sustained wind might be 15 m/s but gusts can spike to 25 m/s. Gusts are more dangerous to power lines than steady wind because of the sudden mechanical stress they impose.</a:t>
            </a:r>
          </a:p>
        </p:txBody>
      </p:sp>
      <p:sp>
        <p:nvSpPr>
          <p:cNvPr id="4" name="Slide Number Placeholder 3">
            <a:extLst>
              <a:ext uri="{FF2B5EF4-FFF2-40B4-BE49-F238E27FC236}">
                <a16:creationId xmlns:a16="http://schemas.microsoft.com/office/drawing/2014/main" id="{75057697-3505-AE1A-A3F1-3128A82AE2EB}"/>
              </a:ext>
            </a:extLst>
          </p:cNvPr>
          <p:cNvSpPr>
            <a:spLocks noGrp="1"/>
          </p:cNvSpPr>
          <p:nvPr>
            <p:ph type="sldNum" sz="quarter" idx="5"/>
          </p:nvPr>
        </p:nvSpPr>
        <p:spPr/>
        <p:txBody>
          <a:bodyPr/>
          <a:lstStyle/>
          <a:p>
            <a:fld id="{E1F93703-73BA-47D5-8B02-C172375928DA}" type="slidenum">
              <a:rPr lang="de-DE" smtClean="0"/>
              <a:t>31</a:t>
            </a:fld>
            <a:endParaRPr lang="de-DE"/>
          </a:p>
        </p:txBody>
      </p:sp>
    </p:spTree>
    <p:extLst>
      <p:ext uri="{BB962C8B-B14F-4D97-AF65-F5344CB8AC3E}">
        <p14:creationId xmlns:p14="http://schemas.microsoft.com/office/powerpoint/2010/main" val="24217164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E26C-69EF-AEBD-BF9B-FEC72E69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F0314-813D-DBB2-EEE9-C615900F5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48C41-5B8F-D58B-FE61-7D619EB762A7}"/>
              </a:ext>
            </a:extLst>
          </p:cNvPr>
          <p:cNvSpPr>
            <a:spLocks noGrp="1"/>
          </p:cNvSpPr>
          <p:nvPr>
            <p:ph type="body" idx="1"/>
          </p:nvPr>
        </p:nvSpPr>
        <p:spPr/>
        <p:txBody>
          <a:bodyPr/>
          <a:lstStyle/>
          <a:p>
            <a:pPr>
              <a:buNone/>
            </a:pPr>
            <a:r>
              <a:rPr lang="en-US" b="1" dirty="0"/>
              <a:t>CAPE (Convective Available Potential Energy)</a:t>
            </a:r>
            <a:r>
              <a:rPr lang="en-US" dirty="0"/>
              <a:t> — a measure of atmospheric instability (in J/kg). It indicates how much energy is available for air to rise rapidly. High CAPE means strong updrafts, which fuel thunderstorms and lightning. Values above 2,500–3,500 J/kg signal severe thunderstorm potential.</a:t>
            </a:r>
          </a:p>
          <a:p>
            <a:r>
              <a:rPr lang="en-US" b="1" dirty="0"/>
              <a:t>Wind gusts</a:t>
            </a:r>
            <a:r>
              <a:rPr lang="en-US" dirty="0"/>
              <a:t> — brief, sudden increases in wind speed that exceed the sustained (average) wind speed. For example, sustained wind might be 15 m/s but gusts can spike to 25 m/s. Gusts are more dangerous to power lines than steady wind because of the sudden mechanical stress they impose.</a:t>
            </a:r>
          </a:p>
        </p:txBody>
      </p:sp>
      <p:sp>
        <p:nvSpPr>
          <p:cNvPr id="4" name="Slide Number Placeholder 3">
            <a:extLst>
              <a:ext uri="{FF2B5EF4-FFF2-40B4-BE49-F238E27FC236}">
                <a16:creationId xmlns:a16="http://schemas.microsoft.com/office/drawing/2014/main" id="{8A288290-CB01-D492-B404-240972FFF7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79171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A7C06-F897-0E16-6DAB-FB8CB0894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E935F-851A-916F-21E6-6D4BE1C6A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4C83A-84F3-104C-83C4-8FB097045E30}"/>
              </a:ext>
            </a:extLst>
          </p:cNvPr>
          <p:cNvSpPr>
            <a:spLocks noGrp="1"/>
          </p:cNvSpPr>
          <p:nvPr>
            <p:ph type="body" idx="1"/>
          </p:nvPr>
        </p:nvSpPr>
        <p:spPr/>
        <p:txBody>
          <a:bodyPr/>
          <a:lstStyle/>
          <a:p>
            <a:pPr>
              <a:buNone/>
            </a:pPr>
            <a:r>
              <a:rPr lang="en-US" b="1" dirty="0"/>
              <a:t>CAPE (Convective Available Potential Energy)</a:t>
            </a:r>
            <a:r>
              <a:rPr lang="en-US" dirty="0"/>
              <a:t> — a measure of atmospheric instability (in J/kg). It indicates how much energy is available for air to rise rapidly. High CAPE means strong updrafts, which fuel thunderstorms and lightning. Values above 2,500–3,500 J/kg signal severe thunderstorm potential.</a:t>
            </a:r>
          </a:p>
          <a:p>
            <a:r>
              <a:rPr lang="en-US" b="1" dirty="0"/>
              <a:t>Wind gusts</a:t>
            </a:r>
            <a:r>
              <a:rPr lang="en-US" dirty="0"/>
              <a:t> — brief, sudden increases in wind speed that exceed the sustained (average) wind speed. For example, sustained wind might be 15 m/s but gusts can spike to 25 m/s. Gusts are more dangerous to power lines than steady wind because of the sudden mechanical stress they impose.</a:t>
            </a:r>
          </a:p>
        </p:txBody>
      </p:sp>
      <p:sp>
        <p:nvSpPr>
          <p:cNvPr id="4" name="Slide Number Placeholder 3">
            <a:extLst>
              <a:ext uri="{FF2B5EF4-FFF2-40B4-BE49-F238E27FC236}">
                <a16:creationId xmlns:a16="http://schemas.microsoft.com/office/drawing/2014/main" id="{AA3D8831-AB28-2148-5FFD-37E1DDC02B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38828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0F5B6-9138-3591-5F3A-53F5E04AD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686DF-353E-8B06-53FD-B3261F5FC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6900B5-CADB-C176-4CE4-E656FE1892EC}"/>
              </a:ext>
            </a:extLst>
          </p:cNvPr>
          <p:cNvSpPr>
            <a:spLocks noGrp="1"/>
          </p:cNvSpPr>
          <p:nvPr>
            <p:ph type="body" idx="1"/>
          </p:nvPr>
        </p:nvSpPr>
        <p:spPr/>
        <p:txBody>
          <a:bodyPr/>
          <a:lstStyle/>
          <a:p>
            <a:pPr>
              <a:buNone/>
            </a:pPr>
            <a:r>
              <a:rPr lang="en-US" b="1" dirty="0"/>
              <a:t>CAPE (Convective Available Potential Energy)</a:t>
            </a:r>
            <a:r>
              <a:rPr lang="en-US" dirty="0"/>
              <a:t> — a measure of atmospheric instability (in J/kg). It indicates how much energy is available for air to rise rapidly. High CAPE means strong updrafts, which fuel thunderstorms and lightning. Values above 2,500–3,500 J/kg signal severe thunderstorm potential.</a:t>
            </a:r>
          </a:p>
          <a:p>
            <a:r>
              <a:rPr lang="en-US" b="1" dirty="0"/>
              <a:t>Wind gusts</a:t>
            </a:r>
            <a:r>
              <a:rPr lang="en-US" dirty="0"/>
              <a:t> — brief, sudden increases in wind speed that exceed the sustained (average) wind speed. For example, sustained wind might be 15 m/s but gusts can spike to 25 m/s. Gusts are more dangerous to power lines than steady wind because of the sudden mechanical stress they impose.</a:t>
            </a:r>
          </a:p>
        </p:txBody>
      </p:sp>
      <p:sp>
        <p:nvSpPr>
          <p:cNvPr id="4" name="Slide Number Placeholder 3">
            <a:extLst>
              <a:ext uri="{FF2B5EF4-FFF2-40B4-BE49-F238E27FC236}">
                <a16:creationId xmlns:a16="http://schemas.microsoft.com/office/drawing/2014/main" id="{A29E4F0D-99A3-11BB-4D98-F1FE1F167C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17511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E0C5-CB6E-7478-0846-2E369060E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25494-6566-7B62-B1B9-AC1DAB315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C9C86-D1AF-20BB-30FB-5C3E13705D1C}"/>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77FAF9B7-B932-2BE9-7E57-0F725CB32E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709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63904-AC61-9367-929D-D2AD88027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0B464-3E19-DF12-72B7-A808D94DD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47C0E-10A2-D4B1-6130-9F138FE998F2}"/>
              </a:ext>
            </a:extLst>
          </p:cNvPr>
          <p:cNvSpPr>
            <a:spLocks noGrp="1"/>
          </p:cNvSpPr>
          <p:nvPr>
            <p:ph type="body" idx="1"/>
          </p:nvPr>
        </p:nvSpPr>
        <p:spPr/>
        <p:txBody>
          <a:bodyPr/>
          <a:lstStyle/>
          <a:p>
            <a:pPr marL="342900" marR="0" lvl="0" indent="-342900">
              <a:lnSpc>
                <a:spcPct val="107000"/>
              </a:lnSpc>
              <a:spcAft>
                <a:spcPts val="800"/>
              </a:spcAft>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Extend the system with the forecast-oriented use case discussed with LVN for the Augsburg region, where users can ask the LLM interface about expected lightning or severe-weather risk in the LVN grid. [6]</a:t>
            </a:r>
          </a:p>
          <a:p>
            <a:pPr marL="342900" marR="0" lvl="0" indent="-342900">
              <a:lnSpc>
                <a:spcPct val="107000"/>
              </a:lnSpc>
              <a:spcAft>
                <a:spcPts val="800"/>
              </a:spcAft>
              <a:buFont typeface="Bahnschrift" panose="020B0502040204020203" pitchFamily="34" charset="0"/>
              <a:buChar char="•"/>
            </a:pPr>
            <a:endParaRPr lang="en-US" sz="1800" dirty="0">
              <a:effectLst/>
              <a:latin typeface="Bahnschrift" panose="020B0502040204020203" pitchFamily="34" charset="0"/>
              <a:ea typeface="Batang" panose="02030600000101010101" pitchFamily="18" charset="-127"/>
              <a:cs typeface="Arial" panose="020B0604020202020204" pitchFamily="34" charset="0"/>
            </a:endParaRPr>
          </a:p>
          <a:p>
            <a:pPr marL="342900" marR="0" lvl="0" indent="-342900">
              <a:lnSpc>
                <a:spcPct val="107000"/>
              </a:lnSpc>
              <a:spcAft>
                <a:spcPts val="200"/>
              </a:spcAft>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Connect validated real grid-operator coordinates from CGMES/GIS so that the map view can move from demonstration mode to an operational geographic view.</a:t>
            </a:r>
            <a:endParaRPr lang="en-US" sz="1800" dirty="0">
              <a:effectLst/>
              <a:latin typeface="Calibri" panose="020F0502020204030204" pitchFamily="34" charset="0"/>
              <a:ea typeface="Batang" panose="02030600000101010101" pitchFamily="18" charset="-127"/>
              <a:cs typeface="Arial" panose="020B0604020202020204" pitchFamily="34" charset="0"/>
            </a:endParaRPr>
          </a:p>
          <a:p>
            <a:pPr marL="342900" marR="0" lvl="0" indent="-342900">
              <a:lnSpc>
                <a:spcPct val="107000"/>
              </a:lnSpc>
              <a:spcAft>
                <a:spcPts val="200"/>
              </a:spcAft>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Calibrate weather-risk models with asset-specific limits and historical outage/weather data.</a:t>
            </a:r>
            <a:endParaRPr lang="en-US" sz="1800" dirty="0">
              <a:effectLst/>
              <a:latin typeface="Calibri" panose="020F0502020204030204" pitchFamily="34" charset="0"/>
              <a:ea typeface="Batang" panose="02030600000101010101" pitchFamily="18" charset="-127"/>
              <a:cs typeface="Arial" panose="020B0604020202020204" pitchFamily="34" charset="0"/>
            </a:endParaRPr>
          </a:p>
          <a:p>
            <a:pPr marL="342900" marR="0" lvl="0" indent="-342900">
              <a:lnSpc>
                <a:spcPct val="107000"/>
              </a:lnSpc>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Extend the LLM interface into a controlled tool-calling layer through which external functions for congestion management, contingency analysis, mathematical grid calculations, and restoration support can be invoked, similar to the principle of delegating complex calculations to specialized computational tools rather than expecting the language model itself to perform them.</a:t>
            </a:r>
            <a:endParaRPr lang="en-US" sz="1800" dirty="0">
              <a:effectLst/>
              <a:latin typeface="Calibri" panose="020F0502020204030204" pitchFamily="34" charset="0"/>
              <a:ea typeface="Batang" panose="02030600000101010101" pitchFamily="18" charset="-127"/>
              <a:cs typeface="Arial" panose="020B0604020202020204" pitchFamily="34" charset="0"/>
            </a:endParaRPr>
          </a:p>
          <a:p>
            <a:pPr marL="342900" marR="0" lvl="0" indent="-342900">
              <a:lnSpc>
                <a:spcPct val="107000"/>
              </a:lnSpc>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Extend the system with the forecast-oriented use case discussed with LVN for the Augsburg region, where users can ask the LLM interface about expected lightning or severe-weather risk in the LVN grid. [6]</a:t>
            </a:r>
            <a:endParaRPr lang="en-US" sz="1800" dirty="0">
              <a:effectLst/>
              <a:latin typeface="Calibri" panose="020F0502020204030204" pitchFamily="34" charset="0"/>
              <a:ea typeface="Batang" panose="02030600000101010101" pitchFamily="18" charset="-127"/>
              <a:cs typeface="Arial" panose="020B0604020202020204" pitchFamily="34" charset="0"/>
            </a:endParaRPr>
          </a:p>
          <a:p>
            <a:pPr marL="342900" marR="0" lvl="0" indent="-342900">
              <a:lnSpc>
                <a:spcPct val="107000"/>
              </a:lnSpc>
              <a:spcAft>
                <a:spcPts val="800"/>
              </a:spcAft>
              <a:buFont typeface="Bahnschrift" panose="020B0502040204020203" pitchFamily="34" charset="0"/>
              <a:buChar char="•"/>
            </a:pPr>
            <a:r>
              <a:rPr lang="en-US" sz="1800" dirty="0">
                <a:effectLst/>
                <a:latin typeface="Bahnschrift" panose="020B0502040204020203" pitchFamily="34" charset="0"/>
                <a:ea typeface="Batang" panose="02030600000101010101" pitchFamily="18" charset="-127"/>
                <a:cs typeface="Arial" panose="020B0604020202020204" pitchFamily="34" charset="0"/>
              </a:rPr>
              <a:t>Validate on real LVN grid models and integrate with TP3 workflows for automated fault management and grid restoration.</a:t>
            </a:r>
            <a:endParaRPr lang="en-US" sz="1800" dirty="0">
              <a:effectLst/>
              <a:latin typeface="Calibri" panose="020F0502020204030204" pitchFamily="34" charset="0"/>
              <a:ea typeface="Batang" panose="02030600000101010101" pitchFamily="18" charset="-127"/>
              <a:cs typeface="Arial" panose="020B0604020202020204" pitchFamily="34" charset="0"/>
            </a:endParaRPr>
          </a:p>
          <a:p>
            <a:pPr marL="342900" marR="0" lvl="0" indent="-342900">
              <a:lnSpc>
                <a:spcPct val="107000"/>
              </a:lnSpc>
              <a:spcAft>
                <a:spcPts val="800"/>
              </a:spcAft>
              <a:buFont typeface="Bahnschrift" panose="020B0502040204020203" pitchFamily="34" charset="0"/>
              <a:buChar char="•"/>
            </a:pPr>
            <a:endParaRPr lang="en-US" sz="1800" dirty="0">
              <a:effectLst/>
              <a:latin typeface="Calibri" panose="020F0502020204030204" pitchFamily="34" charset="0"/>
              <a:ea typeface="Batang" panose="02030600000101010101" pitchFamily="18" charset="-127"/>
              <a:cs typeface="Arial" panose="020B0604020202020204" pitchFamily="34" charset="0"/>
            </a:endParaRPr>
          </a:p>
        </p:txBody>
      </p:sp>
      <p:sp>
        <p:nvSpPr>
          <p:cNvPr id="4" name="Slide Number Placeholder 3">
            <a:extLst>
              <a:ext uri="{FF2B5EF4-FFF2-40B4-BE49-F238E27FC236}">
                <a16:creationId xmlns:a16="http://schemas.microsoft.com/office/drawing/2014/main" id="{71425986-ECA3-73DE-753A-BF0AEAF597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9502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D8C5F-D20E-7090-5217-7BB088B35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9DB07-729D-5431-2437-DC6EB3ABB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0BFC8-1D63-4B14-7D76-E4A4735D552C}"/>
              </a:ext>
            </a:extLst>
          </p:cNvPr>
          <p:cNvSpPr>
            <a:spLocks noGrp="1"/>
          </p:cNvSpPr>
          <p:nvPr>
            <p:ph type="body" idx="1"/>
          </p:nvPr>
        </p:nvSpPr>
        <p:spPr/>
        <p:txBody>
          <a:bodyPr/>
          <a:lstStyle/>
          <a:p>
            <a:pPr>
              <a:buNone/>
            </a:pPr>
            <a:r>
              <a:rPr lang="en-US" sz="2800" dirty="0"/>
              <a:t>Finally, I want to wrap this up by introducing some additional sources related to the idea of the “control room of the future.”</a:t>
            </a:r>
          </a:p>
          <a:p>
            <a:pPr>
              <a:buNone/>
            </a:pPr>
            <a:r>
              <a:rPr lang="en-US" sz="2800" dirty="0"/>
              <a:t>Here, </a:t>
            </a:r>
            <a:r>
              <a:rPr lang="en-US" sz="2800" dirty="0" err="1"/>
              <a:t>GridOS</a:t>
            </a:r>
            <a:r>
              <a:rPr lang="en-US" sz="2800" dirty="0"/>
              <a:t> from GE </a:t>
            </a:r>
            <a:r>
              <a:rPr lang="en-US" sz="2800" dirty="0" err="1"/>
              <a:t>Vernova</a:t>
            </a:r>
            <a:r>
              <a:rPr lang="en-US" sz="2800" dirty="0"/>
              <a:t> is especially aligned with the idea of TP5, since it aims to build a unified grid intelligence platform based on data from SCADA, AMI, EMS, ADMS, and other operational data.</a:t>
            </a:r>
          </a:p>
          <a:p>
            <a:pPr>
              <a:buNone/>
            </a:pPr>
            <a:r>
              <a:rPr lang="en-US" sz="2800" dirty="0"/>
              <a:t>Hitachi Energy also explicitly uses the term “control room of the future,” emphasizing AI, digital twins, and grid automation.</a:t>
            </a:r>
          </a:p>
          <a:p>
            <a:pPr>
              <a:buNone/>
            </a:pPr>
            <a:r>
              <a:rPr lang="en-US" sz="2800" dirty="0"/>
              <a:t>Siemens is also moving in this direction with its Grid AI Lab Orlando, which provides a realistic testing environment to safely validate and stress-test grid operation methods.</a:t>
            </a:r>
          </a:p>
          <a:p>
            <a:r>
              <a:rPr lang="en-US" sz="2800" dirty="0"/>
              <a:t>So overall, these industrial examples show that our direction is well aligned with current trends toward AI-based and data-driven grid operation.</a:t>
            </a:r>
          </a:p>
          <a:p>
            <a:pPr marL="342900" marR="0" lvl="0" indent="-342900">
              <a:lnSpc>
                <a:spcPct val="107000"/>
              </a:lnSpc>
              <a:spcAft>
                <a:spcPts val="800"/>
              </a:spcAft>
              <a:buFont typeface="Bahnschrift" panose="020B0502040204020203" pitchFamily="34" charset="0"/>
              <a:buChar char="•"/>
            </a:pPr>
            <a:endParaRPr lang="en-US" sz="1800" dirty="0">
              <a:effectLst/>
              <a:latin typeface="Calibri" panose="020F0502020204030204" pitchFamily="34" charset="0"/>
              <a:ea typeface="Batang" panose="02030600000101010101" pitchFamily="18" charset="-127"/>
              <a:cs typeface="Arial" panose="020B0604020202020204" pitchFamily="34" charset="0"/>
            </a:endParaRPr>
          </a:p>
        </p:txBody>
      </p:sp>
      <p:sp>
        <p:nvSpPr>
          <p:cNvPr id="4" name="Slide Number Placeholder 3">
            <a:extLst>
              <a:ext uri="{FF2B5EF4-FFF2-40B4-BE49-F238E27FC236}">
                <a16:creationId xmlns:a16="http://schemas.microsoft.com/office/drawing/2014/main" id="{CE22ADFE-1CD8-6091-C6C2-DADB0F1B9E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84201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F3F1B-C9B5-E08E-ADAC-51487040E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54758-91AF-EDD4-36AB-ADC24FF95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59A4C-7BBE-CE3B-E6BE-A9C43D2AB35C}"/>
              </a:ext>
            </a:extLst>
          </p:cNvPr>
          <p:cNvSpPr>
            <a:spLocks noGrp="1"/>
          </p:cNvSpPr>
          <p:nvPr>
            <p:ph type="body" idx="1"/>
          </p:nvPr>
        </p:nvSpPr>
        <p:spPr/>
        <p:txBody>
          <a:bodyPr/>
          <a:lstStyle/>
          <a:p>
            <a:pPr>
              <a:buNone/>
            </a:pPr>
            <a:r>
              <a:rPr lang="ko-KR" altLang="en-US" sz="4000" dirty="0"/>
              <a:t>첫 번째 이미지는 </a:t>
            </a:r>
            <a:r>
              <a:rPr lang="en-US" sz="4000" dirty="0" err="1"/>
              <a:t>GridOS</a:t>
            </a:r>
            <a:r>
              <a:rPr lang="en-US" sz="4000" dirty="0"/>
              <a:t> </a:t>
            </a:r>
            <a:r>
              <a:rPr lang="ko-KR" altLang="en-US" sz="4000" dirty="0"/>
              <a:t>전체 아키텍처를 보여주는 슬라이드로 보인다</a:t>
            </a:r>
            <a:r>
              <a:rPr lang="en-US" altLang="ko-KR" sz="4000" dirty="0"/>
              <a:t>. </a:t>
            </a:r>
            <a:r>
              <a:rPr lang="ko-KR" altLang="en-US" sz="4000" dirty="0"/>
              <a:t>상단은 </a:t>
            </a:r>
            <a:r>
              <a:rPr lang="en-US" sz="4000" dirty="0" err="1"/>
              <a:t>GridOS</a:t>
            </a:r>
            <a:r>
              <a:rPr lang="en-US" sz="4000" dirty="0"/>
              <a:t> Applications, </a:t>
            </a:r>
            <a:r>
              <a:rPr lang="ko-KR" altLang="en-US" sz="4000" dirty="0"/>
              <a:t>하단은 </a:t>
            </a:r>
            <a:r>
              <a:rPr lang="en-US" sz="4000" dirty="0" err="1"/>
              <a:t>GridOS</a:t>
            </a:r>
            <a:r>
              <a:rPr lang="en-US" sz="4000" dirty="0"/>
              <a:t> Platform</a:t>
            </a:r>
            <a:r>
              <a:rPr lang="ko-KR" altLang="en-US" sz="4000" dirty="0"/>
              <a:t>이다</a:t>
            </a:r>
            <a:r>
              <a:rPr lang="en-US" altLang="ko-KR" sz="4000" dirty="0"/>
              <a:t>. </a:t>
            </a:r>
            <a:r>
              <a:rPr lang="ko-KR" altLang="en-US" sz="4000" dirty="0"/>
              <a:t>애플리케이션 레벨에서는 </a:t>
            </a:r>
            <a:r>
              <a:rPr lang="en-US" sz="4000" dirty="0"/>
              <a:t>Plan, Operate, Transact</a:t>
            </a:r>
            <a:r>
              <a:rPr lang="ko-KR" altLang="en-US" sz="4000" dirty="0"/>
              <a:t>가 나뉘어 있고</a:t>
            </a:r>
            <a:r>
              <a:rPr lang="en-US" altLang="ko-KR" sz="4000" dirty="0"/>
              <a:t>, </a:t>
            </a:r>
            <a:r>
              <a:rPr lang="ko-KR" altLang="en-US" sz="4000" dirty="0"/>
              <a:t>각각 계획</a:t>
            </a:r>
            <a:r>
              <a:rPr lang="en-US" altLang="ko-KR" sz="4000" dirty="0"/>
              <a:t>·</a:t>
            </a:r>
            <a:r>
              <a:rPr lang="ko-KR" altLang="en-US" sz="4000" dirty="0"/>
              <a:t>운영</a:t>
            </a:r>
            <a:r>
              <a:rPr lang="en-US" altLang="ko-KR" sz="4000" dirty="0"/>
              <a:t>·</a:t>
            </a:r>
            <a:r>
              <a:rPr lang="ko-KR" altLang="en-US" sz="4000" dirty="0"/>
              <a:t>시장 기능을 담당한다</a:t>
            </a:r>
            <a:r>
              <a:rPr lang="en-US" altLang="ko-KR" sz="4000" dirty="0"/>
              <a:t>. </a:t>
            </a:r>
            <a:r>
              <a:rPr lang="en-US" sz="4000" dirty="0"/>
              <a:t>Plan</a:t>
            </a:r>
            <a:r>
              <a:rPr lang="ko-KR" altLang="en-US" sz="4000" dirty="0"/>
              <a:t>에는 </a:t>
            </a:r>
            <a:r>
              <a:rPr lang="en-US" sz="4000" dirty="0"/>
              <a:t>geo network management, analytics</a:t>
            </a:r>
            <a:r>
              <a:rPr lang="ko-KR" altLang="en-US" sz="4000" dirty="0"/>
              <a:t>가 있고</a:t>
            </a:r>
            <a:r>
              <a:rPr lang="en-US" altLang="ko-KR" sz="4000" dirty="0"/>
              <a:t>, </a:t>
            </a:r>
            <a:r>
              <a:rPr lang="en-US" sz="4000" dirty="0"/>
              <a:t>Operate</a:t>
            </a:r>
            <a:r>
              <a:rPr lang="ko-KR" altLang="en-US" sz="4000" dirty="0"/>
              <a:t>에는 </a:t>
            </a:r>
            <a:r>
              <a:rPr lang="en-US" sz="4000" dirty="0"/>
              <a:t>AEMS, ADMS, DERMS</a:t>
            </a:r>
            <a:r>
              <a:rPr lang="ko-KR" altLang="en-US" sz="4000" dirty="0"/>
              <a:t>가 있다</a:t>
            </a:r>
            <a:r>
              <a:rPr lang="en-US" altLang="ko-KR" sz="4000" dirty="0"/>
              <a:t>. </a:t>
            </a:r>
            <a:r>
              <a:rPr lang="ko-KR" altLang="en-US" sz="4000" dirty="0"/>
              <a:t>즉 송전 </a:t>
            </a:r>
            <a:r>
              <a:rPr lang="en-US" sz="4000" dirty="0"/>
              <a:t>EMS, </a:t>
            </a:r>
            <a:r>
              <a:rPr lang="ko-KR" altLang="en-US" sz="4000" dirty="0"/>
              <a:t>배전 </a:t>
            </a:r>
            <a:r>
              <a:rPr lang="en-US" sz="4000" dirty="0"/>
              <a:t>ADMS, DER </a:t>
            </a:r>
            <a:r>
              <a:rPr lang="ko-KR" altLang="en-US" sz="4000" dirty="0"/>
              <a:t>관리까지 하나의 운영 포트폴리오로 묶겠다는 메시지다</a:t>
            </a:r>
            <a:r>
              <a:rPr lang="en-US" altLang="ko-KR" sz="4000" dirty="0"/>
              <a:t>. </a:t>
            </a:r>
            <a:r>
              <a:rPr lang="ko-KR" altLang="en-US" sz="4000" dirty="0"/>
              <a:t>하단 플랫폼에는 </a:t>
            </a:r>
            <a:r>
              <a:rPr lang="en-US" sz="4000" dirty="0"/>
              <a:t>SCADA, simulation, modeling, forecasting, unified UI/UX, zero-trust security, grid data fabric</a:t>
            </a:r>
            <a:r>
              <a:rPr lang="ko-KR" altLang="en-US" sz="4000" dirty="0"/>
              <a:t>이 보인다</a:t>
            </a:r>
            <a:r>
              <a:rPr lang="en-US" altLang="ko-KR" sz="4000" dirty="0"/>
              <a:t>. </a:t>
            </a:r>
            <a:r>
              <a:rPr lang="ko-KR" altLang="en-US" sz="4000" dirty="0"/>
              <a:t>핵심은 </a:t>
            </a:r>
            <a:r>
              <a:rPr lang="en-US" sz="4000" dirty="0" err="1"/>
              <a:t>GridOS</a:t>
            </a:r>
            <a:r>
              <a:rPr lang="ko-KR" altLang="en-US" sz="4000" dirty="0"/>
              <a:t>가 단순한 </a:t>
            </a:r>
            <a:r>
              <a:rPr lang="en-US" sz="4000" dirty="0"/>
              <a:t>EMS </a:t>
            </a:r>
            <a:r>
              <a:rPr lang="ko-KR" altLang="en-US" sz="4000" dirty="0"/>
              <a:t>화면이 아니라</a:t>
            </a:r>
            <a:r>
              <a:rPr lang="en-US" altLang="ko-KR" sz="4000" dirty="0"/>
              <a:t>, </a:t>
            </a:r>
            <a:r>
              <a:rPr lang="ko-KR" altLang="en-US" sz="4000" dirty="0"/>
              <a:t>데이터</a:t>
            </a:r>
            <a:r>
              <a:rPr lang="en-US" altLang="ko-KR" sz="4000" dirty="0"/>
              <a:t>·</a:t>
            </a:r>
            <a:r>
              <a:rPr lang="ko-KR" altLang="en-US" sz="4000" dirty="0"/>
              <a:t>보안</a:t>
            </a:r>
            <a:r>
              <a:rPr lang="en-US" altLang="ko-KR" sz="4000" dirty="0"/>
              <a:t>·</a:t>
            </a:r>
            <a:r>
              <a:rPr lang="ko-KR" altLang="en-US" sz="4000" dirty="0"/>
              <a:t>시뮬레이션</a:t>
            </a:r>
            <a:r>
              <a:rPr lang="en-US" altLang="ko-KR" sz="4000" dirty="0"/>
              <a:t>·</a:t>
            </a:r>
            <a:r>
              <a:rPr lang="ko-KR" altLang="en-US" sz="4000" dirty="0"/>
              <a:t>예측</a:t>
            </a:r>
            <a:r>
              <a:rPr lang="en-US" altLang="ko-KR" sz="4000" dirty="0"/>
              <a:t>·</a:t>
            </a:r>
            <a:r>
              <a:rPr lang="ko-KR" altLang="en-US" sz="4000" dirty="0"/>
              <a:t>운영 앱을 공통 플랫폼 위에 올리는 “</a:t>
            </a:r>
            <a:r>
              <a:rPr lang="en-US" sz="4000" dirty="0"/>
              <a:t>grid orchestration software”</a:t>
            </a:r>
            <a:r>
              <a:rPr lang="ko-KR" altLang="en-US" sz="4000" dirty="0"/>
              <a:t>라는 점이다</a:t>
            </a:r>
            <a:r>
              <a:rPr lang="en-US" altLang="ko-KR" sz="4000" dirty="0"/>
              <a:t>.</a:t>
            </a:r>
          </a:p>
          <a:p>
            <a:pPr>
              <a:buNone/>
            </a:pPr>
            <a:br>
              <a:rPr lang="en-US" altLang="ko-KR" sz="4000" dirty="0"/>
            </a:br>
            <a:endParaRPr lang="en-US" altLang="ko-KR" sz="4000" dirty="0"/>
          </a:p>
          <a:p>
            <a:pPr>
              <a:buNone/>
            </a:pPr>
            <a:r>
              <a:rPr lang="ko-KR" altLang="en-US" sz="4000" dirty="0"/>
              <a:t>두 번째 이미지는 통합 운영 대시보드처럼 보인다</a:t>
            </a:r>
            <a:r>
              <a:rPr lang="en-US" altLang="ko-KR" sz="4000" dirty="0"/>
              <a:t>. </a:t>
            </a:r>
            <a:r>
              <a:rPr lang="ko-KR" altLang="en-US" sz="4000" dirty="0"/>
              <a:t>왼쪽 위는 </a:t>
            </a:r>
            <a:r>
              <a:rPr lang="en-US" sz="4000" dirty="0"/>
              <a:t>operator dashboard</a:t>
            </a:r>
            <a:r>
              <a:rPr lang="ko-KR" altLang="en-US" sz="4000" dirty="0"/>
              <a:t>로</a:t>
            </a:r>
            <a:r>
              <a:rPr lang="en-US" altLang="ko-KR" sz="4000" dirty="0"/>
              <a:t>, </a:t>
            </a:r>
            <a:r>
              <a:rPr lang="ko-KR" altLang="en-US" sz="4000" dirty="0"/>
              <a:t>경보나 </a:t>
            </a:r>
            <a:r>
              <a:rPr lang="en-US" sz="4000" dirty="0"/>
              <a:t>operational item</a:t>
            </a:r>
            <a:r>
              <a:rPr lang="ko-KR" altLang="en-US" sz="4000" dirty="0"/>
              <a:t>을 우선순위별로 보여주는 화면 같다</a:t>
            </a:r>
            <a:r>
              <a:rPr lang="en-US" altLang="ko-KR" sz="4000" dirty="0"/>
              <a:t>. </a:t>
            </a:r>
            <a:r>
              <a:rPr lang="ko-KR" altLang="en-US" sz="4000" dirty="0"/>
              <a:t>오른쪽 위는 </a:t>
            </a:r>
            <a:r>
              <a:rPr lang="en-US" sz="4000" dirty="0"/>
              <a:t>forecasting </a:t>
            </a:r>
            <a:r>
              <a:rPr lang="ko-KR" altLang="en-US" sz="4000" dirty="0"/>
              <a:t>화면으로</a:t>
            </a:r>
            <a:r>
              <a:rPr lang="en-US" altLang="ko-KR" sz="4000" dirty="0"/>
              <a:t>, </a:t>
            </a:r>
            <a:r>
              <a:rPr lang="en-US" sz="4000" dirty="0"/>
              <a:t>active power </a:t>
            </a:r>
            <a:r>
              <a:rPr lang="ko-KR" altLang="en-US" sz="4000" dirty="0"/>
              <a:t>또는 </a:t>
            </a:r>
            <a:r>
              <a:rPr lang="en-US" sz="4000" dirty="0"/>
              <a:t>load forecast </a:t>
            </a:r>
            <a:r>
              <a:rPr lang="ko-KR" altLang="en-US" sz="4000" dirty="0"/>
              <a:t>곡선을 보여준다</a:t>
            </a:r>
            <a:r>
              <a:rPr lang="en-US" altLang="ko-KR" sz="4000" dirty="0"/>
              <a:t>. </a:t>
            </a:r>
            <a:r>
              <a:rPr lang="ko-KR" altLang="en-US" sz="4000" dirty="0"/>
              <a:t>왼쪽 아래는 지역별 부하</a:t>
            </a:r>
            <a:r>
              <a:rPr lang="en-US" altLang="ko-KR" sz="4000" dirty="0"/>
              <a:t>/</a:t>
            </a:r>
            <a:r>
              <a:rPr lang="ko-KR" altLang="en-US" sz="4000" dirty="0"/>
              <a:t>수요 또는 </a:t>
            </a:r>
            <a:r>
              <a:rPr lang="en-US" sz="4000" dirty="0"/>
              <a:t>inertia </a:t>
            </a:r>
            <a:r>
              <a:rPr lang="ko-KR" altLang="en-US" sz="4000" dirty="0"/>
              <a:t>관련 시계열과 영국 지도 기반 지역 표시로 보인다</a:t>
            </a:r>
            <a:r>
              <a:rPr lang="en-US" altLang="ko-KR" sz="4000" dirty="0"/>
              <a:t>. </a:t>
            </a:r>
            <a:r>
              <a:rPr lang="ko-KR" altLang="en-US" sz="4000" dirty="0"/>
              <a:t>오른쪽 아래는 </a:t>
            </a:r>
            <a:r>
              <a:rPr lang="en-US" sz="4000" dirty="0"/>
              <a:t>contingency control </a:t>
            </a:r>
            <a:r>
              <a:rPr lang="ko-KR" altLang="en-US" sz="4000" dirty="0"/>
              <a:t>또는 </a:t>
            </a:r>
            <a:r>
              <a:rPr lang="en-US" sz="4000" dirty="0"/>
              <a:t>market/constraint monitoring </a:t>
            </a:r>
            <a:r>
              <a:rPr lang="ko-KR" altLang="en-US" sz="4000" dirty="0"/>
              <a:t>비슷한 화면으로</a:t>
            </a:r>
            <a:r>
              <a:rPr lang="en-US" altLang="ko-KR" sz="4000" dirty="0"/>
              <a:t>, </a:t>
            </a:r>
            <a:r>
              <a:rPr lang="ko-KR" altLang="en-US" sz="4000" dirty="0"/>
              <a:t>여러 지표를 카드 형태로 보여주고 시간대별 상태를 </a:t>
            </a:r>
            <a:r>
              <a:rPr lang="ko-KR" altLang="en-US" sz="4000" dirty="0" err="1"/>
              <a:t>시각화한다</a:t>
            </a:r>
            <a:r>
              <a:rPr lang="en-US" altLang="ko-KR" sz="4000" dirty="0"/>
              <a:t>. </a:t>
            </a:r>
            <a:r>
              <a:rPr lang="ko-KR" altLang="en-US" sz="4000" dirty="0"/>
              <a:t>즉 이 이미지는 </a:t>
            </a:r>
            <a:r>
              <a:rPr lang="en-US" sz="4000" dirty="0" err="1"/>
              <a:t>GridOS</a:t>
            </a:r>
            <a:r>
              <a:rPr lang="ko-KR" altLang="en-US" sz="4000" dirty="0"/>
              <a:t>가 관제센터에서 “상황 인식 </a:t>
            </a:r>
            <a:r>
              <a:rPr lang="en-US" altLang="ko-KR" sz="4000" dirty="0"/>
              <a:t>+ </a:t>
            </a:r>
            <a:r>
              <a:rPr lang="ko-KR" altLang="en-US" sz="4000" dirty="0"/>
              <a:t>예측 </a:t>
            </a:r>
            <a:r>
              <a:rPr lang="en-US" altLang="ko-KR" sz="4000" dirty="0"/>
              <a:t>+ </a:t>
            </a:r>
            <a:r>
              <a:rPr lang="ko-KR" altLang="en-US" sz="4000" dirty="0"/>
              <a:t>지역별 계통 상태 </a:t>
            </a:r>
            <a:r>
              <a:rPr lang="en-US" altLang="ko-KR" sz="4000" dirty="0"/>
              <a:t>+ </a:t>
            </a:r>
            <a:r>
              <a:rPr lang="ko-KR" altLang="en-US" sz="4000" dirty="0"/>
              <a:t>제약</a:t>
            </a:r>
            <a:r>
              <a:rPr lang="en-US" altLang="ko-KR" sz="4000" dirty="0"/>
              <a:t>/</a:t>
            </a:r>
            <a:r>
              <a:rPr lang="en-US" sz="4000" dirty="0"/>
              <a:t>contingency </a:t>
            </a:r>
            <a:r>
              <a:rPr lang="ko-KR" altLang="en-US" sz="4000" dirty="0" err="1"/>
              <a:t>모니터링”을</a:t>
            </a:r>
            <a:r>
              <a:rPr lang="ko-KR" altLang="en-US" sz="4000" dirty="0"/>
              <a:t> 한 화면 체계로 묶는다는 것을 보여준다</a:t>
            </a:r>
            <a:r>
              <a:rPr lang="en-US" altLang="ko-KR" sz="4000" dirty="0"/>
              <a:t>.</a:t>
            </a:r>
          </a:p>
          <a:p>
            <a:pPr>
              <a:buNone/>
            </a:pPr>
            <a:br>
              <a:rPr lang="en-US" altLang="ko-KR" sz="4000" dirty="0"/>
            </a:br>
            <a:endParaRPr lang="en-US" altLang="ko-KR" sz="4000" dirty="0"/>
          </a:p>
          <a:p>
            <a:pPr>
              <a:buNone/>
            </a:pPr>
            <a:r>
              <a:rPr lang="ko-KR" altLang="en-US" sz="4000" dirty="0"/>
              <a:t>세 번째 이미지는 </a:t>
            </a:r>
            <a:r>
              <a:rPr lang="en-US" sz="4000" dirty="0"/>
              <a:t>Digital Dynamic Line Rating </a:t>
            </a:r>
            <a:r>
              <a:rPr lang="ko-KR" altLang="en-US" sz="4000" dirty="0"/>
              <a:t>화면으로 보인다</a:t>
            </a:r>
            <a:r>
              <a:rPr lang="en-US" altLang="ko-KR" sz="4000" dirty="0"/>
              <a:t>. </a:t>
            </a:r>
            <a:r>
              <a:rPr lang="ko-KR" altLang="en-US" sz="4000" dirty="0"/>
              <a:t>왼쪽에는 송전선로 지도</a:t>
            </a:r>
            <a:r>
              <a:rPr lang="en-US" altLang="ko-KR" sz="4000" dirty="0"/>
              <a:t>, </a:t>
            </a:r>
            <a:r>
              <a:rPr lang="ko-KR" altLang="en-US" sz="4000" dirty="0"/>
              <a:t>오른쪽에는 </a:t>
            </a:r>
            <a:r>
              <a:rPr lang="en-US" sz="4000" dirty="0"/>
              <a:t>real-time rating gain</a:t>
            </a:r>
            <a:r>
              <a:rPr lang="ko-KR" altLang="en-US" sz="4000" dirty="0"/>
              <a:t>과 </a:t>
            </a:r>
            <a:r>
              <a:rPr lang="en-US" sz="4000" dirty="0"/>
              <a:t>forecasted rating gain </a:t>
            </a:r>
            <a:r>
              <a:rPr lang="ko-KR" altLang="en-US" sz="4000" dirty="0"/>
              <a:t>그래프가 있다</a:t>
            </a:r>
            <a:r>
              <a:rPr lang="en-US" altLang="ko-KR" sz="4000" dirty="0"/>
              <a:t>. </a:t>
            </a:r>
            <a:r>
              <a:rPr lang="ko-KR" altLang="en-US" sz="4000" dirty="0"/>
              <a:t>상단에는 </a:t>
            </a:r>
            <a:r>
              <a:rPr lang="en-US" sz="4000" dirty="0"/>
              <a:t>normal rating, dynamic rating, emergency rating </a:t>
            </a:r>
            <a:r>
              <a:rPr lang="ko-KR" altLang="en-US" sz="4000" dirty="0"/>
              <a:t>같은 값들이 표시된다</a:t>
            </a:r>
            <a:r>
              <a:rPr lang="en-US" altLang="ko-KR" sz="4000" dirty="0"/>
              <a:t>. </a:t>
            </a:r>
            <a:r>
              <a:rPr lang="ko-KR" altLang="en-US" sz="4000" dirty="0"/>
              <a:t>이 기능은 날씨</a:t>
            </a:r>
            <a:r>
              <a:rPr lang="en-US" altLang="ko-KR" sz="4000" dirty="0"/>
              <a:t>, </a:t>
            </a:r>
            <a:r>
              <a:rPr lang="ko-KR" altLang="en-US" sz="4000" dirty="0"/>
              <a:t>온도</a:t>
            </a:r>
            <a:r>
              <a:rPr lang="en-US" altLang="ko-KR" sz="4000" dirty="0"/>
              <a:t>, </a:t>
            </a:r>
            <a:r>
              <a:rPr lang="ko-KR" altLang="en-US" sz="4000" dirty="0"/>
              <a:t>풍속</a:t>
            </a:r>
            <a:r>
              <a:rPr lang="en-US" altLang="ko-KR" sz="4000" dirty="0"/>
              <a:t>, </a:t>
            </a:r>
            <a:r>
              <a:rPr lang="ko-KR" altLang="en-US" sz="4000" dirty="0"/>
              <a:t>일사량 같은 조건을 반영해서 송전선의 실제 허용용량을 정적으로 고정하지 않고 동적으로 계산하는 기능이다</a:t>
            </a:r>
            <a:r>
              <a:rPr lang="en-US" altLang="ko-KR" sz="4000" dirty="0"/>
              <a:t>. </a:t>
            </a:r>
            <a:r>
              <a:rPr lang="ko-KR" altLang="en-US" sz="4000" dirty="0"/>
              <a:t>즉 “지금 이 선로가 실제로는 얼마나 더 전력을 흘릴 수 있는가</a:t>
            </a:r>
            <a:r>
              <a:rPr lang="en-US" altLang="ko-KR" sz="4000" dirty="0"/>
              <a:t>?”</a:t>
            </a:r>
            <a:r>
              <a:rPr lang="ko-KR" altLang="en-US" sz="4000" dirty="0" err="1"/>
              <a:t>를</a:t>
            </a:r>
            <a:r>
              <a:rPr lang="ko-KR" altLang="en-US" sz="4000" dirty="0"/>
              <a:t> 보여주는 도구다</a:t>
            </a:r>
            <a:r>
              <a:rPr lang="en-US" altLang="ko-KR" sz="4000" dirty="0"/>
              <a:t>. </a:t>
            </a:r>
            <a:r>
              <a:rPr lang="en-US" sz="4000" dirty="0" err="1"/>
              <a:t>GridAssist</a:t>
            </a:r>
            <a:r>
              <a:rPr lang="en-US" sz="4000" dirty="0"/>
              <a:t> </a:t>
            </a:r>
            <a:r>
              <a:rPr lang="ko-KR" altLang="en-US" sz="4000" dirty="0"/>
              <a:t>관점에서는 </a:t>
            </a:r>
            <a:r>
              <a:rPr lang="en-US" sz="4000" dirty="0"/>
              <a:t>congestion management</a:t>
            </a:r>
            <a:r>
              <a:rPr lang="ko-KR" altLang="en-US" sz="4000" dirty="0"/>
              <a:t>와 매우 직접적으로 연결된다</a:t>
            </a:r>
            <a:r>
              <a:rPr lang="en-US" altLang="ko-KR" sz="4000" dirty="0"/>
              <a:t>.</a:t>
            </a:r>
          </a:p>
          <a:p>
            <a:pPr>
              <a:buNone/>
            </a:pPr>
            <a:br>
              <a:rPr lang="en-US" altLang="ko-KR" sz="4000" dirty="0"/>
            </a:br>
            <a:endParaRPr lang="en-US" altLang="ko-KR" sz="4000" dirty="0"/>
          </a:p>
          <a:p>
            <a:pPr>
              <a:buNone/>
            </a:pPr>
            <a:r>
              <a:rPr lang="ko-KR" altLang="en-US" sz="4000" dirty="0"/>
              <a:t>네 번째 이미지는 </a:t>
            </a:r>
            <a:r>
              <a:rPr lang="ko-KR" altLang="en-US" sz="4000" dirty="0" err="1"/>
              <a:t>배전망</a:t>
            </a:r>
            <a:r>
              <a:rPr lang="ko-KR" altLang="en-US" sz="4000" dirty="0"/>
              <a:t> 또는 지역망의 </a:t>
            </a:r>
            <a:r>
              <a:rPr lang="en-US" sz="4000" dirty="0"/>
              <a:t>outage/restoration </a:t>
            </a:r>
            <a:r>
              <a:rPr lang="ko-KR" altLang="en-US" sz="4000" dirty="0"/>
              <a:t>지도처럼 보인다</a:t>
            </a:r>
            <a:r>
              <a:rPr lang="en-US" altLang="ko-KR" sz="4000" dirty="0"/>
              <a:t>. </a:t>
            </a:r>
            <a:r>
              <a:rPr lang="ko-KR" altLang="en-US" sz="4000" dirty="0"/>
              <a:t>어두운 지도 위에 </a:t>
            </a:r>
            <a:r>
              <a:rPr lang="en-US" sz="4000" dirty="0"/>
              <a:t>Feeder </a:t>
            </a:r>
            <a:r>
              <a:rPr lang="ko-KR" altLang="en-US" sz="4000" dirty="0"/>
              <a:t>또는 지역 노드들이 표시되고</a:t>
            </a:r>
            <a:r>
              <a:rPr lang="en-US" altLang="ko-KR" sz="4000" dirty="0"/>
              <a:t>, </a:t>
            </a:r>
            <a:r>
              <a:rPr lang="ko-KR" altLang="en-US" sz="4000" dirty="0"/>
              <a:t>가운데에는 숫자 </a:t>
            </a:r>
            <a:r>
              <a:rPr lang="en-US" altLang="ko-KR" sz="4000" dirty="0"/>
              <a:t>2, 3, 5 </a:t>
            </a:r>
            <a:r>
              <a:rPr lang="ko-KR" altLang="en-US" sz="4000" dirty="0"/>
              <a:t>같은 이벤트 마커와 전기 아이콘이 있다</a:t>
            </a:r>
            <a:r>
              <a:rPr lang="en-US" altLang="ko-KR" sz="4000" dirty="0"/>
              <a:t>. </a:t>
            </a:r>
            <a:r>
              <a:rPr lang="ko-KR" altLang="en-US" sz="4000" dirty="0"/>
              <a:t>이는 고장 위치</a:t>
            </a:r>
            <a:r>
              <a:rPr lang="en-US" altLang="ko-KR" sz="4000" dirty="0"/>
              <a:t>, </a:t>
            </a:r>
            <a:r>
              <a:rPr lang="en-US" sz="4000" dirty="0"/>
              <a:t>switching </a:t>
            </a:r>
            <a:r>
              <a:rPr lang="ko-KR" altLang="en-US" sz="4000" dirty="0"/>
              <a:t>후보</a:t>
            </a:r>
            <a:r>
              <a:rPr lang="en-US" altLang="ko-KR" sz="4000" dirty="0"/>
              <a:t>, </a:t>
            </a:r>
            <a:r>
              <a:rPr lang="ko-KR" altLang="en-US" sz="4000" dirty="0"/>
              <a:t>복구 작업 지점</a:t>
            </a:r>
            <a:r>
              <a:rPr lang="en-US" altLang="ko-KR" sz="4000" dirty="0"/>
              <a:t>, </a:t>
            </a:r>
            <a:r>
              <a:rPr lang="ko-KR" altLang="en-US" sz="4000" dirty="0"/>
              <a:t>또는 </a:t>
            </a:r>
            <a:r>
              <a:rPr lang="en-US" sz="4000" dirty="0"/>
              <a:t>crew/asset </a:t>
            </a:r>
            <a:r>
              <a:rPr lang="ko-KR" altLang="en-US" sz="4000" dirty="0"/>
              <a:t>위치를 나타내는 화면일 가능성이 있다</a:t>
            </a:r>
            <a:r>
              <a:rPr lang="en-US" altLang="ko-KR" sz="4000" dirty="0"/>
              <a:t>. </a:t>
            </a:r>
            <a:r>
              <a:rPr lang="ko-KR" altLang="en-US" sz="4000" dirty="0"/>
              <a:t>오른쪽에는 모바일 화면 같은 패널이 보여서 </a:t>
            </a:r>
            <a:r>
              <a:rPr lang="en-US" sz="4000" dirty="0"/>
              <a:t>field crew</a:t>
            </a:r>
            <a:r>
              <a:rPr lang="ko-KR" altLang="en-US" sz="4000" dirty="0"/>
              <a:t>와 </a:t>
            </a:r>
            <a:r>
              <a:rPr lang="en-US" sz="4000" dirty="0"/>
              <a:t>control room </a:t>
            </a:r>
            <a:r>
              <a:rPr lang="ko-KR" altLang="en-US" sz="4000" dirty="0"/>
              <a:t>간의 연결도 암시한다</a:t>
            </a:r>
            <a:r>
              <a:rPr lang="en-US" altLang="ko-KR" sz="4000" dirty="0"/>
              <a:t>. </a:t>
            </a:r>
            <a:r>
              <a:rPr lang="ko-KR" altLang="en-US" sz="4000" dirty="0"/>
              <a:t>기능적으로는 </a:t>
            </a:r>
            <a:r>
              <a:rPr lang="en-US" sz="4000" dirty="0"/>
              <a:t>fault localization, outage management, switching coordination, restoration workflow</a:t>
            </a:r>
            <a:r>
              <a:rPr lang="ko-KR" altLang="en-US" sz="4000" dirty="0" err="1"/>
              <a:t>에</a:t>
            </a:r>
            <a:r>
              <a:rPr lang="ko-KR" altLang="en-US" sz="4000" dirty="0"/>
              <a:t> 가깝다</a:t>
            </a:r>
            <a:r>
              <a:rPr lang="en-US" altLang="ko-KR" sz="4000" dirty="0"/>
              <a:t>.</a:t>
            </a:r>
          </a:p>
          <a:p>
            <a:pPr>
              <a:buNone/>
            </a:pPr>
            <a:br>
              <a:rPr lang="en-US" altLang="ko-KR" sz="4000" dirty="0"/>
            </a:br>
            <a:endParaRPr lang="en-US" altLang="ko-KR" sz="4000" dirty="0"/>
          </a:p>
          <a:p>
            <a:pPr>
              <a:buNone/>
            </a:pPr>
            <a:r>
              <a:rPr lang="ko-KR" altLang="en-US" sz="4000" dirty="0"/>
              <a:t>다섯 번째 이미지는 지역별 예측 및 계통 관성</a:t>
            </a:r>
            <a:r>
              <a:rPr lang="en-US" altLang="ko-KR" sz="4000" dirty="0"/>
              <a:t>(</a:t>
            </a:r>
            <a:r>
              <a:rPr lang="en-US" sz="4000" dirty="0"/>
              <a:t>inertia) </a:t>
            </a:r>
            <a:r>
              <a:rPr lang="ko-KR" altLang="en-US" sz="4000" dirty="0"/>
              <a:t>또는 안정도 관련 모니터링 화면으로 보인다</a:t>
            </a:r>
            <a:r>
              <a:rPr lang="en-US" altLang="ko-KR" sz="4000" dirty="0"/>
              <a:t>. </a:t>
            </a:r>
            <a:r>
              <a:rPr lang="ko-KR" altLang="en-US" sz="4000" dirty="0"/>
              <a:t>왼쪽에는 </a:t>
            </a:r>
            <a:r>
              <a:rPr lang="en-US" sz="4000" dirty="0"/>
              <a:t>inertia forecast</a:t>
            </a:r>
            <a:r>
              <a:rPr lang="ko-KR" altLang="en-US" sz="4000" dirty="0" err="1"/>
              <a:t>라고</a:t>
            </a:r>
            <a:r>
              <a:rPr lang="ko-KR" altLang="en-US" sz="4000" dirty="0"/>
              <a:t> 보이는 시계열이 있고</a:t>
            </a:r>
            <a:r>
              <a:rPr lang="en-US" altLang="ko-KR" sz="4000" dirty="0"/>
              <a:t>, </a:t>
            </a:r>
            <a:r>
              <a:rPr lang="ko-KR" altLang="en-US" sz="4000" dirty="0"/>
              <a:t>아래에는 지역별 </a:t>
            </a:r>
            <a:r>
              <a:rPr lang="ko-KR" altLang="en-US" sz="4000" dirty="0" err="1"/>
              <a:t>예측값들이</a:t>
            </a:r>
            <a:r>
              <a:rPr lang="ko-KR" altLang="en-US" sz="4000" dirty="0"/>
              <a:t> 여러 선으로 표시된다</a:t>
            </a:r>
            <a:r>
              <a:rPr lang="en-US" altLang="ko-KR" sz="4000" dirty="0"/>
              <a:t>. </a:t>
            </a:r>
            <a:r>
              <a:rPr lang="ko-KR" altLang="en-US" sz="4000" dirty="0"/>
              <a:t>오른쪽에는 영국 지도 위에 지역별 숫자 값이 표시된다</a:t>
            </a:r>
            <a:r>
              <a:rPr lang="en-US" altLang="ko-KR" sz="4000" dirty="0"/>
              <a:t>. </a:t>
            </a:r>
            <a:r>
              <a:rPr lang="ko-KR" altLang="en-US" sz="4000" dirty="0"/>
              <a:t>이 화면은 단순 부하 예측보다는 </a:t>
            </a:r>
            <a:r>
              <a:rPr lang="en-US" sz="4000" dirty="0"/>
              <a:t>system stability, inertia, regional adequacy </a:t>
            </a:r>
            <a:r>
              <a:rPr lang="ko-KR" altLang="en-US" sz="4000" dirty="0"/>
              <a:t>또는 </a:t>
            </a:r>
            <a:r>
              <a:rPr lang="en-US" sz="4000" dirty="0"/>
              <a:t>operational security metric</a:t>
            </a:r>
            <a:r>
              <a:rPr lang="ko-KR" altLang="en-US" sz="4000" dirty="0"/>
              <a:t>을 지역 단위로 예측하는 기능일 가능성이 있다</a:t>
            </a:r>
            <a:r>
              <a:rPr lang="en-US" altLang="ko-KR" sz="4000" dirty="0"/>
              <a:t>. </a:t>
            </a:r>
            <a:r>
              <a:rPr lang="ko-KR" altLang="en-US" sz="4000" dirty="0"/>
              <a:t>재생에너지 비중이 높아질수록 관성이 낮아지고 주파수 안정도가 어려워지기 때문에</a:t>
            </a:r>
            <a:r>
              <a:rPr lang="en-US" altLang="ko-KR" sz="4000" dirty="0"/>
              <a:t>, </a:t>
            </a:r>
            <a:r>
              <a:rPr lang="ko-KR" altLang="en-US" sz="4000" dirty="0"/>
              <a:t>이런 화면은 미래 관제센터에서 중요한 기능이 된다</a:t>
            </a:r>
            <a:r>
              <a:rPr lang="en-US" altLang="ko-KR" sz="4000" dirty="0"/>
              <a:t>.</a:t>
            </a:r>
          </a:p>
          <a:p>
            <a:pPr>
              <a:buNone/>
            </a:pPr>
            <a:br>
              <a:rPr lang="en-US" altLang="ko-KR" sz="4000" dirty="0"/>
            </a:br>
            <a:endParaRPr lang="en-US" altLang="ko-KR" sz="4000" dirty="0"/>
          </a:p>
          <a:p>
            <a:pPr>
              <a:buNone/>
            </a:pPr>
            <a:r>
              <a:rPr lang="ko-KR" altLang="en-US" sz="4000" dirty="0"/>
              <a:t>여섯 번째 이미지는 데이터 관리 및 네트워크 모델 관리 화면이다</a:t>
            </a:r>
            <a:r>
              <a:rPr lang="en-US" altLang="ko-KR" sz="4000" dirty="0"/>
              <a:t>. </a:t>
            </a:r>
            <a:r>
              <a:rPr lang="ko-KR" altLang="en-US" sz="4000" dirty="0"/>
              <a:t>왼쪽에는 </a:t>
            </a:r>
            <a:r>
              <a:rPr lang="en-US" sz="4000" dirty="0"/>
              <a:t>module summary, model data summary, time-based data summary </a:t>
            </a:r>
            <a:r>
              <a:rPr lang="ko-KR" altLang="en-US" sz="4000" dirty="0"/>
              <a:t>같은 표가 있고</a:t>
            </a:r>
            <a:r>
              <a:rPr lang="en-US" altLang="ko-KR" sz="4000" dirty="0"/>
              <a:t>, </a:t>
            </a:r>
            <a:r>
              <a:rPr lang="ko-KR" altLang="en-US" sz="4000" dirty="0"/>
              <a:t>오른쪽에는 캘리포니아</a:t>
            </a:r>
            <a:r>
              <a:rPr lang="en-US" altLang="ko-KR" sz="4000" dirty="0"/>
              <a:t>/</a:t>
            </a:r>
            <a:r>
              <a:rPr lang="ko-KR" altLang="en-US" sz="4000" dirty="0"/>
              <a:t>네바다 주변 </a:t>
            </a:r>
            <a:r>
              <a:rPr lang="ko-KR" altLang="en-US" sz="4000" dirty="0" err="1"/>
              <a:t>송전망</a:t>
            </a:r>
            <a:r>
              <a:rPr lang="ko-KR" altLang="en-US" sz="4000" dirty="0"/>
              <a:t> 지도가 색상별로 표시된다</a:t>
            </a:r>
            <a:r>
              <a:rPr lang="en-US" altLang="ko-KR" sz="4000" dirty="0"/>
              <a:t>. </a:t>
            </a:r>
            <a:r>
              <a:rPr lang="ko-KR" altLang="en-US" sz="4000" dirty="0"/>
              <a:t>하단에는 </a:t>
            </a:r>
            <a:r>
              <a:rPr lang="en-US" sz="4000" dirty="0"/>
              <a:t>line segments, substations </a:t>
            </a:r>
            <a:r>
              <a:rPr lang="ko-KR" altLang="en-US" sz="4000" dirty="0"/>
              <a:t>같은 숫자도 보인다</a:t>
            </a:r>
            <a:r>
              <a:rPr lang="en-US" altLang="ko-KR" sz="4000" dirty="0"/>
              <a:t>. </a:t>
            </a:r>
            <a:r>
              <a:rPr lang="ko-KR" altLang="en-US" sz="4000" dirty="0"/>
              <a:t>이는 </a:t>
            </a:r>
            <a:r>
              <a:rPr lang="en-US" sz="4000" dirty="0" err="1"/>
              <a:t>GridOS</a:t>
            </a:r>
            <a:r>
              <a:rPr lang="ko-KR" altLang="en-US" sz="4000" dirty="0"/>
              <a:t>가 단순 시각화만 하는 것이 아니라 </a:t>
            </a:r>
            <a:r>
              <a:rPr lang="en-US" sz="4000" dirty="0"/>
              <a:t>GIS, EMS, weather observation, line flow forecast, network model </a:t>
            </a:r>
            <a:r>
              <a:rPr lang="ko-KR" altLang="en-US" sz="4000" dirty="0"/>
              <a:t>같은 데이터를 통합 관리한다는 것을 보여준다</a:t>
            </a:r>
            <a:r>
              <a:rPr lang="en-US" altLang="ko-KR" sz="4000" dirty="0"/>
              <a:t>. </a:t>
            </a:r>
            <a:r>
              <a:rPr lang="en-US" sz="4000" dirty="0" err="1"/>
              <a:t>GridAssist</a:t>
            </a:r>
            <a:r>
              <a:rPr lang="ko-KR" altLang="en-US" sz="4000" dirty="0"/>
              <a:t>의 “</a:t>
            </a:r>
            <a:r>
              <a:rPr lang="en-US" sz="4000" dirty="0"/>
              <a:t>graph database for transmission and distribution power grid”</a:t>
            </a:r>
            <a:r>
              <a:rPr lang="ko-KR" altLang="en-US" sz="4000" dirty="0"/>
              <a:t>와 가장 가까운 부분이다</a:t>
            </a:r>
            <a:r>
              <a:rPr lang="en-US" altLang="ko-KR" sz="4000" dirty="0"/>
              <a:t>.</a:t>
            </a:r>
          </a:p>
          <a:p>
            <a:pPr>
              <a:buNone/>
            </a:pPr>
            <a:br>
              <a:rPr lang="en-US" altLang="ko-KR" sz="4000" dirty="0"/>
            </a:br>
            <a:endParaRPr lang="en-US" altLang="ko-KR" sz="4000" dirty="0"/>
          </a:p>
          <a:p>
            <a:pPr>
              <a:buNone/>
            </a:pPr>
            <a:r>
              <a:rPr lang="ko-KR" altLang="en-US" sz="4000" dirty="0"/>
              <a:t>일곱 번째 이미지는 </a:t>
            </a:r>
            <a:r>
              <a:rPr lang="en-US" sz="4000" dirty="0"/>
              <a:t>WAMS </a:t>
            </a:r>
            <a:r>
              <a:rPr lang="ko-KR" altLang="en-US" sz="4000" dirty="0"/>
              <a:t>또는 </a:t>
            </a:r>
            <a:r>
              <a:rPr lang="en-US" sz="4000" dirty="0"/>
              <a:t>PMU </a:t>
            </a:r>
            <a:r>
              <a:rPr lang="ko-KR" altLang="en-US" sz="4000" dirty="0"/>
              <a:t>기반 </a:t>
            </a:r>
            <a:r>
              <a:rPr lang="en-US" sz="4000" dirty="0"/>
              <a:t>wide-area monitoring </a:t>
            </a:r>
            <a:r>
              <a:rPr lang="ko-KR" altLang="en-US" sz="4000" dirty="0"/>
              <a:t>화면으로 보인다</a:t>
            </a:r>
            <a:r>
              <a:rPr lang="en-US" altLang="ko-KR" sz="4000" dirty="0"/>
              <a:t>. </a:t>
            </a:r>
            <a:r>
              <a:rPr lang="ko-KR" altLang="en-US" sz="4000" dirty="0"/>
              <a:t>왼쪽 지도에는 계통 선로와 지역이 표시되고</a:t>
            </a:r>
            <a:r>
              <a:rPr lang="en-US" altLang="ko-KR" sz="4000" dirty="0"/>
              <a:t>, </a:t>
            </a:r>
            <a:r>
              <a:rPr lang="ko-KR" altLang="en-US" sz="4000" dirty="0"/>
              <a:t>오른쪽에는 </a:t>
            </a:r>
            <a:r>
              <a:rPr lang="en-US" sz="4000" dirty="0"/>
              <a:t>WAMS Control Panel, Real-Time WAM </a:t>
            </a:r>
            <a:r>
              <a:rPr lang="ko-KR" altLang="en-US" sz="4000" dirty="0"/>
              <a:t>같은 문구와 함께 녹색</a:t>
            </a:r>
            <a:r>
              <a:rPr lang="en-US" altLang="ko-KR" sz="4000" dirty="0"/>
              <a:t>/</a:t>
            </a:r>
            <a:r>
              <a:rPr lang="ko-KR" altLang="en-US" sz="4000" dirty="0"/>
              <a:t>빨간색 상태 박스</a:t>
            </a:r>
            <a:r>
              <a:rPr lang="en-US" altLang="ko-KR" sz="4000" dirty="0"/>
              <a:t>, </a:t>
            </a:r>
            <a:r>
              <a:rPr lang="ko-KR" altLang="en-US" sz="4000" dirty="0"/>
              <a:t>그리고 고주파 진동 파형 같은 실시간 신호가 보인다</a:t>
            </a:r>
            <a:r>
              <a:rPr lang="en-US" altLang="ko-KR" sz="4000" dirty="0"/>
              <a:t>. </a:t>
            </a:r>
            <a:r>
              <a:rPr lang="ko-KR" altLang="en-US" sz="4000" dirty="0"/>
              <a:t>이는 </a:t>
            </a:r>
            <a:r>
              <a:rPr lang="en-US" sz="4000" dirty="0"/>
              <a:t>PMU </a:t>
            </a:r>
            <a:r>
              <a:rPr lang="ko-KR" altLang="en-US" sz="4000" dirty="0"/>
              <a:t>데이터를 이용한 광역 계통 감시</a:t>
            </a:r>
            <a:r>
              <a:rPr lang="en-US" altLang="ko-KR" sz="4000" dirty="0"/>
              <a:t>, </a:t>
            </a:r>
            <a:r>
              <a:rPr lang="ko-KR" altLang="en-US" sz="4000" dirty="0"/>
              <a:t>동요 감지</a:t>
            </a:r>
            <a:r>
              <a:rPr lang="en-US" altLang="ko-KR" sz="4000" dirty="0"/>
              <a:t>, </a:t>
            </a:r>
            <a:r>
              <a:rPr lang="ko-KR" altLang="en-US" sz="4000" dirty="0"/>
              <a:t>주파수</a:t>
            </a:r>
            <a:r>
              <a:rPr lang="en-US" altLang="ko-KR" sz="4000" dirty="0"/>
              <a:t>/</a:t>
            </a:r>
            <a:r>
              <a:rPr lang="ko-KR" altLang="en-US" sz="4000" dirty="0"/>
              <a:t>전압 안정도 모니터링</a:t>
            </a:r>
            <a:r>
              <a:rPr lang="en-US" altLang="ko-KR" sz="4000" dirty="0"/>
              <a:t>, </a:t>
            </a:r>
            <a:r>
              <a:rPr lang="en-US" sz="4000" dirty="0"/>
              <a:t>oscillation detection </a:t>
            </a:r>
            <a:r>
              <a:rPr lang="ko-KR" altLang="en-US" sz="4000" dirty="0"/>
              <a:t>기능으로 추정된다</a:t>
            </a:r>
            <a:r>
              <a:rPr lang="en-US" altLang="ko-KR" sz="4000" dirty="0"/>
              <a:t>. </a:t>
            </a:r>
            <a:r>
              <a:rPr lang="ko-KR" altLang="en-US" sz="4000" dirty="0"/>
              <a:t>즉 </a:t>
            </a:r>
            <a:r>
              <a:rPr lang="en-US" sz="4000" dirty="0"/>
              <a:t>blackout prevention, contingency detection, dynamic security assessment</a:t>
            </a:r>
            <a:r>
              <a:rPr lang="ko-KR" altLang="en-US" sz="4000" dirty="0"/>
              <a:t>와 연결된다</a:t>
            </a:r>
            <a:r>
              <a:rPr lang="en-US" altLang="ko-KR" sz="4000" dirty="0"/>
              <a:t>.</a:t>
            </a:r>
          </a:p>
          <a:p>
            <a:pPr>
              <a:buNone/>
            </a:pPr>
            <a:br>
              <a:rPr lang="en-US" altLang="ko-KR" sz="4000" dirty="0"/>
            </a:br>
            <a:endParaRPr lang="en-US" altLang="ko-KR" sz="4000" dirty="0"/>
          </a:p>
          <a:p>
            <a:pPr>
              <a:buNone/>
            </a:pPr>
            <a:r>
              <a:rPr lang="ko-KR" altLang="en-US" sz="4000" dirty="0"/>
              <a:t>전체적으로 보면 </a:t>
            </a:r>
            <a:r>
              <a:rPr lang="en-US" sz="4000" dirty="0"/>
              <a:t>GE </a:t>
            </a:r>
            <a:r>
              <a:rPr lang="en-US" sz="4000" dirty="0" err="1"/>
              <a:t>Vernova</a:t>
            </a:r>
            <a:r>
              <a:rPr lang="en-US" sz="4000" dirty="0"/>
              <a:t> </a:t>
            </a:r>
            <a:r>
              <a:rPr lang="en-US" sz="4000" dirty="0" err="1"/>
              <a:t>GridOS</a:t>
            </a:r>
            <a:r>
              <a:rPr lang="ko-KR" altLang="en-US" sz="4000" dirty="0"/>
              <a:t>가 보여주는 핵심 기능은 다음과 같아</a:t>
            </a:r>
            <a:r>
              <a:rPr lang="en-US" altLang="ko-KR" sz="4000" dirty="0"/>
              <a:t>.</a:t>
            </a:r>
          </a:p>
          <a:p>
            <a:pPr>
              <a:buNone/>
            </a:pPr>
            <a:br>
              <a:rPr lang="en-US" altLang="ko-KR" sz="4000" dirty="0"/>
            </a:br>
            <a:endParaRPr lang="en-US" altLang="ko-KR" sz="4000" dirty="0"/>
          </a:p>
          <a:p>
            <a:pPr>
              <a:buNone/>
            </a:pPr>
            <a:r>
              <a:rPr lang="en-US" sz="4000" dirty="0" err="1"/>
              <a:t>GridOS</a:t>
            </a:r>
            <a:r>
              <a:rPr lang="ko-KR" altLang="en-US" sz="4000" dirty="0"/>
              <a:t>는 </a:t>
            </a:r>
            <a:r>
              <a:rPr lang="en-US" sz="4000" dirty="0"/>
              <a:t>EMS/ADMS/DERMS</a:t>
            </a:r>
            <a:r>
              <a:rPr lang="ko-KR" altLang="en-US" sz="4000" dirty="0" err="1"/>
              <a:t>를</a:t>
            </a:r>
            <a:r>
              <a:rPr lang="ko-KR" altLang="en-US" sz="4000" dirty="0"/>
              <a:t> 하나로 묶고</a:t>
            </a:r>
            <a:r>
              <a:rPr lang="en-US" altLang="ko-KR" sz="4000" dirty="0"/>
              <a:t>, </a:t>
            </a:r>
            <a:r>
              <a:rPr lang="ko-KR" altLang="en-US" sz="4000" dirty="0"/>
              <a:t>그 아래에 </a:t>
            </a:r>
            <a:r>
              <a:rPr lang="en-US" sz="4000" dirty="0"/>
              <a:t>SCADA, simulation, modeling, forecasting, security, data fabric</a:t>
            </a:r>
            <a:r>
              <a:rPr lang="ko-KR" altLang="en-US" sz="4000" dirty="0"/>
              <a:t>을 공통 플랫폼으로 제공하려는 구조다</a:t>
            </a:r>
            <a:r>
              <a:rPr lang="en-US" altLang="ko-KR" sz="4000" dirty="0"/>
              <a:t>. </a:t>
            </a:r>
            <a:r>
              <a:rPr lang="ko-KR" altLang="en-US" sz="4000" dirty="0"/>
              <a:t>실제 </a:t>
            </a:r>
            <a:r>
              <a:rPr lang="en-US" sz="4000" dirty="0"/>
              <a:t>UI</a:t>
            </a:r>
            <a:r>
              <a:rPr lang="ko-KR" altLang="en-US" sz="4000" dirty="0"/>
              <a:t>에서는 </a:t>
            </a:r>
            <a:r>
              <a:rPr lang="en-US" sz="4000" dirty="0"/>
              <a:t>dynamic line rating, outage/restoration map, forecasting, regional stability monitoring, network model management, WAMS/PMU monitoring </a:t>
            </a:r>
            <a:r>
              <a:rPr lang="ko-KR" altLang="en-US" sz="4000" dirty="0"/>
              <a:t>같은 기능을 보여준다</a:t>
            </a:r>
            <a:r>
              <a:rPr lang="en-US" altLang="ko-KR" sz="4000" dirty="0"/>
              <a:t>. </a:t>
            </a:r>
            <a:r>
              <a:rPr lang="ko-KR" altLang="en-US" sz="4000" dirty="0"/>
              <a:t>즉 </a:t>
            </a:r>
            <a:r>
              <a:rPr lang="en-US" sz="4000" dirty="0" err="1"/>
              <a:t>GridAssist</a:t>
            </a:r>
            <a:r>
              <a:rPr lang="ko-KR" altLang="en-US" sz="4000" dirty="0"/>
              <a:t>가 목표로 하는 “</a:t>
            </a:r>
            <a:r>
              <a:rPr lang="en-US" sz="4000" dirty="0"/>
              <a:t>graph data + AI assistant + real-time digital twin + congestion/fault/contingency support”</a:t>
            </a:r>
            <a:r>
              <a:rPr lang="ko-KR" altLang="en-US" sz="4000" dirty="0"/>
              <a:t>와 방향이 상당히 비슷하다</a:t>
            </a:r>
            <a:r>
              <a:rPr lang="en-US" altLang="ko-KR" sz="4000" dirty="0"/>
              <a:t>.</a:t>
            </a:r>
          </a:p>
          <a:p>
            <a:pPr>
              <a:buNone/>
            </a:pPr>
            <a:br>
              <a:rPr lang="en-US" altLang="ko-KR" sz="4000" dirty="0"/>
            </a:br>
            <a:endParaRPr lang="en-US" altLang="ko-KR" sz="4000" dirty="0"/>
          </a:p>
          <a:p>
            <a:r>
              <a:rPr lang="en-US" sz="4000" dirty="0" err="1"/>
              <a:t>GridAssist</a:t>
            </a:r>
            <a:r>
              <a:rPr lang="ko-KR" altLang="en-US" sz="4000" dirty="0"/>
              <a:t>와 비교하면</a:t>
            </a:r>
            <a:r>
              <a:rPr lang="en-US" altLang="ko-KR" sz="4000" dirty="0"/>
              <a:t>, </a:t>
            </a:r>
            <a:r>
              <a:rPr lang="en-US" sz="4000" dirty="0"/>
              <a:t>GE </a:t>
            </a:r>
            <a:r>
              <a:rPr lang="en-US" sz="4000" dirty="0" err="1"/>
              <a:t>Vernova</a:t>
            </a:r>
            <a:r>
              <a:rPr lang="ko-KR" altLang="en-US" sz="4000" dirty="0"/>
              <a:t>는 이미 운영 플랫폼과 </a:t>
            </a:r>
            <a:r>
              <a:rPr lang="en-US" sz="4000" dirty="0"/>
              <a:t>UI/</a:t>
            </a:r>
            <a:r>
              <a:rPr lang="ko-KR" altLang="en-US" sz="4000" dirty="0"/>
              <a:t>데이터 통합에 강하고</a:t>
            </a:r>
            <a:r>
              <a:rPr lang="en-US" altLang="ko-KR" sz="4000" dirty="0"/>
              <a:t>, </a:t>
            </a:r>
            <a:r>
              <a:rPr lang="en-US" sz="4000" dirty="0" err="1"/>
              <a:t>GridAssist</a:t>
            </a:r>
            <a:r>
              <a:rPr lang="ko-KR" altLang="en-US" sz="4000" dirty="0"/>
              <a:t>는 여기에 </a:t>
            </a:r>
            <a:r>
              <a:rPr lang="en-US" sz="4000" dirty="0"/>
              <a:t>LLM agent, Graph RAG, MCP, Foundation Model </a:t>
            </a:r>
            <a:r>
              <a:rPr lang="ko-KR" altLang="en-US" sz="4000" dirty="0"/>
              <a:t>기반 </a:t>
            </a:r>
            <a:r>
              <a:rPr lang="en-US" sz="4000" dirty="0"/>
              <a:t>reasoning layer</a:t>
            </a:r>
            <a:r>
              <a:rPr lang="ko-KR" altLang="en-US" sz="4000" dirty="0" err="1"/>
              <a:t>를</a:t>
            </a:r>
            <a:r>
              <a:rPr lang="ko-KR" altLang="en-US" sz="4000" dirty="0"/>
              <a:t> 더 명확하게 얹는 방향으로 차별화할 수 있어</a:t>
            </a:r>
            <a:r>
              <a:rPr lang="en-US" altLang="ko-KR" sz="4000" dirty="0"/>
              <a:t>.</a:t>
            </a:r>
          </a:p>
        </p:txBody>
      </p:sp>
      <p:sp>
        <p:nvSpPr>
          <p:cNvPr id="4" name="Slide Number Placeholder 3">
            <a:extLst>
              <a:ext uri="{FF2B5EF4-FFF2-40B4-BE49-F238E27FC236}">
                <a16:creationId xmlns:a16="http://schemas.microsoft.com/office/drawing/2014/main" id="{0FE36BD9-2079-2AD9-2581-4E62025D72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50313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593BA-6186-D4A2-C614-A48D2E8EE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AA092-5919-4004-F5B6-8EEA67D80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A371F-594B-D256-6381-96428F62C343}"/>
              </a:ext>
            </a:extLst>
          </p:cNvPr>
          <p:cNvSpPr>
            <a:spLocks noGrp="1"/>
          </p:cNvSpPr>
          <p:nvPr>
            <p:ph type="body" idx="1"/>
          </p:nvPr>
        </p:nvSpPr>
        <p:spPr/>
        <p:txBody>
          <a:bodyPr/>
          <a:lstStyle/>
          <a:p>
            <a:pPr>
              <a:buFont typeface="+mj-lt"/>
              <a:buAutoNum type="arabicPeriod"/>
            </a:pPr>
            <a:r>
              <a:rPr lang="en-US"/>
              <a:t>Quick context and objectives (5 min) — Changhun</a:t>
            </a:r>
          </a:p>
          <a:p>
            <a:pPr>
              <a:buFont typeface="+mj-lt"/>
              <a:buAutoNum type="arabicPeriod"/>
            </a:pPr>
            <a:r>
              <a:rPr lang="en-US"/>
              <a:t>TP5 progress demo: </a:t>
            </a:r>
            <a:r>
              <a:rPr lang="en-US" err="1"/>
              <a:t>GridSense</a:t>
            </a:r>
            <a:r>
              <a:rPr lang="en-US"/>
              <a:t> AI (Neo4j + Heo1 grid from LEW) (15 min) — </a:t>
            </a:r>
            <a:r>
              <a:rPr lang="en-US" err="1"/>
              <a:t>Redwanul</a:t>
            </a:r>
            <a:r>
              <a:rPr lang="en-US"/>
              <a:t> </a:t>
            </a:r>
          </a:p>
          <a:p>
            <a:pPr marL="742950" lvl="1" indent="-285750">
              <a:buFont typeface="+mj-lt"/>
              <a:buAutoNum type="arabicPeriod"/>
            </a:pPr>
            <a:r>
              <a:rPr lang="en-US"/>
              <a:t>Neo4j schema overview and ingestion path</a:t>
            </a:r>
          </a:p>
          <a:p>
            <a:pPr marL="742950" lvl="1" indent="-285750">
              <a:buFont typeface="+mj-lt"/>
              <a:buAutoNum type="arabicPeriod"/>
            </a:pPr>
            <a:r>
              <a:rPr lang="en-US"/>
              <a:t>Live queries via the LLM chatbot</a:t>
            </a:r>
          </a:p>
          <a:p>
            <a:pPr>
              <a:buFont typeface="+mj-lt"/>
              <a:buAutoNum type="arabicPeriod"/>
            </a:pPr>
            <a:r>
              <a:rPr lang="en-US"/>
              <a:t>Validation results (15 min) — Ragav </a:t>
            </a:r>
          </a:p>
          <a:p>
            <a:pPr marL="742950" lvl="1" indent="-285750">
              <a:buFont typeface="+mj-lt"/>
              <a:buAutoNum type="arabicPeriod"/>
            </a:pPr>
            <a:r>
              <a:rPr lang="en-US"/>
              <a:t>Basic parameter verification checks</a:t>
            </a:r>
          </a:p>
          <a:p>
            <a:pPr marL="742950" lvl="1" indent="-285750">
              <a:buFont typeface="+mj-lt"/>
              <a:buAutoNum type="arabicPeriod"/>
            </a:pPr>
            <a:r>
              <a:rPr lang="en-US"/>
              <a:t>Multi-query prompts → responses → result-consistency snapshots</a:t>
            </a:r>
          </a:p>
          <a:p>
            <a:pPr>
              <a:buFont typeface="+mj-lt"/>
              <a:buAutoNum type="arabicPeriod"/>
            </a:pPr>
            <a:r>
              <a:rPr lang="en-US"/>
              <a:t>Next steps on reliability and consistency (10 min) — </a:t>
            </a:r>
            <a:r>
              <a:rPr lang="en-US" err="1"/>
              <a:t>Redwanul</a:t>
            </a:r>
            <a:r>
              <a:rPr lang="en-US"/>
              <a:t>, All </a:t>
            </a:r>
          </a:p>
          <a:p>
            <a:pPr marL="742950" lvl="1" indent="-285750">
              <a:buFont typeface="+mj-lt"/>
              <a:buAutoNum type="arabicPeriod"/>
            </a:pPr>
            <a:r>
              <a:rPr lang="en-US"/>
              <a:t>Using MCP to connect tools/data and ensure consistent answers across question variants</a:t>
            </a:r>
          </a:p>
          <a:p>
            <a:pPr>
              <a:buFont typeface="+mj-lt"/>
              <a:buAutoNum type="arabicPeriod"/>
            </a:pPr>
            <a:r>
              <a:rPr lang="en-US"/>
              <a:t>Literature and building blocks for agentic AI (10 min) — Ragav, Changhun, All </a:t>
            </a:r>
          </a:p>
          <a:p>
            <a:pPr marL="742950" lvl="1" indent="-285750">
              <a:buFont typeface="+mj-lt"/>
              <a:buAutoNum type="arabicPeriod"/>
            </a:pPr>
            <a:r>
              <a:rPr lang="en-US"/>
              <a:t>Brief overview: </a:t>
            </a:r>
            <a:r>
              <a:rPr lang="en-US" err="1"/>
              <a:t>GridMind</a:t>
            </a:r>
            <a:r>
              <a:rPr lang="en-US"/>
              <a:t>, </a:t>
            </a:r>
            <a:r>
              <a:rPr lang="en-US" err="1"/>
              <a:t>PowerAgent</a:t>
            </a:r>
            <a:r>
              <a:rPr lang="en-US"/>
              <a:t>, and related agentic frameworks we can leverage</a:t>
            </a:r>
          </a:p>
          <a:p>
            <a:pPr>
              <a:buFont typeface="+mj-lt"/>
              <a:buAutoNum type="arabicPeriod"/>
            </a:pPr>
            <a:r>
              <a:rPr lang="en-US"/>
              <a:t>Data roadmap (5 min) — EES, All </a:t>
            </a:r>
          </a:p>
          <a:p>
            <a:pPr marL="742950" lvl="1" indent="-285750">
              <a:buFont typeface="+mj-lt"/>
              <a:buAutoNum type="arabicPeriod"/>
            </a:pPr>
            <a:r>
              <a:rPr lang="en-US"/>
              <a:t>Expanding beyond CGMES to include GIS/SCADA/AMI/vendor data sources</a:t>
            </a:r>
          </a:p>
          <a:p>
            <a:pPr>
              <a:buFont typeface="+mj-lt"/>
              <a:buAutoNum type="arabicPeriod"/>
            </a:pPr>
            <a:r>
              <a:rPr lang="en-US"/>
              <a:t>OPAL-RT × FAU internship/Master’s opportunity (10 min) — All </a:t>
            </a:r>
          </a:p>
          <a:p>
            <a:pPr marL="742950" lvl="1" indent="-285750">
              <a:buFont typeface="+mj-lt"/>
              <a:buAutoNum type="arabicPeriod"/>
            </a:pPr>
            <a:r>
              <a:rPr lang="en-US"/>
              <a:t>Scope, MCP server integration, expected deliverables, supervision plan, and next actions</a:t>
            </a:r>
          </a:p>
          <a:p>
            <a:pPr>
              <a:buFont typeface="+mj-lt"/>
              <a:buAutoNum type="arabicPeriod"/>
            </a:pPr>
            <a:r>
              <a:rPr lang="en-US"/>
              <a:t>Further discussions</a:t>
            </a:r>
          </a:p>
        </p:txBody>
      </p:sp>
      <p:sp>
        <p:nvSpPr>
          <p:cNvPr id="4" name="Slide Number Placeholder 3">
            <a:extLst>
              <a:ext uri="{FF2B5EF4-FFF2-40B4-BE49-F238E27FC236}">
                <a16:creationId xmlns:a16="http://schemas.microsoft.com/office/drawing/2014/main" id="{E040CE16-37B9-FB9D-4ACC-367B617FB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4595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2907-81D9-D678-E73E-FDC4531B7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87D38-B382-C0B8-D62B-68F54EE6A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E6E76-AA96-E85E-D697-F3E5D659D97E}"/>
              </a:ext>
            </a:extLst>
          </p:cNvPr>
          <p:cNvSpPr>
            <a:spLocks noGrp="1"/>
          </p:cNvSpPr>
          <p:nvPr>
            <p:ph type="body" idx="1"/>
          </p:nvPr>
        </p:nvSpPr>
        <p:spPr/>
        <p:txBody>
          <a:bodyPr/>
          <a:lstStyle/>
          <a:p>
            <a:pPr>
              <a:buFont typeface="+mj-lt"/>
              <a:buAutoNum type="arabicPeriod"/>
            </a:pPr>
            <a:r>
              <a:rPr lang="en-US"/>
              <a:t>Quick context and objectives (5 min) — Changhun</a:t>
            </a:r>
          </a:p>
          <a:p>
            <a:pPr>
              <a:buFont typeface="+mj-lt"/>
              <a:buAutoNum type="arabicPeriod"/>
            </a:pPr>
            <a:r>
              <a:rPr lang="en-US"/>
              <a:t>TP5 progress demo: </a:t>
            </a:r>
            <a:r>
              <a:rPr lang="en-US" err="1"/>
              <a:t>GridSense</a:t>
            </a:r>
            <a:r>
              <a:rPr lang="en-US"/>
              <a:t> AI (Neo4j + Heo1 grid from LEW) (15 min) — </a:t>
            </a:r>
            <a:r>
              <a:rPr lang="en-US" err="1"/>
              <a:t>Redwanul</a:t>
            </a:r>
            <a:r>
              <a:rPr lang="en-US"/>
              <a:t> </a:t>
            </a:r>
          </a:p>
          <a:p>
            <a:pPr marL="742950" lvl="1" indent="-285750">
              <a:buFont typeface="+mj-lt"/>
              <a:buAutoNum type="arabicPeriod"/>
            </a:pPr>
            <a:r>
              <a:rPr lang="en-US"/>
              <a:t>Neo4j schema overview and ingestion path</a:t>
            </a:r>
          </a:p>
          <a:p>
            <a:pPr marL="742950" lvl="1" indent="-285750">
              <a:buFont typeface="+mj-lt"/>
              <a:buAutoNum type="arabicPeriod"/>
            </a:pPr>
            <a:r>
              <a:rPr lang="en-US"/>
              <a:t>Live queries via the LLM chatbot</a:t>
            </a:r>
          </a:p>
          <a:p>
            <a:pPr>
              <a:buFont typeface="+mj-lt"/>
              <a:buAutoNum type="arabicPeriod"/>
            </a:pPr>
            <a:r>
              <a:rPr lang="en-US"/>
              <a:t>Validation results (15 min) — Ragav </a:t>
            </a:r>
          </a:p>
          <a:p>
            <a:pPr marL="742950" lvl="1" indent="-285750">
              <a:buFont typeface="+mj-lt"/>
              <a:buAutoNum type="arabicPeriod"/>
            </a:pPr>
            <a:r>
              <a:rPr lang="en-US"/>
              <a:t>Basic parameter verification checks</a:t>
            </a:r>
          </a:p>
          <a:p>
            <a:pPr marL="742950" lvl="1" indent="-285750">
              <a:buFont typeface="+mj-lt"/>
              <a:buAutoNum type="arabicPeriod"/>
            </a:pPr>
            <a:r>
              <a:rPr lang="en-US"/>
              <a:t>Multi-query prompts → responses → result-consistency snapshots</a:t>
            </a:r>
          </a:p>
          <a:p>
            <a:pPr>
              <a:buFont typeface="+mj-lt"/>
              <a:buAutoNum type="arabicPeriod"/>
            </a:pPr>
            <a:r>
              <a:rPr lang="en-US"/>
              <a:t>Next steps on reliability and consistency (10 min) — </a:t>
            </a:r>
            <a:r>
              <a:rPr lang="en-US" err="1"/>
              <a:t>Redwanul</a:t>
            </a:r>
            <a:r>
              <a:rPr lang="en-US"/>
              <a:t>, All </a:t>
            </a:r>
          </a:p>
          <a:p>
            <a:pPr marL="742950" lvl="1" indent="-285750">
              <a:buFont typeface="+mj-lt"/>
              <a:buAutoNum type="arabicPeriod"/>
            </a:pPr>
            <a:r>
              <a:rPr lang="en-US"/>
              <a:t>Using MCP to connect tools/data and ensure consistent answers across question variants</a:t>
            </a:r>
          </a:p>
          <a:p>
            <a:pPr>
              <a:buFont typeface="+mj-lt"/>
              <a:buAutoNum type="arabicPeriod"/>
            </a:pPr>
            <a:r>
              <a:rPr lang="en-US"/>
              <a:t>Literature and building blocks for agentic AI (10 min) — Ragav, Changhun, All </a:t>
            </a:r>
          </a:p>
          <a:p>
            <a:pPr marL="742950" lvl="1" indent="-285750">
              <a:buFont typeface="+mj-lt"/>
              <a:buAutoNum type="arabicPeriod"/>
            </a:pPr>
            <a:r>
              <a:rPr lang="en-US"/>
              <a:t>Brief overview: </a:t>
            </a:r>
            <a:r>
              <a:rPr lang="en-US" err="1"/>
              <a:t>GridMind</a:t>
            </a:r>
            <a:r>
              <a:rPr lang="en-US"/>
              <a:t>, </a:t>
            </a:r>
            <a:r>
              <a:rPr lang="en-US" err="1"/>
              <a:t>PowerAgent</a:t>
            </a:r>
            <a:r>
              <a:rPr lang="en-US"/>
              <a:t>, and related agentic frameworks we can leverage</a:t>
            </a:r>
          </a:p>
          <a:p>
            <a:pPr>
              <a:buFont typeface="+mj-lt"/>
              <a:buAutoNum type="arabicPeriod"/>
            </a:pPr>
            <a:r>
              <a:rPr lang="en-US"/>
              <a:t>Data roadmap (5 min) — EES, All </a:t>
            </a:r>
          </a:p>
          <a:p>
            <a:pPr marL="742950" lvl="1" indent="-285750">
              <a:buFont typeface="+mj-lt"/>
              <a:buAutoNum type="arabicPeriod"/>
            </a:pPr>
            <a:r>
              <a:rPr lang="en-US"/>
              <a:t>Expanding beyond CGMES to include GIS/SCADA/AMI/vendor data sources</a:t>
            </a:r>
          </a:p>
          <a:p>
            <a:pPr>
              <a:buFont typeface="+mj-lt"/>
              <a:buAutoNum type="arabicPeriod"/>
            </a:pPr>
            <a:r>
              <a:rPr lang="en-US"/>
              <a:t>OPAL-RT × FAU internship/Master’s opportunity (10 min) — All </a:t>
            </a:r>
          </a:p>
          <a:p>
            <a:pPr marL="742950" lvl="1" indent="-285750">
              <a:buFont typeface="+mj-lt"/>
              <a:buAutoNum type="arabicPeriod"/>
            </a:pPr>
            <a:r>
              <a:rPr lang="en-US"/>
              <a:t>Scope, MCP server integration, expected deliverables, supervision plan, and next actions</a:t>
            </a:r>
          </a:p>
          <a:p>
            <a:pPr>
              <a:buFont typeface="+mj-lt"/>
              <a:buAutoNum type="arabicPeriod"/>
            </a:pPr>
            <a:r>
              <a:rPr lang="en-US"/>
              <a:t>Further discussions</a:t>
            </a:r>
          </a:p>
        </p:txBody>
      </p:sp>
      <p:sp>
        <p:nvSpPr>
          <p:cNvPr id="4" name="Slide Number Placeholder 3">
            <a:extLst>
              <a:ext uri="{FF2B5EF4-FFF2-40B4-BE49-F238E27FC236}">
                <a16:creationId xmlns:a16="http://schemas.microsoft.com/office/drawing/2014/main" id="{1D580356-D3DB-157B-10B5-8F7C161B66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15075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CC762-C466-4819-AEA1-AF6429949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9E727-C384-4E2D-1CBF-19B0B6FD1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15B64-18B4-859A-FEBE-68A022C3D955}"/>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196234F1-F2B5-A409-ED47-C026AE8203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96727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DEBF-0AB1-354C-6AB8-EF1938164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CAF56-097C-5F75-3501-2C9C414BE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EBC5D-1669-D882-F028-260896AA130A}"/>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FB90482E-3523-9DE8-F2BB-B90707D5C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1201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37C72-4DA7-4CDF-FF3B-702F37380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DC73E-A3EA-D602-FEA7-6DBB5853E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F5C4D-1FAC-D625-4EB9-87D4A3DA4C3F}"/>
              </a:ext>
            </a:extLst>
          </p:cNvPr>
          <p:cNvSpPr>
            <a:spLocks noGrp="1"/>
          </p:cNvSpPr>
          <p:nvPr>
            <p:ph type="body" idx="1"/>
          </p:nvPr>
        </p:nvSpPr>
        <p:spPr/>
        <p:txBody>
          <a:bodyPr/>
          <a:lstStyle/>
          <a:p>
            <a:pPr>
              <a:buFont typeface="+mj-lt"/>
              <a:buAutoNum type="arabicPeriod"/>
            </a:pPr>
            <a:r>
              <a:rPr lang="en-US"/>
              <a:t>Quick context and objectives (5 min) — Changhun</a:t>
            </a:r>
          </a:p>
          <a:p>
            <a:pPr>
              <a:buFont typeface="+mj-lt"/>
              <a:buAutoNum type="arabicPeriod"/>
            </a:pPr>
            <a:r>
              <a:rPr lang="en-US"/>
              <a:t>TP5 progress demo: </a:t>
            </a:r>
            <a:r>
              <a:rPr lang="en-US" err="1"/>
              <a:t>GridSense</a:t>
            </a:r>
            <a:r>
              <a:rPr lang="en-US"/>
              <a:t> AI (Neo4j + Heo1 grid from LEW) (15 min) — </a:t>
            </a:r>
            <a:r>
              <a:rPr lang="en-US" err="1"/>
              <a:t>Redwanul</a:t>
            </a:r>
            <a:r>
              <a:rPr lang="en-US"/>
              <a:t> </a:t>
            </a:r>
          </a:p>
          <a:p>
            <a:pPr marL="742950" lvl="1" indent="-285750">
              <a:buFont typeface="+mj-lt"/>
              <a:buAutoNum type="arabicPeriod"/>
            </a:pPr>
            <a:r>
              <a:rPr lang="en-US"/>
              <a:t>Neo4j schema overview and ingestion path</a:t>
            </a:r>
          </a:p>
          <a:p>
            <a:pPr marL="742950" lvl="1" indent="-285750">
              <a:buFont typeface="+mj-lt"/>
              <a:buAutoNum type="arabicPeriod"/>
            </a:pPr>
            <a:r>
              <a:rPr lang="en-US"/>
              <a:t>Live queries via the LLM chatbot</a:t>
            </a:r>
          </a:p>
          <a:p>
            <a:pPr>
              <a:buFont typeface="+mj-lt"/>
              <a:buAutoNum type="arabicPeriod"/>
            </a:pPr>
            <a:r>
              <a:rPr lang="en-US"/>
              <a:t>Validation results (15 min) — Ragav </a:t>
            </a:r>
          </a:p>
          <a:p>
            <a:pPr marL="742950" lvl="1" indent="-285750">
              <a:buFont typeface="+mj-lt"/>
              <a:buAutoNum type="arabicPeriod"/>
            </a:pPr>
            <a:r>
              <a:rPr lang="en-US"/>
              <a:t>Basic parameter verification checks</a:t>
            </a:r>
          </a:p>
          <a:p>
            <a:pPr marL="742950" lvl="1" indent="-285750">
              <a:buFont typeface="+mj-lt"/>
              <a:buAutoNum type="arabicPeriod"/>
            </a:pPr>
            <a:r>
              <a:rPr lang="en-US"/>
              <a:t>Multi-query prompts → responses → result-consistency snapshots</a:t>
            </a:r>
          </a:p>
          <a:p>
            <a:pPr>
              <a:buFont typeface="+mj-lt"/>
              <a:buAutoNum type="arabicPeriod"/>
            </a:pPr>
            <a:r>
              <a:rPr lang="en-US"/>
              <a:t>Next steps on reliability and consistency (10 min) — </a:t>
            </a:r>
            <a:r>
              <a:rPr lang="en-US" err="1"/>
              <a:t>Redwanul</a:t>
            </a:r>
            <a:r>
              <a:rPr lang="en-US"/>
              <a:t>, All </a:t>
            </a:r>
          </a:p>
          <a:p>
            <a:pPr marL="742950" lvl="1" indent="-285750">
              <a:buFont typeface="+mj-lt"/>
              <a:buAutoNum type="arabicPeriod"/>
            </a:pPr>
            <a:r>
              <a:rPr lang="en-US"/>
              <a:t>Using MCP to connect tools/data and ensure consistent answers across question variants</a:t>
            </a:r>
          </a:p>
          <a:p>
            <a:pPr>
              <a:buFont typeface="+mj-lt"/>
              <a:buAutoNum type="arabicPeriod"/>
            </a:pPr>
            <a:r>
              <a:rPr lang="en-US"/>
              <a:t>Literature and building blocks for agentic AI (10 min) — Ragav, Changhun, All </a:t>
            </a:r>
          </a:p>
          <a:p>
            <a:pPr marL="742950" lvl="1" indent="-285750">
              <a:buFont typeface="+mj-lt"/>
              <a:buAutoNum type="arabicPeriod"/>
            </a:pPr>
            <a:r>
              <a:rPr lang="en-US"/>
              <a:t>Brief overview: </a:t>
            </a:r>
            <a:r>
              <a:rPr lang="en-US" err="1"/>
              <a:t>GridMind</a:t>
            </a:r>
            <a:r>
              <a:rPr lang="en-US"/>
              <a:t>, </a:t>
            </a:r>
            <a:r>
              <a:rPr lang="en-US" err="1"/>
              <a:t>PowerAgent</a:t>
            </a:r>
            <a:r>
              <a:rPr lang="en-US"/>
              <a:t>, and related agentic frameworks we can leverage</a:t>
            </a:r>
          </a:p>
          <a:p>
            <a:pPr>
              <a:buFont typeface="+mj-lt"/>
              <a:buAutoNum type="arabicPeriod"/>
            </a:pPr>
            <a:r>
              <a:rPr lang="en-US"/>
              <a:t>Data roadmap (5 min) — EES, All </a:t>
            </a:r>
          </a:p>
          <a:p>
            <a:pPr marL="742950" lvl="1" indent="-285750">
              <a:buFont typeface="+mj-lt"/>
              <a:buAutoNum type="arabicPeriod"/>
            </a:pPr>
            <a:r>
              <a:rPr lang="en-US"/>
              <a:t>Expanding beyond CGMES to include GIS/SCADA/AMI/vendor data sources</a:t>
            </a:r>
          </a:p>
          <a:p>
            <a:pPr>
              <a:buFont typeface="+mj-lt"/>
              <a:buAutoNum type="arabicPeriod"/>
            </a:pPr>
            <a:r>
              <a:rPr lang="en-US"/>
              <a:t>OPAL-RT × FAU internship/Master’s opportunity (10 min) — All </a:t>
            </a:r>
          </a:p>
          <a:p>
            <a:pPr marL="742950" lvl="1" indent="-285750">
              <a:buFont typeface="+mj-lt"/>
              <a:buAutoNum type="arabicPeriod"/>
            </a:pPr>
            <a:r>
              <a:rPr lang="en-US"/>
              <a:t>Scope, MCP server integration, expected deliverables, supervision plan, and next actions</a:t>
            </a:r>
          </a:p>
          <a:p>
            <a:pPr>
              <a:buFont typeface="+mj-lt"/>
              <a:buAutoNum type="arabicPeriod"/>
            </a:pPr>
            <a:r>
              <a:rPr lang="en-US"/>
              <a:t>Further discussions</a:t>
            </a:r>
          </a:p>
        </p:txBody>
      </p:sp>
      <p:sp>
        <p:nvSpPr>
          <p:cNvPr id="4" name="Slide Number Placeholder 3">
            <a:extLst>
              <a:ext uri="{FF2B5EF4-FFF2-40B4-BE49-F238E27FC236}">
                <a16:creationId xmlns:a16="http://schemas.microsoft.com/office/drawing/2014/main" id="{9336F51E-6567-4274-CEA1-3DBFEA7FEA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49751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D41C-4848-3E67-6855-605A132C8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5C80-F73B-995A-F452-344EF869E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DC300-80EF-8848-9748-F73D6AB2F222}"/>
              </a:ext>
            </a:extLst>
          </p:cNvPr>
          <p:cNvSpPr>
            <a:spLocks noGrp="1"/>
          </p:cNvSpPr>
          <p:nvPr>
            <p:ph type="body" idx="1"/>
          </p:nvPr>
        </p:nvSpPr>
        <p:spPr/>
        <p:txBody>
          <a:bodyPr/>
          <a:lstStyle/>
          <a:p>
            <a:pPr>
              <a:buFont typeface="+mj-lt"/>
              <a:buAutoNum type="arabicPeriod"/>
            </a:pPr>
            <a:r>
              <a:rPr lang="en-US"/>
              <a:t>Quick context and objectives (5 min) — Changhun</a:t>
            </a:r>
          </a:p>
          <a:p>
            <a:pPr>
              <a:buFont typeface="+mj-lt"/>
              <a:buAutoNum type="arabicPeriod"/>
            </a:pPr>
            <a:r>
              <a:rPr lang="en-US"/>
              <a:t>TP5 progress demo: </a:t>
            </a:r>
            <a:r>
              <a:rPr lang="en-US" err="1"/>
              <a:t>GridSense</a:t>
            </a:r>
            <a:r>
              <a:rPr lang="en-US"/>
              <a:t> AI (Neo4j + Heo1 grid from LEW) (15 min) — </a:t>
            </a:r>
            <a:r>
              <a:rPr lang="en-US" err="1"/>
              <a:t>Redwanul</a:t>
            </a:r>
            <a:r>
              <a:rPr lang="en-US"/>
              <a:t> </a:t>
            </a:r>
          </a:p>
          <a:p>
            <a:pPr marL="742950" lvl="1" indent="-285750">
              <a:buFont typeface="+mj-lt"/>
              <a:buAutoNum type="arabicPeriod"/>
            </a:pPr>
            <a:r>
              <a:rPr lang="en-US"/>
              <a:t>Neo4j schema overview and ingestion path</a:t>
            </a:r>
          </a:p>
          <a:p>
            <a:pPr marL="742950" lvl="1" indent="-285750">
              <a:buFont typeface="+mj-lt"/>
              <a:buAutoNum type="arabicPeriod"/>
            </a:pPr>
            <a:r>
              <a:rPr lang="en-US"/>
              <a:t>Live queries via the LLM chatbot</a:t>
            </a:r>
          </a:p>
          <a:p>
            <a:pPr>
              <a:buFont typeface="+mj-lt"/>
              <a:buAutoNum type="arabicPeriod"/>
            </a:pPr>
            <a:r>
              <a:rPr lang="en-US"/>
              <a:t>Validation results (15 min) — Ragav </a:t>
            </a:r>
          </a:p>
          <a:p>
            <a:pPr marL="742950" lvl="1" indent="-285750">
              <a:buFont typeface="+mj-lt"/>
              <a:buAutoNum type="arabicPeriod"/>
            </a:pPr>
            <a:r>
              <a:rPr lang="en-US"/>
              <a:t>Basic parameter verification checks</a:t>
            </a:r>
          </a:p>
          <a:p>
            <a:pPr marL="742950" lvl="1" indent="-285750">
              <a:buFont typeface="+mj-lt"/>
              <a:buAutoNum type="arabicPeriod"/>
            </a:pPr>
            <a:r>
              <a:rPr lang="en-US"/>
              <a:t>Multi-query prompts → responses → result-consistency snapshots</a:t>
            </a:r>
          </a:p>
          <a:p>
            <a:pPr>
              <a:buFont typeface="+mj-lt"/>
              <a:buAutoNum type="arabicPeriod"/>
            </a:pPr>
            <a:r>
              <a:rPr lang="en-US"/>
              <a:t>Next steps on reliability and consistency (10 min) — </a:t>
            </a:r>
            <a:r>
              <a:rPr lang="en-US" err="1"/>
              <a:t>Redwanul</a:t>
            </a:r>
            <a:r>
              <a:rPr lang="en-US"/>
              <a:t>, All </a:t>
            </a:r>
          </a:p>
          <a:p>
            <a:pPr marL="742950" lvl="1" indent="-285750">
              <a:buFont typeface="+mj-lt"/>
              <a:buAutoNum type="arabicPeriod"/>
            </a:pPr>
            <a:r>
              <a:rPr lang="en-US"/>
              <a:t>Using MCP to connect tools/data and ensure consistent answers across question variants</a:t>
            </a:r>
          </a:p>
          <a:p>
            <a:pPr>
              <a:buFont typeface="+mj-lt"/>
              <a:buAutoNum type="arabicPeriod"/>
            </a:pPr>
            <a:r>
              <a:rPr lang="en-US"/>
              <a:t>Literature and building blocks for agentic AI (10 min) — Ragav, Changhun, All </a:t>
            </a:r>
          </a:p>
          <a:p>
            <a:pPr marL="742950" lvl="1" indent="-285750">
              <a:buFont typeface="+mj-lt"/>
              <a:buAutoNum type="arabicPeriod"/>
            </a:pPr>
            <a:r>
              <a:rPr lang="en-US"/>
              <a:t>Brief overview: </a:t>
            </a:r>
            <a:r>
              <a:rPr lang="en-US" err="1"/>
              <a:t>GridMind</a:t>
            </a:r>
            <a:r>
              <a:rPr lang="en-US"/>
              <a:t>, </a:t>
            </a:r>
            <a:r>
              <a:rPr lang="en-US" err="1"/>
              <a:t>PowerAgent</a:t>
            </a:r>
            <a:r>
              <a:rPr lang="en-US"/>
              <a:t>, and related agentic frameworks we can leverage</a:t>
            </a:r>
          </a:p>
          <a:p>
            <a:pPr>
              <a:buFont typeface="+mj-lt"/>
              <a:buAutoNum type="arabicPeriod"/>
            </a:pPr>
            <a:r>
              <a:rPr lang="en-US"/>
              <a:t>Data roadmap (5 min) — EES, All </a:t>
            </a:r>
          </a:p>
          <a:p>
            <a:pPr marL="742950" lvl="1" indent="-285750">
              <a:buFont typeface="+mj-lt"/>
              <a:buAutoNum type="arabicPeriod"/>
            </a:pPr>
            <a:r>
              <a:rPr lang="en-US"/>
              <a:t>Expanding beyond CGMES to include GIS/SCADA/AMI/vendor data sources</a:t>
            </a:r>
          </a:p>
          <a:p>
            <a:pPr>
              <a:buFont typeface="+mj-lt"/>
              <a:buAutoNum type="arabicPeriod"/>
            </a:pPr>
            <a:r>
              <a:rPr lang="en-US"/>
              <a:t>OPAL-RT × FAU internship/Master’s opportunity (10 min) — All </a:t>
            </a:r>
          </a:p>
          <a:p>
            <a:pPr marL="742950" lvl="1" indent="-285750">
              <a:buFont typeface="+mj-lt"/>
              <a:buAutoNum type="arabicPeriod"/>
            </a:pPr>
            <a:r>
              <a:rPr lang="en-US"/>
              <a:t>Scope, MCP server integration, expected deliverables, supervision plan, and next actions</a:t>
            </a:r>
          </a:p>
          <a:p>
            <a:pPr>
              <a:buFont typeface="+mj-lt"/>
              <a:buAutoNum type="arabicPeriod"/>
            </a:pPr>
            <a:r>
              <a:rPr lang="en-US"/>
              <a:t>Further discussions</a:t>
            </a:r>
          </a:p>
        </p:txBody>
      </p:sp>
      <p:sp>
        <p:nvSpPr>
          <p:cNvPr id="4" name="Slide Number Placeholder 3">
            <a:extLst>
              <a:ext uri="{FF2B5EF4-FFF2-40B4-BE49-F238E27FC236}">
                <a16:creationId xmlns:a16="http://schemas.microsoft.com/office/drawing/2014/main" id="{7D1DCD73-7178-BC20-176B-7A520D4F87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05301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9742C-99EB-9045-0AEC-46FD48104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7E2B3-CFD0-DB12-9EF6-7DD6C75FCA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B73732-8383-5BFF-9CF2-91258521E5FF}"/>
              </a:ext>
            </a:extLst>
          </p:cNvPr>
          <p:cNvSpPr>
            <a:spLocks noGrp="1"/>
          </p:cNvSpPr>
          <p:nvPr>
            <p:ph type="body" idx="1"/>
          </p:nvPr>
        </p:nvSpPr>
        <p:spPr/>
        <p:txBody>
          <a:bodyPr/>
          <a:lstStyle/>
          <a:p>
            <a:pPr>
              <a:buFont typeface="+mj-lt"/>
              <a:buAutoNum type="arabicPeriod"/>
            </a:pPr>
            <a:r>
              <a:rPr lang="en-US" dirty="0"/>
              <a:t>Neo4j </a:t>
            </a:r>
            <a:r>
              <a:rPr lang="en-US" dirty="0" err="1"/>
              <a:t>graphdatase</a:t>
            </a:r>
            <a:endParaRPr lang="en-US" dirty="0"/>
          </a:p>
        </p:txBody>
      </p:sp>
      <p:sp>
        <p:nvSpPr>
          <p:cNvPr id="4" name="Slide Number Placeholder 3">
            <a:extLst>
              <a:ext uri="{FF2B5EF4-FFF2-40B4-BE49-F238E27FC236}">
                <a16:creationId xmlns:a16="http://schemas.microsoft.com/office/drawing/2014/main" id="{14C8CDD5-F982-CFE8-7000-FA185D1E20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38537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BF697-12CC-DBA4-ED4B-2B3025B38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24FBA-4A66-7BD8-B596-FCFB805C8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FEF23-6EEF-98F3-4226-9A0D56138F60}"/>
              </a:ext>
            </a:extLst>
          </p:cNvPr>
          <p:cNvSpPr>
            <a:spLocks noGrp="1"/>
          </p:cNvSpPr>
          <p:nvPr>
            <p:ph type="body" idx="1"/>
          </p:nvPr>
        </p:nvSpPr>
        <p:spPr/>
        <p:txBody>
          <a:bodyPr/>
          <a:lstStyle/>
          <a:p>
            <a:pPr>
              <a:buFont typeface="+mj-lt"/>
              <a:buAutoNum type="arabicPeriod"/>
            </a:pPr>
            <a:r>
              <a:rPr lang="en-US" dirty="0"/>
              <a:t>Neo4j </a:t>
            </a:r>
            <a:r>
              <a:rPr lang="en-US" dirty="0" err="1"/>
              <a:t>graphdatase</a:t>
            </a:r>
            <a:endParaRPr lang="en-US" dirty="0"/>
          </a:p>
        </p:txBody>
      </p:sp>
      <p:sp>
        <p:nvSpPr>
          <p:cNvPr id="4" name="Slide Number Placeholder 3">
            <a:extLst>
              <a:ext uri="{FF2B5EF4-FFF2-40B4-BE49-F238E27FC236}">
                <a16:creationId xmlns:a16="http://schemas.microsoft.com/office/drawing/2014/main" id="{D28D4EA6-38E5-7D4A-5463-384BB66653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1259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6791-CACB-BB73-85DB-DE1D39F85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57297-A2DC-DA94-7AC0-F592956B3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FA4E5-54A9-DFFD-098B-0B0D83D8BAC5}"/>
              </a:ext>
            </a:extLst>
          </p:cNvPr>
          <p:cNvSpPr>
            <a:spLocks noGrp="1"/>
          </p:cNvSpPr>
          <p:nvPr>
            <p:ph type="body" idx="1"/>
          </p:nvPr>
        </p:nvSpPr>
        <p:spPr/>
        <p:txBody>
          <a:bodyPr/>
          <a:lstStyle/>
          <a:p>
            <a:pPr algn="l">
              <a:buNone/>
            </a:pPr>
            <a:r>
              <a:rPr lang="en-US" b="1" i="0" u="none" strike="noStrike" dirty="0">
                <a:solidFill>
                  <a:srgbClr val="000000"/>
                </a:solidFill>
                <a:effectLst/>
              </a:rPr>
              <a:t>Limitations of using CGMES directly (without a graph layer)</a:t>
            </a:r>
          </a:p>
          <a:p>
            <a:pPr algn="l">
              <a:buFont typeface="Arial" panose="020B0604020202020204" pitchFamily="34" charset="0"/>
              <a:buChar char="•"/>
            </a:pPr>
            <a:r>
              <a:rPr lang="en-US" b="1" i="0" u="none" strike="noStrike" dirty="0">
                <a:solidFill>
                  <a:srgbClr val="000000"/>
                </a:solidFill>
                <a:effectLst/>
              </a:rPr>
              <a:t>Poor ad-hoc querying &amp; causality:</a:t>
            </a:r>
            <a:r>
              <a:rPr lang="en-US" b="0" i="0" u="none" strike="noStrike" dirty="0">
                <a:solidFill>
                  <a:srgbClr val="000000"/>
                </a:solidFill>
                <a:effectLst/>
              </a:rPr>
              <a:t> CGMES is an exchange format (large XML/containers), not a query engine. It struggles Multi-hop “why/impact/path” questions </a:t>
            </a:r>
            <a:r>
              <a:rPr lang="en-US" dirty="0"/>
              <a:t>that must </a:t>
            </a:r>
            <a:r>
              <a:rPr lang="en-US" b="1" dirty="0">
                <a:effectLst/>
              </a:rPr>
              <a:t>follow many connections </a:t>
            </a:r>
            <a:r>
              <a:rPr lang="en-US" dirty="0"/>
              <a:t>through the network</a:t>
            </a:r>
            <a:r>
              <a:rPr lang="en-US" b="0" i="0" u="none" strike="noStrike" dirty="0">
                <a:solidFill>
                  <a:srgbClr val="000000"/>
                </a:solidFill>
                <a:effectLst/>
              </a:rPr>
              <a:t>. And complicated </a:t>
            </a:r>
            <a:r>
              <a:rPr lang="en-US" b="0" i="0" u="none" strike="noStrike" dirty="0" err="1">
                <a:solidFill>
                  <a:srgbClr val="000000"/>
                </a:solidFill>
                <a:effectLst/>
              </a:rPr>
              <a:t>retrival</a:t>
            </a:r>
            <a:r>
              <a:rPr lang="en-US" b="0" i="0" u="none" strike="noStrike" dirty="0">
                <a:solidFill>
                  <a:srgbClr val="000000"/>
                </a:solidFill>
                <a:effectLst/>
              </a:rPr>
              <a:t> questions such as building Y-admittance matrix can be easily solved with </a:t>
            </a:r>
            <a:r>
              <a:rPr lang="en-US" b="1" i="0" u="none" strike="noStrike" dirty="0">
                <a:solidFill>
                  <a:srgbClr val="000000"/>
                </a:solidFill>
                <a:effectLst/>
                <a:sym typeface="Wingdings" pitchFamily="2" charset="2"/>
              </a:rPr>
              <a:t>query</a:t>
            </a:r>
            <a:r>
              <a:rPr lang="en-US" b="0" i="0" u="none" strike="noStrike" dirty="0">
                <a:solidFill>
                  <a:srgbClr val="000000"/>
                </a:solidFill>
                <a:effectLst/>
              </a:rPr>
              <a:t> engine.</a:t>
            </a:r>
          </a:p>
          <a:p>
            <a:pPr algn="l">
              <a:buFont typeface="Arial" panose="020B0604020202020204" pitchFamily="34" charset="0"/>
              <a:buChar char="•"/>
            </a:pPr>
            <a:r>
              <a:rPr lang="en-US" b="1" i="0" u="none" strike="noStrike" dirty="0">
                <a:solidFill>
                  <a:srgbClr val="000000"/>
                </a:solidFill>
                <a:effectLst/>
              </a:rPr>
              <a:t>Weak temporal handling:</a:t>
            </a:r>
            <a:r>
              <a:rPr lang="en-US" b="0" i="0" u="none" strike="noStrike" dirty="0">
                <a:solidFill>
                  <a:srgbClr val="000000"/>
                </a:solidFill>
                <a:effectLst/>
              </a:rPr>
              <a:t> Snapshots are just files; no native, </a:t>
            </a:r>
            <a:r>
              <a:rPr lang="en-US" b="0" i="0" u="none" strike="noStrike" dirty="0" err="1">
                <a:solidFill>
                  <a:srgbClr val="000000"/>
                </a:solidFill>
                <a:effectLst/>
              </a:rPr>
              <a:t>queryable</a:t>
            </a:r>
            <a:r>
              <a:rPr lang="en-US" b="0" i="0" u="none" strike="noStrike" dirty="0">
                <a:solidFill>
                  <a:srgbClr val="000000"/>
                </a:solidFill>
                <a:effectLst/>
              </a:rPr>
              <a:t> history/diff across time. Versioning, rollback, and provenance require custom code.</a:t>
            </a:r>
          </a:p>
          <a:p>
            <a:pPr algn="l">
              <a:buFont typeface="Arial" panose="020B0604020202020204" pitchFamily="34" charset="0"/>
              <a:buChar char="•"/>
            </a:pPr>
            <a:r>
              <a:rPr lang="en-US" b="1" i="0" u="none" strike="noStrike" dirty="0">
                <a:solidFill>
                  <a:srgbClr val="000000"/>
                </a:solidFill>
                <a:effectLst/>
              </a:rPr>
              <a:t>Subcase extraction overhead:</a:t>
            </a:r>
            <a:r>
              <a:rPr lang="en-US" b="0" i="0" u="none" strike="noStrike" dirty="0">
                <a:solidFill>
                  <a:srgbClr val="000000"/>
                </a:solidFill>
                <a:effectLst/>
              </a:rPr>
              <a:t> No built-in way to slice “affected regions” cleanly; you’ll re-implement topology walks and export logic for every study.</a:t>
            </a:r>
          </a:p>
          <a:p>
            <a:pPr algn="l">
              <a:buFont typeface="Arial" panose="020B0604020202020204" pitchFamily="34" charset="0"/>
              <a:buChar char="•"/>
            </a:pPr>
            <a:r>
              <a:rPr lang="en-US" b="1" i="0" u="none" strike="noStrike" dirty="0">
                <a:solidFill>
                  <a:srgbClr val="000000"/>
                </a:solidFill>
                <a:effectLst/>
              </a:rPr>
              <a:t>Limited explainability/auditability:</a:t>
            </a:r>
            <a:r>
              <a:rPr lang="en-US" b="0" i="0" u="none" strike="noStrike" dirty="0">
                <a:solidFill>
                  <a:srgbClr val="000000"/>
                </a:solidFill>
                <a:effectLst/>
              </a:rPr>
              <a:t> Hard to link solver outputs back to precise assets/paths and keep a navigable audit trail for operators.</a:t>
            </a:r>
          </a:p>
          <a:p>
            <a:pPr algn="l">
              <a:buFont typeface="Arial" panose="020B0604020202020204" pitchFamily="34" charset="0"/>
              <a:buChar char="•"/>
            </a:pPr>
            <a:r>
              <a:rPr lang="en-US" b="1" i="0" u="none" strike="noStrike" dirty="0">
                <a:solidFill>
                  <a:srgbClr val="000000"/>
                </a:solidFill>
                <a:effectLst/>
              </a:rPr>
              <a:t>Data fusion friction:</a:t>
            </a:r>
            <a:r>
              <a:rPr lang="en-US" b="0" i="0" u="none" strike="noStrike" dirty="0">
                <a:solidFill>
                  <a:srgbClr val="000000"/>
                </a:solidFill>
                <a:effectLst/>
              </a:rPr>
              <a:t> Integrating GIS, SCADA/EMS, AMI, maintenance, and weather with CGMES needs bespoke ETL and key mapping; no unified, </a:t>
            </a:r>
            <a:r>
              <a:rPr lang="en-US" b="0" i="0" u="none" strike="noStrike" dirty="0" err="1">
                <a:solidFill>
                  <a:srgbClr val="000000"/>
                </a:solidFill>
                <a:effectLst/>
              </a:rPr>
              <a:t>queryable</a:t>
            </a:r>
            <a:r>
              <a:rPr lang="en-US" b="0" i="0" u="none" strike="noStrike" dirty="0">
                <a:solidFill>
                  <a:srgbClr val="000000"/>
                </a:solidFill>
                <a:effectLst/>
              </a:rPr>
              <a:t> schema.</a:t>
            </a:r>
          </a:p>
          <a:p>
            <a:pPr algn="l">
              <a:buFont typeface="Arial" panose="020B0604020202020204" pitchFamily="34" charset="0"/>
              <a:buChar char="•"/>
            </a:pPr>
            <a:r>
              <a:rPr lang="en-US" b="1" i="0" u="none" strike="noStrike" dirty="0">
                <a:solidFill>
                  <a:srgbClr val="000000"/>
                </a:solidFill>
                <a:effectLst/>
              </a:rPr>
              <a:t>LLM integration risk:</a:t>
            </a:r>
            <a:r>
              <a:rPr lang="en-US" b="0" i="0" u="none" strike="noStrike" dirty="0">
                <a:solidFill>
                  <a:srgbClr val="000000"/>
                </a:solidFill>
                <a:effectLst/>
              </a:rPr>
              <a:t> Natural-language queries must jump straight to files/APIs; without a structured knowledge layer, it’s easier for the agent to pick the wrong scope or omit constraints.</a:t>
            </a:r>
          </a:p>
          <a:p>
            <a:pPr algn="l">
              <a:buFont typeface="Arial" panose="020B0604020202020204" pitchFamily="34" charset="0"/>
              <a:buChar char="•"/>
            </a:pPr>
            <a:r>
              <a:rPr lang="en-US" b="1" i="0" u="none" strike="noStrike" dirty="0">
                <a:solidFill>
                  <a:srgbClr val="000000"/>
                </a:solidFill>
                <a:effectLst/>
              </a:rPr>
              <a:t>Performance &amp; ergonomics:</a:t>
            </a:r>
            <a:r>
              <a:rPr lang="en-US" b="0" i="0" u="none" strike="noStrike" dirty="0">
                <a:solidFill>
                  <a:srgbClr val="000000"/>
                </a:solidFill>
                <a:effectLst/>
              </a:rPr>
              <a:t> Parsing large CGMES payloads repeatedly is heavy; incremental, interactive exploration (what-if loops) is awkward compared to graph queries.</a:t>
            </a:r>
          </a:p>
          <a:p>
            <a:pPr algn="l">
              <a:buFont typeface="Arial" panose="020B0604020202020204" pitchFamily="34" charset="0"/>
              <a:buChar char="•"/>
            </a:pPr>
            <a:r>
              <a:rPr lang="en-US" b="1" i="0" u="none" strike="noStrike" dirty="0">
                <a:solidFill>
                  <a:srgbClr val="000000"/>
                </a:solidFill>
                <a:effectLst/>
              </a:rPr>
              <a:t>Static by design:</a:t>
            </a:r>
            <a:r>
              <a:rPr lang="en-US" b="0" i="0" u="none" strike="noStrike" dirty="0">
                <a:solidFill>
                  <a:srgbClr val="000000"/>
                </a:solidFill>
                <a:effectLst/>
              </a:rPr>
              <a:t> CGMES snapshots don’t natively represent live telemetry/state changes; aligning with real-time streams needs extra infrastructure.</a:t>
            </a:r>
          </a:p>
        </p:txBody>
      </p:sp>
      <p:sp>
        <p:nvSpPr>
          <p:cNvPr id="4" name="Slide Number Placeholder 3">
            <a:extLst>
              <a:ext uri="{FF2B5EF4-FFF2-40B4-BE49-F238E27FC236}">
                <a16:creationId xmlns:a16="http://schemas.microsoft.com/office/drawing/2014/main" id="{62053923-6FB5-20A0-35BB-5C5FF2A794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5588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8535A-D250-3195-84A6-282A36F60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B12F7-3341-9C3D-C44D-0762051F4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305C7-942E-2E49-8B0D-71BE67A47E18}"/>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E7350E95-04E3-FE2C-7D75-8D370756C5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94220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25AE1-77AB-A2AC-93F4-A45CD6B2B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3ECBC-4495-6C64-05C2-4ABAD7E3A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4A0A5-8196-3670-50AA-82B3CA63A075}"/>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84EA9448-B693-9A4B-A270-0C1E02C0EB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01031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FFCA-A535-9A3A-A452-0A93A5BCF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D4264-AEBA-DA6E-7341-D43F19B17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1FF4C-CB8E-5673-F348-A0BA5B03FB6B}"/>
              </a:ext>
            </a:extLst>
          </p:cNvPr>
          <p:cNvSpPr>
            <a:spLocks noGrp="1"/>
          </p:cNvSpPr>
          <p:nvPr>
            <p:ph type="body" idx="1"/>
          </p:nvPr>
        </p:nvSpPr>
        <p:spPr/>
        <p:txBody>
          <a:bodyPr/>
          <a:lstStyle/>
          <a:p>
            <a:pPr>
              <a:buNone/>
            </a:pPr>
            <a:r>
              <a:rPr lang="en-US" b="1" dirty="0"/>
              <a:t>5.1: Creation of a Knowledge Database for Heterogeneous Power Grid Data Sources</a:t>
            </a:r>
          </a:p>
          <a:p>
            <a:r>
              <a:rPr lang="en-US" b="1" dirty="0"/>
              <a:t>Overview</a:t>
            </a:r>
            <a:r>
              <a:rPr lang="en-US" dirty="0"/>
              <a:t> Current power grid operations rely on fragmented data sources: network topology is in </a:t>
            </a:r>
            <a:r>
              <a:rPr lang="en-US" b="1" dirty="0"/>
              <a:t>GIS</a:t>
            </a:r>
            <a:r>
              <a:rPr lang="en-US" dirty="0"/>
              <a:t> (Geographic Information Systems), operational data in </a:t>
            </a:r>
            <a:r>
              <a:rPr lang="en-US" b="1" dirty="0"/>
              <a:t>SCADA</a:t>
            </a:r>
            <a:r>
              <a:rPr lang="en-US" dirty="0"/>
              <a:t>, and metering data in manufacturer-specific formats. The goal of this Work Package is to integrate these disparate sources into a </a:t>
            </a:r>
            <a:r>
              <a:rPr lang="en-US" b="1" dirty="0"/>
              <a:t>Graph Database</a:t>
            </a:r>
            <a:r>
              <a:rPr lang="en-US" dirty="0"/>
              <a:t> (Knowledge Graph) to enable deep analysis, real-time processing, and AI-supported troubleshooting.</a:t>
            </a:r>
          </a:p>
          <a:p>
            <a:endParaRPr lang="en-US" dirty="0"/>
          </a:p>
          <a:p>
            <a:pPr>
              <a:buNone/>
            </a:pPr>
            <a:r>
              <a:rPr lang="en-US" b="1" dirty="0"/>
              <a:t>2. Methodology &amp; Technologies</a:t>
            </a:r>
          </a:p>
          <a:p>
            <a:pPr>
              <a:buNone/>
            </a:pPr>
            <a:r>
              <a:rPr lang="en-US" dirty="0"/>
              <a:t>To achieve the integration and analysis goals, the following methods are being utilized:</a:t>
            </a:r>
          </a:p>
          <a:p>
            <a:pPr>
              <a:buFont typeface="Arial" panose="020B0604020202020204" pitchFamily="34" charset="0"/>
              <a:buChar char="•"/>
            </a:pPr>
            <a:r>
              <a:rPr lang="en-US" b="1" dirty="0"/>
              <a:t>Graph Database:</a:t>
            </a:r>
            <a:r>
              <a:rPr lang="en-US" dirty="0"/>
              <a:t> Storing data as nodes and edges to model complex relationships (superior to relational databases for this use case).</a:t>
            </a:r>
          </a:p>
          <a:p>
            <a:pPr>
              <a:buFont typeface="Arial" panose="020B0604020202020204" pitchFamily="34" charset="0"/>
              <a:buChar char="•"/>
            </a:pPr>
            <a:r>
              <a:rPr lang="en-US" b="1" dirty="0"/>
              <a:t>Knowledge Inference:</a:t>
            </a:r>
            <a:r>
              <a:rPr lang="en-US" dirty="0"/>
              <a:t> Using rule-based, ontology-based, and ML-based logic to fill data gaps.</a:t>
            </a:r>
          </a:p>
          <a:p>
            <a:pPr>
              <a:buFont typeface="Arial" panose="020B0604020202020204" pitchFamily="34" charset="0"/>
              <a:buChar char="•"/>
            </a:pPr>
            <a:r>
              <a:rPr lang="en-US" b="1" dirty="0"/>
              <a:t>AI &amp; NLP:</a:t>
            </a:r>
            <a:r>
              <a:rPr lang="en-US" dirty="0"/>
              <a:t> Utilizing Large Language Models (LLM) and Natural Language Processing for the user interface.</a:t>
            </a:r>
          </a:p>
          <a:p>
            <a:pPr>
              <a:buFont typeface="Arial" panose="020B0604020202020204" pitchFamily="34" charset="0"/>
              <a:buChar char="•"/>
            </a:pPr>
            <a:r>
              <a:rPr lang="en-US" b="1" dirty="0"/>
              <a:t>Gamification:</a:t>
            </a:r>
            <a:r>
              <a:rPr lang="en-US" dirty="0"/>
              <a:t> Applied within the methodology (context implies potential user engagement strategies).</a:t>
            </a:r>
          </a:p>
          <a:p>
            <a:endParaRPr lang="en-US" dirty="0"/>
          </a:p>
        </p:txBody>
      </p:sp>
      <p:sp>
        <p:nvSpPr>
          <p:cNvPr id="4" name="Slide Number Placeholder 3">
            <a:extLst>
              <a:ext uri="{FF2B5EF4-FFF2-40B4-BE49-F238E27FC236}">
                <a16:creationId xmlns:a16="http://schemas.microsoft.com/office/drawing/2014/main" id="{0C9626B5-17C7-42F6-86B8-839D5FE5E9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84812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EA6E-42E6-32C4-0B0C-4C1AD363A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80B81-4F95-C1D3-EA25-6C8BA37C1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AF5B5-465C-DC6A-5F18-E69C7738EF57}"/>
              </a:ext>
            </a:extLst>
          </p:cNvPr>
          <p:cNvSpPr>
            <a:spLocks noGrp="1"/>
          </p:cNvSpPr>
          <p:nvPr>
            <p:ph type="body" idx="1"/>
          </p:nvPr>
        </p:nvSpPr>
        <p:spPr/>
        <p:txBody>
          <a:bodyPr/>
          <a:lstStyle/>
          <a:p>
            <a:pPr>
              <a:buNone/>
            </a:pPr>
            <a:r>
              <a:rPr lang="en-US" b="1" dirty="0"/>
              <a:t>5.1: Creation of a Knowledge Database for Heterogeneous Power Grid Data Sources</a:t>
            </a:r>
          </a:p>
          <a:p>
            <a:r>
              <a:rPr lang="en-US" b="1" dirty="0"/>
              <a:t>Overview</a:t>
            </a:r>
            <a:r>
              <a:rPr lang="en-US" dirty="0"/>
              <a:t> Current power grid operations rely on fragmented data sources: network topology is in </a:t>
            </a:r>
            <a:r>
              <a:rPr lang="en-US" b="1" dirty="0"/>
              <a:t>GIS</a:t>
            </a:r>
            <a:r>
              <a:rPr lang="en-US" dirty="0"/>
              <a:t> (Geographic Information Systems), operational data in </a:t>
            </a:r>
            <a:r>
              <a:rPr lang="en-US" b="1" dirty="0"/>
              <a:t>SCADA</a:t>
            </a:r>
            <a:r>
              <a:rPr lang="en-US" dirty="0"/>
              <a:t>, and metering data in manufacturer-specific formats. The goal of this Work Package is to integrate these disparate sources into a </a:t>
            </a:r>
            <a:r>
              <a:rPr lang="en-US" b="1" dirty="0"/>
              <a:t>Graph Database</a:t>
            </a:r>
            <a:r>
              <a:rPr lang="en-US" dirty="0"/>
              <a:t> (Knowledge Graph) to enable deep analysis, real-time processing, and AI-supported troubleshooting.</a:t>
            </a:r>
          </a:p>
          <a:p>
            <a:endParaRPr lang="en-US" dirty="0"/>
          </a:p>
          <a:p>
            <a:pPr>
              <a:buNone/>
            </a:pPr>
            <a:r>
              <a:rPr lang="en-US" b="1" dirty="0"/>
              <a:t>2. Methodology &amp; Technologies</a:t>
            </a:r>
          </a:p>
          <a:p>
            <a:pPr>
              <a:buNone/>
            </a:pPr>
            <a:r>
              <a:rPr lang="en-US" dirty="0"/>
              <a:t>To achieve the integration and analysis goals, the following methods are being utilized:</a:t>
            </a:r>
          </a:p>
          <a:p>
            <a:pPr>
              <a:buFont typeface="Arial" panose="020B0604020202020204" pitchFamily="34" charset="0"/>
              <a:buChar char="•"/>
            </a:pPr>
            <a:r>
              <a:rPr lang="en-US" b="1" dirty="0"/>
              <a:t>Graph Database:</a:t>
            </a:r>
            <a:r>
              <a:rPr lang="en-US" dirty="0"/>
              <a:t> Storing data as nodes and edges to model complex relationships (superior to relational databases for this use case).</a:t>
            </a:r>
          </a:p>
          <a:p>
            <a:pPr>
              <a:buFont typeface="Arial" panose="020B0604020202020204" pitchFamily="34" charset="0"/>
              <a:buChar char="•"/>
            </a:pPr>
            <a:r>
              <a:rPr lang="en-US" b="1" dirty="0"/>
              <a:t>Knowledge Inference:</a:t>
            </a:r>
            <a:r>
              <a:rPr lang="en-US" dirty="0"/>
              <a:t> Using rule-based, ontology-based, and ML-based logic to fill data gaps.</a:t>
            </a:r>
          </a:p>
          <a:p>
            <a:pPr>
              <a:buFont typeface="Arial" panose="020B0604020202020204" pitchFamily="34" charset="0"/>
              <a:buChar char="•"/>
            </a:pPr>
            <a:r>
              <a:rPr lang="en-US" b="1" dirty="0"/>
              <a:t>AI &amp; NLP:</a:t>
            </a:r>
            <a:r>
              <a:rPr lang="en-US" dirty="0"/>
              <a:t> Utilizing Large Language Models (LLM) and Natural Language Processing for the user interface.</a:t>
            </a:r>
          </a:p>
          <a:p>
            <a:pPr>
              <a:buFont typeface="Arial" panose="020B0604020202020204" pitchFamily="34" charset="0"/>
              <a:buChar char="•"/>
            </a:pPr>
            <a:r>
              <a:rPr lang="en-US" b="1" dirty="0"/>
              <a:t>Gamification:</a:t>
            </a:r>
            <a:r>
              <a:rPr lang="en-US" dirty="0"/>
              <a:t> Applied within the methodology (context implies potential user engagement strategies).</a:t>
            </a:r>
          </a:p>
          <a:p>
            <a:endParaRPr lang="en-US" dirty="0"/>
          </a:p>
        </p:txBody>
      </p:sp>
      <p:sp>
        <p:nvSpPr>
          <p:cNvPr id="4" name="Slide Number Placeholder 3">
            <a:extLst>
              <a:ext uri="{FF2B5EF4-FFF2-40B4-BE49-F238E27FC236}">
                <a16:creationId xmlns:a16="http://schemas.microsoft.com/office/drawing/2014/main" id="{82BACA35-CDE6-268D-B7F3-67ABA2F274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7087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C0722-7C55-DAC7-1B91-A5031D128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2CBB4-7264-DC42-4067-BED1840B9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CF30E-470A-6855-EFFC-F4579BF6C58D}"/>
              </a:ext>
            </a:extLst>
          </p:cNvPr>
          <p:cNvSpPr>
            <a:spLocks noGrp="1"/>
          </p:cNvSpPr>
          <p:nvPr>
            <p:ph type="body" idx="1"/>
          </p:nvPr>
        </p:nvSpPr>
        <p:spPr/>
        <p:txBody>
          <a:bodyPr/>
          <a:lstStyle/>
          <a:p>
            <a:pPr>
              <a:buNone/>
            </a:pPr>
            <a:r>
              <a:rPr lang="en-US" b="1" dirty="0"/>
              <a:t>5.1: Creation of a Knowledge Database for Heterogeneous Power Grid Data Sources</a:t>
            </a:r>
          </a:p>
          <a:p>
            <a:r>
              <a:rPr lang="en-US" b="1" dirty="0"/>
              <a:t>Overview</a:t>
            </a:r>
            <a:r>
              <a:rPr lang="en-US" dirty="0"/>
              <a:t> Current power grid operations rely on fragmented data sources: network topology is in </a:t>
            </a:r>
            <a:r>
              <a:rPr lang="en-US" b="1" dirty="0"/>
              <a:t>GIS</a:t>
            </a:r>
            <a:r>
              <a:rPr lang="en-US" dirty="0"/>
              <a:t> (Geographic Information Systems), operational data in </a:t>
            </a:r>
            <a:r>
              <a:rPr lang="en-US" b="1" dirty="0"/>
              <a:t>SCADA</a:t>
            </a:r>
            <a:r>
              <a:rPr lang="en-US" dirty="0"/>
              <a:t>, and metering data in manufacturer-specific formats. The goal of this Work Package is to integrate these disparate sources into a </a:t>
            </a:r>
            <a:r>
              <a:rPr lang="en-US" b="1" dirty="0"/>
              <a:t>Graph Database</a:t>
            </a:r>
            <a:r>
              <a:rPr lang="en-US" dirty="0"/>
              <a:t> (Knowledge Graph) to enable deep analysis, real-time processing, and AI-supported troubleshooting.</a:t>
            </a:r>
          </a:p>
          <a:p>
            <a:endParaRPr lang="en-US" dirty="0"/>
          </a:p>
          <a:p>
            <a:pPr>
              <a:buNone/>
            </a:pPr>
            <a:r>
              <a:rPr lang="en-US" b="1" dirty="0"/>
              <a:t>2. Methodology &amp; Technologies</a:t>
            </a:r>
          </a:p>
          <a:p>
            <a:pPr>
              <a:buNone/>
            </a:pPr>
            <a:r>
              <a:rPr lang="en-US" dirty="0"/>
              <a:t>To achieve the integration and analysis goals, the following methods are being utilized:</a:t>
            </a:r>
          </a:p>
          <a:p>
            <a:pPr>
              <a:buFont typeface="Arial" panose="020B0604020202020204" pitchFamily="34" charset="0"/>
              <a:buChar char="•"/>
            </a:pPr>
            <a:r>
              <a:rPr lang="en-US" b="1" dirty="0"/>
              <a:t>Graph Database:</a:t>
            </a:r>
            <a:r>
              <a:rPr lang="en-US" dirty="0"/>
              <a:t> Storing data as nodes and edges to model complex relationships (superior to relational databases for this use case).</a:t>
            </a:r>
          </a:p>
          <a:p>
            <a:pPr>
              <a:buFont typeface="Arial" panose="020B0604020202020204" pitchFamily="34" charset="0"/>
              <a:buChar char="•"/>
            </a:pPr>
            <a:r>
              <a:rPr lang="en-US" b="1" dirty="0"/>
              <a:t>Knowledge Inference:</a:t>
            </a:r>
            <a:r>
              <a:rPr lang="en-US" dirty="0"/>
              <a:t> Using rule-based, ontology-based, and ML-based logic to fill data gaps.</a:t>
            </a:r>
          </a:p>
          <a:p>
            <a:pPr>
              <a:buFont typeface="Arial" panose="020B0604020202020204" pitchFamily="34" charset="0"/>
              <a:buChar char="•"/>
            </a:pPr>
            <a:r>
              <a:rPr lang="en-US" b="1" dirty="0"/>
              <a:t>AI &amp; NLP:</a:t>
            </a:r>
            <a:r>
              <a:rPr lang="en-US" dirty="0"/>
              <a:t> Utilizing Large Language Models (LLM) and Natural Language Processing for the user interface.</a:t>
            </a:r>
          </a:p>
          <a:p>
            <a:pPr>
              <a:buFont typeface="Arial" panose="020B0604020202020204" pitchFamily="34" charset="0"/>
              <a:buChar char="•"/>
            </a:pPr>
            <a:r>
              <a:rPr lang="en-US" b="1" dirty="0"/>
              <a:t>Gamification:</a:t>
            </a:r>
            <a:r>
              <a:rPr lang="en-US" dirty="0"/>
              <a:t> Applied within the methodology (context implies potential user engagement strategies).</a:t>
            </a:r>
          </a:p>
          <a:p>
            <a:endParaRPr lang="en-US" dirty="0"/>
          </a:p>
        </p:txBody>
      </p:sp>
      <p:sp>
        <p:nvSpPr>
          <p:cNvPr id="4" name="Slide Number Placeholder 3">
            <a:extLst>
              <a:ext uri="{FF2B5EF4-FFF2-40B4-BE49-F238E27FC236}">
                <a16:creationId xmlns:a16="http://schemas.microsoft.com/office/drawing/2014/main" id="{479506B5-203D-EA6F-3276-79B8E79724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2625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9ED2-3757-090F-2BE2-AB1FE810C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C7A53-A490-0E32-FA8B-88C0BBC07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FDD9E-7378-14D6-FE15-81541D1322AD}"/>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76C7F56B-ADBB-1F34-0237-6FA68DBF01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3045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72CC-D5D4-BD00-ACF6-C93C6ACE4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363AD-EBC8-F449-765B-589F25EE6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D45C0-346A-6070-3DC1-3F672C677140}"/>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FF61EF3F-9F1A-12AB-D640-FB1C493311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1696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B12AD-16B4-25B3-003A-6E8EB0B61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3CC3C-FB5C-7843-1AF9-74527BEE5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256E7-8BA3-D586-7201-66F95D054069}"/>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E6E5DF6F-B42C-40F7-03EA-760F804AC5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9111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7206-3B75-A8B2-E58F-E7DD4E2DB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CB0BC-388D-52E9-F42D-069E4B1D5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91897-41AF-E865-6D0D-72DFA6DD689E}"/>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8CA43E81-7A8C-C2AE-BCFE-5C53930EF5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4930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F969-0583-E7E4-2FA6-B3AC1F1A5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CBEA0-0F45-B55D-C581-AC9291E04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16E03-2BD6-26B2-1297-A1D980EA5CA5}"/>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46784684-A75E-2F39-7D81-85CFE23E1A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56269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6980F-9686-27F5-1412-10F9AB00C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7F070-720C-C8F3-408B-5141CF46A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EDA9C-EA12-D72C-0AD3-CD909560352E}"/>
              </a:ext>
            </a:extLst>
          </p:cNvPr>
          <p:cNvSpPr>
            <a:spLocks noGrp="1"/>
          </p:cNvSpPr>
          <p:nvPr>
            <p:ph type="body" idx="1"/>
          </p:nvPr>
        </p:nvSpPr>
        <p:spPr/>
        <p:txBody>
          <a:bodyPr/>
          <a:lstStyle/>
          <a:p>
            <a:pPr>
              <a:buFont typeface="+mj-lt"/>
              <a:buAutoNum type="arabicPeriod"/>
            </a:pPr>
            <a:r>
              <a:rPr lang="en-US"/>
              <a:t>Quick context and objectives (5 min) — Changhun</a:t>
            </a:r>
          </a:p>
          <a:p>
            <a:pPr>
              <a:buFont typeface="+mj-lt"/>
              <a:buAutoNum type="arabicPeriod"/>
            </a:pPr>
            <a:r>
              <a:rPr lang="en-US"/>
              <a:t>TP5 progress demo: </a:t>
            </a:r>
            <a:r>
              <a:rPr lang="en-US" err="1"/>
              <a:t>GridSense</a:t>
            </a:r>
            <a:r>
              <a:rPr lang="en-US"/>
              <a:t> AI (Neo4j + Heo1 grid from LEW) (15 min) — </a:t>
            </a:r>
            <a:r>
              <a:rPr lang="en-US" err="1"/>
              <a:t>Redwanul</a:t>
            </a:r>
            <a:r>
              <a:rPr lang="en-US"/>
              <a:t> </a:t>
            </a:r>
          </a:p>
          <a:p>
            <a:pPr marL="742950" lvl="1" indent="-285750">
              <a:buFont typeface="+mj-lt"/>
              <a:buAutoNum type="arabicPeriod"/>
            </a:pPr>
            <a:r>
              <a:rPr lang="en-US"/>
              <a:t>Neo4j schema overview and ingestion path</a:t>
            </a:r>
          </a:p>
          <a:p>
            <a:pPr marL="742950" lvl="1" indent="-285750">
              <a:buFont typeface="+mj-lt"/>
              <a:buAutoNum type="arabicPeriod"/>
            </a:pPr>
            <a:r>
              <a:rPr lang="en-US"/>
              <a:t>Live queries via the LLM chatbot</a:t>
            </a:r>
          </a:p>
          <a:p>
            <a:pPr>
              <a:buFont typeface="+mj-lt"/>
              <a:buAutoNum type="arabicPeriod"/>
            </a:pPr>
            <a:r>
              <a:rPr lang="en-US"/>
              <a:t>Validation results (15 min) — Ragav </a:t>
            </a:r>
          </a:p>
          <a:p>
            <a:pPr marL="742950" lvl="1" indent="-285750">
              <a:buFont typeface="+mj-lt"/>
              <a:buAutoNum type="arabicPeriod"/>
            </a:pPr>
            <a:r>
              <a:rPr lang="en-US"/>
              <a:t>Basic parameter verification checks</a:t>
            </a:r>
          </a:p>
          <a:p>
            <a:pPr marL="742950" lvl="1" indent="-285750">
              <a:buFont typeface="+mj-lt"/>
              <a:buAutoNum type="arabicPeriod"/>
            </a:pPr>
            <a:r>
              <a:rPr lang="en-US"/>
              <a:t>Multi-query prompts → responses → result-consistency snapshots</a:t>
            </a:r>
          </a:p>
          <a:p>
            <a:pPr>
              <a:buFont typeface="+mj-lt"/>
              <a:buAutoNum type="arabicPeriod"/>
            </a:pPr>
            <a:r>
              <a:rPr lang="en-US"/>
              <a:t>Next steps on reliability and consistency (10 min) — </a:t>
            </a:r>
            <a:r>
              <a:rPr lang="en-US" err="1"/>
              <a:t>Redwanul</a:t>
            </a:r>
            <a:r>
              <a:rPr lang="en-US"/>
              <a:t>, All </a:t>
            </a:r>
          </a:p>
          <a:p>
            <a:pPr marL="742950" lvl="1" indent="-285750">
              <a:buFont typeface="+mj-lt"/>
              <a:buAutoNum type="arabicPeriod"/>
            </a:pPr>
            <a:r>
              <a:rPr lang="en-US"/>
              <a:t>Using MCP to connect tools/data and ensure consistent answers across question variants</a:t>
            </a:r>
          </a:p>
          <a:p>
            <a:pPr>
              <a:buFont typeface="+mj-lt"/>
              <a:buAutoNum type="arabicPeriod"/>
            </a:pPr>
            <a:r>
              <a:rPr lang="en-US"/>
              <a:t>Literature and building blocks for agentic AI (10 min) — Ragav, Changhun, All </a:t>
            </a:r>
          </a:p>
          <a:p>
            <a:pPr marL="742950" lvl="1" indent="-285750">
              <a:buFont typeface="+mj-lt"/>
              <a:buAutoNum type="arabicPeriod"/>
            </a:pPr>
            <a:r>
              <a:rPr lang="en-US"/>
              <a:t>Brief overview: </a:t>
            </a:r>
            <a:r>
              <a:rPr lang="en-US" err="1"/>
              <a:t>GridMind</a:t>
            </a:r>
            <a:r>
              <a:rPr lang="en-US"/>
              <a:t>, </a:t>
            </a:r>
            <a:r>
              <a:rPr lang="en-US" err="1"/>
              <a:t>PowerAgent</a:t>
            </a:r>
            <a:r>
              <a:rPr lang="en-US"/>
              <a:t>, and related agentic frameworks we can leverage</a:t>
            </a:r>
          </a:p>
          <a:p>
            <a:pPr>
              <a:buFont typeface="+mj-lt"/>
              <a:buAutoNum type="arabicPeriod"/>
            </a:pPr>
            <a:r>
              <a:rPr lang="en-US"/>
              <a:t>Data roadmap (5 min) — EES, All </a:t>
            </a:r>
          </a:p>
          <a:p>
            <a:pPr marL="742950" lvl="1" indent="-285750">
              <a:buFont typeface="+mj-lt"/>
              <a:buAutoNum type="arabicPeriod"/>
            </a:pPr>
            <a:r>
              <a:rPr lang="en-US"/>
              <a:t>Expanding beyond CGMES to include GIS/SCADA/AMI/vendor data sources</a:t>
            </a:r>
          </a:p>
          <a:p>
            <a:pPr>
              <a:buFont typeface="+mj-lt"/>
              <a:buAutoNum type="arabicPeriod"/>
            </a:pPr>
            <a:r>
              <a:rPr lang="en-US"/>
              <a:t>OPAL-RT × FAU internship/Master’s opportunity (10 min) — All </a:t>
            </a:r>
          </a:p>
          <a:p>
            <a:pPr marL="742950" lvl="1" indent="-285750">
              <a:buFont typeface="+mj-lt"/>
              <a:buAutoNum type="arabicPeriod"/>
            </a:pPr>
            <a:r>
              <a:rPr lang="en-US"/>
              <a:t>Scope, MCP server integration, expected deliverables, supervision plan, and next actions</a:t>
            </a:r>
          </a:p>
          <a:p>
            <a:pPr>
              <a:buFont typeface="+mj-lt"/>
              <a:buAutoNum type="arabicPeriod"/>
            </a:pPr>
            <a:r>
              <a:rPr lang="en-US"/>
              <a:t>Further discussions</a:t>
            </a:r>
          </a:p>
        </p:txBody>
      </p:sp>
      <p:sp>
        <p:nvSpPr>
          <p:cNvPr id="4" name="Slide Number Placeholder 3">
            <a:extLst>
              <a:ext uri="{FF2B5EF4-FFF2-40B4-BE49-F238E27FC236}">
                <a16:creationId xmlns:a16="http://schemas.microsoft.com/office/drawing/2014/main" id="{B7AF5943-A9A3-92D3-FA7F-221AD9A608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91288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9E13-9DAB-9CC9-23AA-3E56154CF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B0C49-934C-336B-BC35-BABDFAB64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DDE2B-37D5-27B9-8164-DB51A0A0175F}"/>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CBBF0AEF-D250-5418-3500-683F93F034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02927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36CB-172A-E95E-A058-F03412989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2E28B-91D2-29B7-CAF3-7C7560D5A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565ED-B446-9F28-DC86-089B5B2D301B}"/>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03E871EC-D5EF-1A71-FC69-B574D0A078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17014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C4A3-2905-C52F-696A-CD305141A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F29AF-3A80-169E-1D76-EC5F502AB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5355F-56DB-8235-7CBF-AA27A141B4C4}"/>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A6614862-4392-1B55-AD16-8B5A3773D4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6151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C22CA-D264-57D8-C55A-9B9A7EAA4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85CC6-BC4A-23EB-AE19-A50FD1B25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503C3-D3B7-BABC-18CF-7A0AEBB67897}"/>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1F3C9722-DCC6-AA5B-362B-0B235613B5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106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9F21F-AAB8-B39E-8598-04F47B420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B53F1-660B-E5F0-4EA3-4D13879CF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30185-4387-0641-E49F-2E02F41A5481}"/>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21C24E07-A4A2-21DC-D21A-4AE3349061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0221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2FC4-B09B-8FA9-F05A-4430564EB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E5E37-2FFF-B60E-42CB-05CA99265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19072-C635-6BF6-380E-DE0B7D77A9D5}"/>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46D7B396-1BEA-02FA-8A4C-2D715F6852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43903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EAC1-3C96-9FF2-447B-8D92F4D93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56B4F-8BB7-8DDB-438D-2F2E969B81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047C6-FD1B-2D4E-163F-CAA5FB9CEA5A}"/>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F3AD21E0-46F1-2687-47DB-0E050E4FE3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40832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FFD50-F647-286E-F3DB-814121BE5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F6C67-00C2-A17F-E4D7-5871AB8E0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2C501-C93B-E97A-4103-879EC7D762AE}"/>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A504A5D4-1686-C283-4706-F851D38C01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473651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599B6-3B17-45CE-9540-DB1045747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0CAFE-7FD2-744F-9BFE-06D2A04B4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CE7727-4BB9-D1FF-AB43-FB46FE4E6D50}"/>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72096E17-09BC-F5C0-FA0B-EFE65EB307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72277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E2FDF-7685-414D-B8C3-144A37E47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A09FD-F140-45AA-F87D-4B1F26309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43503-231D-FA0A-7E85-2B2B1616BCB2}"/>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2112B324-990F-19CC-24BA-DC9DD66D21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5282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25533-968E-4F76-31E5-8760F576E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82F4D-3BB7-8EF3-59A9-A23B3199E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5D8E1-537E-E52C-8BDD-4762DBD8123E}"/>
              </a:ext>
            </a:extLst>
          </p:cNvPr>
          <p:cNvSpPr>
            <a:spLocks noGrp="1"/>
          </p:cNvSpPr>
          <p:nvPr>
            <p:ph type="body" idx="1"/>
          </p:nvPr>
        </p:nvSpPr>
        <p:spPr/>
        <p:txBody>
          <a:bodyPr/>
          <a:lstStyle/>
          <a:p>
            <a:pPr>
              <a:buFont typeface="+mj-lt"/>
              <a:buAutoNum type="arabicPeriod"/>
            </a:pPr>
            <a:endParaRPr lang="en-US"/>
          </a:p>
        </p:txBody>
      </p:sp>
      <p:sp>
        <p:nvSpPr>
          <p:cNvPr id="4" name="Slide Number Placeholder 3">
            <a:extLst>
              <a:ext uri="{FF2B5EF4-FFF2-40B4-BE49-F238E27FC236}">
                <a16:creationId xmlns:a16="http://schemas.microsoft.com/office/drawing/2014/main" id="{BDC29F8A-9985-3536-BD8B-3EA3A5C016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30198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7D5F-9300-1D77-FC17-73A017FF6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A9ECA-0468-3277-08E3-690876AAF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8F7D0-E60D-8EBD-3813-50CFF8E7C0D5}"/>
              </a:ext>
            </a:extLst>
          </p:cNvPr>
          <p:cNvSpPr>
            <a:spLocks noGrp="1"/>
          </p:cNvSpPr>
          <p:nvPr>
            <p:ph type="body" idx="1"/>
          </p:nvPr>
        </p:nvSpPr>
        <p:spPr/>
        <p:txBody>
          <a:bodyPr/>
          <a:lstStyle/>
          <a:p>
            <a:pPr algn="l">
              <a:buNone/>
            </a:pPr>
            <a:r>
              <a:rPr lang="en-US" b="1" i="0" u="none" strike="noStrike" dirty="0">
                <a:solidFill>
                  <a:srgbClr val="000000"/>
                </a:solidFill>
                <a:effectLst/>
              </a:rPr>
              <a:t>1) CGMES (the blueprint)</a:t>
            </a:r>
          </a:p>
          <a:p>
            <a:pPr algn="l">
              <a:buNone/>
            </a:pPr>
            <a:r>
              <a:rPr lang="en-US" b="1" i="0" u="none" strike="noStrike" dirty="0">
                <a:solidFill>
                  <a:srgbClr val="000000"/>
                </a:solidFill>
                <a:effectLst/>
              </a:rPr>
              <a:t>What it is:</a:t>
            </a:r>
            <a:r>
              <a:rPr lang="en-US" b="0" i="0" u="none" strike="noStrike" dirty="0">
                <a:solidFill>
                  <a:srgbClr val="000000"/>
                </a:solidFill>
                <a:effectLst/>
              </a:rPr>
              <a:t> A standardized file that describes the network at a point in time—buses, lines, transformers, generators, switch states, electrical parameters.</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Load the snapshot into a simulator to run power flow or contingency studies.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“If Line L-10 trips, will anything overload?” → Load CGMES, run the study, see the result.</a:t>
            </a:r>
          </a:p>
          <a:p>
            <a:pPr algn="l">
              <a:buNone/>
            </a:pPr>
            <a:r>
              <a:rPr lang="en-US" b="0" i="1" u="none" strike="noStrike" dirty="0">
                <a:solidFill>
                  <a:srgbClr val="000000"/>
                </a:solidFill>
                <a:effectLst/>
              </a:rPr>
              <a:t>Limit:</a:t>
            </a:r>
            <a:r>
              <a:rPr lang="en-US" b="0" i="0" u="none" strike="noStrike" dirty="0">
                <a:solidFill>
                  <a:srgbClr val="000000"/>
                </a:solidFill>
                <a:effectLst/>
              </a:rPr>
              <a:t> Great for studies, but it’s just a snapshot. It doesn’t tell you where equipment sits on a map, what’s happening live, or which customers are out.</a:t>
            </a:r>
          </a:p>
          <a:p>
            <a:pPr algn="l">
              <a:buNone/>
            </a:pPr>
            <a:endParaRPr lang="en-US" b="0" i="0" u="none" strike="noStrike" dirty="0">
              <a:solidFill>
                <a:srgbClr val="000000"/>
              </a:solidFill>
              <a:effectLst/>
            </a:endParaRPr>
          </a:p>
          <a:p>
            <a:pPr algn="l">
              <a:buNone/>
            </a:pPr>
            <a:r>
              <a:rPr lang="en-US" b="1" i="0" u="none" strike="noStrike" dirty="0">
                <a:solidFill>
                  <a:srgbClr val="000000"/>
                </a:solidFill>
                <a:effectLst/>
              </a:rPr>
              <a:t>2) GIS (the map)</a:t>
            </a:r>
          </a:p>
          <a:p>
            <a:pPr algn="l">
              <a:buNone/>
            </a:pPr>
            <a:r>
              <a:rPr lang="en-US" b="1" i="0" u="none" strike="noStrike" dirty="0">
                <a:solidFill>
                  <a:srgbClr val="000000"/>
                </a:solidFill>
                <a:effectLst/>
              </a:rPr>
              <a:t>What it is:</a:t>
            </a:r>
            <a:r>
              <a:rPr lang="en-US" b="0" i="0" u="none" strike="noStrike" dirty="0">
                <a:solidFill>
                  <a:srgbClr val="000000"/>
                </a:solidFill>
                <a:effectLst/>
              </a:rPr>
              <a:t> Geographic positions of substations, poles, towers, underground routes, and right-of-way.</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Locate assets, plan switching or patrol routes, overlay risks (e.g., flood zones).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“Where is the open point that isolated Feeder F-17?” → The map shows the exact pole and switch to close.</a:t>
            </a:r>
          </a:p>
          <a:p>
            <a:pPr algn="l">
              <a:buNone/>
            </a:pPr>
            <a:endParaRPr lang="en-US" b="1" i="0" u="none" strike="noStrike" dirty="0">
              <a:solidFill>
                <a:srgbClr val="000000"/>
              </a:solidFill>
              <a:effectLst/>
            </a:endParaRPr>
          </a:p>
          <a:p>
            <a:pPr algn="l">
              <a:buNone/>
            </a:pPr>
            <a:r>
              <a:rPr lang="en-US" b="1" i="0" u="none" strike="noStrike" dirty="0">
                <a:solidFill>
                  <a:srgbClr val="000000"/>
                </a:solidFill>
                <a:effectLst/>
              </a:rPr>
              <a:t>3) SCADA &amp; EMS (the live sensors and control room apps)</a:t>
            </a:r>
          </a:p>
          <a:p>
            <a:pPr algn="l">
              <a:buNone/>
            </a:pPr>
            <a:r>
              <a:rPr lang="en-US" b="1" i="0" u="none" strike="noStrike" dirty="0">
                <a:solidFill>
                  <a:srgbClr val="000000"/>
                </a:solidFill>
                <a:effectLst/>
              </a:rPr>
              <a:t>SCADA</a:t>
            </a:r>
            <a:r>
              <a:rPr lang="en-US" b="0" i="0" u="none" strike="noStrike" dirty="0">
                <a:solidFill>
                  <a:srgbClr val="000000"/>
                </a:solidFill>
                <a:effectLst/>
              </a:rPr>
              <a:t> = live measurements and remote control (voltages, currents, breaker status).</a:t>
            </a:r>
            <a:br>
              <a:rPr lang="en-US" b="0" i="0" u="none" strike="noStrike" dirty="0">
                <a:solidFill>
                  <a:srgbClr val="000000"/>
                </a:solidFill>
                <a:effectLst/>
              </a:rPr>
            </a:br>
            <a:r>
              <a:rPr lang="en-US" b="1" i="0" u="none" strike="noStrike" dirty="0">
                <a:solidFill>
                  <a:srgbClr val="000000"/>
                </a:solidFill>
                <a:effectLst/>
              </a:rPr>
              <a:t>EMS</a:t>
            </a:r>
            <a:r>
              <a:rPr lang="en-US" b="0" i="0" u="none" strike="noStrike" dirty="0">
                <a:solidFill>
                  <a:srgbClr val="000000"/>
                </a:solidFill>
                <a:effectLst/>
              </a:rPr>
              <a:t> = control-room apps that use SCADA data (state estimation, contingency checks, optimal dispatch).</a:t>
            </a:r>
          </a:p>
          <a:p>
            <a:pPr algn="l"/>
            <a:r>
              <a:rPr lang="en-US" b="1" i="0" u="none" strike="noStrike" dirty="0">
                <a:solidFill>
                  <a:srgbClr val="000000"/>
                </a:solidFill>
                <a:effectLst/>
              </a:rPr>
              <a:t>How they’re used:</a:t>
            </a:r>
            <a:r>
              <a:rPr lang="en-US" b="0" i="0" u="none" strike="noStrike" dirty="0">
                <a:solidFill>
                  <a:srgbClr val="000000"/>
                </a:solidFill>
                <a:effectLst/>
              </a:rPr>
              <a:t> See what’s happening now, receive alarms, and make safe control actions.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“Is Bus B </a:t>
            </a:r>
            <a:r>
              <a:rPr lang="en-US" b="0" i="1" u="none" strike="noStrike" dirty="0">
                <a:solidFill>
                  <a:srgbClr val="000000"/>
                </a:solidFill>
                <a:effectLst/>
              </a:rPr>
              <a:t>really</a:t>
            </a:r>
            <a:r>
              <a:rPr lang="en-US" b="0" i="0" u="none" strike="noStrike" dirty="0">
                <a:solidFill>
                  <a:srgbClr val="000000"/>
                </a:solidFill>
                <a:effectLst/>
              </a:rPr>
              <a:t> low voltage?” → SCADA confirms the low reading and shows a nearby line is heavily loaded.</a:t>
            </a:r>
          </a:p>
        </p:txBody>
      </p:sp>
      <p:sp>
        <p:nvSpPr>
          <p:cNvPr id="4" name="Slide Number Placeholder 3">
            <a:extLst>
              <a:ext uri="{FF2B5EF4-FFF2-40B4-BE49-F238E27FC236}">
                <a16:creationId xmlns:a16="http://schemas.microsoft.com/office/drawing/2014/main" id="{2D648D13-5913-FA75-3E72-33F2AA2D5C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00405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D273A-F0CB-4523-A400-F7FD4FB40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9D758-0DE8-EC9C-C6AA-B5C4A5E37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1DC8F-A846-1486-3EEE-E18C1F153DA8}"/>
              </a:ext>
            </a:extLst>
          </p:cNvPr>
          <p:cNvSpPr>
            <a:spLocks noGrp="1"/>
          </p:cNvSpPr>
          <p:nvPr>
            <p:ph type="body" idx="1"/>
          </p:nvPr>
        </p:nvSpPr>
        <p:spPr/>
        <p:txBody>
          <a:bodyPr/>
          <a:lstStyle/>
          <a:p>
            <a:pPr algn="l">
              <a:buNone/>
            </a:pPr>
            <a:r>
              <a:rPr lang="en-US" b="1" i="0" u="none" strike="noStrike" dirty="0">
                <a:solidFill>
                  <a:srgbClr val="000000"/>
                </a:solidFill>
                <a:effectLst/>
              </a:rPr>
              <a:t>4) AMI / MDMS (the customer smart meters)</a:t>
            </a:r>
          </a:p>
          <a:p>
            <a:pPr algn="l">
              <a:buNone/>
            </a:pPr>
            <a:r>
              <a:rPr lang="en-US" b="1" i="0" u="none" strike="noStrike" dirty="0">
                <a:solidFill>
                  <a:srgbClr val="000000"/>
                </a:solidFill>
                <a:effectLst/>
              </a:rPr>
              <a:t>AMI</a:t>
            </a:r>
            <a:r>
              <a:rPr lang="en-US" b="0" i="0" u="none" strike="noStrike" dirty="0">
                <a:solidFill>
                  <a:srgbClr val="000000"/>
                </a:solidFill>
                <a:effectLst/>
              </a:rPr>
              <a:t> = smart meters at homes/factories that can report voltage and “I’m out” pings.</a:t>
            </a:r>
            <a:br>
              <a:rPr lang="en-US" b="0" i="0" u="none" strike="noStrike" dirty="0">
                <a:solidFill>
                  <a:srgbClr val="000000"/>
                </a:solidFill>
                <a:effectLst/>
              </a:rPr>
            </a:br>
            <a:r>
              <a:rPr lang="en-US" b="1" i="0" u="none" strike="noStrike" dirty="0">
                <a:solidFill>
                  <a:srgbClr val="000000"/>
                </a:solidFill>
                <a:effectLst/>
              </a:rPr>
              <a:t>MDMS</a:t>
            </a:r>
            <a:r>
              <a:rPr lang="en-US" b="0" i="0" u="none" strike="noStrike" dirty="0">
                <a:solidFill>
                  <a:srgbClr val="000000"/>
                </a:solidFill>
                <a:effectLst/>
              </a:rPr>
              <a:t> = database that stores smart-meter data.</a:t>
            </a:r>
          </a:p>
          <a:p>
            <a:pPr algn="l">
              <a:buNone/>
            </a:pPr>
            <a:r>
              <a:rPr lang="en-US" b="1" i="0" u="none" strike="noStrike" dirty="0">
                <a:solidFill>
                  <a:srgbClr val="000000"/>
                </a:solidFill>
                <a:effectLst/>
              </a:rPr>
              <a:t>How they’re used:</a:t>
            </a:r>
            <a:r>
              <a:rPr lang="en-US" b="0" i="0" u="none" strike="noStrike" dirty="0">
                <a:solidFill>
                  <a:srgbClr val="000000"/>
                </a:solidFill>
                <a:effectLst/>
              </a:rPr>
              <a:t> Verify restorations, monitor low-voltage quality, support billing/analysis.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After a switching plan, meters in the affected street start reporting “back online” → you know service was restored without calling customers.</a:t>
            </a:r>
          </a:p>
          <a:p>
            <a:pPr algn="l">
              <a:buNone/>
            </a:pPr>
            <a:endParaRPr lang="en-US" b="0" i="0" u="none" strike="noStrike" dirty="0">
              <a:solidFill>
                <a:srgbClr val="000000"/>
              </a:solidFill>
              <a:effectLst/>
            </a:endParaRPr>
          </a:p>
          <a:p>
            <a:pPr algn="l">
              <a:buNone/>
            </a:pPr>
            <a:r>
              <a:rPr lang="en-US" b="1" i="0" u="none" strike="noStrike" dirty="0">
                <a:solidFill>
                  <a:srgbClr val="000000"/>
                </a:solidFill>
                <a:effectLst/>
              </a:rPr>
              <a:t>5) Vendor / OMS / CMMS (protection &amp; maintenance records)</a:t>
            </a:r>
          </a:p>
          <a:p>
            <a:pPr algn="l">
              <a:buNone/>
            </a:pPr>
            <a:r>
              <a:rPr lang="en-US" b="1" i="0" u="none" strike="noStrike" dirty="0">
                <a:solidFill>
                  <a:srgbClr val="000000"/>
                </a:solidFill>
                <a:effectLst/>
              </a:rPr>
              <a:t>Vendor/protection settings</a:t>
            </a:r>
            <a:r>
              <a:rPr lang="en-US" b="0" i="0" u="none" strike="noStrike" dirty="0">
                <a:solidFill>
                  <a:srgbClr val="000000"/>
                </a:solidFill>
                <a:effectLst/>
              </a:rPr>
              <a:t> = relay and device configurations.</a:t>
            </a:r>
            <a:br>
              <a:rPr lang="en-US" b="0" i="0" u="none" strike="noStrike" dirty="0">
                <a:solidFill>
                  <a:srgbClr val="000000"/>
                </a:solidFill>
                <a:effectLst/>
              </a:rPr>
            </a:br>
            <a:r>
              <a:rPr lang="en-US" b="1" i="0" u="none" strike="noStrike" dirty="0">
                <a:solidFill>
                  <a:srgbClr val="000000"/>
                </a:solidFill>
                <a:effectLst/>
              </a:rPr>
              <a:t>OMS</a:t>
            </a:r>
            <a:r>
              <a:rPr lang="en-US" b="0" i="0" u="none" strike="noStrike" dirty="0">
                <a:solidFill>
                  <a:srgbClr val="000000"/>
                </a:solidFill>
                <a:effectLst/>
              </a:rPr>
              <a:t> (Outage Management System) = tickets, crew dispatch, outage areas.</a:t>
            </a:r>
            <a:br>
              <a:rPr lang="en-US" b="0" i="0" u="none" strike="noStrike" dirty="0">
                <a:solidFill>
                  <a:srgbClr val="000000"/>
                </a:solidFill>
                <a:effectLst/>
              </a:rPr>
            </a:br>
            <a:r>
              <a:rPr lang="en-US" b="1" i="0" u="none" strike="noStrike" dirty="0">
                <a:solidFill>
                  <a:srgbClr val="000000"/>
                </a:solidFill>
                <a:effectLst/>
              </a:rPr>
              <a:t>CMMS</a:t>
            </a:r>
            <a:r>
              <a:rPr lang="en-US" b="0" i="0" u="none" strike="noStrike" dirty="0">
                <a:solidFill>
                  <a:srgbClr val="000000"/>
                </a:solidFill>
                <a:effectLst/>
              </a:rPr>
              <a:t> (Maintenance) = work orders, asset condition, parts.</a:t>
            </a:r>
          </a:p>
          <a:p>
            <a:pPr algn="l">
              <a:buNone/>
            </a:pPr>
            <a:r>
              <a:rPr lang="en-US" b="1" i="0" u="none" strike="noStrike" dirty="0">
                <a:solidFill>
                  <a:srgbClr val="000000"/>
                </a:solidFill>
                <a:effectLst/>
              </a:rPr>
              <a:t>How they’re used:</a:t>
            </a:r>
            <a:r>
              <a:rPr lang="en-US" b="0" i="0" u="none" strike="noStrike" dirty="0">
                <a:solidFill>
                  <a:srgbClr val="000000"/>
                </a:solidFill>
                <a:effectLst/>
              </a:rPr>
              <a:t> Keep operations safe (respect relay limits), avoid switching through equipment under maintenance, track outages.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The agent suggests closing a tie switch, but records show that bay is under maintenance today → block the action and suggest an alternate path.</a:t>
            </a:r>
          </a:p>
          <a:p>
            <a:pPr algn="l">
              <a:buNone/>
            </a:pPr>
            <a:endParaRPr lang="en-US" b="0" i="0" u="none" strike="noStrike" dirty="0">
              <a:solidFill>
                <a:srgbClr val="000000"/>
              </a:solidFill>
              <a:effectLst/>
            </a:endParaRPr>
          </a:p>
          <a:p>
            <a:pPr algn="l">
              <a:buNone/>
            </a:pPr>
            <a:r>
              <a:rPr lang="en-US" b="1" i="0" u="none" strike="noStrike" dirty="0">
                <a:solidFill>
                  <a:srgbClr val="000000"/>
                </a:solidFill>
                <a:effectLst/>
              </a:rPr>
              <a:t>6) PMU (the high-speed “angle” meters)</a:t>
            </a:r>
          </a:p>
          <a:p>
            <a:pPr algn="l"/>
            <a:r>
              <a:rPr lang="en-US" b="1" i="0" u="none" strike="noStrike" dirty="0">
                <a:solidFill>
                  <a:srgbClr val="000000"/>
                </a:solidFill>
                <a:effectLst/>
              </a:rPr>
              <a:t>What </a:t>
            </a:r>
            <a:r>
              <a:rPr lang="en-US" b="1" i="0" u="none" strike="noStrike">
                <a:solidFill>
                  <a:srgbClr val="000000"/>
                </a:solidFill>
                <a:effectLst/>
              </a:rPr>
              <a:t>it is</a:t>
            </a:r>
            <a:r>
              <a:rPr lang="en-US" b="1" i="0" u="none" strike="noStrike" dirty="0">
                <a:solidFill>
                  <a:srgbClr val="000000"/>
                </a:solidFill>
                <a:effectLst/>
              </a:rPr>
              <a:t>:</a:t>
            </a:r>
            <a:r>
              <a:rPr lang="en-US" b="0" i="0" u="none" strike="noStrike" dirty="0">
                <a:solidFill>
                  <a:srgbClr val="000000"/>
                </a:solidFill>
                <a:effectLst/>
              </a:rPr>
              <a:t> Special devices that measure voltages/currents with GPS time, capturing grid </a:t>
            </a:r>
            <a:r>
              <a:rPr lang="en-US" b="1" i="0" u="none" strike="noStrike" dirty="0">
                <a:solidFill>
                  <a:srgbClr val="000000"/>
                </a:solidFill>
                <a:effectLst/>
              </a:rPr>
              <a:t>angles</a:t>
            </a:r>
            <a:r>
              <a:rPr lang="en-US" b="0" i="0" u="none" strike="noStrike" dirty="0">
                <a:solidFill>
                  <a:srgbClr val="000000"/>
                </a:solidFill>
                <a:effectLst/>
              </a:rPr>
              <a:t> very fast.</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Check stability and synchronize islands before reclosing.</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Before re-closing an intertie, PMU shows the angle difference is small and frequency matches → safe to reclose.</a:t>
            </a:r>
          </a:p>
        </p:txBody>
      </p:sp>
      <p:sp>
        <p:nvSpPr>
          <p:cNvPr id="4" name="Slide Number Placeholder 3">
            <a:extLst>
              <a:ext uri="{FF2B5EF4-FFF2-40B4-BE49-F238E27FC236}">
                <a16:creationId xmlns:a16="http://schemas.microsoft.com/office/drawing/2014/main" id="{E73510BC-6D23-6F70-6ADC-0E86330937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1718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17E7-7B6C-038B-BDC6-5CF3B3352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76157-F77E-4A07-0CEF-C675E8673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DB846-A496-26AF-E1E9-7C2D129CC60C}"/>
              </a:ext>
            </a:extLst>
          </p:cNvPr>
          <p:cNvSpPr>
            <a:spLocks noGrp="1"/>
          </p:cNvSpPr>
          <p:nvPr>
            <p:ph type="body" idx="1"/>
          </p:nvPr>
        </p:nvSpPr>
        <p:spPr/>
        <p:txBody>
          <a:bodyPr/>
          <a:lstStyle/>
          <a:p>
            <a:pPr algn="l">
              <a:buNone/>
            </a:pPr>
            <a:r>
              <a:rPr lang="en-US" b="1" i="0" u="none" strike="noStrike" dirty="0">
                <a:solidFill>
                  <a:srgbClr val="000000"/>
                </a:solidFill>
                <a:effectLst/>
              </a:rPr>
              <a:t>7) Weather / Nowcast (conditions outside)</a:t>
            </a:r>
          </a:p>
          <a:p>
            <a:pPr algn="l"/>
            <a:r>
              <a:rPr lang="en-US" b="1" i="0" u="none" strike="noStrike" dirty="0">
                <a:solidFill>
                  <a:srgbClr val="000000"/>
                </a:solidFill>
                <a:effectLst/>
              </a:rPr>
              <a:t>What it is:</a:t>
            </a:r>
            <a:r>
              <a:rPr lang="en-US" b="0" i="0" u="none" strike="noStrike" dirty="0">
                <a:solidFill>
                  <a:srgbClr val="000000"/>
                </a:solidFill>
                <a:effectLst/>
              </a:rPr>
              <a:t> Live or forecast weather layers—wind, lightning, temperature, storms.</a:t>
            </a:r>
            <a:br>
              <a:rPr lang="en-US" b="0" i="0" u="none" strike="noStrike" dirty="0">
                <a:solidFill>
                  <a:srgbClr val="000000"/>
                </a:solidFill>
                <a:effectLst/>
              </a:rPr>
            </a:br>
            <a:r>
              <a:rPr lang="en-US" b="1" i="0" u="none" strike="noStrike" dirty="0">
                <a:solidFill>
                  <a:srgbClr val="000000"/>
                </a:solidFill>
                <a:effectLst/>
              </a:rPr>
              <a:t>How it’s used:</a:t>
            </a:r>
            <a:r>
              <a:rPr lang="en-US" b="0" i="0" u="none" strike="noStrike" dirty="0">
                <a:solidFill>
                  <a:srgbClr val="000000"/>
                </a:solidFill>
                <a:effectLst/>
              </a:rPr>
              <a:t> Predict trouble spots, explain faults, plan crews.</a:t>
            </a:r>
            <a:br>
              <a:rPr lang="en-US" b="0" i="0" u="none" strike="noStrike" dirty="0">
                <a:solidFill>
                  <a:srgbClr val="000000"/>
                </a:solidFill>
                <a:effectLst/>
              </a:rPr>
            </a:br>
            <a:r>
              <a:rPr lang="en-US" b="1" i="0" u="none" strike="noStrike" dirty="0">
                <a:solidFill>
                  <a:srgbClr val="000000"/>
                </a:solidFill>
                <a:effectLst/>
              </a:rPr>
              <a:t>Easy example:</a:t>
            </a:r>
            <a:r>
              <a:rPr lang="en-US" b="0" i="0" u="none" strike="noStrike" dirty="0">
                <a:solidFill>
                  <a:srgbClr val="000000"/>
                </a:solidFill>
                <a:effectLst/>
              </a:rPr>
              <a:t> A lightning cell passes over Line L-233; moments later the breaker trips → the outage ticket links to that storm cell as likely cause.</a:t>
            </a:r>
          </a:p>
        </p:txBody>
      </p:sp>
      <p:sp>
        <p:nvSpPr>
          <p:cNvPr id="4" name="Slide Number Placeholder 3">
            <a:extLst>
              <a:ext uri="{FF2B5EF4-FFF2-40B4-BE49-F238E27FC236}">
                <a16:creationId xmlns:a16="http://schemas.microsoft.com/office/drawing/2014/main" id="{86208227-1A0B-EF3B-3906-61B18E37FA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33955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96C2-805F-4750-2B56-FC8CD9B84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A9FE6-6C6C-F80F-A1F1-26DD92104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657EA-FAB4-2FCC-F321-679E8D723426}"/>
              </a:ext>
            </a:extLst>
          </p:cNvPr>
          <p:cNvSpPr>
            <a:spLocks noGrp="1"/>
          </p:cNvSpPr>
          <p:nvPr>
            <p:ph type="body" idx="1"/>
          </p:nvPr>
        </p:nvSpPr>
        <p:spPr/>
        <p:txBody>
          <a:bodyPr/>
          <a:lstStyle/>
          <a:p>
            <a:pPr>
              <a:buFont typeface="+mj-lt"/>
              <a:buAutoNum type="arabicPeriod"/>
            </a:pPr>
            <a:endParaRPr lang="en-US" dirty="0"/>
          </a:p>
        </p:txBody>
      </p:sp>
      <p:sp>
        <p:nvSpPr>
          <p:cNvPr id="4" name="Slide Number Placeholder 3">
            <a:extLst>
              <a:ext uri="{FF2B5EF4-FFF2-40B4-BE49-F238E27FC236}">
                <a16:creationId xmlns:a16="http://schemas.microsoft.com/office/drawing/2014/main" id="{9D5D1BCD-43D9-62DC-F2C9-1B399A062D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F93703-73BA-47D5-8B02-C172375928DA}"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7322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first demo, the user asks basic operational questions such as how many buses, lines, or transformers are in the model. The answer is not impressive because it is a count. It is impressive because the system finds the right graph objects, generates the Cypher, executes it, and returns a traceable answer.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058797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numerical analysis, the LLM should not invent calculations. The graph query retrieves connectivity and parameters. Then deterministic computation or solver tools do the numerical work. This is the pattern we want in power systems: language for intent, databases for facts, and tools for physics.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270900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GridSense</a:t>
            </a:r>
            <a:r>
              <a:rPr dirty="0"/>
              <a:t> follows this principle. We do not want an LLM that invents answers about the grid. We want an interface that lets the operator ask the grid model directly. The LLM interprets the question, the knowledge graph grounds the answer in topology and asset relationships, domain tools can provide computation, and the final response remains traceable to the data and query results. In this sense, </a:t>
            </a:r>
            <a:r>
              <a:rPr dirty="0" err="1"/>
              <a:t>GridSense</a:t>
            </a:r>
            <a:r>
              <a:rPr dirty="0"/>
              <a:t> is a bridge between interoperable grid models and trustworthy operator assistance.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1849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jpe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3.png"/><Relationship Id="rId11" Type="http://schemas.openxmlformats.org/officeDocument/2006/relationships/image" Target="../media/image18.jpeg"/><Relationship Id="rId5" Type="http://schemas.openxmlformats.org/officeDocument/2006/relationships/image" Target="../media/image12.png"/><Relationship Id="rId10" Type="http://schemas.openxmlformats.org/officeDocument/2006/relationships/image" Target="../media/image17.wmf"/><Relationship Id="rId4" Type="http://schemas.openxmlformats.org/officeDocument/2006/relationships/image" Target="../media/image11.jpeg"/><Relationship Id="rId9"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350" y="0"/>
            <a:ext cx="12179300" cy="6858000"/>
          </a:xfrm>
          <a:prstGeom prst="rect">
            <a:avLst/>
          </a:prstGeom>
        </p:spPr>
      </p:pic>
      <p:sp>
        <p:nvSpPr>
          <p:cNvPr id="45" name="Text Placeholder 44">
            <a:extLst>
              <a:ext uri="{FF2B5EF4-FFF2-40B4-BE49-F238E27FC236}">
                <a16:creationId xmlns:a16="http://schemas.microsoft.com/office/drawing/2014/main" id="{68987586-439B-D646-B8CF-77BC252525ED}"/>
              </a:ext>
            </a:extLst>
          </p:cNvPr>
          <p:cNvSpPr>
            <a:spLocks noGrp="1"/>
          </p:cNvSpPr>
          <p:nvPr>
            <p:ph type="body" idx="13" hasCustomPrompt="1"/>
          </p:nvPr>
        </p:nvSpPr>
        <p:spPr>
          <a:xfrm>
            <a:off x="2299999" y="3949700"/>
            <a:ext cx="9410989" cy="841375"/>
          </a:xfrm>
        </p:spPr>
        <p:txBody>
          <a:bodyPr>
            <a:normAutofit/>
          </a:bodyPr>
          <a:lstStyle>
            <a:lvl1pPr>
              <a:buNone/>
              <a:defRPr sz="3700">
                <a:solidFill>
                  <a:schemeClr val="bg1"/>
                </a:solidFill>
              </a:defRPr>
            </a:lvl1pPr>
          </a:lstStyle>
          <a:p>
            <a:pPr>
              <a:buNone/>
            </a:pPr>
            <a:r>
              <a:t>Description</a:t>
            </a:r>
          </a:p>
        </p:txBody>
      </p:sp>
      <p:sp>
        <p:nvSpPr>
          <p:cNvPr id="46" name="Text Placeholder 44">
            <a:extLst>
              <a:ext uri="{FF2B5EF4-FFF2-40B4-BE49-F238E27FC236}">
                <a16:creationId xmlns:a16="http://schemas.microsoft.com/office/drawing/2014/main" id="{2FFD41F1-D00C-554B-903A-2CB6FEFC95C1}"/>
              </a:ext>
            </a:extLst>
          </p:cNvPr>
          <p:cNvSpPr>
            <a:spLocks noGrp="1"/>
          </p:cNvSpPr>
          <p:nvPr>
            <p:ph type="body" idx="14" hasCustomPrompt="1"/>
          </p:nvPr>
        </p:nvSpPr>
        <p:spPr>
          <a:xfrm>
            <a:off x="2299999" y="5761529"/>
            <a:ext cx="9410989" cy="583217"/>
          </a:xfrm>
        </p:spPr>
        <p:txBody>
          <a:bodyPr>
            <a:normAutofit/>
          </a:bodyPr>
          <a:lstStyle>
            <a:lvl1pPr>
              <a:buNone/>
              <a:defRPr sz="2800">
                <a:solidFill>
                  <a:schemeClr val="bg1"/>
                </a:solidFill>
              </a:defRPr>
            </a:lvl1pPr>
          </a:lstStyle>
          <a:p>
            <a:pPr>
              <a:buNone/>
            </a:pPr>
            <a:r>
              <a:t>Additional Content</a:t>
            </a:r>
          </a:p>
        </p:txBody>
      </p:sp>
      <p:sp>
        <p:nvSpPr>
          <p:cNvPr id="47" name="Text Placeholder 12">
            <a:extLst>
              <a:ext uri="{FF2B5EF4-FFF2-40B4-BE49-F238E27FC236}">
                <a16:creationId xmlns:a16="http://schemas.microsoft.com/office/drawing/2014/main" id="{B4D9FA1B-431F-F045-9126-9501085BC707}"/>
              </a:ext>
            </a:extLst>
          </p:cNvPr>
          <p:cNvSpPr>
            <a:spLocks noGrp="1"/>
          </p:cNvSpPr>
          <p:nvPr>
            <p:ph type="body" idx="15" hasCustomPrompt="1"/>
          </p:nvPr>
        </p:nvSpPr>
        <p:spPr>
          <a:xfrm>
            <a:off x="2299999" y="2826497"/>
            <a:ext cx="9410989" cy="760332"/>
          </a:xfrm>
        </p:spPr>
        <p:txBody>
          <a:bodyPr>
            <a:noAutofit/>
          </a:bodyPr>
          <a:lstStyle>
            <a:lvl1pPr algn="r">
              <a:lnSpc>
                <a:spcPct val="80000"/>
              </a:lnSpc>
              <a:buNone/>
              <a:defRPr sz="6000" b="1" i="0">
                <a:latin typeface="Calibri"/>
                <a:ea typeface="Calibri"/>
                <a:cs typeface="Calibri"/>
              </a:defRPr>
            </a:lvl1pPr>
          </a:lstStyle>
          <a:p>
            <a:pPr>
              <a:buNone/>
            </a:pPr>
            <a:r>
              <a:t>Presentation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Left">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350" y="0"/>
            <a:ext cx="12179300" cy="6858000"/>
          </a:xfrm>
          <a:prstGeom prst="rect">
            <a:avLst/>
          </a:prstGeom>
        </p:spPr>
      </p:pic>
      <p:sp>
        <p:nvSpPr>
          <p:cNvPr id="13" name="Text Placeholder 12">
            <a:extLst>
              <a:ext uri="{FF2B5EF4-FFF2-40B4-BE49-F238E27FC236}">
                <a16:creationId xmlns:a16="http://schemas.microsoft.com/office/drawing/2014/main" id="{5F03BD5B-68C3-FE4C-A0CE-1F01652CA500}"/>
              </a:ext>
            </a:extLst>
          </p:cNvPr>
          <p:cNvSpPr>
            <a:spLocks noGrp="1"/>
          </p:cNvSpPr>
          <p:nvPr>
            <p:ph type="body" idx="10" hasCustomPrompt="1"/>
          </p:nvPr>
        </p:nvSpPr>
        <p:spPr>
          <a:xfrm>
            <a:off x="606247" y="1898248"/>
            <a:ext cx="6099356" cy="1863524"/>
          </a:xfrm>
        </p:spPr>
        <p:txBody>
          <a:bodyPr>
            <a:noAutofit/>
          </a:bodyPr>
          <a:lstStyle>
            <a:lvl1pPr algn="l">
              <a:lnSpc>
                <a:spcPct val="80000"/>
              </a:lnSpc>
              <a:buNone/>
              <a:defRPr sz="8000" b="1" i="0">
                <a:latin typeface="Calibri"/>
                <a:ea typeface="Calibri"/>
                <a:cs typeface="Calibri"/>
              </a:defRPr>
            </a:lvl1pPr>
          </a:lstStyle>
          <a:p>
            <a:pPr>
              <a:buNone/>
            </a:pPr>
            <a:r>
              <a:t>DIVIDER SLIDE TITLE</a:t>
            </a:r>
          </a:p>
        </p:txBody>
      </p:sp>
      <p:sp>
        <p:nvSpPr>
          <p:cNvPr id="15" name="Text Placeholder 14">
            <a:extLst>
              <a:ext uri="{FF2B5EF4-FFF2-40B4-BE49-F238E27FC236}">
                <a16:creationId xmlns:a16="http://schemas.microsoft.com/office/drawing/2014/main" id="{E59C3BAF-BD1D-3143-BB41-122A75718803}"/>
              </a:ext>
            </a:extLst>
          </p:cNvPr>
          <p:cNvSpPr>
            <a:spLocks noGrp="1"/>
          </p:cNvSpPr>
          <p:nvPr>
            <p:ph type="body" idx="11" hasCustomPrompt="1"/>
          </p:nvPr>
        </p:nvSpPr>
        <p:spPr>
          <a:xfrm>
            <a:off x="606425" y="3969835"/>
            <a:ext cx="6099175" cy="960438"/>
          </a:xfrm>
        </p:spPr>
        <p:txBody>
          <a:bodyPr/>
          <a:lstStyle>
            <a:lvl1pPr algn="l">
              <a:buNone/>
              <a:defRPr sz="4000" b="1" i="0">
                <a:solidFill>
                  <a:schemeClr val="bg1"/>
                </a:solidFill>
                <a:latin typeface="Calibri"/>
                <a:ea typeface="Calibri"/>
                <a:cs typeface="Calibri"/>
              </a:defRPr>
            </a:lvl1pPr>
          </a:lstStyle>
          <a:p>
            <a:pPr>
              <a:buNone/>
            </a:pPr>
            <a:r>
              <a:t>Subhead</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Centere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350" y="0"/>
            <a:ext cx="12179300" cy="6858000"/>
          </a:xfrm>
          <a:prstGeom prst="rect">
            <a:avLst/>
          </a:prstGeom>
        </p:spPr>
      </p:pic>
      <p:sp>
        <p:nvSpPr>
          <p:cNvPr id="13" name="Text Placeholder 12">
            <a:extLst>
              <a:ext uri="{FF2B5EF4-FFF2-40B4-BE49-F238E27FC236}">
                <a16:creationId xmlns:a16="http://schemas.microsoft.com/office/drawing/2014/main" id="{5F03BD5B-68C3-FE4C-A0CE-1F01652CA500}"/>
              </a:ext>
            </a:extLst>
          </p:cNvPr>
          <p:cNvSpPr>
            <a:spLocks noGrp="1"/>
          </p:cNvSpPr>
          <p:nvPr>
            <p:ph type="body" idx="10" hasCustomPrompt="1"/>
          </p:nvPr>
        </p:nvSpPr>
        <p:spPr>
          <a:xfrm>
            <a:off x="3141103" y="1796969"/>
            <a:ext cx="6099356" cy="1863524"/>
          </a:xfrm>
        </p:spPr>
        <p:txBody>
          <a:bodyPr>
            <a:noAutofit/>
          </a:bodyPr>
          <a:lstStyle>
            <a:lvl1pPr algn="ctr">
              <a:lnSpc>
                <a:spcPct val="80000"/>
              </a:lnSpc>
              <a:buNone/>
              <a:defRPr sz="8000" b="1" i="0">
                <a:latin typeface="Calibri"/>
                <a:ea typeface="Calibri"/>
                <a:cs typeface="Calibri"/>
              </a:defRPr>
            </a:lvl1pPr>
          </a:lstStyle>
          <a:p>
            <a:pPr>
              <a:buNone/>
            </a:pPr>
            <a:r>
              <a:t>DIVIDER SLIDE TITLE</a:t>
            </a:r>
          </a:p>
        </p:txBody>
      </p:sp>
      <p:sp>
        <p:nvSpPr>
          <p:cNvPr id="15" name="Text Placeholder 14">
            <a:extLst>
              <a:ext uri="{FF2B5EF4-FFF2-40B4-BE49-F238E27FC236}">
                <a16:creationId xmlns:a16="http://schemas.microsoft.com/office/drawing/2014/main" id="{E59C3BAF-BD1D-3143-BB41-122A75718803}"/>
              </a:ext>
            </a:extLst>
          </p:cNvPr>
          <p:cNvSpPr>
            <a:spLocks noGrp="1"/>
          </p:cNvSpPr>
          <p:nvPr>
            <p:ph type="body" idx="11" hasCustomPrompt="1"/>
          </p:nvPr>
        </p:nvSpPr>
        <p:spPr>
          <a:xfrm>
            <a:off x="3141281" y="4653413"/>
            <a:ext cx="6099175" cy="960438"/>
          </a:xfrm>
        </p:spPr>
        <p:txBody>
          <a:bodyPr/>
          <a:lstStyle>
            <a:lvl1pPr algn="ctr">
              <a:buNone/>
              <a:defRPr sz="4000" b="1" i="0">
                <a:solidFill>
                  <a:schemeClr val="tx1"/>
                </a:solidFill>
                <a:latin typeface="Calibri"/>
                <a:ea typeface="Calibri"/>
                <a:cs typeface="Calibri"/>
              </a:defRPr>
            </a:lvl1pPr>
          </a:lstStyle>
          <a:p>
            <a:pPr>
              <a:buNone/>
            </a:pPr>
            <a:r>
              <a:t>Subhead</a:t>
            </a:r>
          </a:p>
        </p:txBody>
      </p:sp>
      <p:sp>
        <p:nvSpPr>
          <p:cNvPr id="12" name="Straight Connector 11">
            <a:extLst>
              <a:ext uri="{FF2B5EF4-FFF2-40B4-BE49-F238E27FC236}">
                <a16:creationId xmlns:a16="http://schemas.microsoft.com/office/drawing/2014/main" id="{8EEA5093-C7DE-4789-8D0A-72E41F5A3451}"/>
              </a:ext>
            </a:extLst>
          </p:cNvPr>
          <p:cNvSpPr>
            <a:spLocks noGrp="1"/>
          </p:cNvSpPr>
          <p:nvPr/>
        </p:nvSpPr>
        <p:spPr>
          <a:xfrm>
            <a:off x="3132234" y="4170179"/>
            <a:ext cx="6049927"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Divider Bottom Left_Flattened Backgroun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350" y="0"/>
            <a:ext cx="12179300" cy="6858000"/>
          </a:xfrm>
          <a:prstGeom prst="rect">
            <a:avLst/>
          </a:prstGeom>
        </p:spPr>
      </p:pic>
      <p:sp>
        <p:nvSpPr>
          <p:cNvPr id="13" name="Text Placeholder 12">
            <a:extLst>
              <a:ext uri="{FF2B5EF4-FFF2-40B4-BE49-F238E27FC236}">
                <a16:creationId xmlns:a16="http://schemas.microsoft.com/office/drawing/2014/main" id="{5F03BD5B-68C3-FE4C-A0CE-1F01652CA500}"/>
              </a:ext>
            </a:extLst>
          </p:cNvPr>
          <p:cNvSpPr>
            <a:spLocks noGrp="1"/>
          </p:cNvSpPr>
          <p:nvPr>
            <p:ph type="body" idx="10" hasCustomPrompt="1"/>
          </p:nvPr>
        </p:nvSpPr>
        <p:spPr>
          <a:xfrm>
            <a:off x="769278" y="2859468"/>
            <a:ext cx="6099356" cy="1863524"/>
          </a:xfrm>
        </p:spPr>
        <p:txBody>
          <a:bodyPr>
            <a:noAutofit/>
          </a:bodyPr>
          <a:lstStyle>
            <a:lvl1pPr algn="l">
              <a:lnSpc>
                <a:spcPct val="80000"/>
              </a:lnSpc>
              <a:buNone/>
              <a:defRPr sz="8000" b="1" i="0">
                <a:latin typeface="Calibri"/>
                <a:ea typeface="Calibri"/>
                <a:cs typeface="Calibri"/>
              </a:defRPr>
            </a:lvl1pPr>
          </a:lstStyle>
          <a:p>
            <a:pPr>
              <a:buNone/>
            </a:pPr>
            <a:r>
              <a:t>DIVIDER SLIDE TITLE</a:t>
            </a:r>
          </a:p>
        </p:txBody>
      </p:sp>
      <p:sp>
        <p:nvSpPr>
          <p:cNvPr id="15" name="Text Placeholder 14">
            <a:extLst>
              <a:ext uri="{FF2B5EF4-FFF2-40B4-BE49-F238E27FC236}">
                <a16:creationId xmlns:a16="http://schemas.microsoft.com/office/drawing/2014/main" id="{E59C3BAF-BD1D-3143-BB41-122A75718803}"/>
              </a:ext>
            </a:extLst>
          </p:cNvPr>
          <p:cNvSpPr>
            <a:spLocks noGrp="1"/>
          </p:cNvSpPr>
          <p:nvPr>
            <p:ph type="body" idx="11" hasCustomPrompt="1"/>
          </p:nvPr>
        </p:nvSpPr>
        <p:spPr>
          <a:xfrm>
            <a:off x="769278" y="5536148"/>
            <a:ext cx="6099175" cy="960438"/>
          </a:xfrm>
        </p:spPr>
        <p:txBody>
          <a:bodyPr/>
          <a:lstStyle>
            <a:lvl1pPr algn="l">
              <a:buNone/>
              <a:defRPr sz="4000" b="1" i="0">
                <a:solidFill>
                  <a:srgbClr val="00843D"/>
                </a:solidFill>
                <a:latin typeface="Calibri"/>
                <a:ea typeface="Calibri"/>
                <a:cs typeface="Calibri"/>
              </a:defRPr>
            </a:lvl1pPr>
          </a:lstStyle>
          <a:p>
            <a:pPr>
              <a:buNone/>
            </a:pPr>
            <a:r>
              <a:t>Subhead</a:t>
            </a:r>
          </a:p>
        </p:txBody>
      </p:sp>
      <p:sp>
        <p:nvSpPr>
          <p:cNvPr id="8" name="Straight Connector 7">
            <a:extLst>
              <a:ext uri="{FF2B5EF4-FFF2-40B4-BE49-F238E27FC236}">
                <a16:creationId xmlns:a16="http://schemas.microsoft.com/office/drawing/2014/main" id="{30AE3A53-1757-4D54-A07A-E8C5822FAC02}"/>
              </a:ext>
            </a:extLst>
          </p:cNvPr>
          <p:cNvSpPr>
            <a:spLocks noGrp="1"/>
          </p:cNvSpPr>
          <p:nvPr/>
        </p:nvSpPr>
        <p:spPr>
          <a:xfrm>
            <a:off x="818707" y="5174733"/>
            <a:ext cx="6049927" cy="0"/>
          </a:xfrm>
          <a:prstGeom prst="line">
            <a:avLst/>
          </a:prstGeom>
          <a:ln w="57150">
            <a:solidFill>
              <a:srgbClr val="78BE20"/>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Right">
    <p:spTree>
      <p:nvGrpSpPr>
        <p:cNvPr id="1" name=""/>
        <p:cNvGrpSpPr/>
        <p:nvPr/>
      </p:nvGrpSpPr>
      <p:grpSpPr>
        <a:xfrm>
          <a:off x="0" y="0"/>
          <a:ext cx="0" cy="0"/>
          <a:chOff x="0" y="0"/>
          <a:chExt cx="0" cy="0"/>
        </a:xfrm>
      </p:grpSpPr>
      <p:pic>
        <p:nvPicPr>
          <p:cNvPr id="2" name="Picture 4"/>
          <p:cNvPicPr>
            <a:picLocks noChangeAspect="1"/>
          </p:cNvPicPr>
          <p:nvPr/>
        </p:nvPicPr>
        <p:blipFill>
          <a:blip r:embed="rId2"/>
          <a:stretch>
            <a:fillRect/>
          </a:stretch>
        </p:blipFill>
        <p:spPr>
          <a:xfrm>
            <a:off x="6350" y="0"/>
            <a:ext cx="12179300" cy="6858000"/>
          </a:xfrm>
          <a:prstGeom prst="rect">
            <a:avLst/>
          </a:prstGeom>
        </p:spPr>
      </p:pic>
      <p:sp>
        <p:nvSpPr>
          <p:cNvPr id="14" name="Text Placeholder 12">
            <a:extLst>
              <a:ext uri="{FF2B5EF4-FFF2-40B4-BE49-F238E27FC236}">
                <a16:creationId xmlns:a16="http://schemas.microsoft.com/office/drawing/2014/main" id="{74A6D3D3-72F6-6945-BCF2-6F546B0A391A}"/>
              </a:ext>
            </a:extLst>
          </p:cNvPr>
          <p:cNvSpPr>
            <a:spLocks noGrp="1"/>
          </p:cNvSpPr>
          <p:nvPr>
            <p:ph type="body" idx="12" hasCustomPrompt="1"/>
          </p:nvPr>
        </p:nvSpPr>
        <p:spPr>
          <a:xfrm>
            <a:off x="4994043" y="2685356"/>
            <a:ext cx="6099356" cy="1863524"/>
          </a:xfrm>
        </p:spPr>
        <p:txBody>
          <a:bodyPr>
            <a:noAutofit/>
          </a:bodyPr>
          <a:lstStyle>
            <a:lvl1pPr algn="r">
              <a:lnSpc>
                <a:spcPct val="80000"/>
              </a:lnSpc>
              <a:buNone/>
              <a:defRPr sz="8000" b="1" i="0">
                <a:latin typeface="Calibri"/>
                <a:ea typeface="Calibri"/>
                <a:cs typeface="Calibri"/>
              </a:defRPr>
            </a:lvl1pPr>
          </a:lstStyle>
          <a:p>
            <a:pPr>
              <a:buNone/>
            </a:pPr>
            <a:r>
              <a:t>DIVIDER SLIDE TITLE</a:t>
            </a:r>
          </a:p>
        </p:txBody>
      </p:sp>
      <p:sp>
        <p:nvSpPr>
          <p:cNvPr id="16" name="Text Placeholder 14">
            <a:extLst>
              <a:ext uri="{FF2B5EF4-FFF2-40B4-BE49-F238E27FC236}">
                <a16:creationId xmlns:a16="http://schemas.microsoft.com/office/drawing/2014/main" id="{8F951190-30B5-EC4F-86E2-6697F9F98CF7}"/>
              </a:ext>
            </a:extLst>
          </p:cNvPr>
          <p:cNvSpPr>
            <a:spLocks noGrp="1"/>
          </p:cNvSpPr>
          <p:nvPr>
            <p:ph type="body" idx="13" hasCustomPrompt="1"/>
          </p:nvPr>
        </p:nvSpPr>
        <p:spPr>
          <a:xfrm>
            <a:off x="4984573" y="4694844"/>
            <a:ext cx="6099175" cy="960438"/>
          </a:xfrm>
        </p:spPr>
        <p:txBody>
          <a:bodyPr/>
          <a:lstStyle>
            <a:lvl1pPr algn="r">
              <a:buNone/>
              <a:defRPr sz="4000" b="1" i="0">
                <a:solidFill>
                  <a:schemeClr val="tx1"/>
                </a:solidFill>
                <a:latin typeface="Calibri"/>
                <a:ea typeface="Calibri"/>
                <a:cs typeface="Calibri"/>
              </a:defRPr>
            </a:lvl1pPr>
          </a:lstStyle>
          <a:p>
            <a:pPr>
              <a:buNone/>
            </a:pPr>
            <a:r>
              <a:t>Subhead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py Slide">
    <p:spTree>
      <p:nvGrpSpPr>
        <p:cNvPr id="1" name=""/>
        <p:cNvGrpSpPr/>
        <p:nvPr/>
      </p:nvGrpSpPr>
      <p:grpSpPr>
        <a:xfrm>
          <a:off x="0" y="0"/>
          <a:ext cx="0" cy="0"/>
          <a:chOff x="0" y="0"/>
          <a:chExt cx="0" cy="0"/>
        </a:xfrm>
      </p:grpSpPr>
      <p:pic>
        <p:nvPicPr>
          <p:cNvPr id="2" name="Picture 12"/>
          <p:cNvPicPr>
            <a:picLocks noChangeAspect="1"/>
          </p:cNvPicPr>
          <p:nvPr/>
        </p:nvPicPr>
        <p:blipFill>
          <a:blip r:embed="rId2"/>
          <a:stretch>
            <a:fillRect/>
          </a:stretch>
        </p:blipFill>
        <p:spPr>
          <a:xfrm>
            <a:off x="6350" y="190500"/>
            <a:ext cx="12179300" cy="6667500"/>
          </a:xfrm>
          <a:prstGeom prst="rect">
            <a:avLst/>
          </a:prstGeom>
        </p:spPr>
      </p:pic>
      <p:sp>
        <p:nvSpPr>
          <p:cNvPr id="16" name="TextBox 15">
            <a:extLst>
              <a:ext uri="{FF2B5EF4-FFF2-40B4-BE49-F238E27FC236}">
                <a16:creationId xmlns:a16="http://schemas.microsoft.com/office/drawing/2014/main" id="{B67C8A01-5F5F-B149-AE08-54CAB7A23BEE}"/>
              </a:ext>
            </a:extLst>
          </p:cNvPr>
          <p:cNvSpPr>
            <a:spLocks noGrp="1"/>
          </p:cNvSpPr>
          <p:nvPr/>
        </p:nvSpPr>
        <p:spPr>
          <a:xfrm>
            <a:off x="-949124" y="1458410"/>
            <a:ext cx="0" cy="0"/>
          </a:xfrm>
          <a:prstGeom prst="rect">
            <a:avLst/>
          </a:prstGeom>
        </p:spPr>
        <p:txBody>
          <a:bodyPr vert="horz" wrap="none" lIns="91440" tIns="45720" rIns="91440" bIns="45720" anchor="b">
            <a:normAutofit fontScale="25000" lnSpcReduction="20000"/>
          </a:bodyPr>
          <a:lstStyle/>
          <a:p>
            <a:pPr algn="r">
              <a:buNone/>
            </a:pPr>
            <a:endParaRPr/>
          </a:p>
        </p:txBody>
      </p:sp>
      <p:sp>
        <p:nvSpPr>
          <p:cNvPr id="17" name="TextBox 16">
            <a:extLst>
              <a:ext uri="{FF2B5EF4-FFF2-40B4-BE49-F238E27FC236}">
                <a16:creationId xmlns:a16="http://schemas.microsoft.com/office/drawing/2014/main" id="{9DE4A180-36C6-214C-AFE1-F88469C12CBA}"/>
              </a:ext>
            </a:extLst>
          </p:cNvPr>
          <p:cNvSpPr>
            <a:spLocks noGrp="1"/>
          </p:cNvSpPr>
          <p:nvPr/>
        </p:nvSpPr>
        <p:spPr>
          <a:xfrm>
            <a:off x="-1215342" y="1632030"/>
            <a:ext cx="0" cy="0"/>
          </a:xfrm>
          <a:prstGeom prst="rect">
            <a:avLst/>
          </a:prstGeom>
        </p:spPr>
        <p:txBody>
          <a:bodyPr vert="horz" wrap="none" lIns="91440" tIns="45720" rIns="91440" bIns="45720" anchor="b">
            <a:normAutofit fontScale="25000" lnSpcReduction="20000"/>
          </a:bodyPr>
          <a:lstStyle/>
          <a:p>
            <a:pPr algn="r">
              <a:buNone/>
            </a:pPr>
            <a:endParaRPr/>
          </a:p>
        </p:txBody>
      </p:sp>
      <p:sp>
        <p:nvSpPr>
          <p:cNvPr id="19" name="Text Placeholder 18">
            <a:extLst>
              <a:ext uri="{FF2B5EF4-FFF2-40B4-BE49-F238E27FC236}">
                <a16:creationId xmlns:a16="http://schemas.microsoft.com/office/drawing/2014/main" id="{043EAD14-4644-F340-8380-F40C21199F0A}"/>
              </a:ext>
            </a:extLst>
          </p:cNvPr>
          <p:cNvSpPr>
            <a:spLocks noGrp="1"/>
          </p:cNvSpPr>
          <p:nvPr>
            <p:ph type="body" idx="10" hasCustomPrompt="1"/>
          </p:nvPr>
        </p:nvSpPr>
        <p:spPr>
          <a:xfrm>
            <a:off x="838200" y="466725"/>
            <a:ext cx="7542213" cy="666750"/>
          </a:xfrm>
        </p:spPr>
        <p:txBody>
          <a:bodyPr>
            <a:noAutofit/>
          </a:bodyPr>
          <a:lstStyle>
            <a:lvl1pPr algn="l">
              <a:buNone/>
              <a:defRPr sz="4000" b="1" i="0">
                <a:solidFill>
                  <a:srgbClr val="00843D"/>
                </a:solidFill>
                <a:latin typeface="Calibri"/>
                <a:ea typeface="Calibri"/>
                <a:cs typeface="Calibri"/>
              </a:defRPr>
            </a:lvl1pPr>
          </a:lstStyle>
          <a:p>
            <a:pPr>
              <a:buNone/>
            </a:pPr>
            <a:r>
              <a:t>Slide Title</a:t>
            </a:r>
          </a:p>
        </p:txBody>
      </p:sp>
      <p:sp>
        <p:nvSpPr>
          <p:cNvPr id="20" name="Text Placeholder 18">
            <a:extLst>
              <a:ext uri="{FF2B5EF4-FFF2-40B4-BE49-F238E27FC236}">
                <a16:creationId xmlns:a16="http://schemas.microsoft.com/office/drawing/2014/main" id="{7AAC3C3D-E080-A045-B266-E3C073342BCE}"/>
              </a:ext>
            </a:extLst>
          </p:cNvPr>
          <p:cNvSpPr>
            <a:spLocks noGrp="1"/>
          </p:cNvSpPr>
          <p:nvPr>
            <p:ph type="body" idx="11" hasCustomPrompt="1"/>
          </p:nvPr>
        </p:nvSpPr>
        <p:spPr>
          <a:xfrm>
            <a:off x="838200" y="1207505"/>
            <a:ext cx="10515600" cy="666750"/>
          </a:xfrm>
        </p:spPr>
        <p:txBody>
          <a:bodyPr>
            <a:noAutofit/>
          </a:bodyPr>
          <a:lstStyle>
            <a:lvl1pPr algn="l">
              <a:buNone/>
              <a:defRPr sz="3600" b="1" i="0">
                <a:solidFill>
                  <a:schemeClr val="tx1"/>
                </a:solidFill>
                <a:latin typeface="Calibri"/>
                <a:ea typeface="Calibri"/>
                <a:cs typeface="Calibri"/>
              </a:defRPr>
            </a:lvl1pPr>
          </a:lstStyle>
          <a:p>
            <a:pPr>
              <a:buNone/>
            </a:pPr>
            <a:r>
              <a:t>Headline</a:t>
            </a:r>
          </a:p>
        </p:txBody>
      </p:sp>
      <p:sp>
        <p:nvSpPr>
          <p:cNvPr id="22" name="Text Placeholder 21">
            <a:extLst>
              <a:ext uri="{FF2B5EF4-FFF2-40B4-BE49-F238E27FC236}">
                <a16:creationId xmlns:a16="http://schemas.microsoft.com/office/drawing/2014/main" id="{7FC61832-0E5F-FD40-8B98-9692C42A5770}"/>
              </a:ext>
            </a:extLst>
          </p:cNvPr>
          <p:cNvSpPr>
            <a:spLocks noGrp="1"/>
          </p:cNvSpPr>
          <p:nvPr>
            <p:ph type="body" idx="12" hasCustomPrompt="1"/>
          </p:nvPr>
        </p:nvSpPr>
        <p:spPr>
          <a:xfrm>
            <a:off x="838199" y="2664566"/>
            <a:ext cx="10515599" cy="3512395"/>
          </a:xfrm>
        </p:spPr>
        <p:txBody>
          <a:bodyPr/>
          <a:lstStyle>
            <a:lvl1pPr marL="514350" indent="-514350" algn="l">
              <a:buChar char="•"/>
              <a:defRPr/>
            </a:lvl1pPr>
            <a:lvl2pPr marL="685800" indent="-228600">
              <a:buChar char="•"/>
              <a:defRPr/>
            </a:lvl2pPr>
            <a:lvl3pPr marL="1143000" indent="-228600">
              <a:buChar char="•"/>
              <a:defRPr/>
            </a:lvl3pPr>
            <a:lvl4pPr marL="1600200" indent="-228600">
              <a:buChar char="•"/>
              <a:defRPr/>
            </a:lvl4pPr>
            <a:lvl5pPr marL="2057400" indent="-228600">
              <a:buChar char="•"/>
              <a:defRPr/>
            </a:lvl5pPr>
          </a:lstStyle>
          <a:p>
            <a:pPr>
              <a:buNone/>
            </a:pPr>
            <a:r>
              <a:t>Insert body copy</a:t>
            </a:r>
          </a:p>
          <a:p>
            <a:pPr>
              <a:buNone/>
            </a:pPr>
            <a:r>
              <a:t>Insert body copy</a:t>
            </a:r>
          </a:p>
          <a:p>
            <a:pPr>
              <a:buNone/>
            </a:pPr>
            <a:r>
              <a:t>Insert body copy</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2" name="Picture 12"/>
          <p:cNvPicPr>
            <a:picLocks noChangeAspect="1"/>
          </p:cNvPicPr>
          <p:nvPr/>
        </p:nvPicPr>
        <p:blipFill>
          <a:blip r:embed="rId2"/>
          <a:stretch>
            <a:fillRect/>
          </a:stretch>
        </p:blipFill>
        <p:spPr>
          <a:xfrm>
            <a:off x="6350" y="190500"/>
            <a:ext cx="12179300" cy="6667500"/>
          </a:xfrm>
          <a:prstGeom prst="rect">
            <a:avLst/>
          </a:prstGeom>
        </p:spPr>
      </p:pic>
      <p:sp>
        <p:nvSpPr>
          <p:cNvPr id="16" name="TextBox 15">
            <a:extLst>
              <a:ext uri="{FF2B5EF4-FFF2-40B4-BE49-F238E27FC236}">
                <a16:creationId xmlns:a16="http://schemas.microsoft.com/office/drawing/2014/main" id="{B67C8A01-5F5F-B149-AE08-54CAB7A23BEE}"/>
              </a:ext>
            </a:extLst>
          </p:cNvPr>
          <p:cNvSpPr>
            <a:spLocks noGrp="1"/>
          </p:cNvSpPr>
          <p:nvPr/>
        </p:nvSpPr>
        <p:spPr>
          <a:xfrm>
            <a:off x="-949124" y="1458410"/>
            <a:ext cx="0" cy="0"/>
          </a:xfrm>
          <a:prstGeom prst="rect">
            <a:avLst/>
          </a:prstGeom>
        </p:spPr>
        <p:txBody>
          <a:bodyPr vert="horz" wrap="none" lIns="91440" tIns="45720" rIns="91440" bIns="45720" anchor="b">
            <a:normAutofit fontScale="25000" lnSpcReduction="20000"/>
          </a:bodyPr>
          <a:lstStyle/>
          <a:p>
            <a:pPr algn="r">
              <a:buNone/>
            </a:pPr>
            <a:endParaRPr/>
          </a:p>
        </p:txBody>
      </p:sp>
      <p:sp>
        <p:nvSpPr>
          <p:cNvPr id="17" name="TextBox 16">
            <a:extLst>
              <a:ext uri="{FF2B5EF4-FFF2-40B4-BE49-F238E27FC236}">
                <a16:creationId xmlns:a16="http://schemas.microsoft.com/office/drawing/2014/main" id="{9DE4A180-36C6-214C-AFE1-F88469C12CBA}"/>
              </a:ext>
            </a:extLst>
          </p:cNvPr>
          <p:cNvSpPr>
            <a:spLocks noGrp="1"/>
          </p:cNvSpPr>
          <p:nvPr/>
        </p:nvSpPr>
        <p:spPr>
          <a:xfrm>
            <a:off x="-1215342" y="1632030"/>
            <a:ext cx="0" cy="0"/>
          </a:xfrm>
          <a:prstGeom prst="rect">
            <a:avLst/>
          </a:prstGeom>
        </p:spPr>
        <p:txBody>
          <a:bodyPr vert="horz" wrap="none" lIns="91440" tIns="45720" rIns="91440" bIns="45720" anchor="b">
            <a:normAutofit fontScale="25000" lnSpcReduction="20000"/>
          </a:bodyPr>
          <a:lstStyle/>
          <a:p>
            <a:pPr algn="r">
              <a:buNone/>
            </a:pPr>
            <a:endParaRPr/>
          </a:p>
        </p:txBody>
      </p:sp>
      <p:sp>
        <p:nvSpPr>
          <p:cNvPr id="19" name="Text Placeholder 18">
            <a:extLst>
              <a:ext uri="{FF2B5EF4-FFF2-40B4-BE49-F238E27FC236}">
                <a16:creationId xmlns:a16="http://schemas.microsoft.com/office/drawing/2014/main" id="{043EAD14-4644-F340-8380-F40C21199F0A}"/>
              </a:ext>
            </a:extLst>
          </p:cNvPr>
          <p:cNvSpPr>
            <a:spLocks noGrp="1"/>
          </p:cNvSpPr>
          <p:nvPr>
            <p:ph type="body" idx="10" hasCustomPrompt="1"/>
          </p:nvPr>
        </p:nvSpPr>
        <p:spPr>
          <a:xfrm>
            <a:off x="838200" y="466725"/>
            <a:ext cx="7542213" cy="666750"/>
          </a:xfrm>
        </p:spPr>
        <p:txBody>
          <a:bodyPr>
            <a:noAutofit/>
          </a:bodyPr>
          <a:lstStyle>
            <a:lvl1pPr algn="l">
              <a:buNone/>
              <a:defRPr sz="4000" b="1" i="0">
                <a:solidFill>
                  <a:srgbClr val="00843D"/>
                </a:solidFill>
                <a:latin typeface="Calibri"/>
                <a:ea typeface="Calibri"/>
                <a:cs typeface="Calibri"/>
              </a:defRPr>
            </a:lvl1pPr>
          </a:lstStyle>
          <a:p>
            <a:pPr>
              <a:buNone/>
            </a:pPr>
            <a:r>
              <a:t>Slide Title</a:t>
            </a:r>
          </a:p>
        </p:txBody>
      </p:sp>
      <p:sp>
        <p:nvSpPr>
          <p:cNvPr id="20" name="Text Placeholder 18">
            <a:extLst>
              <a:ext uri="{FF2B5EF4-FFF2-40B4-BE49-F238E27FC236}">
                <a16:creationId xmlns:a16="http://schemas.microsoft.com/office/drawing/2014/main" id="{7AAC3C3D-E080-A045-B266-E3C073342BCE}"/>
              </a:ext>
            </a:extLst>
          </p:cNvPr>
          <p:cNvSpPr>
            <a:spLocks noGrp="1"/>
          </p:cNvSpPr>
          <p:nvPr>
            <p:ph type="body" idx="11" hasCustomPrompt="1"/>
          </p:nvPr>
        </p:nvSpPr>
        <p:spPr>
          <a:xfrm>
            <a:off x="838200" y="1207505"/>
            <a:ext cx="10515600" cy="666750"/>
          </a:xfrm>
        </p:spPr>
        <p:txBody>
          <a:bodyPr>
            <a:noAutofit/>
          </a:bodyPr>
          <a:lstStyle>
            <a:lvl1pPr algn="l">
              <a:buNone/>
              <a:defRPr sz="3600" b="1" i="0">
                <a:solidFill>
                  <a:schemeClr val="tx1"/>
                </a:solidFill>
                <a:latin typeface="Calibri"/>
                <a:ea typeface="Calibri"/>
                <a:cs typeface="Calibri"/>
              </a:defRPr>
            </a:lvl1pPr>
          </a:lstStyle>
          <a:p>
            <a:pPr>
              <a:buNone/>
            </a:pPr>
            <a:r>
              <a:t>Headline</a:t>
            </a:r>
          </a:p>
        </p:txBody>
      </p:sp>
      <p:sp>
        <p:nvSpPr>
          <p:cNvPr id="3" name="Content Placeholder 2">
            <a:extLst>
              <a:ext uri="{FF2B5EF4-FFF2-40B4-BE49-F238E27FC236}">
                <a16:creationId xmlns:a16="http://schemas.microsoft.com/office/drawing/2014/main" id="{4BB32619-E0E0-2D4A-9329-B3008A686B7B}"/>
              </a:ext>
            </a:extLst>
          </p:cNvPr>
          <p:cNvSpPr>
            <a:spLocks noGrp="1"/>
          </p:cNvSpPr>
          <p:nvPr>
            <p:ph idx="13"/>
          </p:nvPr>
        </p:nvSpPr>
        <p:spPr>
          <a:xfrm>
            <a:off x="838200" y="2604305"/>
            <a:ext cx="10515600" cy="3676946"/>
          </a:xfrm>
        </p:spPr>
        <p:txBody>
          <a:bodyPr/>
          <a:lstStyle>
            <a:lvl1pPr algn="l">
              <a:buNone/>
              <a:defRPr/>
            </a:lvl1pPr>
          </a:lstStyle>
          <a:p>
            <a:pPr>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4" name="Grafik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6" name="Bildplatzhalter 5"/>
          <p:cNvSpPr>
            <a:spLocks noGrp="1"/>
          </p:cNvSpPr>
          <p:nvPr>
            <p:ph type="pic" sz="quarter" idx="12"/>
          </p:nvPr>
        </p:nvSpPr>
        <p:spPr>
          <a:xfrm>
            <a:off x="6524462" y="300704"/>
            <a:ext cx="1731896" cy="535987"/>
          </a:xfrm>
        </p:spPr>
        <p:txBody>
          <a:bodyPr/>
          <a:lstStyle/>
          <a:p>
            <a:r>
              <a:rPr lang="en-GB"/>
              <a:t>Click icon to add picture</a:t>
            </a:r>
            <a:endParaRPr lang="en-US"/>
          </a:p>
        </p:txBody>
      </p:sp>
    </p:spTree>
    <p:extLst>
      <p:ext uri="{BB962C8B-B14F-4D97-AF65-F5344CB8AC3E}">
        <p14:creationId xmlns:p14="http://schemas.microsoft.com/office/powerpoint/2010/main" val="231824648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F8D2C6F2-BFE9-4DA1-8335-8212BBEBDEDB}"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en-GB"/>
              <a:t>Click to edit Master title style</a:t>
            </a:r>
            <a:endParaRPr lang="de-DE"/>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a:t>01 </a:t>
            </a:r>
          </a:p>
        </p:txBody>
      </p:sp>
      <p:sp>
        <p:nvSpPr>
          <p:cNvPr id="41"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42" name="Grafik 4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94819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8180691-36C4-442B-801E-F5F906A331D4}"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a:t>01 </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2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25" name="Grafik 2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373716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a:t>Kapiteltrenner</a:t>
            </a:r>
            <a:br>
              <a:rPr lang="de-DE"/>
            </a:br>
            <a:r>
              <a:rPr lang="de-DE"/>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25DBE663-8CF8-4EA4-AF83-5C771F9A06FE}"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2" name="Grafik 1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3" name="Bildplatzhalter 5"/>
          <p:cNvSpPr>
            <a:spLocks noGrp="1"/>
          </p:cNvSpPr>
          <p:nvPr>
            <p:ph type="pic" sz="quarter" idx="13"/>
          </p:nvPr>
        </p:nvSpPr>
        <p:spPr>
          <a:xfrm>
            <a:off x="6524462" y="300704"/>
            <a:ext cx="1731896" cy="535987"/>
          </a:xfrm>
        </p:spPr>
        <p:txBody>
          <a:bodyPr/>
          <a:lstStyle/>
          <a:p>
            <a:r>
              <a:rPr lang="en-GB"/>
              <a:t>Click icon to add picture</a:t>
            </a:r>
            <a:endParaRPr lang="en-US"/>
          </a:p>
        </p:txBody>
      </p:sp>
    </p:spTree>
    <p:extLst>
      <p:ext uri="{BB962C8B-B14F-4D97-AF65-F5344CB8AC3E}">
        <p14:creationId xmlns:p14="http://schemas.microsoft.com/office/powerpoint/2010/main" val="326161683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B4FCF17-48A0-4939-9B86-4A0E590241E6}"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2" name="Grafik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1201880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71C8739-BFB7-40C2-B28E-69BB709E9C11}"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852558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7B6080-B214-4A27-A13D-95A31493955D}"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958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4E4BF54-E288-44CA-9624-72B71A8A42AB}"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556408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2055A8-E7B1-419D-84AA-0C89B698BF26}"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936631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3490785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2D4C7B6-65DB-4651-9D6D-787BD251B230}"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4"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847460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56074B9-4BBE-42DB-8ECC-1B8A75D6203E}"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8" name="Grafik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909756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FCBA888-8294-4426-A426-0D17B6B1880D}"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en-GB"/>
              <a:t>Click to edit Master text styles</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81644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F894D4-C9B8-4F96-8FF6-79E826889C55}"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814824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3DA0F4A-AEAE-4C58-AA76-7EADB0FF7089}"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40"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355549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4667C9-4C75-43A9-95B7-0690D6F29CA5}"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a:t> </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400957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de-DE"/>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8C462FD0-9E74-4D67-97DA-C8DBAA1AE5FF}"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en-GB"/>
              <a:t>Click to edit Master text styles</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sp>
        <p:nvSpPr>
          <p:cNvPr id="4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43" name="Grafik 4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02208296"/>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D94168-1D2E-414B-9AFB-B7BB2EA3568F}"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9"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0" name="Grafik 9"/>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4686654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en-GB"/>
              <a:t>Click to edit Master title style</a:t>
            </a:r>
            <a:endParaRPr lang="de-DE"/>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64EDA59-479C-41C3-99F0-9A24DD470063}" type="datetime4">
              <a:rPr lang="de-DE" smtClean="0"/>
              <a:t>14. Juli 2026</a:t>
            </a:fld>
            <a:endParaRPr lang="de-DE"/>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a:t>„Mastertextformat bearbeiten“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en-GB"/>
              <a:t>Click to edit Master text styles</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2450054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a:t>Vielen Dank</a:t>
            </a:r>
            <a:br>
              <a:rPr lang="de-DE"/>
            </a:br>
            <a:r>
              <a:rPr lang="de-DE"/>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5" name="Grafik 1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6" name="Bildplatzhalter 5"/>
          <p:cNvSpPr>
            <a:spLocks noGrp="1"/>
          </p:cNvSpPr>
          <p:nvPr>
            <p:ph type="pic" sz="quarter" idx="14"/>
          </p:nvPr>
        </p:nvSpPr>
        <p:spPr>
          <a:xfrm>
            <a:off x="6524462" y="300704"/>
            <a:ext cx="1731896" cy="535987"/>
          </a:xfrm>
        </p:spPr>
        <p:txBody>
          <a:bodyPr/>
          <a:lstStyle/>
          <a:p>
            <a:r>
              <a:rPr lang="en-GB"/>
              <a:t>Click icon to add picture</a:t>
            </a:r>
            <a:endParaRPr lang="en-US"/>
          </a:p>
        </p:txBody>
      </p:sp>
    </p:spTree>
    <p:extLst>
      <p:ext uri="{BB962C8B-B14F-4D97-AF65-F5344CB8AC3E}">
        <p14:creationId xmlns:p14="http://schemas.microsoft.com/office/powerpoint/2010/main" val="989355994"/>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Blanko">
    <p:spTree>
      <p:nvGrpSpPr>
        <p:cNvPr id="1" name=""/>
        <p:cNvGrpSpPr/>
        <p:nvPr/>
      </p:nvGrpSpPr>
      <p:grpSpPr>
        <a:xfrm>
          <a:off x="0" y="0"/>
          <a:ext cx="0" cy="0"/>
          <a:chOff x="0" y="0"/>
          <a:chExt cx="0" cy="0"/>
        </a:xfrm>
      </p:grpSpPr>
      <p:sp>
        <p:nvSpPr>
          <p:cNvPr id="2" name="Titel 1"/>
          <p:cNvSpPr>
            <a:spLocks noGrp="1"/>
          </p:cNvSpPr>
          <p:nvPr>
            <p:ph type="title"/>
          </p:nvPr>
        </p:nvSpPr>
        <p:spPr>
          <a:xfrm>
            <a:off x="838200" y="365125"/>
            <a:ext cx="10515600" cy="815975"/>
          </a:xfrm>
          <a:prstGeom prst="rect">
            <a:avLst/>
          </a:prstGeom>
        </p:spPr>
        <p:txBody>
          <a:bodyPr/>
          <a:lstStyle>
            <a:lvl1pPr>
              <a:defRPr>
                <a:solidFill>
                  <a:schemeClr val="tx1"/>
                </a:solidFill>
              </a:defRPr>
            </a:lvl1pPr>
          </a:lstStyle>
          <a:p>
            <a:r>
              <a:rPr lang="de-DE"/>
              <a:t>Titelmasterformat durch Klicken bearbeiten</a:t>
            </a:r>
            <a:endParaRPr lang="en-GB"/>
          </a:p>
        </p:txBody>
      </p:sp>
      <p:sp>
        <p:nvSpPr>
          <p:cNvPr id="3" name="Fußzeilenplatzhalter 2"/>
          <p:cNvSpPr>
            <a:spLocks noGrp="1"/>
          </p:cNvSpPr>
          <p:nvPr>
            <p:ph type="ftr" sz="quarter" idx="10"/>
          </p:nvPr>
        </p:nvSpPr>
        <p:spPr/>
        <p:txBody>
          <a:bodyPr/>
          <a:lstStyle/>
          <a:p>
            <a:r>
              <a:rPr lang="de-DE"/>
              <a:t>TP 3 - 2. Konsortialtreffen Aachen</a:t>
            </a:r>
            <a:endParaRPr lang="en-US"/>
          </a:p>
        </p:txBody>
      </p:sp>
      <p:sp>
        <p:nvSpPr>
          <p:cNvPr id="4" name="Foliennummernplatzhalter 3"/>
          <p:cNvSpPr>
            <a:spLocks noGrp="1"/>
          </p:cNvSpPr>
          <p:nvPr>
            <p:ph type="sldNum" sz="quarter" idx="11"/>
          </p:nvPr>
        </p:nvSpPr>
        <p:spPr/>
        <p:txBody>
          <a:bodyPr/>
          <a:lstStyle/>
          <a:p>
            <a:r>
              <a:rPr lang="en-US"/>
              <a:t>Seite </a:t>
            </a:r>
            <a:fld id="{4FAB73BC-B049-4115-A692-8D63A059BFB8}" type="slidenum">
              <a:rPr lang="en-US" smtClean="0"/>
              <a:pPr/>
              <a:t>‹#›</a:t>
            </a:fld>
            <a:endParaRPr lang="en-US"/>
          </a:p>
        </p:txBody>
      </p:sp>
      <p:sp>
        <p:nvSpPr>
          <p:cNvPr id="6" name="Inhaltsplatzhalter 5"/>
          <p:cNvSpPr>
            <a:spLocks noGrp="1"/>
          </p:cNvSpPr>
          <p:nvPr>
            <p:ph sz="quarter" idx="12"/>
          </p:nvPr>
        </p:nvSpPr>
        <p:spPr>
          <a:xfrm>
            <a:off x="829733" y="1454150"/>
            <a:ext cx="10524067" cy="4324350"/>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en-GB"/>
          </a:p>
        </p:txBody>
      </p:sp>
    </p:spTree>
    <p:extLst>
      <p:ext uri="{BB962C8B-B14F-4D97-AF65-F5344CB8AC3E}">
        <p14:creationId xmlns:p14="http://schemas.microsoft.com/office/powerpoint/2010/main" val="142850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Titelfolie">
    <p:spTree>
      <p:nvGrpSpPr>
        <p:cNvPr id="1" name=""/>
        <p:cNvGrpSpPr/>
        <p:nvPr/>
      </p:nvGrpSpPr>
      <p:grpSpPr>
        <a:xfrm>
          <a:off x="0" y="0"/>
          <a:ext cx="0" cy="0"/>
          <a:chOff x="0" y="0"/>
          <a:chExt cx="0" cy="0"/>
        </a:xfrm>
      </p:grpSpPr>
      <p:sp>
        <p:nvSpPr>
          <p:cNvPr id="13" name="Dreieck 9">
            <a:extLst>
              <a:ext uri="{FF2B5EF4-FFF2-40B4-BE49-F238E27FC236}">
                <a16:creationId xmlns:a16="http://schemas.microsoft.com/office/drawing/2014/main" id="{215D4A6A-D7CA-63EF-FFB1-4B968A83428B}"/>
              </a:ext>
            </a:extLst>
          </p:cNvPr>
          <p:cNvSpPr/>
          <p:nvPr userDrawn="1"/>
        </p:nvSpPr>
        <p:spPr>
          <a:xfrm rot="5400000">
            <a:off x="-502356" y="502356"/>
            <a:ext cx="3014133" cy="2009422"/>
          </a:xfrm>
          <a:prstGeom prst="triangle">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sp>
        <p:nvSpPr>
          <p:cNvPr id="14" name="Titel 13"/>
          <p:cNvSpPr>
            <a:spLocks noGrp="1"/>
          </p:cNvSpPr>
          <p:nvPr>
            <p:ph type="title"/>
          </p:nvPr>
        </p:nvSpPr>
        <p:spPr>
          <a:xfrm>
            <a:off x="1168400" y="4362877"/>
            <a:ext cx="9464040" cy="967703"/>
          </a:xfrm>
          <a:prstGeom prst="rect">
            <a:avLst/>
          </a:prstGeom>
        </p:spPr>
        <p:txBody>
          <a:bodyPr/>
          <a:lstStyle>
            <a:lvl1pPr>
              <a:defRPr sz="3200" b="0">
                <a:solidFill>
                  <a:schemeClr val="tx1"/>
                </a:solidFill>
              </a:defRPr>
            </a:lvl1pPr>
          </a:lstStyle>
          <a:p>
            <a:endParaRPr lang="en-GB"/>
          </a:p>
        </p:txBody>
      </p:sp>
      <p:sp>
        <p:nvSpPr>
          <p:cNvPr id="20" name="Titel 13"/>
          <p:cNvSpPr txBox="1">
            <a:spLocks/>
          </p:cNvSpPr>
          <p:nvPr userDrawn="1"/>
        </p:nvSpPr>
        <p:spPr>
          <a:xfrm>
            <a:off x="1168400" y="5334000"/>
            <a:ext cx="8805333" cy="416560"/>
          </a:xfrm>
          <a:prstGeom prst="rect">
            <a:avLst/>
          </a:prstGeom>
        </p:spPr>
        <p:txBody>
          <a:bodyPr/>
          <a:lstStyle>
            <a:lvl1pPr algn="l" defTabSz="914400" rtl="0" eaLnBrk="1" latinLnBrk="0" hangingPunct="1">
              <a:lnSpc>
                <a:spcPct val="90000"/>
              </a:lnSpc>
              <a:spcBef>
                <a:spcPct val="0"/>
              </a:spcBef>
              <a:buNone/>
              <a:defRPr sz="3600" kern="1200" spc="-60" baseline="0">
                <a:solidFill>
                  <a:schemeClr val="tx1"/>
                </a:solidFill>
                <a:latin typeface="+mj-lt"/>
                <a:ea typeface="+mj-ea"/>
                <a:cs typeface="+mj-cs"/>
              </a:defRPr>
            </a:lvl1pPr>
          </a:lstStyle>
          <a:p>
            <a:endParaRPr lang="en-GB" sz="2000">
              <a:solidFill>
                <a:schemeClr val="tx1"/>
              </a:solidFill>
            </a:endParaRPr>
          </a:p>
        </p:txBody>
      </p:sp>
      <p:sp>
        <p:nvSpPr>
          <p:cNvPr id="21" name="Titel 13"/>
          <p:cNvSpPr txBox="1">
            <a:spLocks/>
          </p:cNvSpPr>
          <p:nvPr userDrawn="1"/>
        </p:nvSpPr>
        <p:spPr>
          <a:xfrm>
            <a:off x="1168399" y="5580432"/>
            <a:ext cx="8805333" cy="657856"/>
          </a:xfrm>
          <a:prstGeom prst="rect">
            <a:avLst/>
          </a:prstGeom>
        </p:spPr>
        <p:txBody>
          <a:bodyPr/>
          <a:lstStyle>
            <a:lvl1pPr algn="l" defTabSz="914400" rtl="0" eaLnBrk="1" latinLnBrk="0" hangingPunct="1">
              <a:lnSpc>
                <a:spcPct val="90000"/>
              </a:lnSpc>
              <a:spcBef>
                <a:spcPct val="0"/>
              </a:spcBef>
              <a:buNone/>
              <a:defRPr sz="3600" kern="1200" spc="-60" baseline="0">
                <a:solidFill>
                  <a:schemeClr val="tx1"/>
                </a:solidFill>
                <a:latin typeface="+mj-lt"/>
                <a:ea typeface="+mj-ea"/>
                <a:cs typeface="+mj-cs"/>
              </a:defRPr>
            </a:lvl1pPr>
          </a:lstStyle>
          <a:p>
            <a:endParaRPr lang="en-GB" sz="2000">
              <a:solidFill>
                <a:srgbClr val="A7CBDF"/>
              </a:solidFill>
            </a:endParaRPr>
          </a:p>
        </p:txBody>
      </p:sp>
      <p:sp>
        <p:nvSpPr>
          <p:cNvPr id="22" name="Titel 13"/>
          <p:cNvSpPr txBox="1">
            <a:spLocks/>
          </p:cNvSpPr>
          <p:nvPr userDrawn="1"/>
        </p:nvSpPr>
        <p:spPr>
          <a:xfrm>
            <a:off x="977101" y="6318770"/>
            <a:ext cx="8805333" cy="416560"/>
          </a:xfrm>
          <a:prstGeom prst="rect">
            <a:avLst/>
          </a:prstGeom>
        </p:spPr>
        <p:txBody>
          <a:bodyPr/>
          <a:lstStyle>
            <a:lvl1pPr algn="l" defTabSz="914400" rtl="0" eaLnBrk="1" latinLnBrk="0" hangingPunct="1">
              <a:lnSpc>
                <a:spcPct val="90000"/>
              </a:lnSpc>
              <a:spcBef>
                <a:spcPct val="0"/>
              </a:spcBef>
              <a:buNone/>
              <a:defRPr sz="3600" kern="1200" spc="-60" baseline="0">
                <a:solidFill>
                  <a:schemeClr val="tx1"/>
                </a:solidFill>
                <a:latin typeface="+mj-lt"/>
                <a:ea typeface="+mj-ea"/>
                <a:cs typeface="+mj-cs"/>
              </a:defRPr>
            </a:lvl1pPr>
          </a:lstStyle>
          <a:p>
            <a:endParaRPr lang="en-GB" sz="2000">
              <a:solidFill>
                <a:schemeClr val="tx1"/>
              </a:solidFill>
            </a:endParaRPr>
          </a:p>
        </p:txBody>
      </p:sp>
      <p:sp>
        <p:nvSpPr>
          <p:cNvPr id="10" name="Dreieck 9">
            <a:extLst>
              <a:ext uri="{FF2B5EF4-FFF2-40B4-BE49-F238E27FC236}">
                <a16:creationId xmlns:a16="http://schemas.microsoft.com/office/drawing/2014/main" id="{215D4A6A-D7CA-63EF-FFB1-4B968A83428B}"/>
              </a:ext>
            </a:extLst>
          </p:cNvPr>
          <p:cNvSpPr/>
          <p:nvPr userDrawn="1"/>
        </p:nvSpPr>
        <p:spPr>
          <a:xfrm rot="16200000">
            <a:off x="7242000" y="1908000"/>
            <a:ext cx="5940000" cy="3960000"/>
          </a:xfrm>
          <a:prstGeom prst="triangle">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de-DE"/>
          </a:p>
        </p:txBody>
      </p:sp>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8478" y="848787"/>
            <a:ext cx="8945171" cy="3389164"/>
          </a:xfrm>
          <a:prstGeom prst="rect">
            <a:avLst/>
          </a:prstGeom>
        </p:spPr>
      </p:pic>
      <p:pic>
        <p:nvPicPr>
          <p:cNvPr id="11" name="Grafik 10">
            <a:extLst>
              <a:ext uri="{FF2B5EF4-FFF2-40B4-BE49-F238E27FC236}">
                <a16:creationId xmlns:a16="http://schemas.microsoft.com/office/drawing/2014/main" id="{7B4CD8A2-5193-2EC9-B963-A7965EF54FB9}"/>
              </a:ext>
            </a:extLst>
          </p:cNvPr>
          <p:cNvPicPr>
            <a:picLocks noChangeAspect="1"/>
          </p:cNvPicPr>
          <p:nvPr userDrawn="1"/>
        </p:nvPicPr>
        <p:blipFill>
          <a:blip r:embed="rId3">
            <a:clrChange>
              <a:clrFrom>
                <a:srgbClr val="FFFFFF"/>
              </a:clrFrom>
              <a:clrTo>
                <a:srgbClr val="FFFFFF">
                  <a:alpha val="0"/>
                </a:srgbClr>
              </a:clrTo>
            </a:clrChange>
          </a:blip>
          <a:stretch>
            <a:fillRect/>
          </a:stretch>
        </p:blipFill>
        <p:spPr>
          <a:xfrm>
            <a:off x="8077626" y="1378714"/>
            <a:ext cx="1334191" cy="761436"/>
          </a:xfrm>
          <a:prstGeom prst="rect">
            <a:avLst/>
          </a:prstGeom>
        </p:spPr>
      </p:pic>
      <p:pic>
        <p:nvPicPr>
          <p:cNvPr id="12" name="Picture 16" descr="Willkommen bei der Energieversorgung Gera">
            <a:extLst>
              <a:ext uri="{FF2B5EF4-FFF2-40B4-BE49-F238E27FC236}">
                <a16:creationId xmlns:a16="http://schemas.microsoft.com/office/drawing/2014/main" id="{DDC7BAC6-FCA7-AF03-9F6D-C4C0C535BEB5}"/>
              </a:ext>
            </a:extLst>
          </p:cNvPr>
          <p:cNvPicPr>
            <a:picLocks noChangeAspect="1" noChangeArrowheads="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94145" y="2732601"/>
            <a:ext cx="1583151" cy="83115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Kunden :: Stadtwerke Jena Netze">
            <a:extLst>
              <a:ext uri="{FF2B5EF4-FFF2-40B4-BE49-F238E27FC236}">
                <a16:creationId xmlns:a16="http://schemas.microsoft.com/office/drawing/2014/main" id="{2D61CB87-7F44-1BF6-732D-EFB2A4DDBB4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064976" y="361059"/>
            <a:ext cx="1760188" cy="59231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026CABE2-E5F7-D9A8-63F7-E5FB97A0A58B}"/>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294145" y="523576"/>
            <a:ext cx="1583149" cy="4298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ESTW - Elektrizität, Wärme, Erdgas und Wasser aus einer Hand">
            <a:extLst>
              <a:ext uri="{FF2B5EF4-FFF2-40B4-BE49-F238E27FC236}">
                <a16:creationId xmlns:a16="http://schemas.microsoft.com/office/drawing/2014/main" id="{21E37B70-5EE4-ED0E-BD2B-CF0D37B228B2}"/>
              </a:ext>
            </a:extLst>
          </p:cNvPr>
          <p:cNvPicPr>
            <a:picLocks noChangeAspect="1" noChangeArrowheads="1"/>
          </p:cNvPicPr>
          <p:nvPr userDrawn="1"/>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55080" y="2637382"/>
            <a:ext cx="1477200" cy="529025"/>
          </a:xfrm>
          <a:prstGeom prst="rect">
            <a:avLst/>
          </a:prstGeom>
          <a:noFill/>
          <a:extLst>
            <a:ext uri="{909E8E84-426E-40DD-AFC4-6F175D3DCCD1}">
              <a14:hiddenFill xmlns:a14="http://schemas.microsoft.com/office/drawing/2010/main">
                <a:solidFill>
                  <a:srgbClr val="FFFFFF"/>
                </a:solidFill>
              </a14:hiddenFill>
            </a:ext>
          </a:extLst>
        </p:spPr>
      </p:pic>
      <p:pic>
        <p:nvPicPr>
          <p:cNvPr id="18" name="Grafik 17">
            <a:extLst>
              <a:ext uri="{FF2B5EF4-FFF2-40B4-BE49-F238E27FC236}">
                <a16:creationId xmlns:a16="http://schemas.microsoft.com/office/drawing/2014/main" id="{65DF2A2D-3DCD-8D60-3A1C-4EABFA3E419A}"/>
              </a:ext>
            </a:extLst>
          </p:cNvPr>
          <p:cNvPicPr>
            <a:picLocks noChangeAspect="1"/>
          </p:cNvPicPr>
          <p:nvPr userDrawn="1"/>
        </p:nvPicPr>
        <p:blipFill>
          <a:blip r:embed="rId8"/>
          <a:stretch>
            <a:fillRect/>
          </a:stretch>
        </p:blipFill>
        <p:spPr>
          <a:xfrm>
            <a:off x="10043649" y="848787"/>
            <a:ext cx="1626114" cy="296250"/>
          </a:xfrm>
          <a:prstGeom prst="rect">
            <a:avLst/>
          </a:prstGeom>
        </p:spPr>
      </p:pic>
      <p:pic>
        <p:nvPicPr>
          <p:cNvPr id="23" name="Picture 2" descr="OPAL-RT and SCALABLE Network Technologies Provide Real-time Cyber-Physical  Solution to New York Power Authority - OPAL-RT">
            <a:extLst>
              <a:ext uri="{FF2B5EF4-FFF2-40B4-BE49-F238E27FC236}">
                <a16:creationId xmlns:a16="http://schemas.microsoft.com/office/drawing/2014/main" id="{BFAA5169-DD02-F7F0-1BE5-28C6EE1F6439}"/>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230903" y="3678691"/>
            <a:ext cx="1583150" cy="293749"/>
          </a:xfrm>
          <a:prstGeom prst="rect">
            <a:avLst/>
          </a:prstGeom>
          <a:noFill/>
          <a:extLst>
            <a:ext uri="{909E8E84-426E-40DD-AFC4-6F175D3DCCD1}">
              <a14:hiddenFill xmlns:a14="http://schemas.microsoft.com/office/drawing/2010/main">
                <a:solidFill>
                  <a:srgbClr val="FFFFFF"/>
                </a:solidFill>
              </a14:hiddenFill>
            </a:ext>
          </a:extLst>
        </p:spPr>
      </p:pic>
      <p:pic>
        <p:nvPicPr>
          <p:cNvPr id="24" name="Grafik 23">
            <a:extLst>
              <a:ext uri="{FF2B5EF4-FFF2-40B4-BE49-F238E27FC236}">
                <a16:creationId xmlns:a16="http://schemas.microsoft.com/office/drawing/2014/main" id="{2870B15A-3745-001E-2853-4446AEF3C45D}"/>
              </a:ext>
            </a:extLst>
          </p:cNvPr>
          <p:cNvPicPr>
            <a:picLocks noChangeAspect="1"/>
          </p:cNvPicPr>
          <p:nvPr userDrawn="1"/>
        </p:nvPicPr>
        <p:blipFill>
          <a:blip r:embed="rId10"/>
          <a:stretch>
            <a:fillRect/>
          </a:stretch>
        </p:blipFill>
        <p:spPr>
          <a:xfrm>
            <a:off x="7596113" y="486911"/>
            <a:ext cx="1925299" cy="364945"/>
          </a:xfrm>
          <a:prstGeom prst="rect">
            <a:avLst/>
          </a:prstGeom>
        </p:spPr>
      </p:pic>
      <p:sp>
        <p:nvSpPr>
          <p:cNvPr id="4" name="Textplatzhalter 3"/>
          <p:cNvSpPr>
            <a:spLocks noGrp="1"/>
          </p:cNvSpPr>
          <p:nvPr>
            <p:ph type="body" sz="quarter" idx="10" hasCustomPrompt="1"/>
          </p:nvPr>
        </p:nvSpPr>
        <p:spPr>
          <a:xfrm>
            <a:off x="1168397" y="5370458"/>
            <a:ext cx="5745163" cy="385762"/>
          </a:xfrm>
        </p:spPr>
        <p:txBody>
          <a:bodyPr/>
          <a:lstStyle>
            <a:lvl1pPr marL="0" indent="0">
              <a:buNone/>
              <a:defRPr/>
            </a:lvl1pPr>
          </a:lstStyle>
          <a:p>
            <a:r>
              <a:rPr lang="de-DE" sz="2000">
                <a:solidFill>
                  <a:schemeClr val="tx1"/>
                </a:solidFill>
              </a:rPr>
              <a:t>Vorname</a:t>
            </a:r>
            <a:r>
              <a:rPr lang="de-DE" sz="2000" baseline="0">
                <a:solidFill>
                  <a:schemeClr val="tx1"/>
                </a:solidFill>
              </a:rPr>
              <a:t> Nachname, Partner</a:t>
            </a:r>
            <a:endParaRPr lang="en-GB" sz="2000">
              <a:solidFill>
                <a:schemeClr val="tx1"/>
              </a:solidFill>
            </a:endParaRPr>
          </a:p>
        </p:txBody>
      </p:sp>
      <p:sp>
        <p:nvSpPr>
          <p:cNvPr id="26" name="Textplatzhalter 3"/>
          <p:cNvSpPr>
            <a:spLocks noGrp="1"/>
          </p:cNvSpPr>
          <p:nvPr>
            <p:ph type="body" sz="quarter" idx="11" hasCustomPrompt="1"/>
          </p:nvPr>
        </p:nvSpPr>
        <p:spPr>
          <a:xfrm>
            <a:off x="1168396" y="5806479"/>
            <a:ext cx="5745163" cy="385762"/>
          </a:xfrm>
        </p:spPr>
        <p:txBody>
          <a:bodyPr/>
          <a:lstStyle>
            <a:lvl1pPr marL="0" indent="0">
              <a:buNone/>
              <a:defRPr/>
            </a:lvl1pPr>
          </a:lstStyle>
          <a:p>
            <a:r>
              <a:rPr lang="de-DE" sz="2000">
                <a:solidFill>
                  <a:schemeClr val="tx1"/>
                </a:solidFill>
              </a:rPr>
              <a:t>Ort,</a:t>
            </a:r>
            <a:r>
              <a:rPr lang="de-DE" sz="2000" baseline="0">
                <a:solidFill>
                  <a:schemeClr val="tx1"/>
                </a:solidFill>
              </a:rPr>
              <a:t> Datum</a:t>
            </a:r>
            <a:endParaRPr lang="en-GB" sz="2000">
              <a:solidFill>
                <a:schemeClr val="tx1"/>
              </a:solidFill>
            </a:endParaRPr>
          </a:p>
        </p:txBody>
      </p:sp>
      <p:pic>
        <p:nvPicPr>
          <p:cNvPr id="29" name="Grafik 28"/>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0824465" y="5750560"/>
            <a:ext cx="1296274" cy="1073757"/>
          </a:xfrm>
          <a:prstGeom prst="rect">
            <a:avLst/>
          </a:prstGeom>
        </p:spPr>
      </p:pic>
      <p:pic>
        <p:nvPicPr>
          <p:cNvPr id="3" name="Grafik 2"/>
          <p:cNvPicPr>
            <a:picLocks noChangeAspect="1"/>
          </p:cNvPicPr>
          <p:nvPr userDrawn="1"/>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11609" y="1863185"/>
            <a:ext cx="1204138" cy="493956"/>
          </a:xfrm>
          <a:prstGeom prst="rect">
            <a:avLst/>
          </a:prstGeom>
        </p:spPr>
      </p:pic>
    </p:spTree>
    <p:extLst>
      <p:ext uri="{BB962C8B-B14F-4D97-AF65-F5344CB8AC3E}">
        <p14:creationId xmlns:p14="http://schemas.microsoft.com/office/powerpoint/2010/main" val="127827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theme" Target="../theme/theme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B40F4-6BCF-AC44-B890-C628546A3130}"/>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b="1">
                <a:latin typeface="+mn-lt"/>
                <a:ea typeface="+mn-lt"/>
                <a:cs typeface="+mn-lt"/>
              </a:rPr>
              <a:t>Presentation Title</a:t>
            </a:r>
          </a:p>
        </p:txBody>
      </p:sp>
      <p:sp>
        <p:nvSpPr>
          <p:cNvPr id="3" name="Text Placeholder 2">
            <a:extLst>
              <a:ext uri="{FF2B5EF4-FFF2-40B4-BE49-F238E27FC236}">
                <a16:creationId xmlns:a16="http://schemas.microsoft.com/office/drawing/2014/main" id="{4A288C16-3DB6-8248-93AA-C2429707C97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marL="0" indent="0" algn="r">
              <a:lnSpc>
                <a:spcPct val="100000"/>
              </a:lnSpc>
              <a:spcBef>
                <a:spcPts val="0"/>
              </a:spcBef>
              <a:spcAft>
                <a:spcPts val="0"/>
              </a:spcAft>
              <a:buNone/>
            </a:pPr>
            <a:r>
              <a:rPr sz="2800" b="0" i="0" u="none" cap="none" spc="0">
                <a:ln>
                  <a:noFill/>
                </a:ln>
                <a:solidFill>
                  <a:prstClr val="white"/>
                </a:solidFill>
                <a:latin typeface="+mn-lt"/>
                <a:ea typeface="+mn-lt"/>
                <a:cs typeface="+mn-lt"/>
              </a:rPr>
              <a:t>Description</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7912D5A6-89D6-624F-9080-4DAA8D607077}"/>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D08E0DB-3507-D441-AB89-6CA72722338B}" type="datetimeFigureOut">
              <a:t>7/13/26</a:t>
            </a:fld>
            <a:endParaRPr/>
          </a:p>
        </p:txBody>
      </p:sp>
      <p:sp>
        <p:nvSpPr>
          <p:cNvPr id="5" name="Footer Placeholder 4">
            <a:extLst>
              <a:ext uri="{FF2B5EF4-FFF2-40B4-BE49-F238E27FC236}">
                <a16:creationId xmlns:a16="http://schemas.microsoft.com/office/drawing/2014/main" id="{7C71FA2A-210D-6D41-A28D-CE404F5A4F4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64DF6B89-0CCD-8A40-9207-0F5BB3FBA97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41E9972E-B495-7D42-862D-914296B4CAD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buNone/>
        <a:defRPr sz="4400" b="1">
          <a:solidFill>
            <a:schemeClr val="tx1"/>
          </a:solidFill>
          <a:latin typeface="+mj-lt"/>
          <a:ea typeface="+mj-lt"/>
          <a:cs typeface="+mj-lt"/>
        </a:defRPr>
      </a:lvl1pPr>
    </p:titleStyle>
    <p:bodyStyle>
      <a:lvl1pPr marL="0" indent="0" algn="r">
        <a:lnSpc>
          <a:spcPct val="100000"/>
        </a:lnSpc>
        <a:spcBef>
          <a:spcPts val="0"/>
        </a:spcBef>
        <a:spcAft>
          <a:spcPts val="0"/>
        </a:spcAft>
        <a:buNone/>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E4F9C00A-8AFB-47C9-A7D9-7909CE906E5E}" type="datetime4">
              <a:rPr lang="de-DE" smtClean="0"/>
              <a:t>14. Juli 2026</a:t>
            </a:fld>
            <a:endParaRPr lang="de-DE"/>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Technische Fakultät</a:t>
            </a:r>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96161730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77" r:id="rId21"/>
    <p:sldLayoutId id="2147483678" r:id="rId22"/>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3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3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ov"/><Relationship Id="rId1" Type="http://schemas.microsoft.com/office/2007/relationships/media" Target="../media/media3.mov"/><Relationship Id="rId5" Type="http://schemas.openxmlformats.org/officeDocument/2006/relationships/image" Target="../media/image3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ov"/><Relationship Id="rId1" Type="http://schemas.microsoft.com/office/2007/relationships/media" Target="../media/media4.mov"/><Relationship Id="rId5" Type="http://schemas.openxmlformats.org/officeDocument/2006/relationships/image" Target="../media/image3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ov"/><Relationship Id="rId1" Type="http://schemas.microsoft.com/office/2007/relationships/media" Target="../media/media5.mov"/><Relationship Id="rId5" Type="http://schemas.openxmlformats.org/officeDocument/2006/relationships/image" Target="../media/image3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6.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19.jpeg"/><Relationship Id="rId11" Type="http://schemas.openxmlformats.org/officeDocument/2006/relationships/image" Target="../media/image45.png"/><Relationship Id="rId5" Type="http://schemas.openxmlformats.org/officeDocument/2006/relationships/image" Target="../media/image20.png"/><Relationship Id="rId10" Type="http://schemas.openxmlformats.org/officeDocument/2006/relationships/image" Target="../media/image44.png"/><Relationship Id="rId4" Type="http://schemas.openxmlformats.org/officeDocument/2006/relationships/image" Target="../media/image21.pn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8" Type="http://schemas.openxmlformats.org/officeDocument/2006/relationships/hyperlink" Target="https://research.manchester.ac.uk/en/publications/a-graph-theory-based-new-approach-for-power-system-restoration/" TargetMode="External"/><Relationship Id="rId3" Type="http://schemas.openxmlformats.org/officeDocument/2006/relationships/image" Target="../media/image16.png"/><Relationship Id="rId7" Type="http://schemas.openxmlformats.org/officeDocument/2006/relationships/hyperlink" Target="https://www.mdpi.com/1996-1073/11/5/1316" TargetMode="External"/><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hyperlink" Target="https://www.mdpi.com/2076-3417/6/12/435" TargetMode="External"/><Relationship Id="rId5" Type="http://schemas.openxmlformats.org/officeDocument/2006/relationships/image" Target="../media/image20.png"/><Relationship Id="rId4" Type="http://schemas.openxmlformats.org/officeDocument/2006/relationships/image" Target="../media/image21.png"/><Relationship Id="rId9" Type="http://schemas.openxmlformats.org/officeDocument/2006/relationships/image" Target="../media/image19.jpeg"/></Relationships>
</file>

<file path=ppt/slides/_rels/slide30.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6.png"/><Relationship Id="rId7"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6.png"/><Relationship Id="rId7"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8" Type="http://schemas.openxmlformats.org/officeDocument/2006/relationships/hyperlink" Target="https://research.manchester.ac.uk/en/publications/a-graph-theory-based-new-approach-for-power-system-restoration/" TargetMode="External"/><Relationship Id="rId3" Type="http://schemas.openxmlformats.org/officeDocument/2006/relationships/image" Target="../media/image16.png"/><Relationship Id="rId7" Type="http://schemas.openxmlformats.org/officeDocument/2006/relationships/image" Target="../media/image55.jpeg"/><Relationship Id="rId2" Type="http://schemas.openxmlformats.org/officeDocument/2006/relationships/notesSlide" Target="../notesSlides/notesSlide37.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 Id="rId9" Type="http://schemas.openxmlformats.org/officeDocument/2006/relationships/hyperlink" Target="https://www.mdpi.com/1996-1073/11/5/1316"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19.jpe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image" Target="../media/image57.png"/><Relationship Id="rId5" Type="http://schemas.openxmlformats.org/officeDocument/2006/relationships/image" Target="../media/image20.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20.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9.jpe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43.xml"/><Relationship Id="rId1" Type="http://schemas.openxmlformats.org/officeDocument/2006/relationships/slideLayout" Target="../slideLayouts/slideLayout9.xml"/><Relationship Id="rId6" Type="http://schemas.openxmlformats.org/officeDocument/2006/relationships/image" Target="../media/image58.jpeg"/><Relationship Id="rId5" Type="http://schemas.openxmlformats.org/officeDocument/2006/relationships/image" Target="../media/image20.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44.xml"/><Relationship Id="rId1" Type="http://schemas.openxmlformats.org/officeDocument/2006/relationships/slideLayout" Target="../slideLayouts/slideLayout9.xml"/><Relationship Id="rId6" Type="http://schemas.openxmlformats.org/officeDocument/2006/relationships/image" Target="../media/image59.png"/><Relationship Id="rId5" Type="http://schemas.openxmlformats.org/officeDocument/2006/relationships/image" Target="../media/image20.png"/><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6.png"/><Relationship Id="rId7"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9.xml"/><Relationship Id="rId6" Type="http://schemas.openxmlformats.org/officeDocument/2006/relationships/image" Target="../media/image60.png"/><Relationship Id="rId5" Type="http://schemas.openxmlformats.org/officeDocument/2006/relationships/image" Target="../media/image20.png"/><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48.xml"/><Relationship Id="rId1" Type="http://schemas.openxmlformats.org/officeDocument/2006/relationships/slideLayout" Target="../slideLayouts/slideLayout9.xml"/><Relationship Id="rId6" Type="http://schemas.openxmlformats.org/officeDocument/2006/relationships/image" Target="../media/image62.png"/><Relationship Id="rId5" Type="http://schemas.openxmlformats.org/officeDocument/2006/relationships/image" Target="../media/image20.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6.png"/><Relationship Id="rId7" Type="http://schemas.openxmlformats.org/officeDocument/2006/relationships/image" Target="../media/image64.png"/><Relationship Id="rId2" Type="http://schemas.openxmlformats.org/officeDocument/2006/relationships/notesSlide" Target="../notesSlides/notesSlide49.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20.png"/><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50.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20.png"/><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51.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20.pn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52.xml"/><Relationship Id="rId1" Type="http://schemas.openxmlformats.org/officeDocument/2006/relationships/slideLayout" Target="../slideLayouts/slideLayout9.xml"/><Relationship Id="rId6" Type="http://schemas.openxmlformats.org/officeDocument/2006/relationships/image" Target="../media/image34.png"/><Relationship Id="rId5" Type="http://schemas.openxmlformats.org/officeDocument/2006/relationships/image" Target="../media/image20.png"/><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6.png"/><Relationship Id="rId7" Type="http://schemas.openxmlformats.org/officeDocument/2006/relationships/diagramLayout" Target="../diagrams/layout1.xml"/><Relationship Id="rId2" Type="http://schemas.openxmlformats.org/officeDocument/2006/relationships/notesSlide" Target="../notesSlides/notesSlide54.xml"/><Relationship Id="rId1" Type="http://schemas.openxmlformats.org/officeDocument/2006/relationships/slideLayout" Target="../slideLayouts/slideLayout9.xml"/><Relationship Id="rId6" Type="http://schemas.openxmlformats.org/officeDocument/2006/relationships/diagramData" Target="../diagrams/data1.xml"/><Relationship Id="rId5" Type="http://schemas.openxmlformats.org/officeDocument/2006/relationships/image" Target="../media/image20.png"/><Relationship Id="rId10" Type="http://schemas.microsoft.com/office/2007/relationships/diagramDrawing" Target="../diagrams/drawing1.xml"/><Relationship Id="rId4" Type="http://schemas.openxmlformats.org/officeDocument/2006/relationships/image" Target="../media/image21.png"/><Relationship Id="rId9" Type="http://schemas.openxmlformats.org/officeDocument/2006/relationships/diagramColors" Target="../diagrams/colors1.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6.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6.png"/><Relationship Id="rId7" Type="http://schemas.openxmlformats.org/officeDocument/2006/relationships/image" Target="../media/image66.jpeg"/><Relationship Id="rId2" Type="http://schemas.openxmlformats.org/officeDocument/2006/relationships/notesSlide" Target="../notesSlides/notesSlide57.xml"/><Relationship Id="rId1" Type="http://schemas.openxmlformats.org/officeDocument/2006/relationships/slideLayout" Target="../slideLayouts/slideLayout9.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20.png"/><Relationship Id="rId10" Type="http://schemas.openxmlformats.org/officeDocument/2006/relationships/image" Target="../media/image69.png"/><Relationship Id="rId4" Type="http://schemas.openxmlformats.org/officeDocument/2006/relationships/image" Target="../media/image21.png"/><Relationship Id="rId9" Type="http://schemas.openxmlformats.org/officeDocument/2006/relationships/image" Target="../media/image68.svg"/></Relationships>
</file>

<file path=ppt/slides/_rels/slide6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6.png"/><Relationship Id="rId7" Type="http://schemas.openxmlformats.org/officeDocument/2006/relationships/image" Target="../media/image71.png"/><Relationship Id="rId2" Type="http://schemas.openxmlformats.org/officeDocument/2006/relationships/notesSlide" Target="../notesSlides/notesSlide58.xml"/><Relationship Id="rId1" Type="http://schemas.openxmlformats.org/officeDocument/2006/relationships/slideLayout" Target="../slideLayouts/slideLayout9.xml"/><Relationship Id="rId6" Type="http://schemas.openxmlformats.org/officeDocument/2006/relationships/image" Target="../media/image59.png"/><Relationship Id="rId5" Type="http://schemas.openxmlformats.org/officeDocument/2006/relationships/image" Target="../media/image20.png"/><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9.xml"/><Relationship Id="rId6" Type="http://schemas.openxmlformats.org/officeDocument/2006/relationships/image" Target="../media/image49.png"/><Relationship Id="rId5" Type="http://schemas.openxmlformats.org/officeDocument/2006/relationships/image" Target="../media/image20.png"/><Relationship Id="rId4" Type="http://schemas.openxmlformats.org/officeDocument/2006/relationships/image" Target="../media/image21.png"/></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0.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2.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3.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21.png"/></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9.xml"/><Relationship Id="rId6" Type="http://schemas.openxmlformats.org/officeDocument/2006/relationships/image" Target="../media/image41.png"/><Relationship Id="rId5" Type="http://schemas.openxmlformats.org/officeDocument/2006/relationships/image" Target="../media/image20.png"/><Relationship Id="rId4" Type="http://schemas.openxmlformats.org/officeDocument/2006/relationships/image" Target="../media/image21.png"/></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73.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21.png"/></Relationships>
</file>

<file path=ppt/slides/_rels/slide70.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image" Target="../media/image16.png"/><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notesSlide" Target="../notesSlides/notesSlide67.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slideLayout" Target="../slideLayouts/slideLayout9.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20.png"/><Relationship Id="rId15" Type="http://schemas.openxmlformats.org/officeDocument/2006/relationships/image" Target="../media/image83.png"/><Relationship Id="rId23" Type="http://schemas.openxmlformats.org/officeDocument/2006/relationships/image" Target="../media/image91.png"/><Relationship Id="rId10" Type="http://schemas.openxmlformats.org/officeDocument/2006/relationships/image" Target="../media/image78.png"/><Relationship Id="rId19" Type="http://schemas.openxmlformats.org/officeDocument/2006/relationships/image" Target="../media/image87.png"/><Relationship Id="rId4" Type="http://schemas.openxmlformats.org/officeDocument/2006/relationships/image" Target="../media/image21.png"/><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90.png"/></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91.png"/><Relationship Id="rId2" Type="http://schemas.openxmlformats.org/officeDocument/2006/relationships/notesSlide" Target="../notesSlides/notesSlide68.xml"/><Relationship Id="rId1" Type="http://schemas.openxmlformats.org/officeDocument/2006/relationships/slideLayout" Target="../slideLayouts/slideLayout9.xml"/><Relationship Id="rId6" Type="http://schemas.openxmlformats.org/officeDocument/2006/relationships/image" Target="../media/image92.png"/><Relationship Id="rId5" Type="http://schemas.openxmlformats.org/officeDocument/2006/relationships/image" Target="../media/image20.png"/><Relationship Id="rId4" Type="http://schemas.openxmlformats.org/officeDocument/2006/relationships/image" Target="../media/image21.png"/></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91.png"/><Relationship Id="rId2" Type="http://schemas.openxmlformats.org/officeDocument/2006/relationships/notesSlide" Target="../notesSlides/notesSlide69.xml"/><Relationship Id="rId1" Type="http://schemas.openxmlformats.org/officeDocument/2006/relationships/slideLayout" Target="../slideLayouts/slideLayout9.xml"/><Relationship Id="rId6" Type="http://schemas.openxmlformats.org/officeDocument/2006/relationships/image" Target="../media/image93.png"/><Relationship Id="rId5" Type="http://schemas.openxmlformats.org/officeDocument/2006/relationships/image" Target="../media/image20.png"/><Relationship Id="rId4" Type="http://schemas.openxmlformats.org/officeDocument/2006/relationships/image" Target="../media/image21.png"/></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0.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1.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2.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3.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21.png"/></Relationships>
</file>

<file path=ppt/slides/_rels/slide7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1D436E-B15A-8945-BA99-E5F7CA98CA62}"/>
              </a:ext>
            </a:extLst>
          </p:cNvPr>
          <p:cNvSpPr>
            <a:spLocks noGrp="1"/>
          </p:cNvSpPr>
          <p:nvPr>
            <p:ph type="body" idx="13"/>
          </p:nvPr>
        </p:nvSpPr>
        <p:spPr>
          <a:xfrm>
            <a:off x="2190750" y="3848100"/>
            <a:ext cx="9334500" cy="533400"/>
          </a:xfrm>
        </p:spPr>
        <p:txBody>
          <a:bodyPr/>
          <a:lstStyle/>
          <a:p>
            <a:pPr algn="r">
              <a:defRPr sz="2775">
                <a:solidFill>
                  <a:srgbClr val="FFFFFF"/>
                </a:solidFill>
                <a:latin typeface="Calibri"/>
                <a:ea typeface="Calibri"/>
                <a:cs typeface="Calibri"/>
              </a:defRPr>
            </a:pPr>
            <a:r>
              <a:rPr sz="2775" dirty="0">
                <a:solidFill>
                  <a:srgbClr val="FFFFFF"/>
                </a:solidFill>
                <a:latin typeface="Calibri"/>
                <a:ea typeface="Calibri"/>
                <a:cs typeface="Calibri"/>
              </a:rPr>
              <a:t>LLM-based power-grid analysis</a:t>
            </a:r>
          </a:p>
        </p:txBody>
      </p:sp>
      <p:sp>
        <p:nvSpPr>
          <p:cNvPr id="3" name="Text Placeholder 2">
            <a:extLst>
              <a:ext uri="{FF2B5EF4-FFF2-40B4-BE49-F238E27FC236}">
                <a16:creationId xmlns:a16="http://schemas.microsoft.com/office/drawing/2014/main" id="{F6267506-261B-6245-AB5F-24A591F62604}"/>
              </a:ext>
            </a:extLst>
          </p:cNvPr>
          <p:cNvSpPr>
            <a:spLocks noGrp="1"/>
          </p:cNvSpPr>
          <p:nvPr>
            <p:ph type="body" idx="14"/>
          </p:nvPr>
        </p:nvSpPr>
        <p:spPr>
          <a:xfrm>
            <a:off x="2476500" y="5286375"/>
            <a:ext cx="9048750" cy="1066800"/>
          </a:xfrm>
        </p:spPr>
        <p:txBody>
          <a:bodyPr/>
          <a:lstStyle/>
          <a:p>
            <a:pPr algn="r">
              <a:defRPr sz="1575">
                <a:solidFill>
                  <a:srgbClr val="FFFFFF"/>
                </a:solidFill>
                <a:latin typeface="Calibri"/>
                <a:ea typeface="Calibri"/>
                <a:cs typeface="Calibri"/>
              </a:defRPr>
            </a:pPr>
            <a:r>
              <a:rPr sz="1575">
                <a:solidFill>
                  <a:srgbClr val="FFFFFF"/>
                </a:solidFill>
                <a:latin typeface="Calibri"/>
                <a:ea typeface="Calibri"/>
                <a:cs typeface="Calibri"/>
              </a:rPr>
              <a:t>IEEE PES GM 2026 Panel EDPG4: Power Grid Artificial Intelligence - European Solutions</a:t>
            </a:r>
          </a:p>
          <a:p>
            <a:pPr algn="r">
              <a:defRPr sz="1575">
                <a:solidFill>
                  <a:srgbClr val="FFFFFF"/>
                </a:solidFill>
                <a:latin typeface="Calibri"/>
                <a:ea typeface="Calibri"/>
                <a:cs typeface="Calibri"/>
              </a:defRPr>
            </a:pPr>
            <a:r>
              <a:rPr sz="1575">
                <a:solidFill>
                  <a:srgbClr val="FFFFFF"/>
                </a:solidFill>
                <a:latin typeface="Calibri"/>
                <a:ea typeface="Calibri"/>
                <a:cs typeface="Calibri"/>
              </a:rPr>
              <a:t>Tuesday, July 21, 2026 | Room 511A</a:t>
            </a:r>
          </a:p>
          <a:p>
            <a:pPr algn="r">
              <a:defRPr sz="1575">
                <a:solidFill>
                  <a:srgbClr val="FFFFFF"/>
                </a:solidFill>
                <a:latin typeface="Calibri"/>
                <a:ea typeface="Calibri"/>
                <a:cs typeface="Calibri"/>
              </a:defRPr>
            </a:pPr>
            <a:r>
              <a:rPr sz="1575">
                <a:solidFill>
                  <a:srgbClr val="FFFFFF"/>
                </a:solidFill>
                <a:latin typeface="Calibri"/>
                <a:ea typeface="Calibri"/>
                <a:cs typeface="Calibri"/>
              </a:rPr>
              <a:t>Changhun Kim, FAU Pattern Recognition Lab</a:t>
            </a:r>
          </a:p>
        </p:txBody>
      </p:sp>
      <p:sp>
        <p:nvSpPr>
          <p:cNvPr id="7" name="Text Placeholder 6">
            <a:extLst>
              <a:ext uri="{FF2B5EF4-FFF2-40B4-BE49-F238E27FC236}">
                <a16:creationId xmlns:a16="http://schemas.microsoft.com/office/drawing/2014/main" id="{CD978786-E1EB-3843-9D40-197B5DED4C59}"/>
              </a:ext>
            </a:extLst>
          </p:cNvPr>
          <p:cNvSpPr>
            <a:spLocks noGrp="1"/>
          </p:cNvSpPr>
          <p:nvPr>
            <p:ph type="body" idx="15"/>
          </p:nvPr>
        </p:nvSpPr>
        <p:spPr>
          <a:xfrm>
            <a:off x="1143000" y="2857500"/>
            <a:ext cx="10382250" cy="723900"/>
          </a:xfrm>
        </p:spPr>
        <p:txBody>
          <a:bodyPr/>
          <a:lstStyle/>
          <a:p>
            <a:pPr algn="r">
              <a:defRPr sz="4500" b="1">
                <a:solidFill>
                  <a:srgbClr val="111111"/>
                </a:solidFill>
                <a:latin typeface="Calibri"/>
                <a:ea typeface="Calibri"/>
                <a:cs typeface="Calibri"/>
              </a:defRPr>
            </a:pPr>
            <a:r>
              <a:rPr sz="4500" b="1">
                <a:solidFill>
                  <a:srgbClr val="111111"/>
                </a:solidFill>
                <a:latin typeface="Calibri"/>
                <a:ea typeface="Calibri"/>
                <a:cs typeface="Calibri"/>
              </a:rPr>
              <a:t>GridSense: Ask Your Power Grid</a:t>
            </a:r>
          </a:p>
        </p:txBody>
      </p:sp>
      <p:sp>
        <p:nvSpPr>
          <p:cNvPr id="4" name="TextBox 3">
            <a:extLst>
              <a:ext uri="{FF2B5EF4-FFF2-40B4-BE49-F238E27FC236}">
                <a16:creationId xmlns:a16="http://schemas.microsoft.com/office/drawing/2014/main" id="{61880370-0644-F74C-8F3A-52EA3EAE1620}"/>
              </a:ext>
            </a:extLst>
          </p:cNvPr>
          <p:cNvSpPr>
            <a:spLocks noGrp="1"/>
          </p:cNvSpPr>
          <p:nvPr/>
        </p:nvSpPr>
        <p:spPr>
          <a:xfrm>
            <a:off x="1699327" y="2039193"/>
            <a:ext cx="0" cy="0"/>
          </a:xfrm>
          <a:prstGeom prst="rect">
            <a:avLst/>
          </a:prstGeom>
        </p:spPr>
        <p:txBody>
          <a:bodyPr vert="horz" wrap="none" lIns="91440" tIns="45720" rIns="91440" bIns="45720" anchor="b">
            <a:normAutofit fontScale="25000" lnSpcReduction="20000"/>
          </a:bodyPr>
          <a:lstStyle/>
          <a:p>
            <a:pPr algn="r">
              <a:buNone/>
            </a:pPr>
            <a:endParaRPr/>
          </a:p>
        </p:txBody>
      </p:sp>
      <p:pic>
        <p:nvPicPr>
          <p:cNvPr id="22" name="Picture 9"/>
          <p:cNvPicPr>
            <a:picLocks noChangeAspect="1"/>
          </p:cNvPicPr>
          <p:nvPr/>
        </p:nvPicPr>
        <p:blipFill>
          <a:blip r:embed="rId3"/>
          <a:stretch>
            <a:fillRect/>
          </a:stretch>
        </p:blipFill>
        <p:spPr>
          <a:xfrm>
            <a:off x="10121982" y="1659107"/>
            <a:ext cx="1855234" cy="703443"/>
          </a:xfrm>
          <a:prstGeom prst="rect">
            <a:avLst/>
          </a:prstGeom>
        </p:spPr>
      </p:pic>
      <p:pic>
        <p:nvPicPr>
          <p:cNvPr id="23" name="Picture 10"/>
          <p:cNvPicPr>
            <a:picLocks noChangeAspect="1"/>
          </p:cNvPicPr>
          <p:nvPr/>
        </p:nvPicPr>
        <p:blipFill>
          <a:blip r:embed="rId4"/>
          <a:stretch>
            <a:fillRect/>
          </a:stretch>
        </p:blipFill>
        <p:spPr>
          <a:xfrm>
            <a:off x="9006922" y="2153770"/>
            <a:ext cx="1279737" cy="249949"/>
          </a:xfrm>
          <a:prstGeom prst="rect">
            <a:avLst/>
          </a:prstGeom>
        </p:spPr>
      </p:pic>
      <p:pic>
        <p:nvPicPr>
          <p:cNvPr id="24" name="Picture 7"/>
          <p:cNvPicPr>
            <a:picLocks noChangeAspect="1"/>
          </p:cNvPicPr>
          <p:nvPr/>
        </p:nvPicPr>
        <p:blipFill>
          <a:blip r:embed="rId5"/>
          <a:stretch>
            <a:fillRect/>
          </a:stretch>
        </p:blipFill>
        <p:spPr>
          <a:xfrm>
            <a:off x="8952469" y="1620555"/>
            <a:ext cx="1334190" cy="470975"/>
          </a:xfrm>
          <a:prstGeom prst="rect">
            <a:avLst/>
          </a:prstGeom>
        </p:spPr>
      </p:pic>
      <p:sp>
        <p:nvSpPr>
          <p:cNvPr id="13" name="AutoShape 2">
            <a:extLst>
              <a:ext uri="{FF2B5EF4-FFF2-40B4-BE49-F238E27FC236}">
                <a16:creationId xmlns:a16="http://schemas.microsoft.com/office/drawing/2014/main" id="{38B4CC03-691F-7628-C89D-FD207F46DF61}"/>
              </a:ext>
            </a:extLst>
          </p:cNvPr>
          <p:cNvSpPr>
            <a:spLocks noGrp="1"/>
          </p:cNvSpPr>
          <p:nvPr/>
        </p:nvSpPr>
        <p:spPr>
          <a:xfrm>
            <a:off x="5943600" y="3276600"/>
            <a:ext cx="304800" cy="304800"/>
          </a:xfrm>
          <a:prstGeom prst="rect">
            <a:avLst/>
          </a:prstGeom>
          <a:noFill/>
        </p:spPr>
        <p:txBody>
          <a:bodyPr vert="horz" wrap="square" lIns="91440" tIns="45720" rIns="91440" bIns="45720" anchor="t"/>
          <a:lstStyle/>
          <a:p>
            <a:endParaRPr/>
          </a:p>
        </p:txBody>
      </p:sp>
      <p:pic>
        <p:nvPicPr>
          <p:cNvPr id="26" name="Picture 6"/>
          <p:cNvPicPr>
            <a:picLocks noChangeAspect="1"/>
          </p:cNvPicPr>
          <p:nvPr/>
        </p:nvPicPr>
        <p:blipFill>
          <a:blip r:embed="rId6"/>
          <a:srcRect/>
          <a:stretch>
            <a:fillRect/>
          </a:stretch>
        </p:blipFill>
        <p:spPr>
          <a:xfrm>
            <a:off x="7043007" y="1543119"/>
            <a:ext cx="1963915" cy="935417"/>
          </a:xfrm>
          <a:prstGeom prst="rect">
            <a:avLst/>
          </a:prstGeom>
        </p:spPr>
      </p:pic>
    </p:spTree>
    <p:extLst>
      <p:ext uri="{BB962C8B-B14F-4D97-AF65-F5344CB8AC3E}">
        <p14:creationId xmlns:p14="http://schemas.microsoft.com/office/powerpoint/2010/main" val="2217145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dirty="0">
                <a:solidFill>
                  <a:srgbClr val="00833C"/>
                </a:solidFill>
                <a:latin typeface="Calibri"/>
                <a:ea typeface="Calibri"/>
                <a:cs typeface="Calibri"/>
              </a:rPr>
              <a:t>Why</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dirty="0">
                <a:solidFill>
                  <a:srgbClr val="111111"/>
                </a:solidFill>
                <a:latin typeface="Calibri"/>
                <a:ea typeface="Calibri"/>
                <a:cs typeface="Calibri"/>
              </a:rPr>
              <a:t>Why now? Grid operation is becoming context-intensive</a:t>
            </a:r>
          </a:p>
        </p:txBody>
      </p:sp>
      <p:sp>
        <p:nvSpPr>
          <p:cNvPr id="5" name="box">
            <a:extLst>
              <a:ext uri="{FF2B5EF4-FFF2-40B4-BE49-F238E27FC236}">
                <a16:creationId xmlns:a16="http://schemas.microsoft.com/office/drawing/2014/main" id="{A80FB562-34B8-4B95-B036-1845CBEB8C56}"/>
              </a:ext>
            </a:extLst>
          </p:cNvPr>
          <p:cNvSpPr>
            <a:spLocks noGrp="1"/>
          </p:cNvSpPr>
          <p:nvPr/>
        </p:nvSpPr>
        <p:spPr>
          <a:xfrm>
            <a:off x="2024063" y="7324725"/>
            <a:ext cx="2190750" cy="819150"/>
          </a:xfrm>
          <a:prstGeom prst="roundRect">
            <a:avLst>
              <a:gd name="adj" fmla="val 9302"/>
            </a:avLst>
          </a:prstGeom>
          <a:solidFill>
            <a:srgbClr val="EAF6EC"/>
          </a:solidFill>
          <a:ln w="19050">
            <a:solidFill>
              <a:srgbClr val="00833C"/>
            </a:solidFill>
            <a:prstDash val="solid"/>
          </a:ln>
        </p:spPr>
        <p:txBody>
          <a:bodyPr/>
          <a:lstStyle/>
          <a:p>
            <a:endParaRPr lang="en-US"/>
          </a:p>
        </p:txBody>
      </p:sp>
      <p:sp>
        <p:nvSpPr>
          <p:cNvPr id="6" name="text">
            <a:extLst>
              <a:ext uri="{FF2B5EF4-FFF2-40B4-BE49-F238E27FC236}">
                <a16:creationId xmlns:a16="http://schemas.microsoft.com/office/drawing/2014/main" id="{BDF904BD-B5EC-4187-8DC4-61B14C65091A}"/>
              </a:ext>
            </a:extLst>
          </p:cNvPr>
          <p:cNvSpPr>
            <a:spLocks noGrp="1"/>
          </p:cNvSpPr>
          <p:nvPr/>
        </p:nvSpPr>
        <p:spPr>
          <a:xfrm>
            <a:off x="2138363" y="7496175"/>
            <a:ext cx="1962150" cy="495300"/>
          </a:xfrm>
          <a:prstGeom prst="rect">
            <a:avLst/>
          </a:prstGeom>
          <a:noFill/>
          <a:ln w="0">
            <a:noFill/>
            <a:prstDash val="solid"/>
          </a:ln>
        </p:spPr>
        <p:txBody>
          <a:bodyPr/>
          <a:lstStyle/>
          <a:p>
            <a:pPr algn="ctr">
              <a:defRPr sz="1425" b="1">
                <a:solidFill>
                  <a:srgbClr val="006341"/>
                </a:solidFill>
                <a:latin typeface="Calibri"/>
                <a:ea typeface="Calibri"/>
                <a:cs typeface="Calibri"/>
              </a:defRPr>
            </a:pPr>
            <a:r>
              <a:rPr sz="1425" b="1">
                <a:solidFill>
                  <a:srgbClr val="006341"/>
                </a:solidFill>
                <a:latin typeface="Calibri"/>
                <a:ea typeface="Calibri"/>
                <a:cs typeface="Calibri"/>
              </a:rPr>
              <a:t>Dynamic grid</a:t>
            </a:r>
          </a:p>
        </p:txBody>
      </p:sp>
      <p:sp>
        <p:nvSpPr>
          <p:cNvPr id="7" name="text">
            <a:extLst>
              <a:ext uri="{FF2B5EF4-FFF2-40B4-BE49-F238E27FC236}">
                <a16:creationId xmlns:a16="http://schemas.microsoft.com/office/drawing/2014/main" id="{B628B72F-7165-48C3-A37E-4A2986BCEF33}"/>
              </a:ext>
            </a:extLst>
          </p:cNvPr>
          <p:cNvSpPr>
            <a:spLocks noGrp="1"/>
          </p:cNvSpPr>
          <p:nvPr/>
        </p:nvSpPr>
        <p:spPr>
          <a:xfrm>
            <a:off x="4233863" y="7572375"/>
            <a:ext cx="51435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8" name="box">
            <a:extLst>
              <a:ext uri="{FF2B5EF4-FFF2-40B4-BE49-F238E27FC236}">
                <a16:creationId xmlns:a16="http://schemas.microsoft.com/office/drawing/2014/main" id="{1913216E-BD61-420C-82CB-B2160DA3350D}"/>
              </a:ext>
            </a:extLst>
          </p:cNvPr>
          <p:cNvSpPr>
            <a:spLocks noGrp="1"/>
          </p:cNvSpPr>
          <p:nvPr/>
        </p:nvSpPr>
        <p:spPr>
          <a:xfrm>
            <a:off x="4767263" y="7324725"/>
            <a:ext cx="21907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9" name="text">
            <a:extLst>
              <a:ext uri="{FF2B5EF4-FFF2-40B4-BE49-F238E27FC236}">
                <a16:creationId xmlns:a16="http://schemas.microsoft.com/office/drawing/2014/main" id="{C0539E6B-4112-4D5E-AF58-7634A1CDCE3D}"/>
              </a:ext>
            </a:extLst>
          </p:cNvPr>
          <p:cNvSpPr>
            <a:spLocks noGrp="1"/>
          </p:cNvSpPr>
          <p:nvPr/>
        </p:nvSpPr>
        <p:spPr>
          <a:xfrm>
            <a:off x="4881563" y="7496175"/>
            <a:ext cx="19621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Fragmented data + tools</a:t>
            </a:r>
          </a:p>
        </p:txBody>
      </p:sp>
      <p:sp>
        <p:nvSpPr>
          <p:cNvPr id="10" name="text">
            <a:extLst>
              <a:ext uri="{FF2B5EF4-FFF2-40B4-BE49-F238E27FC236}">
                <a16:creationId xmlns:a16="http://schemas.microsoft.com/office/drawing/2014/main" id="{C9C48C76-8C3F-409E-85B1-B94CEA6B5A89}"/>
              </a:ext>
            </a:extLst>
          </p:cNvPr>
          <p:cNvSpPr>
            <a:spLocks noGrp="1"/>
          </p:cNvSpPr>
          <p:nvPr/>
        </p:nvSpPr>
        <p:spPr>
          <a:xfrm>
            <a:off x="6977063" y="7572375"/>
            <a:ext cx="51435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11" name="box">
            <a:extLst>
              <a:ext uri="{FF2B5EF4-FFF2-40B4-BE49-F238E27FC236}">
                <a16:creationId xmlns:a16="http://schemas.microsoft.com/office/drawing/2014/main" id="{1961897F-4DCB-41D2-B508-FAB18E8D3BC4}"/>
              </a:ext>
            </a:extLst>
          </p:cNvPr>
          <p:cNvSpPr>
            <a:spLocks noGrp="1"/>
          </p:cNvSpPr>
          <p:nvPr/>
        </p:nvSpPr>
        <p:spPr>
          <a:xfrm>
            <a:off x="7510463" y="7324725"/>
            <a:ext cx="21907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2" name="text">
            <a:extLst>
              <a:ext uri="{FF2B5EF4-FFF2-40B4-BE49-F238E27FC236}">
                <a16:creationId xmlns:a16="http://schemas.microsoft.com/office/drawing/2014/main" id="{016BC72E-94CD-4837-82A9-8805C5049340}"/>
              </a:ext>
            </a:extLst>
          </p:cNvPr>
          <p:cNvSpPr>
            <a:spLocks noGrp="1"/>
          </p:cNvSpPr>
          <p:nvPr/>
        </p:nvSpPr>
        <p:spPr>
          <a:xfrm>
            <a:off x="7624763" y="7496175"/>
            <a:ext cx="19621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Operator decision</a:t>
            </a:r>
          </a:p>
        </p:txBody>
      </p:sp>
      <p:sp>
        <p:nvSpPr>
          <p:cNvPr id="28" name="Rectangle 27">
            <a:extLst>
              <a:ext uri="{FF2B5EF4-FFF2-40B4-BE49-F238E27FC236}">
                <a16:creationId xmlns:a16="http://schemas.microsoft.com/office/drawing/2014/main" id="{AA51B393-5498-4EDB-FA74-6B31A840468E}"/>
              </a:ext>
            </a:extLst>
          </p:cNvPr>
          <p:cNvSpPr>
            <a:spLocks noGrp="1"/>
          </p:cNvSpPr>
          <p:nvPr/>
        </p:nvSpPr>
        <p:spPr>
          <a:xfrm>
            <a:off x="838200" y="5814659"/>
            <a:ext cx="10282238" cy="685800"/>
          </a:xfrm>
          <a:prstGeom prst="rect">
            <a:avLst/>
          </a:prstGeom>
          <a:solidFill>
            <a:srgbClr val="F8FFF7"/>
          </a:solidFill>
          <a:ln w="9525">
            <a:solidFill>
              <a:srgbClr val="DCE7DD"/>
            </a:solidFill>
            <a:prstDash val="solid"/>
          </a:ln>
        </p:spPr>
        <p:txBody>
          <a:bodyPr/>
          <a:lstStyle/>
          <a:p>
            <a:pPr algn="ctr">
              <a:defRPr sz="1350" b="1">
                <a:solidFill>
                  <a:srgbClr val="006341"/>
                </a:solidFill>
              </a:defRPr>
            </a:pPr>
            <a:r>
              <a:rPr lang="en-US" sz="1800" b="1" dirty="0">
                <a:solidFill>
                  <a:srgbClr val="006341"/>
                </a:solidFill>
              </a:rPr>
              <a:t>The bottleneck is the human effort required to connect heterogeneous grid data, engineering tools, and operator intent into one reliable decision workflow.</a:t>
            </a:r>
          </a:p>
        </p:txBody>
      </p:sp>
      <p:pic>
        <p:nvPicPr>
          <p:cNvPr id="30" name="Picture 29">
            <a:extLst>
              <a:ext uri="{FF2B5EF4-FFF2-40B4-BE49-F238E27FC236}">
                <a16:creationId xmlns:a16="http://schemas.microsoft.com/office/drawing/2014/main" id="{196290E8-3E0D-49EF-9C4F-E3EEE7D415AE}"/>
              </a:ext>
            </a:extLst>
          </p:cNvPr>
          <p:cNvPicPr>
            <a:picLocks noChangeAspect="1"/>
          </p:cNvPicPr>
          <p:nvPr/>
        </p:nvPicPr>
        <p:blipFill>
          <a:blip r:embed="rId3"/>
          <a:srcRect l="17058" t="5782"/>
          <a:stretch/>
        </p:blipFill>
        <p:spPr>
          <a:xfrm>
            <a:off x="838200" y="2519716"/>
            <a:ext cx="10282238" cy="3294943"/>
          </a:xfrm>
          <a:prstGeom prst="rect">
            <a:avLst/>
          </a:prstGeom>
        </p:spPr>
      </p:pic>
      <p:sp>
        <p:nvSpPr>
          <p:cNvPr id="14" name="TextBox 13">
            <a:extLst>
              <a:ext uri="{FF2B5EF4-FFF2-40B4-BE49-F238E27FC236}">
                <a16:creationId xmlns:a16="http://schemas.microsoft.com/office/drawing/2014/main" id="{DCBDB57B-B002-215E-320E-CFC403B2411D}"/>
              </a:ext>
            </a:extLst>
          </p:cNvPr>
          <p:cNvSpPr txBox="1"/>
          <p:nvPr/>
        </p:nvSpPr>
        <p:spPr>
          <a:xfrm>
            <a:off x="879717" y="1626365"/>
            <a:ext cx="10531233" cy="923330"/>
          </a:xfrm>
          <a:prstGeom prst="rect">
            <a:avLst/>
          </a:prstGeom>
          <a:noFill/>
        </p:spPr>
        <p:txBody>
          <a:bodyPr wrap="square" rtlCol="0">
            <a:spAutoFit/>
          </a:bodyPr>
          <a:lstStyle/>
          <a:p>
            <a:r>
              <a:rPr lang="en-US" dirty="0">
                <a:solidFill>
                  <a:srgbClr val="4A4A4A"/>
                </a:solidFill>
              </a:rPr>
              <a:t>Modern grid operation must reason across highly dynamic and uncertain conditions: DERs, extreme weather, EVs, flexible loads, data-center demand, aging infrastructure, and cyber-physical risks.</a:t>
            </a:r>
          </a:p>
          <a:p>
            <a:endParaRPr lang="en-US" dirty="0"/>
          </a:p>
        </p:txBody>
      </p:sp>
    </p:spTree>
    <p:extLst>
      <p:ext uri="{BB962C8B-B14F-4D97-AF65-F5344CB8AC3E}">
        <p14:creationId xmlns:p14="http://schemas.microsoft.com/office/powerpoint/2010/main" val="193258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lang="en-US" sz="2400" dirty="0">
                <a:solidFill>
                  <a:srgbClr val="00833C"/>
                </a:solidFill>
              </a:rPr>
              <a:t>Recent Grid Agent papers</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744200" cy="876300"/>
          </a:xfrm>
        </p:spPr>
        <p:txBody>
          <a:bodyPr/>
          <a:lstStyle/>
          <a:p>
            <a:pPr>
              <a:defRPr sz="2925" b="1">
                <a:solidFill>
                  <a:srgbClr val="111111"/>
                </a:solidFill>
                <a:latin typeface="Calibri"/>
                <a:ea typeface="Calibri"/>
                <a:cs typeface="Calibri"/>
              </a:defRPr>
            </a:pPr>
            <a:r>
              <a:rPr sz="2925" b="1" dirty="0">
                <a:solidFill>
                  <a:srgbClr val="111111"/>
                </a:solidFill>
                <a:latin typeface="Calibri"/>
                <a:ea typeface="Calibri"/>
                <a:cs typeface="Calibri"/>
              </a:rPr>
              <a:t>LLMs are useful when they orchestrate, not when they </a:t>
            </a:r>
            <a:r>
              <a:rPr lang="en-US" sz="2925" b="1" dirty="0">
                <a:solidFill>
                  <a:srgbClr val="111111"/>
                </a:solidFill>
                <a:latin typeface="Calibri"/>
                <a:ea typeface="Calibri"/>
                <a:cs typeface="Calibri"/>
              </a:rPr>
              <a:t>replace tools</a:t>
            </a:r>
            <a:endParaRPr sz="2925" b="1" dirty="0">
              <a:solidFill>
                <a:srgbClr val="111111"/>
              </a:solidFill>
              <a:latin typeface="Calibri"/>
              <a:ea typeface="Calibri"/>
              <a:cs typeface="Calibri"/>
            </a:endParaRPr>
          </a:p>
        </p:txBody>
      </p:sp>
      <p:sp>
        <p:nvSpPr>
          <p:cNvPr id="5" name="text">
            <a:extLst>
              <a:ext uri="{FF2B5EF4-FFF2-40B4-BE49-F238E27FC236}">
                <a16:creationId xmlns:a16="http://schemas.microsoft.com/office/drawing/2014/main" id="{88473784-3D7C-4FAA-8291-65A50F6FC949}"/>
              </a:ext>
            </a:extLst>
          </p:cNvPr>
          <p:cNvSpPr>
            <a:spLocks noGrp="1"/>
          </p:cNvSpPr>
          <p:nvPr/>
        </p:nvSpPr>
        <p:spPr>
          <a:xfrm>
            <a:off x="1221059" y="7567612"/>
            <a:ext cx="1381125" cy="666750"/>
          </a:xfrm>
          <a:prstGeom prst="rect">
            <a:avLst/>
          </a:prstGeom>
          <a:noFill/>
          <a:ln w="0">
            <a:noFill/>
            <a:prstDash val="solid"/>
          </a:ln>
        </p:spPr>
        <p:txBody>
          <a:bodyPr/>
          <a:lstStyle/>
          <a:p>
            <a:pPr algn="ctr">
              <a:defRPr sz="2400" b="1">
                <a:solidFill>
                  <a:srgbClr val="00833C"/>
                </a:solidFill>
                <a:latin typeface="Calibri"/>
                <a:ea typeface="Calibri"/>
                <a:cs typeface="Calibri"/>
              </a:defRPr>
            </a:pPr>
            <a:r>
              <a:rPr sz="2400" b="1">
                <a:solidFill>
                  <a:srgbClr val="00833C"/>
                </a:solidFill>
                <a:latin typeface="Calibri"/>
                <a:ea typeface="Calibri"/>
                <a:cs typeface="Calibri"/>
              </a:rPr>
              <a:t>LLM</a:t>
            </a:r>
          </a:p>
        </p:txBody>
      </p:sp>
      <p:sp>
        <p:nvSpPr>
          <p:cNvPr id="6" name="text">
            <a:extLst>
              <a:ext uri="{FF2B5EF4-FFF2-40B4-BE49-F238E27FC236}">
                <a16:creationId xmlns:a16="http://schemas.microsoft.com/office/drawing/2014/main" id="{7FB171BC-B5C4-43DB-953E-403C6F362FA1}"/>
              </a:ext>
            </a:extLst>
          </p:cNvPr>
          <p:cNvSpPr>
            <a:spLocks noGrp="1"/>
          </p:cNvSpPr>
          <p:nvPr/>
        </p:nvSpPr>
        <p:spPr>
          <a:xfrm>
            <a:off x="2706959" y="7586662"/>
            <a:ext cx="381000" cy="571500"/>
          </a:xfrm>
          <a:prstGeom prst="rect">
            <a:avLst/>
          </a:prstGeom>
          <a:noFill/>
          <a:ln w="0">
            <a:noFill/>
            <a:prstDash val="solid"/>
          </a:ln>
        </p:spPr>
        <p:txBody>
          <a:bodyPr/>
          <a:lstStyle/>
          <a:p>
            <a:pPr algn="ctr">
              <a:defRPr sz="2250" b="1">
                <a:solidFill>
                  <a:srgbClr val="4A4A4A"/>
                </a:solidFill>
                <a:latin typeface="Calibri"/>
                <a:ea typeface="Calibri"/>
                <a:cs typeface="Calibri"/>
              </a:defRPr>
            </a:pPr>
            <a:r>
              <a:rPr sz="2250" b="1">
                <a:solidFill>
                  <a:srgbClr val="4A4A4A"/>
                </a:solidFill>
                <a:latin typeface="Calibri"/>
                <a:ea typeface="Calibri"/>
                <a:cs typeface="Calibri"/>
              </a:rPr>
              <a:t>+</a:t>
            </a:r>
          </a:p>
        </p:txBody>
      </p:sp>
      <p:sp>
        <p:nvSpPr>
          <p:cNvPr id="7" name="box">
            <a:extLst>
              <a:ext uri="{FF2B5EF4-FFF2-40B4-BE49-F238E27FC236}">
                <a16:creationId xmlns:a16="http://schemas.microsoft.com/office/drawing/2014/main" id="{C3B4C82E-6713-4D2D-AD43-00D21604FDD0}"/>
              </a:ext>
            </a:extLst>
          </p:cNvPr>
          <p:cNvSpPr>
            <a:spLocks noGrp="1"/>
          </p:cNvSpPr>
          <p:nvPr/>
        </p:nvSpPr>
        <p:spPr>
          <a:xfrm>
            <a:off x="3230834" y="7329486"/>
            <a:ext cx="1886257" cy="1345483"/>
          </a:xfrm>
          <a:prstGeom prst="roundRect">
            <a:avLst>
              <a:gd name="adj" fmla="val 6667"/>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 name="text">
            <a:extLst>
              <a:ext uri="{FF2B5EF4-FFF2-40B4-BE49-F238E27FC236}">
                <a16:creationId xmlns:a16="http://schemas.microsoft.com/office/drawing/2014/main" id="{06C0B9D2-8105-493C-895B-EEF3C6258E6C}"/>
              </a:ext>
            </a:extLst>
          </p:cNvPr>
          <p:cNvSpPr>
            <a:spLocks noGrp="1"/>
          </p:cNvSpPr>
          <p:nvPr/>
        </p:nvSpPr>
        <p:spPr>
          <a:xfrm>
            <a:off x="3421334" y="7481887"/>
            <a:ext cx="180975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a:solidFill>
                  <a:srgbClr val="00833C"/>
                </a:solidFill>
                <a:latin typeface="Calibri"/>
                <a:ea typeface="Calibri"/>
                <a:cs typeface="Calibri"/>
              </a:rPr>
              <a:t>Grid data</a:t>
            </a:r>
          </a:p>
        </p:txBody>
      </p:sp>
      <p:sp>
        <p:nvSpPr>
          <p:cNvPr id="9" name="text">
            <a:extLst>
              <a:ext uri="{FF2B5EF4-FFF2-40B4-BE49-F238E27FC236}">
                <a16:creationId xmlns:a16="http://schemas.microsoft.com/office/drawing/2014/main" id="{714742C5-D899-42A2-91F7-137712909E66}"/>
              </a:ext>
            </a:extLst>
          </p:cNvPr>
          <p:cNvSpPr>
            <a:spLocks noGrp="1"/>
          </p:cNvSpPr>
          <p:nvPr/>
        </p:nvSpPr>
        <p:spPr>
          <a:xfrm>
            <a:off x="3421334" y="7881937"/>
            <a:ext cx="1809750" cy="495300"/>
          </a:xfrm>
          <a:prstGeom prst="rect">
            <a:avLst/>
          </a:prstGeom>
          <a:noFill/>
          <a:ln w="0">
            <a:noFill/>
            <a:prstDash val="solid"/>
          </a:ln>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CIM/CGMES, topology, assets, measurements.</a:t>
            </a:r>
          </a:p>
        </p:txBody>
      </p:sp>
      <p:sp>
        <p:nvSpPr>
          <p:cNvPr id="10" name="text">
            <a:extLst>
              <a:ext uri="{FF2B5EF4-FFF2-40B4-BE49-F238E27FC236}">
                <a16:creationId xmlns:a16="http://schemas.microsoft.com/office/drawing/2014/main" id="{5191EEDD-71F0-4F13-BB52-61CDD07C8B49}"/>
              </a:ext>
            </a:extLst>
          </p:cNvPr>
          <p:cNvSpPr>
            <a:spLocks noGrp="1"/>
          </p:cNvSpPr>
          <p:nvPr/>
        </p:nvSpPr>
        <p:spPr>
          <a:xfrm>
            <a:off x="5516834" y="7586662"/>
            <a:ext cx="381000" cy="571500"/>
          </a:xfrm>
          <a:prstGeom prst="rect">
            <a:avLst/>
          </a:prstGeom>
          <a:noFill/>
          <a:ln w="0">
            <a:noFill/>
            <a:prstDash val="solid"/>
          </a:ln>
        </p:spPr>
        <p:txBody>
          <a:bodyPr/>
          <a:lstStyle/>
          <a:p>
            <a:pPr algn="ctr">
              <a:defRPr sz="2250" b="1">
                <a:solidFill>
                  <a:srgbClr val="4A4A4A"/>
                </a:solidFill>
                <a:latin typeface="Calibri"/>
                <a:ea typeface="Calibri"/>
                <a:cs typeface="Calibri"/>
              </a:defRPr>
            </a:pPr>
            <a:r>
              <a:rPr sz="2250" b="1">
                <a:solidFill>
                  <a:srgbClr val="4A4A4A"/>
                </a:solidFill>
                <a:latin typeface="Calibri"/>
                <a:ea typeface="Calibri"/>
                <a:cs typeface="Calibri"/>
              </a:rPr>
              <a:t>+</a:t>
            </a:r>
          </a:p>
        </p:txBody>
      </p:sp>
      <p:sp>
        <p:nvSpPr>
          <p:cNvPr id="11" name="box">
            <a:extLst>
              <a:ext uri="{FF2B5EF4-FFF2-40B4-BE49-F238E27FC236}">
                <a16:creationId xmlns:a16="http://schemas.microsoft.com/office/drawing/2014/main" id="{5A9745E5-B567-4A63-B46B-DFF8B17413D1}"/>
              </a:ext>
            </a:extLst>
          </p:cNvPr>
          <p:cNvSpPr>
            <a:spLocks noGrp="1"/>
          </p:cNvSpPr>
          <p:nvPr/>
        </p:nvSpPr>
        <p:spPr>
          <a:xfrm>
            <a:off x="6040708" y="7329487"/>
            <a:ext cx="1809751" cy="1345482"/>
          </a:xfrm>
          <a:prstGeom prst="roundRect">
            <a:avLst>
              <a:gd name="adj" fmla="val 6667"/>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text">
            <a:extLst>
              <a:ext uri="{FF2B5EF4-FFF2-40B4-BE49-F238E27FC236}">
                <a16:creationId xmlns:a16="http://schemas.microsoft.com/office/drawing/2014/main" id="{A21CD876-C8A4-4833-AD7D-0FFD7879F649}"/>
              </a:ext>
            </a:extLst>
          </p:cNvPr>
          <p:cNvSpPr>
            <a:spLocks noGrp="1"/>
          </p:cNvSpPr>
          <p:nvPr/>
        </p:nvSpPr>
        <p:spPr>
          <a:xfrm>
            <a:off x="6231209" y="7481887"/>
            <a:ext cx="180975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Tools</a:t>
            </a:r>
          </a:p>
        </p:txBody>
      </p:sp>
      <p:sp>
        <p:nvSpPr>
          <p:cNvPr id="13" name="text">
            <a:extLst>
              <a:ext uri="{FF2B5EF4-FFF2-40B4-BE49-F238E27FC236}">
                <a16:creationId xmlns:a16="http://schemas.microsoft.com/office/drawing/2014/main" id="{511401D9-3D05-48B8-BB25-556E075DDC6C}"/>
              </a:ext>
            </a:extLst>
          </p:cNvPr>
          <p:cNvSpPr>
            <a:spLocks noGrp="1"/>
          </p:cNvSpPr>
          <p:nvPr/>
        </p:nvSpPr>
        <p:spPr>
          <a:xfrm>
            <a:off x="6231209" y="7881937"/>
            <a:ext cx="1809750" cy="495300"/>
          </a:xfrm>
          <a:prstGeom prst="rect">
            <a:avLst/>
          </a:prstGeom>
          <a:noFill/>
          <a:ln w="0">
            <a:noFill/>
            <a:prstDash val="solid"/>
          </a:ln>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Power flow, OPF, contingency, restoration logic.</a:t>
            </a:r>
          </a:p>
        </p:txBody>
      </p:sp>
      <p:sp>
        <p:nvSpPr>
          <p:cNvPr id="14" name="text">
            <a:extLst>
              <a:ext uri="{FF2B5EF4-FFF2-40B4-BE49-F238E27FC236}">
                <a16:creationId xmlns:a16="http://schemas.microsoft.com/office/drawing/2014/main" id="{A5522EF0-08E1-40D0-903F-3E8EC50DDF2E}"/>
              </a:ext>
            </a:extLst>
          </p:cNvPr>
          <p:cNvSpPr>
            <a:spLocks noGrp="1"/>
          </p:cNvSpPr>
          <p:nvPr/>
        </p:nvSpPr>
        <p:spPr>
          <a:xfrm>
            <a:off x="8326709" y="7586662"/>
            <a:ext cx="381000" cy="571500"/>
          </a:xfrm>
          <a:prstGeom prst="rect">
            <a:avLst/>
          </a:prstGeom>
          <a:noFill/>
          <a:ln w="0">
            <a:noFill/>
            <a:prstDash val="solid"/>
          </a:ln>
        </p:spPr>
        <p:txBody>
          <a:bodyPr/>
          <a:lstStyle/>
          <a:p>
            <a:pPr algn="ctr">
              <a:defRPr sz="2250" b="1">
                <a:solidFill>
                  <a:srgbClr val="4A4A4A"/>
                </a:solidFill>
                <a:latin typeface="Calibri"/>
                <a:ea typeface="Calibri"/>
                <a:cs typeface="Calibri"/>
              </a:defRPr>
            </a:pPr>
            <a:r>
              <a:rPr sz="2250" b="1">
                <a:solidFill>
                  <a:srgbClr val="4A4A4A"/>
                </a:solidFill>
                <a:latin typeface="Calibri"/>
                <a:ea typeface="Calibri"/>
                <a:cs typeface="Calibri"/>
              </a:rPr>
              <a:t>+</a:t>
            </a:r>
          </a:p>
        </p:txBody>
      </p:sp>
      <p:sp>
        <p:nvSpPr>
          <p:cNvPr id="15" name="box">
            <a:extLst>
              <a:ext uri="{FF2B5EF4-FFF2-40B4-BE49-F238E27FC236}">
                <a16:creationId xmlns:a16="http://schemas.microsoft.com/office/drawing/2014/main" id="{3FBAFAB4-ADFF-42EC-8C92-7CA457EA7BA6}"/>
              </a:ext>
            </a:extLst>
          </p:cNvPr>
          <p:cNvSpPr>
            <a:spLocks noGrp="1"/>
          </p:cNvSpPr>
          <p:nvPr/>
        </p:nvSpPr>
        <p:spPr>
          <a:xfrm>
            <a:off x="8850583" y="7329487"/>
            <a:ext cx="1809751" cy="1345482"/>
          </a:xfrm>
          <a:prstGeom prst="roundRect">
            <a:avLst>
              <a:gd name="adj" fmla="val 6667"/>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text">
            <a:extLst>
              <a:ext uri="{FF2B5EF4-FFF2-40B4-BE49-F238E27FC236}">
                <a16:creationId xmlns:a16="http://schemas.microsoft.com/office/drawing/2014/main" id="{7CC1FB3F-CBAD-4AAA-B285-AC681BF1A2B0}"/>
              </a:ext>
            </a:extLst>
          </p:cNvPr>
          <p:cNvSpPr>
            <a:spLocks noGrp="1"/>
          </p:cNvSpPr>
          <p:nvPr/>
        </p:nvSpPr>
        <p:spPr>
          <a:xfrm>
            <a:off x="9041084" y="7481887"/>
            <a:ext cx="180975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a:solidFill>
                  <a:srgbClr val="00833C"/>
                </a:solidFill>
                <a:latin typeface="Calibri"/>
                <a:ea typeface="Calibri"/>
                <a:cs typeface="Calibri"/>
              </a:rPr>
              <a:t>Validation</a:t>
            </a:r>
          </a:p>
        </p:txBody>
      </p:sp>
      <p:sp>
        <p:nvSpPr>
          <p:cNvPr id="17" name="text">
            <a:extLst>
              <a:ext uri="{FF2B5EF4-FFF2-40B4-BE49-F238E27FC236}">
                <a16:creationId xmlns:a16="http://schemas.microsoft.com/office/drawing/2014/main" id="{32C608A0-F737-4000-A6F2-C43C72D70E8A}"/>
              </a:ext>
            </a:extLst>
          </p:cNvPr>
          <p:cNvSpPr>
            <a:spLocks noGrp="1"/>
          </p:cNvSpPr>
          <p:nvPr/>
        </p:nvSpPr>
        <p:spPr>
          <a:xfrm>
            <a:off x="9041084" y="7881937"/>
            <a:ext cx="1809750" cy="495300"/>
          </a:xfrm>
          <a:prstGeom prst="rect">
            <a:avLst/>
          </a:prstGeom>
          <a:noFill/>
          <a:ln w="0">
            <a:noFill/>
            <a:prstDash val="solid"/>
          </a:ln>
        </p:spPr>
        <p:txBody>
          <a:bodyPr/>
          <a:lstStyle/>
          <a:p>
            <a:pPr>
              <a:defRPr sz="1500">
                <a:solidFill>
                  <a:srgbClr val="4A4A4A"/>
                </a:solidFill>
                <a:latin typeface="Calibri"/>
                <a:ea typeface="Calibri"/>
                <a:cs typeface="Calibri"/>
              </a:defRPr>
            </a:pPr>
            <a:r>
              <a:rPr sz="1500" dirty="0">
                <a:solidFill>
                  <a:srgbClr val="4A4A4A"/>
                </a:solidFill>
                <a:latin typeface="Calibri"/>
                <a:ea typeface="Calibri"/>
                <a:cs typeface="Calibri"/>
              </a:rPr>
              <a:t>Schemas, solver checks, audit trail, human approval.</a:t>
            </a:r>
          </a:p>
        </p:txBody>
      </p:sp>
      <p:sp>
        <p:nvSpPr>
          <p:cNvPr id="18" name="text">
            <a:extLst>
              <a:ext uri="{FF2B5EF4-FFF2-40B4-BE49-F238E27FC236}">
                <a16:creationId xmlns:a16="http://schemas.microsoft.com/office/drawing/2014/main" id="{9AC471A9-68EC-43E5-83E4-0D079BF9332B}"/>
              </a:ext>
            </a:extLst>
          </p:cNvPr>
          <p:cNvSpPr>
            <a:spLocks noGrp="1"/>
          </p:cNvSpPr>
          <p:nvPr/>
        </p:nvSpPr>
        <p:spPr>
          <a:xfrm>
            <a:off x="1659209" y="9282112"/>
            <a:ext cx="9239250" cy="552450"/>
          </a:xfrm>
          <a:prstGeom prst="rect">
            <a:avLst/>
          </a:prstGeom>
          <a:noFill/>
          <a:ln w="0">
            <a:noFill/>
            <a:prstDash val="solid"/>
          </a:ln>
        </p:spPr>
        <p:txBody>
          <a:bodyPr/>
          <a:lstStyle/>
          <a:p>
            <a:pPr algn="ctr">
              <a:defRPr sz="1725" b="1">
                <a:solidFill>
                  <a:srgbClr val="006341"/>
                </a:solidFill>
                <a:latin typeface="Calibri"/>
                <a:ea typeface="Calibri"/>
                <a:cs typeface="Calibri"/>
              </a:defRPr>
            </a:pPr>
            <a:r>
              <a:rPr sz="1725" b="1" dirty="0">
                <a:solidFill>
                  <a:srgbClr val="006341"/>
                </a:solidFill>
                <a:latin typeface="Calibri"/>
                <a:ea typeface="Calibri"/>
                <a:cs typeface="Calibri"/>
              </a:rPr>
              <a:t>The LLM provides intent understanding, planning, context, and explanation. The grid facts come from data and tools.</a:t>
            </a:r>
          </a:p>
        </p:txBody>
      </p:sp>
      <p:sp>
        <p:nvSpPr>
          <p:cNvPr id="19" name="Oval 18">
            <a:extLst>
              <a:ext uri="{FF2B5EF4-FFF2-40B4-BE49-F238E27FC236}">
                <a16:creationId xmlns:a16="http://schemas.microsoft.com/office/drawing/2014/main" id="{36601AA1-E1B0-714C-08EE-56CBACA64A24}"/>
              </a:ext>
            </a:extLst>
          </p:cNvPr>
          <p:cNvSpPr>
            <a:spLocks noGrp="1"/>
          </p:cNvSpPr>
          <p:nvPr/>
        </p:nvSpPr>
        <p:spPr>
          <a:xfrm>
            <a:off x="2183084" y="2123474"/>
            <a:ext cx="4095750" cy="2905125"/>
          </a:xfrm>
          <a:prstGeom prst="ellipse">
            <a:avLst/>
          </a:prstGeom>
          <a:solidFill>
            <a:srgbClr val="EAF6EC"/>
          </a:solidFill>
          <a:ln w="19050">
            <a:solidFill>
              <a:srgbClr val="00833C"/>
            </a:solidFill>
            <a:prstDash val="solid"/>
          </a:ln>
        </p:spPr>
        <p:txBody>
          <a:bodyPr/>
          <a:lstStyle/>
          <a:p>
            <a:endParaRPr lang="en-US"/>
          </a:p>
        </p:txBody>
      </p:sp>
      <p:sp>
        <p:nvSpPr>
          <p:cNvPr id="20" name="Oval 19">
            <a:extLst>
              <a:ext uri="{FF2B5EF4-FFF2-40B4-BE49-F238E27FC236}">
                <a16:creationId xmlns:a16="http://schemas.microsoft.com/office/drawing/2014/main" id="{93CBFC70-C019-1DC5-04CB-A61D83D3C227}"/>
              </a:ext>
            </a:extLst>
          </p:cNvPr>
          <p:cNvSpPr>
            <a:spLocks noGrp="1"/>
          </p:cNvSpPr>
          <p:nvPr/>
        </p:nvSpPr>
        <p:spPr>
          <a:xfrm>
            <a:off x="5802584" y="2123474"/>
            <a:ext cx="4095750" cy="2905125"/>
          </a:xfrm>
          <a:prstGeom prst="ellipse">
            <a:avLst/>
          </a:prstGeom>
          <a:solidFill>
            <a:srgbClr val="EAF3FB"/>
          </a:solidFill>
          <a:ln w="19050">
            <a:solidFill>
              <a:srgbClr val="00619B"/>
            </a:solidFill>
            <a:prstDash val="solid"/>
          </a:ln>
        </p:spPr>
        <p:txBody>
          <a:bodyPr/>
          <a:lstStyle/>
          <a:p>
            <a:endParaRPr lang="en-US"/>
          </a:p>
        </p:txBody>
      </p:sp>
      <p:sp>
        <p:nvSpPr>
          <p:cNvPr id="21" name="Oval 20">
            <a:extLst>
              <a:ext uri="{FF2B5EF4-FFF2-40B4-BE49-F238E27FC236}">
                <a16:creationId xmlns:a16="http://schemas.microsoft.com/office/drawing/2014/main" id="{6641A699-08A5-4BF7-C79F-F60973210327}"/>
              </a:ext>
            </a:extLst>
          </p:cNvPr>
          <p:cNvSpPr>
            <a:spLocks noGrp="1"/>
          </p:cNvSpPr>
          <p:nvPr/>
        </p:nvSpPr>
        <p:spPr>
          <a:xfrm>
            <a:off x="3945209" y="3605130"/>
            <a:ext cx="4286250" cy="2333625"/>
          </a:xfrm>
          <a:prstGeom prst="ellipse">
            <a:avLst/>
          </a:prstGeom>
          <a:solidFill>
            <a:srgbClr val="FFF4DF"/>
          </a:solidFill>
          <a:ln w="19050">
            <a:solidFill>
              <a:srgbClr val="D98200"/>
            </a:solidFill>
            <a:prstDash val="solid"/>
          </a:ln>
        </p:spPr>
        <p:txBody>
          <a:bodyPr/>
          <a:lstStyle/>
          <a:p>
            <a:endParaRPr lang="en-US"/>
          </a:p>
        </p:txBody>
      </p:sp>
      <p:sp>
        <p:nvSpPr>
          <p:cNvPr id="22" name="grid-agent-title">
            <a:extLst>
              <a:ext uri="{FF2B5EF4-FFF2-40B4-BE49-F238E27FC236}">
                <a16:creationId xmlns:a16="http://schemas.microsoft.com/office/drawing/2014/main" id="{49C8159E-B2B7-3840-5BE9-9B53936B87BD}"/>
              </a:ext>
            </a:extLst>
          </p:cNvPr>
          <p:cNvSpPr>
            <a:spLocks noGrp="1"/>
          </p:cNvSpPr>
          <p:nvPr/>
        </p:nvSpPr>
        <p:spPr>
          <a:xfrm>
            <a:off x="3085522" y="2214480"/>
            <a:ext cx="2190750" cy="266700"/>
          </a:xfrm>
          <a:prstGeom prst="rect">
            <a:avLst/>
          </a:prstGeom>
          <a:noFill/>
          <a:ln w="0">
            <a:noFill/>
            <a:prstDash val="solid"/>
          </a:ln>
        </p:spPr>
        <p:txBody>
          <a:bodyPr/>
          <a:lstStyle/>
          <a:p>
            <a:pPr algn="ctr">
              <a:defRPr sz="1650" b="1">
                <a:solidFill>
                  <a:srgbClr val="00833C"/>
                </a:solidFill>
              </a:defRPr>
            </a:pPr>
            <a:r>
              <a:rPr b="1" dirty="0">
                <a:solidFill>
                  <a:srgbClr val="00833C"/>
                </a:solidFill>
              </a:rPr>
              <a:t>Grid-Agent</a:t>
            </a:r>
          </a:p>
        </p:txBody>
      </p:sp>
      <p:sp>
        <p:nvSpPr>
          <p:cNvPr id="23" name="grid-agent-body">
            <a:extLst>
              <a:ext uri="{FF2B5EF4-FFF2-40B4-BE49-F238E27FC236}">
                <a16:creationId xmlns:a16="http://schemas.microsoft.com/office/drawing/2014/main" id="{77ED5C27-2593-BF03-6802-F29644A1C79F}"/>
              </a:ext>
            </a:extLst>
          </p:cNvPr>
          <p:cNvSpPr>
            <a:spLocks noGrp="1"/>
          </p:cNvSpPr>
          <p:nvPr/>
        </p:nvSpPr>
        <p:spPr>
          <a:xfrm>
            <a:off x="3064147" y="2613495"/>
            <a:ext cx="2381250" cy="552450"/>
          </a:xfrm>
          <a:prstGeom prst="rect">
            <a:avLst/>
          </a:prstGeom>
          <a:noFill/>
          <a:ln w="0">
            <a:noFill/>
            <a:prstDash val="solid"/>
          </a:ln>
        </p:spPr>
        <p:txBody>
          <a:bodyPr/>
          <a:lstStyle/>
          <a:p>
            <a:pPr algn="ctr">
              <a:defRPr sz="1125">
                <a:solidFill>
                  <a:srgbClr val="111111"/>
                </a:solidFill>
              </a:defRPr>
            </a:pPr>
            <a:r>
              <a:rPr sz="1600" dirty="0">
                <a:solidFill>
                  <a:srgbClr val="111111"/>
                </a:solidFill>
              </a:rPr>
              <a:t>Autonomous violation detection and corrective control.</a:t>
            </a:r>
          </a:p>
        </p:txBody>
      </p:sp>
      <p:sp>
        <p:nvSpPr>
          <p:cNvPr id="24" name="gridmind-title">
            <a:extLst>
              <a:ext uri="{FF2B5EF4-FFF2-40B4-BE49-F238E27FC236}">
                <a16:creationId xmlns:a16="http://schemas.microsoft.com/office/drawing/2014/main" id="{832C0DB5-62DC-7DD9-E64C-8B5A08FFA879}"/>
              </a:ext>
            </a:extLst>
          </p:cNvPr>
          <p:cNvSpPr>
            <a:spLocks noGrp="1"/>
          </p:cNvSpPr>
          <p:nvPr/>
        </p:nvSpPr>
        <p:spPr>
          <a:xfrm>
            <a:off x="6850346" y="2228207"/>
            <a:ext cx="2095500" cy="266700"/>
          </a:xfrm>
          <a:prstGeom prst="rect">
            <a:avLst/>
          </a:prstGeom>
          <a:noFill/>
          <a:ln w="0">
            <a:noFill/>
            <a:prstDash val="solid"/>
          </a:ln>
        </p:spPr>
        <p:txBody>
          <a:bodyPr/>
          <a:lstStyle/>
          <a:p>
            <a:pPr algn="ctr">
              <a:defRPr sz="1650" b="1">
                <a:solidFill>
                  <a:srgbClr val="00619B"/>
                </a:solidFill>
              </a:defRPr>
            </a:pPr>
            <a:r>
              <a:rPr sz="1650" b="1" dirty="0" err="1">
                <a:solidFill>
                  <a:srgbClr val="00619B"/>
                </a:solidFill>
              </a:rPr>
              <a:t>GridMind</a:t>
            </a:r>
            <a:endParaRPr sz="1650" b="1" dirty="0">
              <a:solidFill>
                <a:srgbClr val="00619B"/>
              </a:solidFill>
            </a:endParaRPr>
          </a:p>
        </p:txBody>
      </p:sp>
      <p:sp>
        <p:nvSpPr>
          <p:cNvPr id="25" name="gridmind-body">
            <a:extLst>
              <a:ext uri="{FF2B5EF4-FFF2-40B4-BE49-F238E27FC236}">
                <a16:creationId xmlns:a16="http://schemas.microsoft.com/office/drawing/2014/main" id="{795A1E98-8ECB-E2AA-B9A5-C9000641C000}"/>
              </a:ext>
            </a:extLst>
          </p:cNvPr>
          <p:cNvSpPr>
            <a:spLocks noGrp="1"/>
          </p:cNvSpPr>
          <p:nvPr/>
        </p:nvSpPr>
        <p:spPr>
          <a:xfrm>
            <a:off x="6746176" y="2628216"/>
            <a:ext cx="2381250" cy="552450"/>
          </a:xfrm>
          <a:prstGeom prst="rect">
            <a:avLst/>
          </a:prstGeom>
          <a:noFill/>
          <a:ln w="0">
            <a:noFill/>
            <a:prstDash val="solid"/>
          </a:ln>
        </p:spPr>
        <p:txBody>
          <a:bodyPr/>
          <a:lstStyle/>
          <a:p>
            <a:pPr algn="ctr">
              <a:defRPr sz="1125">
                <a:solidFill>
                  <a:srgbClr val="111111"/>
                </a:solidFill>
              </a:defRPr>
            </a:pPr>
            <a:r>
              <a:rPr sz="1600" dirty="0">
                <a:solidFill>
                  <a:srgbClr val="111111"/>
                </a:solidFill>
              </a:rPr>
              <a:t>Conversational ACOPF and N-1 contingency analysis.</a:t>
            </a:r>
          </a:p>
        </p:txBody>
      </p:sp>
      <p:sp>
        <p:nvSpPr>
          <p:cNvPr id="26" name="xgridagent-title">
            <a:extLst>
              <a:ext uri="{FF2B5EF4-FFF2-40B4-BE49-F238E27FC236}">
                <a16:creationId xmlns:a16="http://schemas.microsoft.com/office/drawing/2014/main" id="{23F8D6B2-4609-B96D-0528-B067A76ABD86}"/>
              </a:ext>
            </a:extLst>
          </p:cNvPr>
          <p:cNvSpPr>
            <a:spLocks noGrp="1"/>
          </p:cNvSpPr>
          <p:nvPr/>
        </p:nvSpPr>
        <p:spPr>
          <a:xfrm>
            <a:off x="5135834" y="4910055"/>
            <a:ext cx="2000250" cy="285750"/>
          </a:xfrm>
          <a:prstGeom prst="rect">
            <a:avLst/>
          </a:prstGeom>
          <a:noFill/>
          <a:ln w="0">
            <a:noFill/>
            <a:prstDash val="solid"/>
          </a:ln>
        </p:spPr>
        <p:txBody>
          <a:bodyPr/>
          <a:lstStyle/>
          <a:p>
            <a:pPr algn="ctr">
              <a:defRPr sz="1650" b="1">
                <a:solidFill>
                  <a:srgbClr val="D98200"/>
                </a:solidFill>
              </a:defRPr>
            </a:pPr>
            <a:r>
              <a:rPr sz="1650" b="1" dirty="0">
                <a:solidFill>
                  <a:srgbClr val="D98200"/>
                </a:solidFill>
              </a:rPr>
              <a:t>X-</a:t>
            </a:r>
            <a:r>
              <a:rPr sz="1650" b="1" dirty="0" err="1">
                <a:solidFill>
                  <a:srgbClr val="D98200"/>
                </a:solidFill>
              </a:rPr>
              <a:t>GridAgent</a:t>
            </a:r>
            <a:endParaRPr sz="1650" b="1" dirty="0">
              <a:solidFill>
                <a:srgbClr val="D98200"/>
              </a:solidFill>
            </a:endParaRPr>
          </a:p>
        </p:txBody>
      </p:sp>
      <p:sp>
        <p:nvSpPr>
          <p:cNvPr id="27" name="xgridagent-body">
            <a:extLst>
              <a:ext uri="{FF2B5EF4-FFF2-40B4-BE49-F238E27FC236}">
                <a16:creationId xmlns:a16="http://schemas.microsoft.com/office/drawing/2014/main" id="{63B7A02C-E003-881D-F50B-5837E5DEA176}"/>
              </a:ext>
            </a:extLst>
          </p:cNvPr>
          <p:cNvSpPr>
            <a:spLocks noGrp="1"/>
          </p:cNvSpPr>
          <p:nvPr/>
        </p:nvSpPr>
        <p:spPr>
          <a:xfrm>
            <a:off x="4635771" y="5197771"/>
            <a:ext cx="3000375" cy="381000"/>
          </a:xfrm>
          <a:prstGeom prst="rect">
            <a:avLst/>
          </a:prstGeom>
          <a:noFill/>
          <a:ln w="0">
            <a:noFill/>
            <a:prstDash val="solid"/>
          </a:ln>
        </p:spPr>
        <p:txBody>
          <a:bodyPr/>
          <a:lstStyle/>
          <a:p>
            <a:pPr algn="ctr">
              <a:defRPr sz="1050">
                <a:solidFill>
                  <a:srgbClr val="111111"/>
                </a:solidFill>
              </a:defRPr>
            </a:pPr>
            <a:r>
              <a:rPr sz="1600" dirty="0">
                <a:solidFill>
                  <a:srgbClr val="111111"/>
                </a:solidFill>
              </a:rPr>
              <a:t>Broad grid analysis with RAG, MCP, and extensible tool servers.</a:t>
            </a:r>
          </a:p>
        </p:txBody>
      </p:sp>
      <p:sp>
        <p:nvSpPr>
          <p:cNvPr id="28" name="Rounded Rectangle 27">
            <a:extLst>
              <a:ext uri="{FF2B5EF4-FFF2-40B4-BE49-F238E27FC236}">
                <a16:creationId xmlns:a16="http://schemas.microsoft.com/office/drawing/2014/main" id="{0FB758BE-E890-B1AD-47E1-C21C673258B6}"/>
              </a:ext>
            </a:extLst>
          </p:cNvPr>
          <p:cNvSpPr>
            <a:spLocks noGrp="1"/>
          </p:cNvSpPr>
          <p:nvPr/>
        </p:nvSpPr>
        <p:spPr>
          <a:xfrm>
            <a:off x="3143330" y="3800078"/>
            <a:ext cx="1952625" cy="904875"/>
          </a:xfrm>
          <a:prstGeom prst="roundRect">
            <a:avLst>
              <a:gd name="adj" fmla="val 6316"/>
            </a:avLst>
          </a:prstGeom>
          <a:solidFill>
            <a:srgbClr val="FFFFFF"/>
          </a:solidFill>
          <a:ln w="9525">
            <a:solidFill>
              <a:srgbClr val="DCE7DD"/>
            </a:solidFill>
            <a:prstDash val="solid"/>
          </a:ln>
        </p:spPr>
        <p:txBody>
          <a:bodyPr/>
          <a:lstStyle/>
          <a:p>
            <a:endParaRPr lang="en-US" dirty="0"/>
          </a:p>
        </p:txBody>
      </p:sp>
      <p:sp>
        <p:nvSpPr>
          <p:cNvPr id="29" name="Control + remediation-title">
            <a:extLst>
              <a:ext uri="{FF2B5EF4-FFF2-40B4-BE49-F238E27FC236}">
                <a16:creationId xmlns:a16="http://schemas.microsoft.com/office/drawing/2014/main" id="{336596E9-96E7-60DC-D121-7CC5789DAB09}"/>
              </a:ext>
            </a:extLst>
          </p:cNvPr>
          <p:cNvSpPr>
            <a:spLocks noGrp="1"/>
          </p:cNvSpPr>
          <p:nvPr/>
        </p:nvSpPr>
        <p:spPr>
          <a:xfrm>
            <a:off x="2988786" y="3806081"/>
            <a:ext cx="2305667" cy="228600"/>
          </a:xfrm>
          <a:prstGeom prst="rect">
            <a:avLst/>
          </a:prstGeom>
          <a:noFill/>
          <a:ln w="0">
            <a:noFill/>
            <a:prstDash val="solid"/>
          </a:ln>
        </p:spPr>
        <p:txBody>
          <a:bodyPr/>
          <a:lstStyle/>
          <a:p>
            <a:pPr algn="ctr">
              <a:defRPr sz="1125" b="1">
                <a:solidFill>
                  <a:srgbClr val="00833C"/>
                </a:solidFill>
              </a:defRPr>
            </a:pPr>
            <a:r>
              <a:rPr lang="en-US" sz="1600" b="1" dirty="0">
                <a:solidFill>
                  <a:srgbClr val="00833C"/>
                </a:solidFill>
              </a:rPr>
              <a:t>Control + remediation</a:t>
            </a:r>
            <a:endParaRPr sz="1600" b="1" dirty="0">
              <a:solidFill>
                <a:srgbClr val="00833C"/>
              </a:solidFill>
            </a:endParaRPr>
          </a:p>
        </p:txBody>
      </p:sp>
      <p:sp>
        <p:nvSpPr>
          <p:cNvPr id="30" name="Control + remediation-body">
            <a:extLst>
              <a:ext uri="{FF2B5EF4-FFF2-40B4-BE49-F238E27FC236}">
                <a16:creationId xmlns:a16="http://schemas.microsoft.com/office/drawing/2014/main" id="{A052CA1C-71D3-3710-2D5B-DFBD38D37ADC}"/>
              </a:ext>
            </a:extLst>
          </p:cNvPr>
          <p:cNvSpPr>
            <a:spLocks noGrp="1"/>
          </p:cNvSpPr>
          <p:nvPr/>
        </p:nvSpPr>
        <p:spPr>
          <a:xfrm>
            <a:off x="2788524" y="4103180"/>
            <a:ext cx="2557463" cy="485775"/>
          </a:xfrm>
          <a:prstGeom prst="rect">
            <a:avLst/>
          </a:prstGeom>
          <a:noFill/>
          <a:ln w="0">
            <a:noFill/>
            <a:prstDash val="solid"/>
          </a:ln>
        </p:spPr>
        <p:txBody>
          <a:bodyPr/>
          <a:lstStyle/>
          <a:p>
            <a:pPr algn="ctr">
              <a:defRPr sz="900">
                <a:solidFill>
                  <a:srgbClr val="111111"/>
                </a:solidFill>
              </a:defRPr>
            </a:pPr>
            <a:r>
              <a:rPr sz="1600" dirty="0">
                <a:solidFill>
                  <a:srgbClr val="111111"/>
                </a:solidFill>
              </a:rPr>
              <a:t>Topology changes, dispatch, load adjustment.</a:t>
            </a:r>
          </a:p>
        </p:txBody>
      </p:sp>
      <p:sp>
        <p:nvSpPr>
          <p:cNvPr id="31" name="Rounded Rectangle 30">
            <a:extLst>
              <a:ext uri="{FF2B5EF4-FFF2-40B4-BE49-F238E27FC236}">
                <a16:creationId xmlns:a16="http://schemas.microsoft.com/office/drawing/2014/main" id="{BC344380-D4EA-667E-721E-CA225A0EC384}"/>
              </a:ext>
            </a:extLst>
          </p:cNvPr>
          <p:cNvSpPr>
            <a:spLocks noGrp="1"/>
          </p:cNvSpPr>
          <p:nvPr/>
        </p:nvSpPr>
        <p:spPr>
          <a:xfrm>
            <a:off x="6934201" y="3785483"/>
            <a:ext cx="1952625" cy="904875"/>
          </a:xfrm>
          <a:prstGeom prst="roundRect">
            <a:avLst>
              <a:gd name="adj" fmla="val 6316"/>
            </a:avLst>
          </a:prstGeom>
          <a:solidFill>
            <a:srgbClr val="FFFFFF"/>
          </a:solidFill>
          <a:ln w="9525">
            <a:solidFill>
              <a:srgbClr val="DCE7DD"/>
            </a:solidFill>
            <a:prstDash val="solid"/>
          </a:ln>
        </p:spPr>
        <p:txBody>
          <a:bodyPr/>
          <a:lstStyle/>
          <a:p>
            <a:endParaRPr lang="en-US"/>
          </a:p>
        </p:txBody>
      </p:sp>
      <p:sp>
        <p:nvSpPr>
          <p:cNvPr id="32" name="Analysis capabilities-title">
            <a:extLst>
              <a:ext uri="{FF2B5EF4-FFF2-40B4-BE49-F238E27FC236}">
                <a16:creationId xmlns:a16="http://schemas.microsoft.com/office/drawing/2014/main" id="{B0298F2B-3C45-AC1B-D87B-70011F91BD14}"/>
              </a:ext>
            </a:extLst>
          </p:cNvPr>
          <p:cNvSpPr>
            <a:spLocks noGrp="1"/>
          </p:cNvSpPr>
          <p:nvPr/>
        </p:nvSpPr>
        <p:spPr>
          <a:xfrm>
            <a:off x="6934200" y="3804843"/>
            <a:ext cx="1952625" cy="257175"/>
          </a:xfrm>
          <a:prstGeom prst="rect">
            <a:avLst/>
          </a:prstGeom>
          <a:noFill/>
          <a:ln w="0">
            <a:noFill/>
            <a:prstDash val="solid"/>
          </a:ln>
        </p:spPr>
        <p:txBody>
          <a:bodyPr/>
          <a:lstStyle/>
          <a:p>
            <a:pPr algn="ctr">
              <a:defRPr sz="1125" b="1">
                <a:solidFill>
                  <a:srgbClr val="00619B"/>
                </a:solidFill>
              </a:defRPr>
            </a:pPr>
            <a:r>
              <a:rPr sz="1600" b="1" dirty="0">
                <a:solidFill>
                  <a:srgbClr val="00619B"/>
                </a:solidFill>
              </a:rPr>
              <a:t>Analysis capabilities</a:t>
            </a:r>
          </a:p>
        </p:txBody>
      </p:sp>
      <p:sp>
        <p:nvSpPr>
          <p:cNvPr id="33" name="Analysis capabilities-body">
            <a:extLst>
              <a:ext uri="{FF2B5EF4-FFF2-40B4-BE49-F238E27FC236}">
                <a16:creationId xmlns:a16="http://schemas.microsoft.com/office/drawing/2014/main" id="{15800964-E795-F5CE-5BB4-832B87EBC670}"/>
              </a:ext>
            </a:extLst>
          </p:cNvPr>
          <p:cNvSpPr>
            <a:spLocks noGrp="1"/>
          </p:cNvSpPr>
          <p:nvPr/>
        </p:nvSpPr>
        <p:spPr>
          <a:xfrm>
            <a:off x="6615112" y="4088585"/>
            <a:ext cx="2557463" cy="485775"/>
          </a:xfrm>
          <a:prstGeom prst="rect">
            <a:avLst/>
          </a:prstGeom>
          <a:noFill/>
          <a:ln w="0">
            <a:noFill/>
            <a:prstDash val="solid"/>
          </a:ln>
        </p:spPr>
        <p:txBody>
          <a:bodyPr/>
          <a:lstStyle/>
          <a:p>
            <a:pPr algn="ctr">
              <a:defRPr sz="900">
                <a:solidFill>
                  <a:srgbClr val="111111"/>
                </a:solidFill>
              </a:defRPr>
            </a:pPr>
            <a:r>
              <a:rPr sz="1600" dirty="0">
                <a:solidFill>
                  <a:srgbClr val="111111"/>
                </a:solidFill>
              </a:rPr>
              <a:t>Workflow orchestration with deterministic solvers.</a:t>
            </a:r>
          </a:p>
        </p:txBody>
      </p:sp>
      <p:sp>
        <p:nvSpPr>
          <p:cNvPr id="34" name="shared-core-title">
            <a:extLst>
              <a:ext uri="{FF2B5EF4-FFF2-40B4-BE49-F238E27FC236}">
                <a16:creationId xmlns:a16="http://schemas.microsoft.com/office/drawing/2014/main" id="{A6CF4AAB-B791-9648-30E4-F07BFC783344}"/>
              </a:ext>
            </a:extLst>
          </p:cNvPr>
          <p:cNvSpPr>
            <a:spLocks noGrp="1"/>
          </p:cNvSpPr>
          <p:nvPr/>
        </p:nvSpPr>
        <p:spPr>
          <a:xfrm>
            <a:off x="5379959" y="3337311"/>
            <a:ext cx="1428750" cy="228600"/>
          </a:xfrm>
          <a:prstGeom prst="rect">
            <a:avLst/>
          </a:prstGeom>
          <a:noFill/>
          <a:ln w="0">
            <a:noFill/>
            <a:prstDash val="solid"/>
          </a:ln>
        </p:spPr>
        <p:txBody>
          <a:bodyPr/>
          <a:lstStyle/>
          <a:p>
            <a:pPr algn="ctr">
              <a:defRPr sz="1275" b="1">
                <a:solidFill>
                  <a:srgbClr val="111111"/>
                </a:solidFill>
              </a:defRPr>
            </a:pPr>
            <a:r>
              <a:rPr sz="1650" b="1" dirty="0">
                <a:solidFill>
                  <a:srgbClr val="111111"/>
                </a:solidFill>
              </a:rPr>
              <a:t>Shared core</a:t>
            </a:r>
          </a:p>
        </p:txBody>
      </p:sp>
      <p:sp>
        <p:nvSpPr>
          <p:cNvPr id="35" name="shared-core-body">
            <a:extLst>
              <a:ext uri="{FF2B5EF4-FFF2-40B4-BE49-F238E27FC236}">
                <a16:creationId xmlns:a16="http://schemas.microsoft.com/office/drawing/2014/main" id="{A30E92E1-3DD8-D221-81C1-D21A737F8EA5}"/>
              </a:ext>
            </a:extLst>
          </p:cNvPr>
          <p:cNvSpPr>
            <a:spLocks noGrp="1"/>
          </p:cNvSpPr>
          <p:nvPr/>
        </p:nvSpPr>
        <p:spPr>
          <a:xfrm>
            <a:off x="5231096" y="3547419"/>
            <a:ext cx="1619250" cy="838200"/>
          </a:xfrm>
          <a:prstGeom prst="rect">
            <a:avLst/>
          </a:prstGeom>
          <a:noFill/>
          <a:ln w="0">
            <a:noFill/>
            <a:prstDash val="solid"/>
          </a:ln>
        </p:spPr>
        <p:txBody>
          <a:bodyPr/>
          <a:lstStyle/>
          <a:p>
            <a:pPr algn="ctr">
              <a:defRPr sz="1200" b="1">
                <a:solidFill>
                  <a:srgbClr val="006341"/>
                </a:solidFill>
              </a:defRPr>
            </a:pPr>
            <a:r>
              <a:rPr sz="1600" b="1" dirty="0">
                <a:solidFill>
                  <a:srgbClr val="006341"/>
                </a:solidFill>
              </a:rPr>
              <a:t>LLM agents</a:t>
            </a:r>
          </a:p>
          <a:p>
            <a:pPr algn="ctr">
              <a:defRPr sz="1200" b="1">
                <a:solidFill>
                  <a:srgbClr val="006341"/>
                </a:solidFill>
              </a:defRPr>
            </a:pPr>
            <a:r>
              <a:rPr sz="1600" b="1" dirty="0">
                <a:solidFill>
                  <a:srgbClr val="006341"/>
                </a:solidFill>
              </a:rPr>
              <a:t>+ grid data</a:t>
            </a:r>
          </a:p>
          <a:p>
            <a:pPr algn="ctr">
              <a:defRPr sz="1200" b="1">
                <a:solidFill>
                  <a:srgbClr val="006341"/>
                </a:solidFill>
              </a:defRPr>
            </a:pPr>
            <a:r>
              <a:rPr sz="1600" b="1" dirty="0">
                <a:solidFill>
                  <a:srgbClr val="006341"/>
                </a:solidFill>
              </a:rPr>
              <a:t>+ tools</a:t>
            </a:r>
          </a:p>
          <a:p>
            <a:pPr algn="ctr">
              <a:defRPr sz="1200" b="1">
                <a:solidFill>
                  <a:srgbClr val="006341"/>
                </a:solidFill>
              </a:defRPr>
            </a:pPr>
            <a:r>
              <a:rPr sz="1600" b="1" dirty="0">
                <a:solidFill>
                  <a:srgbClr val="006341"/>
                </a:solidFill>
              </a:rPr>
              <a:t>+ </a:t>
            </a:r>
            <a:r>
              <a:rPr lang="en-US" sz="1600" b="1" dirty="0">
                <a:solidFill>
                  <a:srgbClr val="006341"/>
                </a:solidFill>
              </a:rPr>
              <a:t>modular</a:t>
            </a:r>
          </a:p>
          <a:p>
            <a:pPr algn="ctr">
              <a:defRPr sz="1200" b="1">
                <a:solidFill>
                  <a:srgbClr val="006341"/>
                </a:solidFill>
              </a:defRPr>
            </a:pPr>
            <a:r>
              <a:rPr lang="en-US" sz="1600" b="1" dirty="0">
                <a:solidFill>
                  <a:srgbClr val="006341"/>
                </a:solidFill>
              </a:rPr>
              <a:t>+ extensible</a:t>
            </a:r>
            <a:endParaRPr sz="1600" b="1" dirty="0">
              <a:solidFill>
                <a:srgbClr val="006341"/>
              </a:solidFill>
            </a:endParaRPr>
          </a:p>
        </p:txBody>
      </p:sp>
      <p:sp>
        <p:nvSpPr>
          <p:cNvPr id="37" name="TextBox 36">
            <a:extLst>
              <a:ext uri="{FF2B5EF4-FFF2-40B4-BE49-F238E27FC236}">
                <a16:creationId xmlns:a16="http://schemas.microsoft.com/office/drawing/2014/main" id="{E275B821-052C-C15F-991A-71DB5C2E176E}"/>
              </a:ext>
            </a:extLst>
          </p:cNvPr>
          <p:cNvSpPr txBox="1"/>
          <p:nvPr/>
        </p:nvSpPr>
        <p:spPr>
          <a:xfrm>
            <a:off x="838200" y="1663481"/>
            <a:ext cx="8595173" cy="646331"/>
          </a:xfrm>
          <a:prstGeom prst="rect">
            <a:avLst/>
          </a:prstGeom>
          <a:noFill/>
        </p:spPr>
        <p:txBody>
          <a:bodyPr wrap="none" rtlCol="0">
            <a:spAutoFit/>
          </a:bodyPr>
          <a:lstStyle/>
          <a:p>
            <a:r>
              <a:rPr lang="en-US" sz="1800" dirty="0">
                <a:solidFill>
                  <a:srgbClr val="4A4A4A"/>
                </a:solidFill>
                <a:latin typeface="Calibri"/>
                <a:ea typeface="Calibri"/>
                <a:cs typeface="Calibri"/>
              </a:rPr>
              <a:t>LLM + structured grid data + deterministic tools + validation = useful engineering assistant</a:t>
            </a:r>
          </a:p>
          <a:p>
            <a:endParaRPr lang="en-US" dirty="0"/>
          </a:p>
        </p:txBody>
      </p:sp>
      <p:sp>
        <p:nvSpPr>
          <p:cNvPr id="39" name="TextBox 38">
            <a:extLst>
              <a:ext uri="{FF2B5EF4-FFF2-40B4-BE49-F238E27FC236}">
                <a16:creationId xmlns:a16="http://schemas.microsoft.com/office/drawing/2014/main" id="{A10A62F3-DAAA-8048-DCB5-90600011EA1A}"/>
              </a:ext>
            </a:extLst>
          </p:cNvPr>
          <p:cNvSpPr txBox="1"/>
          <p:nvPr/>
        </p:nvSpPr>
        <p:spPr>
          <a:xfrm>
            <a:off x="838200" y="6019199"/>
            <a:ext cx="10469608" cy="646331"/>
          </a:xfrm>
          <a:prstGeom prst="rect">
            <a:avLst/>
          </a:prstGeom>
          <a:noFill/>
        </p:spPr>
        <p:txBody>
          <a:bodyPr wrap="square">
            <a:spAutoFit/>
          </a:bodyPr>
          <a:lstStyle/>
          <a:p>
            <a:pPr algn="ctr">
              <a:defRPr sz="1350" b="1">
                <a:solidFill>
                  <a:srgbClr val="006341"/>
                </a:solidFill>
              </a:defRPr>
            </a:pPr>
            <a:r>
              <a:rPr lang="en-US" sz="1800" dirty="0"/>
              <a:t>Understand the user’s intent and orchestrate the workflow, while the numerical and factual claims remain grounded.</a:t>
            </a:r>
            <a:endParaRPr lang="en-US" sz="1400" b="1" dirty="0">
              <a:solidFill>
                <a:srgbClr val="006341"/>
              </a:solidFill>
            </a:endParaRPr>
          </a:p>
        </p:txBody>
      </p:sp>
    </p:spTree>
    <p:extLst>
      <p:ext uri="{BB962C8B-B14F-4D97-AF65-F5344CB8AC3E}">
        <p14:creationId xmlns:p14="http://schemas.microsoft.com/office/powerpoint/2010/main" val="193258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B07E7587-BD7C-46A3-AE11-33F16957D4A2}"/>
              </a:ext>
            </a:extLst>
          </p:cNvPr>
          <p:cNvSpPr>
            <a:spLocks noGrp="1"/>
          </p:cNvSpPr>
          <p:nvPr/>
        </p:nvSpPr>
        <p:spPr>
          <a:xfrm>
            <a:off x="3812117" y="2199437"/>
            <a:ext cx="10048875" cy="457200"/>
          </a:xfrm>
          <a:prstGeom prst="rect">
            <a:avLst/>
          </a:prstGeom>
          <a:noFill/>
          <a:ln w="0">
            <a:noFill/>
            <a:prstDash val="solid"/>
          </a:ln>
        </p:spPr>
        <p:txBody>
          <a:bodyPr/>
          <a:lstStyle/>
          <a:p>
            <a:pPr>
              <a:defRPr sz="2100">
                <a:solidFill>
                  <a:srgbClr val="111111"/>
                </a:solidFill>
              </a:defRPr>
            </a:pPr>
            <a:endParaRPr sz="2930" b="1" dirty="0">
              <a:solidFill>
                <a:srgbClr val="111111"/>
              </a:solidFill>
            </a:endParaRPr>
          </a:p>
        </p:txBody>
      </p:sp>
      <p:sp>
        <p:nvSpPr>
          <p:cNvPr id="8" name="existing-methods">
            <a:extLst>
              <a:ext uri="{FF2B5EF4-FFF2-40B4-BE49-F238E27FC236}">
                <a16:creationId xmlns:a16="http://schemas.microsoft.com/office/drawing/2014/main" id="{4C21FD25-6131-4935-BF57-19469F66CCC0}"/>
              </a:ext>
            </a:extLst>
          </p:cNvPr>
          <p:cNvSpPr>
            <a:spLocks noGrp="1"/>
          </p:cNvSpPr>
          <p:nvPr/>
        </p:nvSpPr>
        <p:spPr>
          <a:xfrm>
            <a:off x="1011767" y="2657475"/>
            <a:ext cx="2400301" cy="1590674"/>
          </a:xfrm>
          <a:prstGeom prst="roundRect">
            <a:avLst>
              <a:gd name="adj" fmla="val 4110"/>
            </a:avLst>
          </a:prstGeom>
          <a:solidFill>
            <a:srgbClr val="EAF6EC"/>
          </a:solidFill>
          <a:ln w="11430">
            <a:solidFill>
              <a:srgbClr val="00833C"/>
            </a:solidFill>
            <a:prstDash val="solid"/>
          </a:ln>
        </p:spPr>
        <p:txBody>
          <a:bodyPr/>
          <a:lstStyle/>
          <a:p>
            <a:endParaRPr lang="en-US" sz="3600"/>
          </a:p>
        </p:txBody>
      </p:sp>
      <p:sp>
        <p:nvSpPr>
          <p:cNvPr id="9" name="existing-title">
            <a:extLst>
              <a:ext uri="{FF2B5EF4-FFF2-40B4-BE49-F238E27FC236}">
                <a16:creationId xmlns:a16="http://schemas.microsoft.com/office/drawing/2014/main" id="{305DCFCB-1A95-4DA1-B4FA-217395258E75}"/>
              </a:ext>
            </a:extLst>
          </p:cNvPr>
          <p:cNvSpPr>
            <a:spLocks noGrp="1"/>
          </p:cNvSpPr>
          <p:nvPr/>
        </p:nvSpPr>
        <p:spPr>
          <a:xfrm>
            <a:off x="1159932" y="2858558"/>
            <a:ext cx="2152650" cy="238125"/>
          </a:xfrm>
          <a:prstGeom prst="rect">
            <a:avLst/>
          </a:prstGeom>
          <a:noFill/>
          <a:ln w="0">
            <a:noFill/>
            <a:prstDash val="solid"/>
          </a:ln>
        </p:spPr>
        <p:txBody>
          <a:bodyPr/>
          <a:lstStyle/>
          <a:p>
            <a:pPr algn="ctr">
              <a:defRPr sz="1200" b="1">
                <a:solidFill>
                  <a:srgbClr val="00833C"/>
                </a:solidFill>
              </a:defRPr>
            </a:pPr>
            <a:r>
              <a:rPr sz="1600" b="1" dirty="0">
                <a:solidFill>
                  <a:srgbClr val="00833C"/>
                </a:solidFill>
              </a:rPr>
              <a:t>Existing agentic grid AI</a:t>
            </a:r>
          </a:p>
        </p:txBody>
      </p:sp>
      <p:sp>
        <p:nvSpPr>
          <p:cNvPr id="10" name="existing-body">
            <a:extLst>
              <a:ext uri="{FF2B5EF4-FFF2-40B4-BE49-F238E27FC236}">
                <a16:creationId xmlns:a16="http://schemas.microsoft.com/office/drawing/2014/main" id="{F6E03D2D-20E0-4DB6-BD4F-905D26D46CE8}"/>
              </a:ext>
            </a:extLst>
          </p:cNvPr>
          <p:cNvSpPr>
            <a:spLocks noGrp="1"/>
          </p:cNvSpPr>
          <p:nvPr/>
        </p:nvSpPr>
        <p:spPr>
          <a:xfrm>
            <a:off x="1249892" y="3228975"/>
            <a:ext cx="1952625" cy="571500"/>
          </a:xfrm>
          <a:prstGeom prst="rect">
            <a:avLst/>
          </a:prstGeom>
          <a:noFill/>
          <a:ln w="0">
            <a:noFill/>
            <a:prstDash val="solid"/>
          </a:ln>
        </p:spPr>
        <p:txBody>
          <a:bodyPr/>
          <a:lstStyle/>
          <a:p>
            <a:pPr algn="ctr">
              <a:defRPr sz="975">
                <a:solidFill>
                  <a:srgbClr val="111111"/>
                </a:solidFill>
              </a:defRPr>
            </a:pPr>
            <a:r>
              <a:rPr sz="1400" dirty="0">
                <a:solidFill>
                  <a:srgbClr val="111111"/>
                </a:solidFill>
              </a:rPr>
              <a:t>Grid-Agent, </a:t>
            </a:r>
            <a:r>
              <a:rPr sz="1400" dirty="0" err="1">
                <a:solidFill>
                  <a:srgbClr val="111111"/>
                </a:solidFill>
              </a:rPr>
              <a:t>GridMind</a:t>
            </a:r>
            <a:r>
              <a:rPr sz="1400" dirty="0">
                <a:solidFill>
                  <a:srgbClr val="111111"/>
                </a:solidFill>
              </a:rPr>
              <a:t>, and X-</a:t>
            </a:r>
            <a:r>
              <a:rPr sz="1400" dirty="0" err="1">
                <a:solidFill>
                  <a:srgbClr val="111111"/>
                </a:solidFill>
              </a:rPr>
              <a:t>GridAgent</a:t>
            </a:r>
            <a:r>
              <a:rPr sz="1400" dirty="0">
                <a:solidFill>
                  <a:srgbClr val="111111"/>
                </a:solidFill>
              </a:rPr>
              <a:t> show LLMs can coordinate analysis and tools.</a:t>
            </a:r>
          </a:p>
        </p:txBody>
      </p:sp>
      <p:sp>
        <p:nvSpPr>
          <p:cNvPr id="11" name="foundation-title">
            <a:extLst>
              <a:ext uri="{FF2B5EF4-FFF2-40B4-BE49-F238E27FC236}">
                <a16:creationId xmlns:a16="http://schemas.microsoft.com/office/drawing/2014/main" id="{CEF33FA2-709E-4D51-96C0-6BFCD7AD99FE}"/>
              </a:ext>
            </a:extLst>
          </p:cNvPr>
          <p:cNvSpPr>
            <a:spLocks noGrp="1"/>
          </p:cNvSpPr>
          <p:nvPr/>
        </p:nvSpPr>
        <p:spPr>
          <a:xfrm>
            <a:off x="3812117" y="2638425"/>
            <a:ext cx="4619625" cy="266700"/>
          </a:xfrm>
          <a:prstGeom prst="rect">
            <a:avLst/>
          </a:prstGeom>
          <a:noFill/>
          <a:ln w="0">
            <a:noFill/>
            <a:prstDash val="solid"/>
          </a:ln>
        </p:spPr>
        <p:txBody>
          <a:bodyPr/>
          <a:lstStyle/>
          <a:p>
            <a:pPr algn="ctr">
              <a:defRPr sz="1350" b="1">
                <a:solidFill>
                  <a:srgbClr val="006341"/>
                </a:solidFill>
              </a:defRPr>
            </a:pPr>
            <a:r>
              <a:rPr sz="1600" b="1">
                <a:solidFill>
                  <a:srgbClr val="006341"/>
                </a:solidFill>
              </a:rPr>
              <a:t>GridSense adds the missing data foundation</a:t>
            </a:r>
          </a:p>
        </p:txBody>
      </p:sp>
      <p:sp>
        <p:nvSpPr>
          <p:cNvPr id="12" name="CGMES / CIM-box">
            <a:extLst>
              <a:ext uri="{FF2B5EF4-FFF2-40B4-BE49-F238E27FC236}">
                <a16:creationId xmlns:a16="http://schemas.microsoft.com/office/drawing/2014/main" id="{8BDBC298-C266-45AF-AB4C-811D92C800D1}"/>
              </a:ext>
            </a:extLst>
          </p:cNvPr>
          <p:cNvSpPr>
            <a:spLocks noGrp="1"/>
          </p:cNvSpPr>
          <p:nvPr/>
        </p:nvSpPr>
        <p:spPr>
          <a:xfrm>
            <a:off x="3735918" y="3038475"/>
            <a:ext cx="1352550" cy="1009650"/>
          </a:xfrm>
          <a:prstGeom prst="roundRect">
            <a:avLst>
              <a:gd name="adj" fmla="val 7317"/>
            </a:avLst>
          </a:prstGeom>
          <a:solidFill>
            <a:srgbClr val="EAF6EC"/>
          </a:solidFill>
          <a:ln w="11430">
            <a:solidFill>
              <a:srgbClr val="00833C"/>
            </a:solidFill>
            <a:prstDash val="solid"/>
          </a:ln>
        </p:spPr>
        <p:txBody>
          <a:bodyPr/>
          <a:lstStyle/>
          <a:p>
            <a:endParaRPr lang="en-US" sz="3600"/>
          </a:p>
        </p:txBody>
      </p:sp>
      <p:sp>
        <p:nvSpPr>
          <p:cNvPr id="13" name="CGMES / CIM-title">
            <a:extLst>
              <a:ext uri="{FF2B5EF4-FFF2-40B4-BE49-F238E27FC236}">
                <a16:creationId xmlns:a16="http://schemas.microsoft.com/office/drawing/2014/main" id="{D44345CE-EEC9-4564-BD5F-33F0B69E94C2}"/>
              </a:ext>
            </a:extLst>
          </p:cNvPr>
          <p:cNvSpPr>
            <a:spLocks noGrp="1"/>
          </p:cNvSpPr>
          <p:nvPr/>
        </p:nvSpPr>
        <p:spPr>
          <a:xfrm>
            <a:off x="3850217" y="3133725"/>
            <a:ext cx="1152525" cy="228600"/>
          </a:xfrm>
          <a:prstGeom prst="rect">
            <a:avLst/>
          </a:prstGeom>
          <a:noFill/>
          <a:ln w="0">
            <a:noFill/>
            <a:prstDash val="solid"/>
          </a:ln>
        </p:spPr>
        <p:txBody>
          <a:bodyPr/>
          <a:lstStyle/>
          <a:p>
            <a:pPr algn="ctr">
              <a:defRPr sz="1125" b="1">
                <a:solidFill>
                  <a:srgbClr val="00833C"/>
                </a:solidFill>
              </a:defRPr>
            </a:pPr>
            <a:r>
              <a:rPr sz="1200" b="1">
                <a:solidFill>
                  <a:srgbClr val="00833C"/>
                </a:solidFill>
              </a:rPr>
              <a:t>CGMES / CIM</a:t>
            </a:r>
          </a:p>
        </p:txBody>
      </p:sp>
      <p:sp>
        <p:nvSpPr>
          <p:cNvPr id="14" name="CGMES / CIM-body">
            <a:extLst>
              <a:ext uri="{FF2B5EF4-FFF2-40B4-BE49-F238E27FC236}">
                <a16:creationId xmlns:a16="http://schemas.microsoft.com/office/drawing/2014/main" id="{D76BED49-1E04-429F-AC83-0B19D8ECE536}"/>
              </a:ext>
            </a:extLst>
          </p:cNvPr>
          <p:cNvSpPr>
            <a:spLocks noGrp="1"/>
          </p:cNvSpPr>
          <p:nvPr/>
        </p:nvSpPr>
        <p:spPr>
          <a:xfrm>
            <a:off x="3850217" y="3400425"/>
            <a:ext cx="1152525" cy="342900"/>
          </a:xfrm>
          <a:prstGeom prst="rect">
            <a:avLst/>
          </a:prstGeom>
          <a:noFill/>
          <a:ln w="0">
            <a:noFill/>
            <a:prstDash val="solid"/>
          </a:ln>
        </p:spPr>
        <p:txBody>
          <a:bodyPr/>
          <a:lstStyle/>
          <a:p>
            <a:pPr algn="ctr">
              <a:defRPr sz="863">
                <a:solidFill>
                  <a:srgbClr val="111111"/>
                </a:solidFill>
              </a:defRPr>
            </a:pPr>
            <a:r>
              <a:rPr sz="1200">
                <a:solidFill>
                  <a:srgbClr val="111111"/>
                </a:solidFill>
              </a:rPr>
              <a:t>European standard grid model</a:t>
            </a:r>
          </a:p>
        </p:txBody>
      </p:sp>
      <p:sp>
        <p:nvSpPr>
          <p:cNvPr id="15" name="arrow">
            <a:extLst>
              <a:ext uri="{FF2B5EF4-FFF2-40B4-BE49-F238E27FC236}">
                <a16:creationId xmlns:a16="http://schemas.microsoft.com/office/drawing/2014/main" id="{73A3315D-8000-4184-9355-2A56F972B1E2}"/>
              </a:ext>
            </a:extLst>
          </p:cNvPr>
          <p:cNvSpPr>
            <a:spLocks noGrp="1"/>
          </p:cNvSpPr>
          <p:nvPr/>
        </p:nvSpPr>
        <p:spPr>
          <a:xfrm>
            <a:off x="5155142" y="3267075"/>
            <a:ext cx="228600" cy="304800"/>
          </a:xfrm>
          <a:prstGeom prst="rect">
            <a:avLst/>
          </a:prstGeom>
          <a:noFill/>
          <a:ln w="0">
            <a:noFill/>
            <a:prstDash val="solid"/>
          </a:ln>
        </p:spPr>
        <p:txBody>
          <a:bodyPr/>
          <a:lstStyle/>
          <a:p>
            <a:pPr algn="ctr">
              <a:defRPr sz="1950" b="1">
                <a:solidFill>
                  <a:srgbClr val="006341"/>
                </a:solidFill>
              </a:defRPr>
            </a:pPr>
            <a:r>
              <a:rPr sz="3600" b="1">
                <a:solidFill>
                  <a:srgbClr val="006341"/>
                </a:solidFill>
              </a:rPr>
              <a:t>&gt;</a:t>
            </a:r>
          </a:p>
        </p:txBody>
      </p:sp>
      <p:sp>
        <p:nvSpPr>
          <p:cNvPr id="16" name="Neo4j graph-box">
            <a:extLst>
              <a:ext uri="{FF2B5EF4-FFF2-40B4-BE49-F238E27FC236}">
                <a16:creationId xmlns:a16="http://schemas.microsoft.com/office/drawing/2014/main" id="{75CE9EE6-D48D-470D-BEEA-F21161C03155}"/>
              </a:ext>
            </a:extLst>
          </p:cNvPr>
          <p:cNvSpPr>
            <a:spLocks noGrp="1"/>
          </p:cNvSpPr>
          <p:nvPr/>
        </p:nvSpPr>
        <p:spPr>
          <a:xfrm>
            <a:off x="5421842" y="3038475"/>
            <a:ext cx="1485900" cy="1009650"/>
          </a:xfrm>
          <a:prstGeom prst="roundRect">
            <a:avLst>
              <a:gd name="adj" fmla="val 7317"/>
            </a:avLst>
          </a:prstGeom>
          <a:solidFill>
            <a:srgbClr val="EAF3FB"/>
          </a:solidFill>
          <a:ln w="11430">
            <a:solidFill>
              <a:srgbClr val="00619B"/>
            </a:solidFill>
            <a:prstDash val="solid"/>
          </a:ln>
        </p:spPr>
        <p:txBody>
          <a:bodyPr/>
          <a:lstStyle/>
          <a:p>
            <a:endParaRPr lang="en-US" sz="3600"/>
          </a:p>
        </p:txBody>
      </p:sp>
      <p:sp>
        <p:nvSpPr>
          <p:cNvPr id="17" name="Neo4j graph-title">
            <a:extLst>
              <a:ext uri="{FF2B5EF4-FFF2-40B4-BE49-F238E27FC236}">
                <a16:creationId xmlns:a16="http://schemas.microsoft.com/office/drawing/2014/main" id="{6E1C8BA3-43D4-4B76-A76E-D246240DF1EC}"/>
              </a:ext>
            </a:extLst>
          </p:cNvPr>
          <p:cNvSpPr>
            <a:spLocks noGrp="1"/>
          </p:cNvSpPr>
          <p:nvPr/>
        </p:nvSpPr>
        <p:spPr>
          <a:xfrm>
            <a:off x="5536142" y="3133725"/>
            <a:ext cx="1247775" cy="228600"/>
          </a:xfrm>
          <a:prstGeom prst="rect">
            <a:avLst/>
          </a:prstGeom>
          <a:noFill/>
          <a:ln w="0">
            <a:noFill/>
            <a:prstDash val="solid"/>
          </a:ln>
        </p:spPr>
        <p:txBody>
          <a:bodyPr/>
          <a:lstStyle/>
          <a:p>
            <a:pPr algn="ctr">
              <a:defRPr sz="1125" b="1">
                <a:solidFill>
                  <a:srgbClr val="00619B"/>
                </a:solidFill>
              </a:defRPr>
            </a:pPr>
            <a:r>
              <a:rPr sz="1200" b="1">
                <a:solidFill>
                  <a:srgbClr val="00619B"/>
                </a:solidFill>
              </a:rPr>
              <a:t>Neo4j graph</a:t>
            </a:r>
          </a:p>
        </p:txBody>
      </p:sp>
      <p:sp>
        <p:nvSpPr>
          <p:cNvPr id="18" name="Neo4j graph-body">
            <a:extLst>
              <a:ext uri="{FF2B5EF4-FFF2-40B4-BE49-F238E27FC236}">
                <a16:creationId xmlns:a16="http://schemas.microsoft.com/office/drawing/2014/main" id="{7C396005-4311-431F-984A-8143F5BC1E7A}"/>
              </a:ext>
            </a:extLst>
          </p:cNvPr>
          <p:cNvSpPr>
            <a:spLocks noGrp="1"/>
          </p:cNvSpPr>
          <p:nvPr/>
        </p:nvSpPr>
        <p:spPr>
          <a:xfrm>
            <a:off x="5536142" y="3400425"/>
            <a:ext cx="1247775" cy="342900"/>
          </a:xfrm>
          <a:prstGeom prst="rect">
            <a:avLst/>
          </a:prstGeom>
          <a:noFill/>
          <a:ln w="0">
            <a:noFill/>
            <a:prstDash val="solid"/>
          </a:ln>
        </p:spPr>
        <p:txBody>
          <a:bodyPr/>
          <a:lstStyle/>
          <a:p>
            <a:pPr algn="ctr">
              <a:defRPr sz="863">
                <a:solidFill>
                  <a:srgbClr val="111111"/>
                </a:solidFill>
              </a:defRPr>
            </a:pPr>
            <a:r>
              <a:rPr sz="1200">
                <a:solidFill>
                  <a:srgbClr val="111111"/>
                </a:solidFill>
              </a:rPr>
              <a:t>Topology, assets, equipment, context</a:t>
            </a:r>
          </a:p>
        </p:txBody>
      </p:sp>
      <p:sp>
        <p:nvSpPr>
          <p:cNvPr id="19" name="arrow">
            <a:extLst>
              <a:ext uri="{FF2B5EF4-FFF2-40B4-BE49-F238E27FC236}">
                <a16:creationId xmlns:a16="http://schemas.microsoft.com/office/drawing/2014/main" id="{934127E2-D9D6-46FC-881B-BC3EFDD35CCD}"/>
              </a:ext>
            </a:extLst>
          </p:cNvPr>
          <p:cNvSpPr>
            <a:spLocks noGrp="1"/>
          </p:cNvSpPr>
          <p:nvPr/>
        </p:nvSpPr>
        <p:spPr>
          <a:xfrm>
            <a:off x="6955367" y="3267075"/>
            <a:ext cx="228600" cy="304800"/>
          </a:xfrm>
          <a:prstGeom prst="rect">
            <a:avLst/>
          </a:prstGeom>
          <a:noFill/>
          <a:ln w="0">
            <a:noFill/>
            <a:prstDash val="solid"/>
          </a:ln>
        </p:spPr>
        <p:txBody>
          <a:bodyPr/>
          <a:lstStyle/>
          <a:p>
            <a:pPr algn="ctr">
              <a:defRPr sz="1950" b="1">
                <a:solidFill>
                  <a:srgbClr val="006341"/>
                </a:solidFill>
              </a:defRPr>
            </a:pPr>
            <a:r>
              <a:rPr sz="3600" b="1">
                <a:solidFill>
                  <a:srgbClr val="006341"/>
                </a:solidFill>
              </a:rPr>
              <a:t>&gt;</a:t>
            </a:r>
          </a:p>
        </p:txBody>
      </p:sp>
      <p:sp>
        <p:nvSpPr>
          <p:cNvPr id="20" name="Cypher retrieval-box">
            <a:extLst>
              <a:ext uri="{FF2B5EF4-FFF2-40B4-BE49-F238E27FC236}">
                <a16:creationId xmlns:a16="http://schemas.microsoft.com/office/drawing/2014/main" id="{8B6F613F-2A83-4DE8-93B7-65E07AF465A6}"/>
              </a:ext>
            </a:extLst>
          </p:cNvPr>
          <p:cNvSpPr>
            <a:spLocks noGrp="1"/>
          </p:cNvSpPr>
          <p:nvPr/>
        </p:nvSpPr>
        <p:spPr>
          <a:xfrm>
            <a:off x="7231592" y="3038475"/>
            <a:ext cx="1533524" cy="1009650"/>
          </a:xfrm>
          <a:prstGeom prst="roundRect">
            <a:avLst>
              <a:gd name="adj" fmla="val 7317"/>
            </a:avLst>
          </a:prstGeom>
          <a:solidFill>
            <a:srgbClr val="FFF4DF"/>
          </a:solidFill>
          <a:ln w="11430">
            <a:solidFill>
              <a:srgbClr val="D98200"/>
            </a:solidFill>
            <a:prstDash val="solid"/>
          </a:ln>
        </p:spPr>
        <p:txBody>
          <a:bodyPr/>
          <a:lstStyle/>
          <a:p>
            <a:endParaRPr lang="en-US" sz="3600"/>
          </a:p>
        </p:txBody>
      </p:sp>
      <p:sp>
        <p:nvSpPr>
          <p:cNvPr id="21" name="Cypher retrieval-title">
            <a:extLst>
              <a:ext uri="{FF2B5EF4-FFF2-40B4-BE49-F238E27FC236}">
                <a16:creationId xmlns:a16="http://schemas.microsoft.com/office/drawing/2014/main" id="{0EE01537-D586-4663-93A4-BFF2E874CED2}"/>
              </a:ext>
            </a:extLst>
          </p:cNvPr>
          <p:cNvSpPr>
            <a:spLocks noGrp="1"/>
          </p:cNvSpPr>
          <p:nvPr/>
        </p:nvSpPr>
        <p:spPr>
          <a:xfrm>
            <a:off x="7345892" y="3133725"/>
            <a:ext cx="1295400" cy="228600"/>
          </a:xfrm>
          <a:prstGeom prst="rect">
            <a:avLst/>
          </a:prstGeom>
          <a:noFill/>
          <a:ln w="0">
            <a:noFill/>
            <a:prstDash val="solid"/>
          </a:ln>
        </p:spPr>
        <p:txBody>
          <a:bodyPr/>
          <a:lstStyle/>
          <a:p>
            <a:pPr algn="ctr">
              <a:defRPr sz="1125" b="1">
                <a:solidFill>
                  <a:srgbClr val="D98200"/>
                </a:solidFill>
              </a:defRPr>
            </a:pPr>
            <a:r>
              <a:rPr sz="1200" b="1">
                <a:solidFill>
                  <a:srgbClr val="D98200"/>
                </a:solidFill>
              </a:rPr>
              <a:t>Cypher retrieval</a:t>
            </a:r>
          </a:p>
        </p:txBody>
      </p:sp>
      <p:sp>
        <p:nvSpPr>
          <p:cNvPr id="22" name="Cypher retrieval-body">
            <a:extLst>
              <a:ext uri="{FF2B5EF4-FFF2-40B4-BE49-F238E27FC236}">
                <a16:creationId xmlns:a16="http://schemas.microsoft.com/office/drawing/2014/main" id="{C9A52D6D-47F3-4BF0-B441-2A65E891FFA8}"/>
              </a:ext>
            </a:extLst>
          </p:cNvPr>
          <p:cNvSpPr>
            <a:spLocks noGrp="1"/>
          </p:cNvSpPr>
          <p:nvPr/>
        </p:nvSpPr>
        <p:spPr>
          <a:xfrm>
            <a:off x="7345892" y="3400425"/>
            <a:ext cx="1295400" cy="342900"/>
          </a:xfrm>
          <a:prstGeom prst="rect">
            <a:avLst/>
          </a:prstGeom>
          <a:noFill/>
          <a:ln w="0">
            <a:noFill/>
            <a:prstDash val="solid"/>
          </a:ln>
        </p:spPr>
        <p:txBody>
          <a:bodyPr/>
          <a:lstStyle/>
          <a:p>
            <a:pPr algn="ctr">
              <a:defRPr sz="863">
                <a:solidFill>
                  <a:srgbClr val="111111"/>
                </a:solidFill>
              </a:defRPr>
            </a:pPr>
            <a:r>
              <a:rPr sz="1200">
                <a:solidFill>
                  <a:srgbClr val="111111"/>
                </a:solidFill>
              </a:rPr>
              <a:t>Schema-aware, traceable answers</a:t>
            </a:r>
          </a:p>
        </p:txBody>
      </p:sp>
      <p:sp>
        <p:nvSpPr>
          <p:cNvPr id="23" name="gridsense-result">
            <a:extLst>
              <a:ext uri="{FF2B5EF4-FFF2-40B4-BE49-F238E27FC236}">
                <a16:creationId xmlns:a16="http://schemas.microsoft.com/office/drawing/2014/main" id="{0039244E-6DB7-49EC-BD19-40C6019A1BB0}"/>
              </a:ext>
            </a:extLst>
          </p:cNvPr>
          <p:cNvSpPr>
            <a:spLocks noGrp="1"/>
          </p:cNvSpPr>
          <p:nvPr/>
        </p:nvSpPr>
        <p:spPr>
          <a:xfrm>
            <a:off x="8974666" y="2657475"/>
            <a:ext cx="2506133" cy="1590674"/>
          </a:xfrm>
          <a:prstGeom prst="roundRect">
            <a:avLst>
              <a:gd name="adj" fmla="val 4110"/>
            </a:avLst>
          </a:prstGeom>
          <a:solidFill>
            <a:srgbClr val="F8FFF7"/>
          </a:solidFill>
          <a:ln w="11430">
            <a:solidFill>
              <a:srgbClr val="DCE7DD"/>
            </a:solidFill>
            <a:prstDash val="solid"/>
          </a:ln>
        </p:spPr>
        <p:txBody>
          <a:bodyPr/>
          <a:lstStyle/>
          <a:p>
            <a:endParaRPr lang="en-US" sz="3600"/>
          </a:p>
        </p:txBody>
      </p:sp>
      <p:sp>
        <p:nvSpPr>
          <p:cNvPr id="24" name="result-title">
            <a:extLst>
              <a:ext uri="{FF2B5EF4-FFF2-40B4-BE49-F238E27FC236}">
                <a16:creationId xmlns:a16="http://schemas.microsoft.com/office/drawing/2014/main" id="{9311CD91-2CAB-43EA-AFAF-B5DFE5D343C8}"/>
              </a:ext>
            </a:extLst>
          </p:cNvPr>
          <p:cNvSpPr>
            <a:spLocks noGrp="1"/>
          </p:cNvSpPr>
          <p:nvPr/>
        </p:nvSpPr>
        <p:spPr>
          <a:xfrm>
            <a:off x="9174692" y="2868083"/>
            <a:ext cx="2057400" cy="228600"/>
          </a:xfrm>
          <a:prstGeom prst="rect">
            <a:avLst/>
          </a:prstGeom>
          <a:noFill/>
          <a:ln w="0">
            <a:noFill/>
            <a:prstDash val="solid"/>
          </a:ln>
        </p:spPr>
        <p:txBody>
          <a:bodyPr/>
          <a:lstStyle/>
          <a:p>
            <a:pPr algn="ctr">
              <a:defRPr sz="1200" b="1">
                <a:solidFill>
                  <a:srgbClr val="006341"/>
                </a:solidFill>
              </a:defRPr>
            </a:pPr>
            <a:r>
              <a:rPr sz="1600" b="1" dirty="0" err="1">
                <a:solidFill>
                  <a:srgbClr val="006341"/>
                </a:solidFill>
              </a:rPr>
              <a:t>GridSense</a:t>
            </a:r>
            <a:r>
              <a:rPr sz="1600" b="1" dirty="0">
                <a:solidFill>
                  <a:srgbClr val="006341"/>
                </a:solidFill>
              </a:rPr>
              <a:t> result</a:t>
            </a:r>
          </a:p>
        </p:txBody>
      </p:sp>
      <p:sp>
        <p:nvSpPr>
          <p:cNvPr id="25" name="result-body">
            <a:extLst>
              <a:ext uri="{FF2B5EF4-FFF2-40B4-BE49-F238E27FC236}">
                <a16:creationId xmlns:a16="http://schemas.microsoft.com/office/drawing/2014/main" id="{6797D889-655C-40A2-B263-923E7ABC8159}"/>
              </a:ext>
            </a:extLst>
          </p:cNvPr>
          <p:cNvSpPr>
            <a:spLocks noGrp="1"/>
          </p:cNvSpPr>
          <p:nvPr/>
        </p:nvSpPr>
        <p:spPr>
          <a:xfrm>
            <a:off x="9222317" y="3143251"/>
            <a:ext cx="1962150" cy="552450"/>
          </a:xfrm>
          <a:prstGeom prst="rect">
            <a:avLst/>
          </a:prstGeom>
          <a:noFill/>
          <a:ln w="0">
            <a:noFill/>
            <a:prstDash val="solid"/>
          </a:ln>
        </p:spPr>
        <p:txBody>
          <a:bodyPr/>
          <a:lstStyle/>
          <a:p>
            <a:pPr algn="ctr">
              <a:defRPr sz="975">
                <a:solidFill>
                  <a:srgbClr val="111111"/>
                </a:solidFill>
              </a:defRPr>
            </a:pPr>
            <a:r>
              <a:rPr sz="1400" dirty="0">
                <a:solidFill>
                  <a:srgbClr val="111111"/>
                </a:solidFill>
              </a:rPr>
              <a:t>LLM answers are grounded in explicit graph evidence, not only conversational reasoning.</a:t>
            </a:r>
          </a:p>
        </p:txBody>
      </p:sp>
      <p:sp>
        <p:nvSpPr>
          <p:cNvPr id="26" name="Time-series snapshots-capability">
            <a:extLst>
              <a:ext uri="{FF2B5EF4-FFF2-40B4-BE49-F238E27FC236}">
                <a16:creationId xmlns:a16="http://schemas.microsoft.com/office/drawing/2014/main" id="{93CBBC33-95FC-4BFC-880B-197F3FE96351}"/>
              </a:ext>
            </a:extLst>
          </p:cNvPr>
          <p:cNvSpPr>
            <a:spLocks noGrp="1"/>
          </p:cNvSpPr>
          <p:nvPr/>
        </p:nvSpPr>
        <p:spPr>
          <a:xfrm>
            <a:off x="1240367" y="4524374"/>
            <a:ext cx="2314574" cy="1113305"/>
          </a:xfrm>
          <a:prstGeom prst="roundRect">
            <a:avLst>
              <a:gd name="adj" fmla="val 6522"/>
            </a:avLst>
          </a:prstGeom>
          <a:solidFill>
            <a:srgbClr val="FFFFFF"/>
          </a:solidFill>
          <a:ln w="11430">
            <a:solidFill>
              <a:srgbClr val="DCE7DD"/>
            </a:solidFill>
            <a:prstDash val="solid"/>
          </a:ln>
        </p:spPr>
        <p:txBody>
          <a:bodyPr/>
          <a:lstStyle/>
          <a:p>
            <a:endParaRPr lang="en-US" sz="3600"/>
          </a:p>
        </p:txBody>
      </p:sp>
      <p:sp>
        <p:nvSpPr>
          <p:cNvPr id="27" name="Time-series snapshots-title">
            <a:extLst>
              <a:ext uri="{FF2B5EF4-FFF2-40B4-BE49-F238E27FC236}">
                <a16:creationId xmlns:a16="http://schemas.microsoft.com/office/drawing/2014/main" id="{C15F968A-0D3E-4FB1-A0D5-E1A505081DA0}"/>
              </a:ext>
            </a:extLst>
          </p:cNvPr>
          <p:cNvSpPr>
            <a:spLocks noGrp="1"/>
          </p:cNvSpPr>
          <p:nvPr/>
        </p:nvSpPr>
        <p:spPr>
          <a:xfrm>
            <a:off x="1354667" y="4610100"/>
            <a:ext cx="2105025" cy="228600"/>
          </a:xfrm>
          <a:prstGeom prst="rect">
            <a:avLst/>
          </a:prstGeom>
          <a:noFill/>
          <a:ln w="0">
            <a:noFill/>
            <a:prstDash val="solid"/>
          </a:ln>
        </p:spPr>
        <p:txBody>
          <a:bodyPr/>
          <a:lstStyle/>
          <a:p>
            <a:pPr algn="ctr">
              <a:defRPr sz="1050" b="1">
                <a:solidFill>
                  <a:srgbClr val="00833C"/>
                </a:solidFill>
              </a:defRPr>
            </a:pPr>
            <a:r>
              <a:rPr sz="1050" b="1">
                <a:solidFill>
                  <a:srgbClr val="00833C"/>
                </a:solidFill>
              </a:rPr>
              <a:t>Time-series snapshots</a:t>
            </a:r>
          </a:p>
        </p:txBody>
      </p:sp>
      <p:sp>
        <p:nvSpPr>
          <p:cNvPr id="29" name="Restoration paths-capability">
            <a:extLst>
              <a:ext uri="{FF2B5EF4-FFF2-40B4-BE49-F238E27FC236}">
                <a16:creationId xmlns:a16="http://schemas.microsoft.com/office/drawing/2014/main" id="{DBF995CD-1920-4CCF-968A-BF6D8F3A4166}"/>
              </a:ext>
            </a:extLst>
          </p:cNvPr>
          <p:cNvSpPr>
            <a:spLocks noGrp="1"/>
          </p:cNvSpPr>
          <p:nvPr/>
        </p:nvSpPr>
        <p:spPr>
          <a:xfrm>
            <a:off x="3831167" y="4524375"/>
            <a:ext cx="2333625" cy="1104900"/>
          </a:xfrm>
          <a:prstGeom prst="roundRect">
            <a:avLst>
              <a:gd name="adj" fmla="val 6522"/>
            </a:avLst>
          </a:prstGeom>
          <a:solidFill>
            <a:srgbClr val="FFFFFF"/>
          </a:solidFill>
          <a:ln w="11430">
            <a:solidFill>
              <a:srgbClr val="DCE7DD"/>
            </a:solidFill>
            <a:prstDash val="solid"/>
          </a:ln>
        </p:spPr>
        <p:txBody>
          <a:bodyPr/>
          <a:lstStyle/>
          <a:p>
            <a:endParaRPr lang="en-US" sz="3600"/>
          </a:p>
        </p:txBody>
      </p:sp>
      <p:sp>
        <p:nvSpPr>
          <p:cNvPr id="30" name="Restoration paths-title">
            <a:extLst>
              <a:ext uri="{FF2B5EF4-FFF2-40B4-BE49-F238E27FC236}">
                <a16:creationId xmlns:a16="http://schemas.microsoft.com/office/drawing/2014/main" id="{FC868602-4E3B-4A46-BD8A-4B2F07FE7FB6}"/>
              </a:ext>
            </a:extLst>
          </p:cNvPr>
          <p:cNvSpPr>
            <a:spLocks noGrp="1"/>
          </p:cNvSpPr>
          <p:nvPr/>
        </p:nvSpPr>
        <p:spPr>
          <a:xfrm>
            <a:off x="3945467" y="4610100"/>
            <a:ext cx="2105025" cy="228600"/>
          </a:xfrm>
          <a:prstGeom prst="rect">
            <a:avLst/>
          </a:prstGeom>
          <a:noFill/>
          <a:ln w="0">
            <a:noFill/>
            <a:prstDash val="solid"/>
          </a:ln>
        </p:spPr>
        <p:txBody>
          <a:bodyPr/>
          <a:lstStyle/>
          <a:p>
            <a:pPr algn="ctr">
              <a:defRPr sz="1050" b="1">
                <a:solidFill>
                  <a:srgbClr val="00619B"/>
                </a:solidFill>
              </a:defRPr>
            </a:pPr>
            <a:r>
              <a:rPr sz="1050" b="1" dirty="0">
                <a:solidFill>
                  <a:srgbClr val="00619B"/>
                </a:solidFill>
              </a:rPr>
              <a:t>Restoration paths</a:t>
            </a:r>
          </a:p>
        </p:txBody>
      </p:sp>
      <p:sp>
        <p:nvSpPr>
          <p:cNvPr id="32" name="Weather context-capability">
            <a:extLst>
              <a:ext uri="{FF2B5EF4-FFF2-40B4-BE49-F238E27FC236}">
                <a16:creationId xmlns:a16="http://schemas.microsoft.com/office/drawing/2014/main" id="{20A60267-09F1-470B-9B78-EE761CB0F84B}"/>
              </a:ext>
            </a:extLst>
          </p:cNvPr>
          <p:cNvSpPr>
            <a:spLocks noGrp="1"/>
          </p:cNvSpPr>
          <p:nvPr/>
        </p:nvSpPr>
        <p:spPr>
          <a:xfrm>
            <a:off x="6421967" y="4524375"/>
            <a:ext cx="2333625" cy="1113304"/>
          </a:xfrm>
          <a:prstGeom prst="roundRect">
            <a:avLst>
              <a:gd name="adj" fmla="val 6522"/>
            </a:avLst>
          </a:prstGeom>
          <a:solidFill>
            <a:srgbClr val="FFFFFF"/>
          </a:solidFill>
          <a:ln w="11430">
            <a:solidFill>
              <a:srgbClr val="DCE7DD"/>
            </a:solidFill>
            <a:prstDash val="solid"/>
          </a:ln>
        </p:spPr>
        <p:txBody>
          <a:bodyPr/>
          <a:lstStyle/>
          <a:p>
            <a:endParaRPr lang="en-US" sz="3600"/>
          </a:p>
        </p:txBody>
      </p:sp>
      <p:sp>
        <p:nvSpPr>
          <p:cNvPr id="33" name="Weather context-title">
            <a:extLst>
              <a:ext uri="{FF2B5EF4-FFF2-40B4-BE49-F238E27FC236}">
                <a16:creationId xmlns:a16="http://schemas.microsoft.com/office/drawing/2014/main" id="{D60EC32E-EEB3-408B-922C-A127BA7A9627}"/>
              </a:ext>
            </a:extLst>
          </p:cNvPr>
          <p:cNvSpPr>
            <a:spLocks noGrp="1"/>
          </p:cNvSpPr>
          <p:nvPr/>
        </p:nvSpPr>
        <p:spPr>
          <a:xfrm>
            <a:off x="6536267" y="4610100"/>
            <a:ext cx="2105025" cy="228600"/>
          </a:xfrm>
          <a:prstGeom prst="rect">
            <a:avLst/>
          </a:prstGeom>
          <a:noFill/>
          <a:ln w="0">
            <a:noFill/>
            <a:prstDash val="solid"/>
          </a:ln>
        </p:spPr>
        <p:txBody>
          <a:bodyPr/>
          <a:lstStyle/>
          <a:p>
            <a:pPr algn="ctr">
              <a:defRPr sz="1050" b="1">
                <a:solidFill>
                  <a:srgbClr val="D98200"/>
                </a:solidFill>
              </a:defRPr>
            </a:pPr>
            <a:r>
              <a:rPr sz="1050" b="1">
                <a:solidFill>
                  <a:srgbClr val="D98200"/>
                </a:solidFill>
              </a:rPr>
              <a:t>Weather context</a:t>
            </a:r>
          </a:p>
        </p:txBody>
      </p:sp>
      <p:sp>
        <p:nvSpPr>
          <p:cNvPr id="35" name="Heterogeneous graph-capability">
            <a:extLst>
              <a:ext uri="{FF2B5EF4-FFF2-40B4-BE49-F238E27FC236}">
                <a16:creationId xmlns:a16="http://schemas.microsoft.com/office/drawing/2014/main" id="{7EC58F68-A449-4864-A2A7-66B95A9C80D4}"/>
              </a:ext>
            </a:extLst>
          </p:cNvPr>
          <p:cNvSpPr>
            <a:spLocks noGrp="1"/>
          </p:cNvSpPr>
          <p:nvPr/>
        </p:nvSpPr>
        <p:spPr>
          <a:xfrm>
            <a:off x="9012767" y="4524374"/>
            <a:ext cx="2333625" cy="1104899"/>
          </a:xfrm>
          <a:prstGeom prst="roundRect">
            <a:avLst>
              <a:gd name="adj" fmla="val 6522"/>
            </a:avLst>
          </a:prstGeom>
          <a:solidFill>
            <a:srgbClr val="FFFFFF"/>
          </a:solidFill>
          <a:ln w="11430">
            <a:solidFill>
              <a:srgbClr val="DCE7DD"/>
            </a:solidFill>
            <a:prstDash val="solid"/>
          </a:ln>
        </p:spPr>
        <p:txBody>
          <a:bodyPr/>
          <a:lstStyle/>
          <a:p>
            <a:endParaRPr lang="en-US" sz="3600"/>
          </a:p>
        </p:txBody>
      </p:sp>
      <p:sp>
        <p:nvSpPr>
          <p:cNvPr id="36" name="Heterogeneous graph-title">
            <a:extLst>
              <a:ext uri="{FF2B5EF4-FFF2-40B4-BE49-F238E27FC236}">
                <a16:creationId xmlns:a16="http://schemas.microsoft.com/office/drawing/2014/main" id="{12A03438-A1B8-4216-9942-6B28FC6F9683}"/>
              </a:ext>
            </a:extLst>
          </p:cNvPr>
          <p:cNvSpPr>
            <a:spLocks noGrp="1"/>
          </p:cNvSpPr>
          <p:nvPr/>
        </p:nvSpPr>
        <p:spPr>
          <a:xfrm>
            <a:off x="9127067" y="4610100"/>
            <a:ext cx="2105025" cy="228600"/>
          </a:xfrm>
          <a:prstGeom prst="rect">
            <a:avLst/>
          </a:prstGeom>
          <a:noFill/>
          <a:ln w="0">
            <a:noFill/>
            <a:prstDash val="solid"/>
          </a:ln>
        </p:spPr>
        <p:txBody>
          <a:bodyPr/>
          <a:lstStyle/>
          <a:p>
            <a:pPr algn="ctr">
              <a:defRPr sz="1050" b="1">
                <a:solidFill>
                  <a:srgbClr val="006341"/>
                </a:solidFill>
              </a:defRPr>
            </a:pPr>
            <a:r>
              <a:rPr sz="1050" b="1">
                <a:solidFill>
                  <a:srgbClr val="006341"/>
                </a:solidFill>
              </a:rPr>
              <a:t>Heterogeneous graph</a:t>
            </a:r>
          </a:p>
        </p:txBody>
      </p:sp>
      <p:sp>
        <p:nvSpPr>
          <p:cNvPr id="38" name="bottom-takeaway">
            <a:extLst>
              <a:ext uri="{FF2B5EF4-FFF2-40B4-BE49-F238E27FC236}">
                <a16:creationId xmlns:a16="http://schemas.microsoft.com/office/drawing/2014/main" id="{902B0416-0A98-44A7-BFDB-5D94ED0E6BAD}"/>
              </a:ext>
            </a:extLst>
          </p:cNvPr>
          <p:cNvSpPr>
            <a:spLocks noGrp="1"/>
          </p:cNvSpPr>
          <p:nvPr/>
        </p:nvSpPr>
        <p:spPr>
          <a:xfrm>
            <a:off x="1312167" y="6010275"/>
            <a:ext cx="9763125" cy="342900"/>
          </a:xfrm>
          <a:prstGeom prst="rect">
            <a:avLst/>
          </a:prstGeom>
          <a:noFill/>
          <a:ln w="0">
            <a:noFill/>
            <a:prstDash val="solid"/>
          </a:ln>
        </p:spPr>
        <p:txBody>
          <a:bodyPr/>
          <a:lstStyle/>
          <a:p>
            <a:pPr algn="ctr">
              <a:defRPr sz="1350" b="1">
                <a:solidFill>
                  <a:srgbClr val="006341"/>
                </a:solidFill>
              </a:defRPr>
            </a:pPr>
            <a:r>
              <a:rPr sz="1350" b="1" dirty="0">
                <a:solidFill>
                  <a:srgbClr val="006341"/>
                </a:solidFill>
              </a:rPr>
              <a:t>Novelty: </a:t>
            </a:r>
            <a:r>
              <a:rPr sz="1350" b="1" dirty="0" err="1">
                <a:solidFill>
                  <a:srgbClr val="006341"/>
                </a:solidFill>
              </a:rPr>
              <a:t>GridSense</a:t>
            </a:r>
            <a:r>
              <a:rPr sz="1350" b="1" dirty="0">
                <a:solidFill>
                  <a:srgbClr val="006341"/>
                </a:solidFill>
              </a:rPr>
              <a:t> turns European standard grid data into a solid graph-grounded evidence layer for LLM-based operation support.</a:t>
            </a:r>
          </a:p>
        </p:txBody>
      </p:sp>
      <p:pic>
        <p:nvPicPr>
          <p:cNvPr id="2" name="Picture 1">
            <a:extLst>
              <a:ext uri="{FF2B5EF4-FFF2-40B4-BE49-F238E27FC236}">
                <a16:creationId xmlns:a16="http://schemas.microsoft.com/office/drawing/2014/main" id="{3FC71127-D91C-67C3-A35B-17F8238FE3F4}"/>
              </a:ext>
            </a:extLst>
          </p:cNvPr>
          <p:cNvPicPr>
            <a:picLocks noChangeAspect="1"/>
          </p:cNvPicPr>
          <p:nvPr/>
        </p:nvPicPr>
        <p:blipFill>
          <a:blip r:embed="rId3"/>
          <a:stretch>
            <a:fillRect/>
          </a:stretch>
        </p:blipFill>
        <p:spPr>
          <a:xfrm>
            <a:off x="2072216" y="4892674"/>
            <a:ext cx="669926" cy="669926"/>
          </a:xfrm>
          <a:prstGeom prst="rect">
            <a:avLst/>
          </a:prstGeom>
        </p:spPr>
      </p:pic>
      <p:pic>
        <p:nvPicPr>
          <p:cNvPr id="40" name="Picture 39">
            <a:extLst>
              <a:ext uri="{FF2B5EF4-FFF2-40B4-BE49-F238E27FC236}">
                <a16:creationId xmlns:a16="http://schemas.microsoft.com/office/drawing/2014/main" id="{C4BE2A43-ABCF-07EA-8FFF-9827C5AAD313}"/>
              </a:ext>
            </a:extLst>
          </p:cNvPr>
          <p:cNvPicPr>
            <a:picLocks noChangeAspect="1"/>
          </p:cNvPicPr>
          <p:nvPr/>
        </p:nvPicPr>
        <p:blipFill>
          <a:blip r:embed="rId4"/>
          <a:stretch>
            <a:fillRect/>
          </a:stretch>
        </p:blipFill>
        <p:spPr>
          <a:xfrm>
            <a:off x="7281332" y="4848878"/>
            <a:ext cx="614892" cy="614892"/>
          </a:xfrm>
          <a:prstGeom prst="rect">
            <a:avLst/>
          </a:prstGeom>
        </p:spPr>
      </p:pic>
      <p:pic>
        <p:nvPicPr>
          <p:cNvPr id="41" name="Picture 40">
            <a:extLst>
              <a:ext uri="{FF2B5EF4-FFF2-40B4-BE49-F238E27FC236}">
                <a16:creationId xmlns:a16="http://schemas.microsoft.com/office/drawing/2014/main" id="{FDCFAA4F-1519-DB50-50E5-E40D01FA0417}"/>
              </a:ext>
            </a:extLst>
          </p:cNvPr>
          <p:cNvPicPr>
            <a:picLocks noChangeAspect="1"/>
          </p:cNvPicPr>
          <p:nvPr/>
        </p:nvPicPr>
        <p:blipFill>
          <a:blip r:embed="rId5"/>
          <a:stretch>
            <a:fillRect/>
          </a:stretch>
        </p:blipFill>
        <p:spPr>
          <a:xfrm>
            <a:off x="4654550" y="4871508"/>
            <a:ext cx="614892" cy="614892"/>
          </a:xfrm>
          <a:prstGeom prst="rect">
            <a:avLst/>
          </a:prstGeom>
        </p:spPr>
      </p:pic>
      <p:pic>
        <p:nvPicPr>
          <p:cNvPr id="42" name="Picture 41">
            <a:extLst>
              <a:ext uri="{FF2B5EF4-FFF2-40B4-BE49-F238E27FC236}">
                <a16:creationId xmlns:a16="http://schemas.microsoft.com/office/drawing/2014/main" id="{781E1767-E654-7719-D030-E41EFF8C9CFA}"/>
              </a:ext>
            </a:extLst>
          </p:cNvPr>
          <p:cNvPicPr>
            <a:picLocks noChangeAspect="1"/>
          </p:cNvPicPr>
          <p:nvPr/>
        </p:nvPicPr>
        <p:blipFill>
          <a:blip r:embed="rId6"/>
          <a:stretch>
            <a:fillRect/>
          </a:stretch>
        </p:blipFill>
        <p:spPr>
          <a:xfrm>
            <a:off x="9895945" y="4865096"/>
            <a:ext cx="639793" cy="639793"/>
          </a:xfrm>
          <a:prstGeom prst="rect">
            <a:avLst/>
          </a:prstGeom>
        </p:spPr>
      </p:pic>
      <p:sp>
        <p:nvSpPr>
          <p:cNvPr id="43" name="Text Placeholder 1">
            <a:extLst>
              <a:ext uri="{FF2B5EF4-FFF2-40B4-BE49-F238E27FC236}">
                <a16:creationId xmlns:a16="http://schemas.microsoft.com/office/drawing/2014/main" id="{EE49FDF5-E9B7-C838-FDC0-A28CD6C5D951}"/>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lang="en-US" sz="2400" dirty="0" err="1">
                <a:solidFill>
                  <a:srgbClr val="00833C"/>
                </a:solidFill>
              </a:rPr>
              <a:t>GridSense</a:t>
            </a:r>
            <a:r>
              <a:rPr lang="en-US" sz="2400" dirty="0">
                <a:solidFill>
                  <a:srgbClr val="00833C"/>
                </a:solidFill>
              </a:rPr>
              <a:t> Novelty</a:t>
            </a:r>
            <a:endParaRPr sz="2400" b="1" dirty="0">
              <a:solidFill>
                <a:srgbClr val="00833C"/>
              </a:solidFill>
              <a:latin typeface="Calibri"/>
              <a:ea typeface="Calibri"/>
              <a:cs typeface="Calibri"/>
            </a:endParaRPr>
          </a:p>
        </p:txBody>
      </p:sp>
      <p:sp>
        <p:nvSpPr>
          <p:cNvPr id="45" name="Text Placeholder 2">
            <a:extLst>
              <a:ext uri="{FF2B5EF4-FFF2-40B4-BE49-F238E27FC236}">
                <a16:creationId xmlns:a16="http://schemas.microsoft.com/office/drawing/2014/main" id="{1E2E8A59-2D0C-5108-8268-52334B366C8B}"/>
              </a:ext>
            </a:extLst>
          </p:cNvPr>
          <p:cNvSpPr>
            <a:spLocks noGrp="1"/>
          </p:cNvSpPr>
          <p:nvPr>
            <p:ph type="body" idx="11"/>
          </p:nvPr>
        </p:nvSpPr>
        <p:spPr>
          <a:xfrm>
            <a:off x="838200" y="1066800"/>
            <a:ext cx="10744200" cy="876300"/>
          </a:xfrm>
        </p:spPr>
        <p:txBody>
          <a:bodyPr/>
          <a:lstStyle/>
          <a:p>
            <a:pPr>
              <a:defRPr sz="2100">
                <a:solidFill>
                  <a:srgbClr val="111111"/>
                </a:solidFill>
              </a:defRPr>
            </a:pPr>
            <a:r>
              <a:rPr lang="en-US" sz="2800" b="1" dirty="0" err="1">
                <a:solidFill>
                  <a:srgbClr val="111111"/>
                </a:solidFill>
              </a:rPr>
              <a:t>GridSense</a:t>
            </a:r>
            <a:r>
              <a:rPr lang="en-US" sz="2800" b="1" dirty="0">
                <a:solidFill>
                  <a:srgbClr val="111111"/>
                </a:solidFill>
              </a:rPr>
              <a:t> grounds in Knowledge Graph</a:t>
            </a:r>
          </a:p>
        </p:txBody>
      </p:sp>
      <p:sp>
        <p:nvSpPr>
          <p:cNvPr id="50" name="Time-series snapshots-body">
            <a:extLst>
              <a:ext uri="{FF2B5EF4-FFF2-40B4-BE49-F238E27FC236}">
                <a16:creationId xmlns:a16="http://schemas.microsoft.com/office/drawing/2014/main" id="{45893477-14C7-6EFA-4860-F9A4D3B1B5D8}"/>
              </a:ext>
            </a:extLst>
          </p:cNvPr>
          <p:cNvSpPr>
            <a:spLocks noGrp="1"/>
          </p:cNvSpPr>
          <p:nvPr/>
        </p:nvSpPr>
        <p:spPr>
          <a:xfrm>
            <a:off x="1249892" y="8023577"/>
            <a:ext cx="2066925" cy="476250"/>
          </a:xfrm>
          <a:prstGeom prst="rect">
            <a:avLst/>
          </a:prstGeom>
          <a:noFill/>
          <a:ln w="0">
            <a:noFill/>
            <a:prstDash val="solid"/>
          </a:ln>
        </p:spPr>
        <p:txBody>
          <a:bodyPr/>
          <a:lstStyle/>
          <a:p>
            <a:pPr algn="ctr">
              <a:defRPr sz="863">
                <a:solidFill>
                  <a:srgbClr val="111111"/>
                </a:solidFill>
              </a:defRPr>
            </a:pPr>
            <a:r>
              <a:rPr sz="1200" dirty="0">
                <a:solidFill>
                  <a:srgbClr val="111111"/>
                </a:solidFill>
              </a:rPr>
              <a:t>Operating states are linked to the same equipment graph.</a:t>
            </a:r>
          </a:p>
        </p:txBody>
      </p:sp>
      <p:sp>
        <p:nvSpPr>
          <p:cNvPr id="51" name="Restoration paths-body">
            <a:extLst>
              <a:ext uri="{FF2B5EF4-FFF2-40B4-BE49-F238E27FC236}">
                <a16:creationId xmlns:a16="http://schemas.microsoft.com/office/drawing/2014/main" id="{22285150-D4C1-2109-FCBC-F1D5E91EA347}"/>
              </a:ext>
            </a:extLst>
          </p:cNvPr>
          <p:cNvSpPr>
            <a:spLocks noGrp="1"/>
          </p:cNvSpPr>
          <p:nvPr/>
        </p:nvSpPr>
        <p:spPr>
          <a:xfrm>
            <a:off x="3964516" y="8023577"/>
            <a:ext cx="2066925" cy="476250"/>
          </a:xfrm>
          <a:prstGeom prst="rect">
            <a:avLst/>
          </a:prstGeom>
          <a:noFill/>
          <a:ln w="0">
            <a:noFill/>
            <a:prstDash val="solid"/>
          </a:ln>
        </p:spPr>
        <p:txBody>
          <a:bodyPr/>
          <a:lstStyle/>
          <a:p>
            <a:pPr algn="ctr">
              <a:defRPr sz="863">
                <a:solidFill>
                  <a:srgbClr val="111111"/>
                </a:solidFill>
              </a:defRPr>
            </a:pPr>
            <a:r>
              <a:rPr sz="1200" dirty="0">
                <a:solidFill>
                  <a:srgbClr val="111111"/>
                </a:solidFill>
              </a:rPr>
              <a:t>Shortest-path search supports candidate energization routes.</a:t>
            </a:r>
          </a:p>
        </p:txBody>
      </p:sp>
      <p:sp>
        <p:nvSpPr>
          <p:cNvPr id="52" name="Weather context-body">
            <a:extLst>
              <a:ext uri="{FF2B5EF4-FFF2-40B4-BE49-F238E27FC236}">
                <a16:creationId xmlns:a16="http://schemas.microsoft.com/office/drawing/2014/main" id="{E0613C44-56E7-3C85-82E2-C49C8E7C5A65}"/>
              </a:ext>
            </a:extLst>
          </p:cNvPr>
          <p:cNvSpPr>
            <a:spLocks noGrp="1"/>
          </p:cNvSpPr>
          <p:nvPr/>
        </p:nvSpPr>
        <p:spPr>
          <a:xfrm>
            <a:off x="6555315" y="8051873"/>
            <a:ext cx="2066925" cy="476250"/>
          </a:xfrm>
          <a:prstGeom prst="rect">
            <a:avLst/>
          </a:prstGeom>
          <a:noFill/>
          <a:ln w="0">
            <a:noFill/>
            <a:prstDash val="solid"/>
          </a:ln>
        </p:spPr>
        <p:txBody>
          <a:bodyPr/>
          <a:lstStyle/>
          <a:p>
            <a:pPr algn="ctr">
              <a:defRPr sz="863">
                <a:solidFill>
                  <a:srgbClr val="111111"/>
                </a:solidFill>
              </a:defRPr>
            </a:pPr>
            <a:r>
              <a:rPr sz="1200" dirty="0">
                <a:solidFill>
                  <a:srgbClr val="111111"/>
                </a:solidFill>
              </a:rPr>
              <a:t>External risk data can enrich topology-aware decisions.</a:t>
            </a:r>
          </a:p>
        </p:txBody>
      </p:sp>
      <p:sp>
        <p:nvSpPr>
          <p:cNvPr id="53" name="Heterogeneous graph-body">
            <a:extLst>
              <a:ext uri="{FF2B5EF4-FFF2-40B4-BE49-F238E27FC236}">
                <a16:creationId xmlns:a16="http://schemas.microsoft.com/office/drawing/2014/main" id="{28D0EDCA-9294-1D16-6D33-19C3876085A1}"/>
              </a:ext>
            </a:extLst>
          </p:cNvPr>
          <p:cNvSpPr>
            <a:spLocks noGrp="1"/>
          </p:cNvSpPr>
          <p:nvPr/>
        </p:nvSpPr>
        <p:spPr>
          <a:xfrm>
            <a:off x="9146116" y="8023577"/>
            <a:ext cx="2066925" cy="476250"/>
          </a:xfrm>
          <a:prstGeom prst="rect">
            <a:avLst/>
          </a:prstGeom>
          <a:noFill/>
          <a:ln w="0">
            <a:noFill/>
            <a:prstDash val="solid"/>
          </a:ln>
        </p:spPr>
        <p:txBody>
          <a:bodyPr/>
          <a:lstStyle/>
          <a:p>
            <a:pPr algn="ctr">
              <a:defRPr sz="863">
                <a:solidFill>
                  <a:srgbClr val="111111"/>
                </a:solidFill>
              </a:defRPr>
            </a:pPr>
            <a:r>
              <a:rPr sz="1200" dirty="0">
                <a:solidFill>
                  <a:srgbClr val="111111"/>
                </a:solidFill>
              </a:rPr>
              <a:t>Grid, time, weather, documents, and analysis outputs share one evidence layer.</a:t>
            </a:r>
          </a:p>
        </p:txBody>
      </p:sp>
      <p:sp>
        <p:nvSpPr>
          <p:cNvPr id="3" name="TextBox 2">
            <a:extLst>
              <a:ext uri="{FF2B5EF4-FFF2-40B4-BE49-F238E27FC236}">
                <a16:creationId xmlns:a16="http://schemas.microsoft.com/office/drawing/2014/main" id="{AD8F040C-DF6D-B886-0F74-BA4A578B4EB1}"/>
              </a:ext>
            </a:extLst>
          </p:cNvPr>
          <p:cNvSpPr txBox="1"/>
          <p:nvPr/>
        </p:nvSpPr>
        <p:spPr>
          <a:xfrm>
            <a:off x="860424" y="1676995"/>
            <a:ext cx="10342033" cy="923330"/>
          </a:xfrm>
          <a:prstGeom prst="rect">
            <a:avLst/>
          </a:prstGeom>
          <a:noFill/>
        </p:spPr>
        <p:txBody>
          <a:bodyPr wrap="square" rtlCol="0">
            <a:spAutoFit/>
          </a:bodyPr>
          <a:lstStyle/>
          <a:p>
            <a:r>
              <a:rPr lang="en-US" sz="1800" dirty="0">
                <a:solidFill>
                  <a:srgbClr val="4A4A4A"/>
                </a:solidFill>
              </a:rPr>
              <a:t>Compared with generic LLM-agent grid frameworks, </a:t>
            </a:r>
            <a:r>
              <a:rPr lang="en-US" sz="1800" dirty="0" err="1">
                <a:solidFill>
                  <a:srgbClr val="4A4A4A"/>
                </a:solidFill>
              </a:rPr>
              <a:t>GridSense</a:t>
            </a:r>
            <a:r>
              <a:rPr lang="en-US" sz="1800" dirty="0">
                <a:solidFill>
                  <a:srgbClr val="4A4A4A"/>
                </a:solidFill>
              </a:rPr>
              <a:t> starts from CGMES/CIM and turns the grid model into a </a:t>
            </a:r>
            <a:r>
              <a:rPr lang="en-US" sz="1800" dirty="0" err="1">
                <a:solidFill>
                  <a:srgbClr val="4A4A4A"/>
                </a:solidFill>
              </a:rPr>
              <a:t>queryable</a:t>
            </a:r>
            <a:r>
              <a:rPr lang="en-US" sz="1800" dirty="0">
                <a:solidFill>
                  <a:srgbClr val="4A4A4A"/>
                </a:solidFill>
              </a:rPr>
              <a:t> heterogeneous Neo4j graph.</a:t>
            </a:r>
          </a:p>
          <a:p>
            <a:endParaRPr lang="en-US" dirty="0"/>
          </a:p>
        </p:txBody>
      </p:sp>
    </p:spTree>
    <p:extLst>
      <p:ext uri="{BB962C8B-B14F-4D97-AF65-F5344CB8AC3E}">
        <p14:creationId xmlns:p14="http://schemas.microsoft.com/office/powerpoint/2010/main" val="2779816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lang="en-US" sz="2400" b="1" dirty="0">
                <a:solidFill>
                  <a:srgbClr val="00833C"/>
                </a:solidFill>
                <a:latin typeface="Calibri"/>
                <a:ea typeface="Calibri"/>
                <a:cs typeface="Calibri"/>
              </a:rPr>
              <a:t>Demo 1</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lang="en-US" sz="2925" b="1" dirty="0">
                <a:solidFill>
                  <a:srgbClr val="111111"/>
                </a:solidFill>
                <a:latin typeface="Calibri"/>
                <a:ea typeface="Calibri"/>
                <a:cs typeface="Calibri"/>
              </a:rPr>
              <a:t>The visible product is a grid interface, not a </a:t>
            </a:r>
            <a:r>
              <a:rPr lang="en-US" sz="2925" dirty="0">
                <a:solidFill>
                  <a:srgbClr val="111111"/>
                </a:solidFill>
              </a:rPr>
              <a:t>simple chat UI</a:t>
            </a:r>
            <a:endParaRPr lang="en-US" sz="2925" b="1" dirty="0">
              <a:solidFill>
                <a:srgbClr val="111111"/>
              </a:solidFill>
              <a:latin typeface="Calibri"/>
              <a:ea typeface="Calibri"/>
              <a:cs typeface="Calibri"/>
            </a:endParaRPr>
          </a:p>
        </p:txBody>
      </p:sp>
      <p:pic>
        <p:nvPicPr>
          <p:cNvPr id="21" name="Picture 20"/>
          <p:cNvPicPr>
            <a:picLocks noChangeAspect="1"/>
          </p:cNvPicPr>
          <p:nvPr/>
        </p:nvPicPr>
        <p:blipFill>
          <a:blip r:embed="rId3"/>
          <a:srcRect t="18667" b="18667"/>
          <a:stretch>
            <a:fillRect/>
          </a:stretch>
        </p:blipFill>
        <p:spPr>
          <a:xfrm>
            <a:off x="4686301" y="2905124"/>
            <a:ext cx="5905500" cy="3095625"/>
          </a:xfrm>
          <a:prstGeom prst="roundRect">
            <a:avLst>
              <a:gd name="adj" fmla="val 1846"/>
            </a:avLst>
          </a:prstGeom>
        </p:spPr>
      </p:pic>
      <p:pic>
        <p:nvPicPr>
          <p:cNvPr id="11" name="Picture 10">
            <a:extLst>
              <a:ext uri="{FF2B5EF4-FFF2-40B4-BE49-F238E27FC236}">
                <a16:creationId xmlns:a16="http://schemas.microsoft.com/office/drawing/2014/main" id="{A6D419D5-38D8-B9DD-8FDB-4FBE220510A0}"/>
              </a:ext>
            </a:extLst>
          </p:cNvPr>
          <p:cNvPicPr>
            <a:picLocks noChangeAspect="1"/>
          </p:cNvPicPr>
          <p:nvPr/>
        </p:nvPicPr>
        <p:blipFill>
          <a:blip r:embed="rId4"/>
          <a:srcRect l="21346" t="11633" r="30095" b="-11633"/>
          <a:stretch/>
        </p:blipFill>
        <p:spPr>
          <a:xfrm>
            <a:off x="838200" y="2905124"/>
            <a:ext cx="3714751" cy="3635100"/>
          </a:xfrm>
          <a:prstGeom prst="rect">
            <a:avLst/>
          </a:prstGeom>
        </p:spPr>
      </p:pic>
      <p:sp>
        <p:nvSpPr>
          <p:cNvPr id="5" name="TextBox 4">
            <a:extLst>
              <a:ext uri="{FF2B5EF4-FFF2-40B4-BE49-F238E27FC236}">
                <a16:creationId xmlns:a16="http://schemas.microsoft.com/office/drawing/2014/main" id="{EB3E2AAD-17E0-F385-039A-55D8264DDE1C}"/>
              </a:ext>
            </a:extLst>
          </p:cNvPr>
          <p:cNvSpPr txBox="1"/>
          <p:nvPr/>
        </p:nvSpPr>
        <p:spPr>
          <a:xfrm>
            <a:off x="838200" y="1957647"/>
            <a:ext cx="11316688" cy="646331"/>
          </a:xfrm>
          <a:prstGeom prst="rect">
            <a:avLst/>
          </a:prstGeom>
          <a:noFill/>
        </p:spPr>
        <p:txBody>
          <a:bodyPr wrap="none" rtlCol="0">
            <a:spAutoFit/>
          </a:bodyPr>
          <a:lstStyle/>
          <a:p>
            <a:r>
              <a:rPr lang="en-US" sz="1800" dirty="0">
                <a:solidFill>
                  <a:srgbClr val="4A4A4A"/>
                </a:solidFill>
                <a:latin typeface="Calibri"/>
                <a:ea typeface="Calibri"/>
                <a:cs typeface="Calibri"/>
              </a:rPr>
              <a:t>The operator can ask a natural-language question, inspect the returned answer, and see the executed Cypher for audit.</a:t>
            </a:r>
          </a:p>
          <a:p>
            <a:endParaRPr lang="en-US" dirty="0"/>
          </a:p>
        </p:txBody>
      </p:sp>
    </p:spTree>
    <p:extLst>
      <p:ext uri="{BB962C8B-B14F-4D97-AF65-F5344CB8AC3E}">
        <p14:creationId xmlns:p14="http://schemas.microsoft.com/office/powerpoint/2010/main" val="1932589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C6638-AC60-8387-83AC-11F598F3D9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73CCEBE-ADAB-A2E1-2A3A-E5122292F592}"/>
              </a:ext>
            </a:extLst>
          </p:cNvPr>
          <p:cNvSpPr>
            <a:spLocks noGrp="1"/>
          </p:cNvSpPr>
          <p:nvPr>
            <p:ph type="body" idx="10"/>
          </p:nvPr>
        </p:nvSpPr>
        <p:spPr/>
        <p:txBody>
          <a:bodyPr/>
          <a:lstStyle/>
          <a:p>
            <a:endParaRPr lang="en-US"/>
          </a:p>
        </p:txBody>
      </p:sp>
      <p:sp>
        <p:nvSpPr>
          <p:cNvPr id="3" name="Text Placeholder 2">
            <a:extLst>
              <a:ext uri="{FF2B5EF4-FFF2-40B4-BE49-F238E27FC236}">
                <a16:creationId xmlns:a16="http://schemas.microsoft.com/office/drawing/2014/main" id="{32D8F8D2-B6C0-A0A8-E43F-F66647106267}"/>
              </a:ext>
            </a:extLst>
          </p:cNvPr>
          <p:cNvSpPr>
            <a:spLocks noGrp="1"/>
          </p:cNvSpPr>
          <p:nvPr>
            <p:ph type="body" idx="11"/>
          </p:nvPr>
        </p:nvSpPr>
        <p:spPr/>
        <p:txBody>
          <a:bodyPr/>
          <a:lstStyle/>
          <a:p>
            <a:endParaRPr lang="en-US"/>
          </a:p>
        </p:txBody>
      </p:sp>
      <p:pic>
        <p:nvPicPr>
          <p:cNvPr id="4" name="1_plus_2_plus_3_timeseries_first_12.88s_2x">
            <a:hlinkClick r:id="" action="ppaction://media"/>
            <a:extLst>
              <a:ext uri="{FF2B5EF4-FFF2-40B4-BE49-F238E27FC236}">
                <a16:creationId xmlns:a16="http://schemas.microsoft.com/office/drawing/2014/main" id="{91AB48BD-E165-9029-C11D-807A841AFBF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350" y="4763"/>
            <a:ext cx="12192000" cy="6858000"/>
          </a:xfrm>
          <a:prstGeom prst="rect">
            <a:avLst/>
          </a:prstGeom>
        </p:spPr>
      </p:pic>
    </p:spTree>
    <p:extLst>
      <p:ext uri="{BB962C8B-B14F-4D97-AF65-F5344CB8AC3E}">
        <p14:creationId xmlns:p14="http://schemas.microsoft.com/office/powerpoint/2010/main" val="143150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98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dirty="0">
                <a:solidFill>
                  <a:srgbClr val="00833C"/>
                </a:solidFill>
                <a:latin typeface="Calibri"/>
                <a:ea typeface="Calibri"/>
                <a:cs typeface="Calibri"/>
              </a:rPr>
              <a:t>Demo </a:t>
            </a:r>
            <a:r>
              <a:rPr lang="en-US" sz="2400" dirty="0">
                <a:solidFill>
                  <a:srgbClr val="00833C"/>
                </a:solidFill>
              </a:rPr>
              <a:t>2</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Restoration support turns graph search into operator options</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66775" y="1747838"/>
            <a:ext cx="10515600" cy="590550"/>
          </a:xfrm>
        </p:spPr>
        <p:txBody>
          <a:bodyPr>
            <a:noAutofit/>
          </a:bodyPr>
          <a:lstStyle/>
          <a:p>
            <a:pPr>
              <a:defRPr sz="1575">
                <a:solidFill>
                  <a:srgbClr val="4A4A4A"/>
                </a:solidFill>
                <a:latin typeface="Calibri"/>
                <a:ea typeface="Calibri"/>
                <a:cs typeface="Calibri"/>
              </a:defRPr>
            </a:pPr>
            <a:r>
              <a:rPr sz="1800" dirty="0">
                <a:solidFill>
                  <a:srgbClr val="4A4A4A"/>
                </a:solidFill>
                <a:latin typeface="Calibri"/>
                <a:ea typeface="Calibri"/>
                <a:cs typeface="Calibri"/>
              </a:rPr>
              <a:t>Outage simulation -&gt; energized/de-energized area detection -&gt; candidate energization routes -&gt; switching actions for human review.</a:t>
            </a:r>
          </a:p>
        </p:txBody>
      </p:sp>
      <p:sp>
        <p:nvSpPr>
          <p:cNvPr id="5" name="box">
            <a:extLst>
              <a:ext uri="{FF2B5EF4-FFF2-40B4-BE49-F238E27FC236}">
                <a16:creationId xmlns:a16="http://schemas.microsoft.com/office/drawing/2014/main" id="{A1EBCD84-6FB3-487F-8355-624B95B0C341}"/>
              </a:ext>
            </a:extLst>
          </p:cNvPr>
          <p:cNvSpPr>
            <a:spLocks noGrp="1"/>
          </p:cNvSpPr>
          <p:nvPr/>
        </p:nvSpPr>
        <p:spPr>
          <a:xfrm>
            <a:off x="8667750" y="3000375"/>
            <a:ext cx="2095500" cy="323850"/>
          </a:xfrm>
          <a:prstGeom prst="roundRect">
            <a:avLst>
              <a:gd name="adj" fmla="val 50000"/>
            </a:avLst>
          </a:prstGeom>
          <a:solidFill>
            <a:srgbClr val="EAF6EC"/>
          </a:solidFill>
          <a:ln w="9525">
            <a:solidFill>
              <a:srgbClr val="B8D8BD"/>
            </a:solidFill>
            <a:prstDash val="solid"/>
          </a:ln>
        </p:spPr>
        <p:txBody>
          <a:bodyPr/>
          <a:lstStyle/>
          <a:p>
            <a:pPr algn="ctr">
              <a:defRPr sz="1275" b="1">
                <a:solidFill>
                  <a:srgbClr val="006341"/>
                </a:solidFill>
                <a:latin typeface="Calibri"/>
                <a:ea typeface="Calibri"/>
                <a:cs typeface="Calibri"/>
              </a:defRPr>
            </a:pPr>
            <a:r>
              <a:rPr sz="1275" b="1">
                <a:solidFill>
                  <a:srgbClr val="006341"/>
                </a:solidFill>
                <a:latin typeface="Calibri"/>
                <a:ea typeface="Calibri"/>
                <a:cs typeface="Calibri"/>
              </a:rPr>
              <a:t>Demo clip: restoration</a:t>
            </a:r>
          </a:p>
        </p:txBody>
      </p:sp>
      <p:sp>
        <p:nvSpPr>
          <p:cNvPr id="6" name="box">
            <a:extLst>
              <a:ext uri="{FF2B5EF4-FFF2-40B4-BE49-F238E27FC236}">
                <a16:creationId xmlns:a16="http://schemas.microsoft.com/office/drawing/2014/main" id="{51B6582C-7440-4196-BC22-461F3B51FFC4}"/>
              </a:ext>
            </a:extLst>
          </p:cNvPr>
          <p:cNvSpPr>
            <a:spLocks noGrp="1"/>
          </p:cNvSpPr>
          <p:nvPr/>
        </p:nvSpPr>
        <p:spPr>
          <a:xfrm>
            <a:off x="8477250" y="3571875"/>
            <a:ext cx="2667000" cy="1571625"/>
          </a:xfrm>
          <a:prstGeom prst="roundRect">
            <a:avLst>
              <a:gd name="adj" fmla="val 4848"/>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text">
            <a:extLst>
              <a:ext uri="{FF2B5EF4-FFF2-40B4-BE49-F238E27FC236}">
                <a16:creationId xmlns:a16="http://schemas.microsoft.com/office/drawing/2014/main" id="{42A4E81A-5AD7-4742-890A-81A4F542DC58}"/>
              </a:ext>
            </a:extLst>
          </p:cNvPr>
          <p:cNvSpPr>
            <a:spLocks noGrp="1"/>
          </p:cNvSpPr>
          <p:nvPr/>
        </p:nvSpPr>
        <p:spPr>
          <a:xfrm>
            <a:off x="8574985" y="3717649"/>
            <a:ext cx="228600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Operator output</a:t>
            </a:r>
          </a:p>
        </p:txBody>
      </p:sp>
      <p:sp>
        <p:nvSpPr>
          <p:cNvPr id="8" name="text">
            <a:extLst>
              <a:ext uri="{FF2B5EF4-FFF2-40B4-BE49-F238E27FC236}">
                <a16:creationId xmlns:a16="http://schemas.microsoft.com/office/drawing/2014/main" id="{0C33DC47-308C-4A3C-A2FD-9369DDBE2056}"/>
              </a:ext>
            </a:extLst>
          </p:cNvPr>
          <p:cNvSpPr>
            <a:spLocks noGrp="1"/>
          </p:cNvSpPr>
          <p:nvPr/>
        </p:nvSpPr>
        <p:spPr>
          <a:xfrm>
            <a:off x="8574985" y="4127224"/>
            <a:ext cx="2476500" cy="1019175"/>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Candidate routes, ranked alternatives, and switching actions for review.</a:t>
            </a:r>
          </a:p>
        </p:txBody>
      </p:sp>
      <p:pic>
        <p:nvPicPr>
          <p:cNvPr id="17" name="Picture 16"/>
          <p:cNvPicPr>
            <a:picLocks noChangeAspect="1"/>
          </p:cNvPicPr>
          <p:nvPr/>
        </p:nvPicPr>
        <p:blipFill>
          <a:blip r:embed="rId3"/>
          <a:srcRect t="11404" b="11404"/>
          <a:stretch>
            <a:fillRect/>
          </a:stretch>
        </p:blipFill>
        <p:spPr>
          <a:xfrm>
            <a:off x="981075" y="2552700"/>
            <a:ext cx="7239000" cy="3143250"/>
          </a:xfrm>
          <a:prstGeom prst="roundRect">
            <a:avLst>
              <a:gd name="adj" fmla="val 1818"/>
            </a:avLst>
          </a:prstGeom>
        </p:spPr>
      </p:pic>
    </p:spTree>
    <p:extLst>
      <p:ext uri="{BB962C8B-B14F-4D97-AF65-F5344CB8AC3E}">
        <p14:creationId xmlns:p14="http://schemas.microsoft.com/office/powerpoint/2010/main" val="1932589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3DFA1-51F3-FED5-787C-4F4CD9743C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74EB58-303E-3463-FDBF-13C1E725FB4E}"/>
              </a:ext>
            </a:extLst>
          </p:cNvPr>
          <p:cNvSpPr>
            <a:spLocks noGrp="1"/>
          </p:cNvSpPr>
          <p:nvPr>
            <p:ph type="body" idx="10"/>
          </p:nvPr>
        </p:nvSpPr>
        <p:spPr/>
        <p:txBody>
          <a:bodyPr/>
          <a:lstStyle/>
          <a:p>
            <a:endParaRPr lang="en-US"/>
          </a:p>
        </p:txBody>
      </p:sp>
      <p:sp>
        <p:nvSpPr>
          <p:cNvPr id="3" name="Text Placeholder 2">
            <a:extLst>
              <a:ext uri="{FF2B5EF4-FFF2-40B4-BE49-F238E27FC236}">
                <a16:creationId xmlns:a16="http://schemas.microsoft.com/office/drawing/2014/main" id="{67B0A354-C40F-0D06-868A-DF677CE1CCC3}"/>
              </a:ext>
            </a:extLst>
          </p:cNvPr>
          <p:cNvSpPr>
            <a:spLocks noGrp="1"/>
          </p:cNvSpPr>
          <p:nvPr>
            <p:ph type="body" idx="11"/>
          </p:nvPr>
        </p:nvSpPr>
        <p:spPr/>
        <p:txBody>
          <a:bodyPr/>
          <a:lstStyle/>
          <a:p>
            <a:endParaRPr lang="en-US"/>
          </a:p>
        </p:txBody>
      </p:sp>
      <p:pic>
        <p:nvPicPr>
          <p:cNvPr id="6" name="restoration_decision_support_2x">
            <a:hlinkClick r:id="" action="ppaction://media"/>
            <a:extLst>
              <a:ext uri="{FF2B5EF4-FFF2-40B4-BE49-F238E27FC236}">
                <a16:creationId xmlns:a16="http://schemas.microsoft.com/office/drawing/2014/main" id="{2D86C1CF-3171-3D8C-D9B8-8914B199018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938" y="6350"/>
            <a:ext cx="12192000" cy="6858000"/>
          </a:xfrm>
          <a:prstGeom prst="rect">
            <a:avLst/>
          </a:prstGeom>
        </p:spPr>
      </p:pic>
    </p:spTree>
    <p:extLst>
      <p:ext uri="{BB962C8B-B14F-4D97-AF65-F5344CB8AC3E}">
        <p14:creationId xmlns:p14="http://schemas.microsoft.com/office/powerpoint/2010/main" val="411838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633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75E4A-97ED-861C-34B3-4910F54BBB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18AD65-B1BE-5875-DBA0-249CFDF64B4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dirty="0">
                <a:solidFill>
                  <a:srgbClr val="00833C"/>
                </a:solidFill>
                <a:latin typeface="Calibri"/>
                <a:ea typeface="Calibri"/>
                <a:cs typeface="Calibri"/>
              </a:rPr>
              <a:t>Demo </a:t>
            </a:r>
            <a:r>
              <a:rPr lang="en-US" sz="2400" b="1" dirty="0">
                <a:solidFill>
                  <a:srgbClr val="00833C"/>
                </a:solidFill>
                <a:latin typeface="Calibri"/>
                <a:ea typeface="Calibri"/>
                <a:cs typeface="Calibri"/>
              </a:rPr>
              <a:t>3</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E3F761B0-74AE-7503-3E69-4CE9BA345491}"/>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Graph queries become engineering computation</a:t>
            </a:r>
          </a:p>
        </p:txBody>
      </p:sp>
      <p:pic>
        <p:nvPicPr>
          <p:cNvPr id="90" name="Picture 2">
            <a:extLst>
              <a:ext uri="{FF2B5EF4-FFF2-40B4-BE49-F238E27FC236}">
                <a16:creationId xmlns:a16="http://schemas.microsoft.com/office/drawing/2014/main" id="{9D752D16-B16F-3316-C988-7AF2BC3DBD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63" t="73779" b="470"/>
          <a:stretch/>
        </p:blipFill>
        <p:spPr bwMode="auto">
          <a:xfrm>
            <a:off x="1581631" y="5348379"/>
            <a:ext cx="9295091" cy="119208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a:extLst>
              <a:ext uri="{FF2B5EF4-FFF2-40B4-BE49-F238E27FC236}">
                <a16:creationId xmlns:a16="http://schemas.microsoft.com/office/drawing/2014/main" id="{0560833A-8FF8-C866-A76C-B37996AA99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791" t="63775" r="1886" b="27493"/>
          <a:stretch/>
        </p:blipFill>
        <p:spPr bwMode="auto">
          <a:xfrm>
            <a:off x="1664549" y="4938083"/>
            <a:ext cx="8994963" cy="404207"/>
          </a:xfrm>
          <a:prstGeom prst="rect">
            <a:avLst/>
          </a:prstGeom>
          <a:noFill/>
          <a:extLst>
            <a:ext uri="{909E8E84-426E-40DD-AFC4-6F175D3DCCD1}">
              <a14:hiddenFill xmlns:a14="http://schemas.microsoft.com/office/drawing/2010/main">
                <a:solidFill>
                  <a:srgbClr val="FFFFFF"/>
                </a:solidFill>
              </a14:hiddenFill>
            </a:ext>
          </a:extLst>
        </p:spPr>
      </p:pic>
      <p:grpSp>
        <p:nvGrpSpPr>
          <p:cNvPr id="92" name="Group 91">
            <a:extLst>
              <a:ext uri="{FF2B5EF4-FFF2-40B4-BE49-F238E27FC236}">
                <a16:creationId xmlns:a16="http://schemas.microsoft.com/office/drawing/2014/main" id="{1892D3A4-ECBF-A8B7-34A1-5FE601E18A45}"/>
              </a:ext>
            </a:extLst>
          </p:cNvPr>
          <p:cNvGrpSpPr/>
          <p:nvPr/>
        </p:nvGrpSpPr>
        <p:grpSpPr>
          <a:xfrm>
            <a:off x="1671806" y="3398200"/>
            <a:ext cx="9093200" cy="1535305"/>
            <a:chOff x="2968171" y="3019245"/>
            <a:chExt cx="9093200" cy="1535305"/>
          </a:xfrm>
        </p:grpSpPr>
        <p:pic>
          <p:nvPicPr>
            <p:cNvPr id="93" name="Picture 2">
              <a:extLst>
                <a:ext uri="{FF2B5EF4-FFF2-40B4-BE49-F238E27FC236}">
                  <a16:creationId xmlns:a16="http://schemas.microsoft.com/office/drawing/2014/main" id="{AEB3524B-B9A1-7400-22F7-5870B03D4E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878" t="31669" r="977" b="36082"/>
            <a:stretch/>
          </p:blipFill>
          <p:spPr bwMode="auto">
            <a:xfrm>
              <a:off x="2968171" y="3061673"/>
              <a:ext cx="9093200" cy="1492877"/>
            </a:xfrm>
            <a:prstGeom prst="rect">
              <a:avLst/>
            </a:prstGeom>
            <a:noFill/>
            <a:extLst>
              <a:ext uri="{909E8E84-426E-40DD-AFC4-6F175D3DCCD1}">
                <a14:hiddenFill xmlns:a14="http://schemas.microsoft.com/office/drawing/2010/main">
                  <a:solidFill>
                    <a:srgbClr val="FFFFFF"/>
                  </a:solidFill>
                </a14:hiddenFill>
              </a:ext>
            </a:extLst>
          </p:spPr>
        </p:pic>
        <p:sp>
          <p:nvSpPr>
            <p:cNvPr id="94" name="Rectangle 93">
              <a:extLst>
                <a:ext uri="{FF2B5EF4-FFF2-40B4-BE49-F238E27FC236}">
                  <a16:creationId xmlns:a16="http://schemas.microsoft.com/office/drawing/2014/main" id="{0EE8C321-7E67-BDAC-4F47-FB17B8819353}"/>
                </a:ext>
              </a:extLst>
            </p:cNvPr>
            <p:cNvSpPr/>
            <p:nvPr/>
          </p:nvSpPr>
          <p:spPr>
            <a:xfrm>
              <a:off x="3871356" y="3035539"/>
              <a:ext cx="2335700" cy="471743"/>
            </a:xfrm>
            <a:prstGeom prst="rect">
              <a:avLst/>
            </a:prstGeom>
            <a:solidFill>
              <a:srgbClr val="FFFFFF"/>
            </a:solidFill>
            <a:ln w="12700" cap="flat" cmpd="sng" algn="ctr">
              <a:noFill/>
              <a:prstDash val="solid"/>
              <a:miter lim="800000"/>
            </a:ln>
            <a:effectLst/>
          </p:spPr>
          <p:txBody>
            <a:bodyPr lIns="180000" tIns="180000" rIns="180000" bIns="180000" rtlCol="0" anchor="ctr"/>
            <a:lstStyle/>
            <a:p>
              <a:pPr marL="0" marR="0" lvl="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1600" b="0" i="0" u="none" strike="noStrike" kern="0" cap="none" spc="0" normalizeH="0" baseline="0" noProof="0">
                <a:ln>
                  <a:noFill/>
                </a:ln>
                <a:solidFill>
                  <a:prstClr val="black"/>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1BACDE5B-7A85-B127-6061-736F03ADFF9D}"/>
                </a:ext>
              </a:extLst>
            </p:cNvPr>
            <p:cNvSpPr/>
            <p:nvPr/>
          </p:nvSpPr>
          <p:spPr>
            <a:xfrm>
              <a:off x="7611720" y="3019245"/>
              <a:ext cx="2482305" cy="488037"/>
            </a:xfrm>
            <a:prstGeom prst="rect">
              <a:avLst/>
            </a:prstGeom>
            <a:solidFill>
              <a:srgbClr val="FFFFFF"/>
            </a:solidFill>
            <a:ln w="12700" cap="flat" cmpd="sng" algn="ctr">
              <a:noFill/>
              <a:prstDash val="solid"/>
              <a:miter lim="800000"/>
            </a:ln>
            <a:effectLst/>
          </p:spPr>
          <p:txBody>
            <a:bodyPr lIns="180000" tIns="180000" rIns="180000" bIns="180000" rtlCol="0" anchor="ctr"/>
            <a:lstStyle/>
            <a:p>
              <a:pPr marL="0" marR="0" lvl="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1600" b="0" i="0" u="none" strike="noStrike" kern="0" cap="none" spc="0" normalizeH="0" baseline="0" noProof="0">
                <a:ln>
                  <a:noFill/>
                </a:ln>
                <a:solidFill>
                  <a:prstClr val="black"/>
                </a:solidFill>
                <a:effectLst/>
                <a:uLnTx/>
                <a:uFillTx/>
                <a:latin typeface="Arial"/>
                <a:ea typeface="+mn-ea"/>
                <a:cs typeface="+mn-cs"/>
              </a:endParaRPr>
            </a:p>
          </p:txBody>
        </p:sp>
      </p:grpSp>
      <p:pic>
        <p:nvPicPr>
          <p:cNvPr id="96" name="Picture 2">
            <a:extLst>
              <a:ext uri="{FF2B5EF4-FFF2-40B4-BE49-F238E27FC236}">
                <a16:creationId xmlns:a16="http://schemas.microsoft.com/office/drawing/2014/main" id="{C3171E8D-0C2C-D377-8444-58720D9B44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817" r="18538" b="68942"/>
          <a:stretch/>
        </p:blipFill>
        <p:spPr bwMode="auto">
          <a:xfrm>
            <a:off x="1664931" y="1977774"/>
            <a:ext cx="7003218" cy="1437711"/>
          </a:xfrm>
          <a:prstGeom prst="rect">
            <a:avLst/>
          </a:prstGeom>
          <a:noFill/>
          <a:extLst>
            <a:ext uri="{909E8E84-426E-40DD-AFC4-6F175D3DCCD1}">
              <a14:hiddenFill xmlns:a14="http://schemas.microsoft.com/office/drawing/2010/main">
                <a:solidFill>
                  <a:srgbClr val="FFFFFF"/>
                </a:solidFill>
              </a14:hiddenFill>
            </a:ext>
          </a:extLst>
        </p:spPr>
      </p:pic>
      <p:grpSp>
        <p:nvGrpSpPr>
          <p:cNvPr id="97" name="Group 96">
            <a:extLst>
              <a:ext uri="{FF2B5EF4-FFF2-40B4-BE49-F238E27FC236}">
                <a16:creationId xmlns:a16="http://schemas.microsoft.com/office/drawing/2014/main" id="{5E46833A-48F8-3FCA-1A79-E94A8AE9E4EB}"/>
              </a:ext>
            </a:extLst>
          </p:cNvPr>
          <p:cNvGrpSpPr/>
          <p:nvPr/>
        </p:nvGrpSpPr>
        <p:grpSpPr>
          <a:xfrm>
            <a:off x="2682238" y="3405318"/>
            <a:ext cx="6005641" cy="494669"/>
            <a:chOff x="3979199" y="3017980"/>
            <a:chExt cx="6005641" cy="494669"/>
          </a:xfrm>
        </p:grpSpPr>
        <p:pic>
          <p:nvPicPr>
            <p:cNvPr id="98" name="Picture 2">
              <a:extLst>
                <a:ext uri="{FF2B5EF4-FFF2-40B4-BE49-F238E27FC236}">
                  <a16:creationId xmlns:a16="http://schemas.microsoft.com/office/drawing/2014/main" id="{0A65249E-97A7-B988-2271-95F32F0D42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292" t="30752" r="49510" b="58926"/>
            <a:stretch/>
          </p:blipFill>
          <p:spPr bwMode="auto">
            <a:xfrm>
              <a:off x="3979199" y="3017980"/>
              <a:ext cx="2292598" cy="477803"/>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a:extLst>
                <a:ext uri="{FF2B5EF4-FFF2-40B4-BE49-F238E27FC236}">
                  <a16:creationId xmlns:a16="http://schemas.microsoft.com/office/drawing/2014/main" id="{4B53FA2D-2DAA-00C3-BF44-EB9690E853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443" t="30842" r="18376" b="58472"/>
            <a:stretch/>
          </p:blipFill>
          <p:spPr bwMode="auto">
            <a:xfrm>
              <a:off x="7455396" y="3017980"/>
              <a:ext cx="2529444" cy="494669"/>
            </a:xfrm>
            <a:prstGeom prst="rect">
              <a:avLst/>
            </a:prstGeom>
            <a:noFill/>
            <a:extLst>
              <a:ext uri="{909E8E84-426E-40DD-AFC4-6F175D3DCCD1}">
                <a14:hiddenFill xmlns:a14="http://schemas.microsoft.com/office/drawing/2010/main">
                  <a:solidFill>
                    <a:srgbClr val="FFFFFF"/>
                  </a:solidFill>
                </a14:hiddenFill>
              </a:ext>
            </a:extLst>
          </p:spPr>
        </p:pic>
      </p:grpSp>
      <p:pic>
        <p:nvPicPr>
          <p:cNvPr id="100" name="Picture 2">
            <a:extLst>
              <a:ext uri="{FF2B5EF4-FFF2-40B4-BE49-F238E27FC236}">
                <a16:creationId xmlns:a16="http://schemas.microsoft.com/office/drawing/2014/main" id="{89BFA94D-ED87-57E7-091D-43392F812B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863" b="68830"/>
          <a:stretch/>
        </p:blipFill>
        <p:spPr bwMode="auto">
          <a:xfrm>
            <a:off x="8668149" y="1943100"/>
            <a:ext cx="2165906" cy="1442883"/>
          </a:xfrm>
          <a:prstGeom prst="rect">
            <a:avLst/>
          </a:prstGeom>
          <a:noFill/>
          <a:extLst>
            <a:ext uri="{909E8E84-426E-40DD-AFC4-6F175D3DCCD1}">
              <a14:hiddenFill xmlns:a14="http://schemas.microsoft.com/office/drawing/2010/main">
                <a:solidFill>
                  <a:srgbClr val="FFFFFF"/>
                </a:solidFill>
              </a14:hiddenFill>
            </a:ext>
          </a:extLst>
        </p:spPr>
      </p:pic>
      <p:sp>
        <p:nvSpPr>
          <p:cNvPr id="107" name="TextBox 106">
            <a:extLst>
              <a:ext uri="{FF2B5EF4-FFF2-40B4-BE49-F238E27FC236}">
                <a16:creationId xmlns:a16="http://schemas.microsoft.com/office/drawing/2014/main" id="{A5C1C6AD-B452-F1F1-A6B3-9011165785B7}"/>
              </a:ext>
            </a:extLst>
          </p:cNvPr>
          <p:cNvSpPr txBox="1"/>
          <p:nvPr/>
        </p:nvSpPr>
        <p:spPr>
          <a:xfrm>
            <a:off x="888165" y="1768229"/>
            <a:ext cx="8649374" cy="369332"/>
          </a:xfrm>
          <a:prstGeom prst="rect">
            <a:avLst/>
          </a:prstGeom>
          <a:noFill/>
        </p:spPr>
        <p:txBody>
          <a:bodyPr wrap="square">
            <a:spAutoFit/>
          </a:bodyPr>
          <a:lstStyle/>
          <a:p>
            <a:pPr>
              <a:defRPr sz="1500">
                <a:solidFill>
                  <a:srgbClr val="4A4A4A"/>
                </a:solidFill>
                <a:latin typeface="Calibri"/>
                <a:ea typeface="Calibri"/>
                <a:cs typeface="Calibri"/>
              </a:defRPr>
            </a:pPr>
            <a:r>
              <a:rPr lang="en-US" sz="1800" dirty="0">
                <a:solidFill>
                  <a:srgbClr val="4A4A4A"/>
                </a:solidFill>
                <a:latin typeface="Calibri"/>
                <a:ea typeface="Calibri"/>
                <a:cs typeface="Calibri"/>
              </a:rPr>
              <a:t>Language specifies intent. Tools and code perform numerical analysis.</a:t>
            </a:r>
          </a:p>
        </p:txBody>
      </p:sp>
      <p:sp>
        <p:nvSpPr>
          <p:cNvPr id="4" name="TextBox 3">
            <a:extLst>
              <a:ext uri="{FF2B5EF4-FFF2-40B4-BE49-F238E27FC236}">
                <a16:creationId xmlns:a16="http://schemas.microsoft.com/office/drawing/2014/main" id="{58D8F30C-134C-D702-33D6-0698006CBAA2}"/>
              </a:ext>
            </a:extLst>
          </p:cNvPr>
          <p:cNvSpPr txBox="1"/>
          <p:nvPr/>
        </p:nvSpPr>
        <p:spPr>
          <a:xfrm>
            <a:off x="12103331" y="159604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1677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7"/>
                                        </p:tgtEl>
                                        <p:attrNameLst>
                                          <p:attrName>style.visibility</p:attrName>
                                        </p:attrNameLst>
                                      </p:cBhvr>
                                      <p:to>
                                        <p:strVal val="visible"/>
                                      </p:to>
                                    </p:set>
                                    <p:anim calcmode="lin" valueType="num">
                                      <p:cBhvr additive="base">
                                        <p:cTn id="17" dur="500" fill="hold"/>
                                        <p:tgtEl>
                                          <p:spTgt spid="97"/>
                                        </p:tgtEl>
                                        <p:attrNameLst>
                                          <p:attrName>ppt_x</p:attrName>
                                        </p:attrNameLst>
                                      </p:cBhvr>
                                      <p:tavLst>
                                        <p:tav tm="0">
                                          <p:val>
                                            <p:strVal val="#ppt_x"/>
                                          </p:val>
                                        </p:tav>
                                        <p:tav tm="100000">
                                          <p:val>
                                            <p:strVal val="#ppt_x"/>
                                          </p:val>
                                        </p:tav>
                                      </p:tavLst>
                                    </p:anim>
                                    <p:anim calcmode="lin" valueType="num">
                                      <p:cBhvr additive="base">
                                        <p:cTn id="18" dur="500" fill="hold"/>
                                        <p:tgtEl>
                                          <p:spTgt spid="9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0"/>
                                        </p:tgtEl>
                                        <p:attrNameLst>
                                          <p:attrName>style.visibility</p:attrName>
                                        </p:attrNameLst>
                                      </p:cBhvr>
                                      <p:to>
                                        <p:strVal val="visible"/>
                                      </p:to>
                                    </p:set>
                                    <p:anim calcmode="lin" valueType="num">
                                      <p:cBhvr additive="base">
                                        <p:cTn id="21" dur="500" fill="hold"/>
                                        <p:tgtEl>
                                          <p:spTgt spid="100"/>
                                        </p:tgtEl>
                                        <p:attrNameLst>
                                          <p:attrName>ppt_x</p:attrName>
                                        </p:attrNameLst>
                                      </p:cBhvr>
                                      <p:tavLst>
                                        <p:tav tm="0">
                                          <p:val>
                                            <p:strVal val="#ppt_x"/>
                                          </p:val>
                                        </p:tav>
                                        <p:tav tm="100000">
                                          <p:val>
                                            <p:strVal val="#ppt_x"/>
                                          </p:val>
                                        </p:tav>
                                      </p:tavLst>
                                    </p:anim>
                                    <p:anim calcmode="lin" valueType="num">
                                      <p:cBhvr additive="base">
                                        <p:cTn id="22" dur="500" fill="hold"/>
                                        <p:tgtEl>
                                          <p:spTgt spid="10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6"/>
                                        </p:tgtEl>
                                        <p:attrNameLst>
                                          <p:attrName>style.visibility</p:attrName>
                                        </p:attrNameLst>
                                      </p:cBhvr>
                                      <p:to>
                                        <p:strVal val="visible"/>
                                      </p:to>
                                    </p:set>
                                    <p:anim calcmode="lin" valueType="num">
                                      <p:cBhvr additive="base">
                                        <p:cTn id="25" dur="500" fill="hold"/>
                                        <p:tgtEl>
                                          <p:spTgt spid="96"/>
                                        </p:tgtEl>
                                        <p:attrNameLst>
                                          <p:attrName>ppt_x</p:attrName>
                                        </p:attrNameLst>
                                      </p:cBhvr>
                                      <p:tavLst>
                                        <p:tav tm="0">
                                          <p:val>
                                            <p:strVal val="#ppt_x"/>
                                          </p:val>
                                        </p:tav>
                                        <p:tav tm="100000">
                                          <p:val>
                                            <p:strVal val="#ppt_x"/>
                                          </p:val>
                                        </p:tav>
                                      </p:tavLst>
                                    </p:anim>
                                    <p:anim calcmode="lin" valueType="num">
                                      <p:cBhvr additive="base">
                                        <p:cTn id="26"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A667-E109-BAC8-0AA6-4D5ECE4D20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19A29CA-2430-953E-E7DD-DE943E723086}"/>
              </a:ext>
            </a:extLst>
          </p:cNvPr>
          <p:cNvSpPr>
            <a:spLocks noGrp="1"/>
          </p:cNvSpPr>
          <p:nvPr>
            <p:ph type="body" idx="10"/>
          </p:nvPr>
        </p:nvSpPr>
        <p:spPr/>
        <p:txBody>
          <a:bodyPr/>
          <a:lstStyle/>
          <a:p>
            <a:endParaRPr lang="en-US"/>
          </a:p>
        </p:txBody>
      </p:sp>
      <p:sp>
        <p:nvSpPr>
          <p:cNvPr id="3" name="Text Placeholder 2">
            <a:extLst>
              <a:ext uri="{FF2B5EF4-FFF2-40B4-BE49-F238E27FC236}">
                <a16:creationId xmlns:a16="http://schemas.microsoft.com/office/drawing/2014/main" id="{BE17A85D-B724-EF4B-B0D6-4CD40FA54574}"/>
              </a:ext>
            </a:extLst>
          </p:cNvPr>
          <p:cNvSpPr>
            <a:spLocks noGrp="1"/>
          </p:cNvSpPr>
          <p:nvPr>
            <p:ph type="body" idx="11"/>
          </p:nvPr>
        </p:nvSpPr>
        <p:spPr/>
        <p:txBody>
          <a:bodyPr/>
          <a:lstStyle/>
          <a:p>
            <a:endParaRPr lang="en-US"/>
          </a:p>
        </p:txBody>
      </p:sp>
      <p:pic>
        <p:nvPicPr>
          <p:cNvPr id="4" name="2026-06-24 20-01-54-transformer:loads_2x">
            <a:hlinkClick r:id="" action="ppaction://media"/>
            <a:extLst>
              <a:ext uri="{FF2B5EF4-FFF2-40B4-BE49-F238E27FC236}">
                <a16:creationId xmlns:a16="http://schemas.microsoft.com/office/drawing/2014/main" id="{91182341-C6E6-DEFF-24C6-1B9DFD1AF17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94323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7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3FF46-6D1B-7776-AA1B-CB4716A88E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0F60882-6D14-B893-76E0-FF238168F3D4}"/>
              </a:ext>
            </a:extLst>
          </p:cNvPr>
          <p:cNvSpPr>
            <a:spLocks noGrp="1"/>
          </p:cNvSpPr>
          <p:nvPr>
            <p:ph type="body" idx="10"/>
          </p:nvPr>
        </p:nvSpPr>
        <p:spPr/>
        <p:txBody>
          <a:bodyPr/>
          <a:lstStyle/>
          <a:p>
            <a:endParaRPr lang="en-US"/>
          </a:p>
        </p:txBody>
      </p:sp>
      <p:sp>
        <p:nvSpPr>
          <p:cNvPr id="3" name="Text Placeholder 2">
            <a:extLst>
              <a:ext uri="{FF2B5EF4-FFF2-40B4-BE49-F238E27FC236}">
                <a16:creationId xmlns:a16="http://schemas.microsoft.com/office/drawing/2014/main" id="{F4F761CF-0563-CB41-5DD5-1788E4376184}"/>
              </a:ext>
            </a:extLst>
          </p:cNvPr>
          <p:cNvSpPr>
            <a:spLocks noGrp="1"/>
          </p:cNvSpPr>
          <p:nvPr>
            <p:ph type="body" idx="11"/>
          </p:nvPr>
        </p:nvSpPr>
        <p:spPr/>
        <p:txBody>
          <a:bodyPr/>
          <a:lstStyle/>
          <a:p>
            <a:endParaRPr lang="en-US"/>
          </a:p>
        </p:txBody>
      </p:sp>
      <p:pic>
        <p:nvPicPr>
          <p:cNvPr id="5" name="2026-06-24 20-09-47powerflow_2x">
            <a:hlinkClick r:id="" action="ppaction://media"/>
            <a:extLst>
              <a:ext uri="{FF2B5EF4-FFF2-40B4-BE49-F238E27FC236}">
                <a16:creationId xmlns:a16="http://schemas.microsoft.com/office/drawing/2014/main" id="{A7FC6E3C-2CCB-C715-4D07-3F0754C3A56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113" y="6350"/>
            <a:ext cx="12192000" cy="6858000"/>
          </a:xfrm>
          <a:prstGeom prst="rect">
            <a:avLst/>
          </a:prstGeom>
        </p:spPr>
      </p:pic>
    </p:spTree>
    <p:extLst>
      <p:ext uri="{BB962C8B-B14F-4D97-AF65-F5344CB8AC3E}">
        <p14:creationId xmlns:p14="http://schemas.microsoft.com/office/powerpoint/2010/main" val="153250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4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A8133-4468-7E8E-A4AF-716ECF1D665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E12F87D-8542-A723-0C4F-7A6E1FB4286A}"/>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dirty="0">
                <a:solidFill>
                  <a:srgbClr val="00833C"/>
                </a:solidFill>
                <a:latin typeface="Calibri"/>
                <a:ea typeface="Calibri"/>
                <a:cs typeface="Calibri"/>
              </a:rPr>
              <a:t>Demo </a:t>
            </a:r>
            <a:r>
              <a:rPr lang="en-US" sz="2400" dirty="0">
                <a:solidFill>
                  <a:srgbClr val="00833C"/>
                </a:solidFill>
              </a:rPr>
              <a:t>4</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E4C71A55-9CF9-F545-E62E-9F63499F53B5}"/>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lang="en-US" sz="3200" b="1" dirty="0">
                <a:solidFill>
                  <a:srgbClr val="111111"/>
                </a:solidFill>
                <a:latin typeface="Calibri"/>
                <a:ea typeface="Calibri"/>
                <a:cs typeface="Calibri"/>
              </a:rPr>
              <a:t>Weather-aware operation </a:t>
            </a:r>
            <a:endParaRPr sz="2925" b="1" dirty="0">
              <a:solidFill>
                <a:srgbClr val="111111"/>
              </a:solidFill>
              <a:latin typeface="Calibri"/>
              <a:ea typeface="Calibri"/>
              <a:cs typeface="Calibri"/>
            </a:endParaRPr>
          </a:p>
        </p:txBody>
      </p:sp>
      <p:pic>
        <p:nvPicPr>
          <p:cNvPr id="28" name="Picture 27">
            <a:extLst>
              <a:ext uri="{FF2B5EF4-FFF2-40B4-BE49-F238E27FC236}">
                <a16:creationId xmlns:a16="http://schemas.microsoft.com/office/drawing/2014/main" id="{36ED5A09-71C5-FB91-D0CB-7B6F23B103CB}"/>
              </a:ext>
            </a:extLst>
          </p:cNvPr>
          <p:cNvPicPr>
            <a:picLocks noChangeAspect="1"/>
          </p:cNvPicPr>
          <p:nvPr/>
        </p:nvPicPr>
        <p:blipFill>
          <a:blip r:embed="rId3"/>
          <a:stretch>
            <a:fillRect/>
          </a:stretch>
        </p:blipFill>
        <p:spPr>
          <a:xfrm>
            <a:off x="5329900" y="2170941"/>
            <a:ext cx="6418403" cy="4278936"/>
          </a:xfrm>
          <a:prstGeom prst="rect">
            <a:avLst/>
          </a:prstGeom>
        </p:spPr>
      </p:pic>
      <p:pic>
        <p:nvPicPr>
          <p:cNvPr id="29" name="Picture 28">
            <a:extLst>
              <a:ext uri="{FF2B5EF4-FFF2-40B4-BE49-F238E27FC236}">
                <a16:creationId xmlns:a16="http://schemas.microsoft.com/office/drawing/2014/main" id="{1595D39F-D232-729F-1110-802B7329AFB6}"/>
              </a:ext>
            </a:extLst>
          </p:cNvPr>
          <p:cNvPicPr>
            <a:picLocks noChangeAspect="1"/>
          </p:cNvPicPr>
          <p:nvPr/>
        </p:nvPicPr>
        <p:blipFill>
          <a:blip r:embed="rId4"/>
          <a:stretch>
            <a:fillRect/>
          </a:stretch>
        </p:blipFill>
        <p:spPr>
          <a:xfrm>
            <a:off x="1039445" y="2453120"/>
            <a:ext cx="4076565" cy="3616423"/>
          </a:xfrm>
          <a:prstGeom prst="rect">
            <a:avLst/>
          </a:prstGeom>
        </p:spPr>
      </p:pic>
      <p:sp>
        <p:nvSpPr>
          <p:cNvPr id="31" name="TextBox 30">
            <a:extLst>
              <a:ext uri="{FF2B5EF4-FFF2-40B4-BE49-F238E27FC236}">
                <a16:creationId xmlns:a16="http://schemas.microsoft.com/office/drawing/2014/main" id="{4FF20562-8E1A-567F-FED6-53E10EB7D48C}"/>
              </a:ext>
            </a:extLst>
          </p:cNvPr>
          <p:cNvSpPr txBox="1"/>
          <p:nvPr/>
        </p:nvSpPr>
        <p:spPr>
          <a:xfrm>
            <a:off x="935273" y="1551862"/>
            <a:ext cx="11500413" cy="1200329"/>
          </a:xfrm>
          <a:prstGeom prst="rect">
            <a:avLst/>
          </a:prstGeom>
          <a:noFill/>
        </p:spPr>
        <p:txBody>
          <a:bodyPr wrap="square">
            <a:spAutoFit/>
          </a:bodyPr>
          <a:lstStyle/>
          <a:p>
            <a:pPr>
              <a:defRPr sz="1725">
                <a:solidFill>
                  <a:srgbClr val="4A4A4A"/>
                </a:solidFill>
                <a:latin typeface="Calibri"/>
                <a:ea typeface="Calibri"/>
                <a:cs typeface="Calibri"/>
              </a:defRPr>
            </a:pPr>
            <a:r>
              <a:rPr lang="en-US" sz="1800" dirty="0">
                <a:solidFill>
                  <a:srgbClr val="4A4A4A"/>
                </a:solidFill>
                <a:latin typeface="Calibri"/>
                <a:ea typeface="Calibri"/>
                <a:cs typeface="Calibri"/>
              </a:rPr>
              <a:t>Optional exogenous context:</a:t>
            </a:r>
          </a:p>
          <a:p>
            <a:pPr>
              <a:defRPr sz="1725">
                <a:solidFill>
                  <a:srgbClr val="4A4A4A"/>
                </a:solidFill>
                <a:latin typeface="Calibri"/>
                <a:ea typeface="Calibri"/>
                <a:cs typeface="Calibri"/>
              </a:defRPr>
            </a:pPr>
            <a:r>
              <a:rPr lang="en-US" sz="1800" dirty="0">
                <a:solidFill>
                  <a:srgbClr val="4A4A4A"/>
                </a:solidFill>
                <a:latin typeface="Calibri"/>
                <a:ea typeface="Calibri"/>
                <a:cs typeface="Calibri"/>
              </a:rPr>
              <a:t>- Temperature, wind, gusts, precipitation, snowfall, humidity, CAPE, soil moisture.</a:t>
            </a:r>
          </a:p>
          <a:p>
            <a:pPr>
              <a:defRPr sz="1725">
                <a:solidFill>
                  <a:srgbClr val="4A4A4A"/>
                </a:solidFill>
                <a:latin typeface="Calibri"/>
                <a:ea typeface="Calibri"/>
                <a:cs typeface="Calibri"/>
              </a:defRPr>
            </a:pPr>
            <a:r>
              <a:rPr lang="en-US" sz="1800" dirty="0">
                <a:solidFill>
                  <a:srgbClr val="4A4A4A"/>
                </a:solidFill>
                <a:latin typeface="Calibri"/>
                <a:ea typeface="Calibri"/>
                <a:cs typeface="Calibri"/>
              </a:rPr>
              <a:t>- Routing can penalize high-risk branches.</a:t>
            </a:r>
          </a:p>
          <a:p>
            <a:endParaRPr lang="en-US" sz="1800" dirty="0">
              <a:solidFill>
                <a:srgbClr val="4A4A4A"/>
              </a:solidFill>
              <a:latin typeface="Calibri"/>
              <a:ea typeface="Calibri"/>
              <a:cs typeface="Calibri"/>
            </a:endParaRPr>
          </a:p>
        </p:txBody>
      </p:sp>
      <p:sp>
        <p:nvSpPr>
          <p:cNvPr id="33" name="TextBox 32">
            <a:extLst>
              <a:ext uri="{FF2B5EF4-FFF2-40B4-BE49-F238E27FC236}">
                <a16:creationId xmlns:a16="http://schemas.microsoft.com/office/drawing/2014/main" id="{2AB01D64-7258-BA34-ED2D-34B3A933F1D4}"/>
              </a:ext>
            </a:extLst>
          </p:cNvPr>
          <p:cNvSpPr txBox="1"/>
          <p:nvPr/>
        </p:nvSpPr>
        <p:spPr>
          <a:xfrm>
            <a:off x="2291545" y="6216134"/>
            <a:ext cx="9236839" cy="369332"/>
          </a:xfrm>
          <a:prstGeom prst="rect">
            <a:avLst/>
          </a:prstGeom>
          <a:noFill/>
        </p:spPr>
        <p:txBody>
          <a:bodyPr wrap="square">
            <a:spAutoFit/>
          </a:bodyPr>
          <a:lstStyle/>
          <a:p>
            <a:pPr>
              <a:defRPr sz="1725">
                <a:solidFill>
                  <a:srgbClr val="4A4A4A"/>
                </a:solidFill>
                <a:latin typeface="Calibri"/>
                <a:ea typeface="Calibri"/>
                <a:cs typeface="Calibri"/>
              </a:defRPr>
            </a:pPr>
            <a:r>
              <a:rPr lang="en-US" sz="1800" b="1" dirty="0">
                <a:solidFill>
                  <a:srgbClr val="02833C"/>
                </a:solidFill>
                <a:latin typeface="Calibri"/>
                <a:ea typeface="Calibri"/>
                <a:cs typeface="Calibri"/>
              </a:rPr>
              <a:t>Purpose: enrich the decision context without replacing protection or operational rules.</a:t>
            </a:r>
          </a:p>
        </p:txBody>
      </p:sp>
    </p:spTree>
    <p:extLst>
      <p:ext uri="{BB962C8B-B14F-4D97-AF65-F5344CB8AC3E}">
        <p14:creationId xmlns:p14="http://schemas.microsoft.com/office/powerpoint/2010/main" val="717747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AC59-EDD7-7C33-18BA-2C8AEDB63B2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3F6920-91CF-C351-9495-47BE4B4769EE}"/>
              </a:ext>
            </a:extLst>
          </p:cNvPr>
          <p:cNvSpPr>
            <a:spLocks noGrp="1"/>
          </p:cNvSpPr>
          <p:nvPr>
            <p:ph type="body" idx="10"/>
          </p:nvPr>
        </p:nvSpPr>
        <p:spPr/>
        <p:txBody>
          <a:bodyPr/>
          <a:lstStyle/>
          <a:p>
            <a:endParaRPr lang="en-US"/>
          </a:p>
        </p:txBody>
      </p:sp>
      <p:sp>
        <p:nvSpPr>
          <p:cNvPr id="3" name="Text Placeholder 2">
            <a:extLst>
              <a:ext uri="{FF2B5EF4-FFF2-40B4-BE49-F238E27FC236}">
                <a16:creationId xmlns:a16="http://schemas.microsoft.com/office/drawing/2014/main" id="{AFC476E2-FDF9-5D93-1E3D-619CB069A207}"/>
              </a:ext>
            </a:extLst>
          </p:cNvPr>
          <p:cNvSpPr>
            <a:spLocks noGrp="1"/>
          </p:cNvSpPr>
          <p:nvPr>
            <p:ph type="body" idx="11"/>
          </p:nvPr>
        </p:nvSpPr>
        <p:spPr/>
        <p:txBody>
          <a:bodyPr/>
          <a:lstStyle/>
          <a:p>
            <a:endParaRPr lang="en-US"/>
          </a:p>
        </p:txBody>
      </p:sp>
      <p:pic>
        <p:nvPicPr>
          <p:cNvPr id="4" name="2026-06-24 19-54-48_weather_forcast_2x">
            <a:hlinkClick r:id="" action="ppaction://media"/>
            <a:extLst>
              <a:ext uri="{FF2B5EF4-FFF2-40B4-BE49-F238E27FC236}">
                <a16:creationId xmlns:a16="http://schemas.microsoft.com/office/drawing/2014/main" id="{139AD8B7-60E9-4BB0-297D-A3EBBB9BE32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20782"/>
            <a:ext cx="12192000" cy="6858000"/>
          </a:xfrm>
          <a:prstGeom prst="rect">
            <a:avLst/>
          </a:prstGeom>
        </p:spPr>
      </p:pic>
    </p:spTree>
    <p:extLst>
      <p:ext uri="{BB962C8B-B14F-4D97-AF65-F5344CB8AC3E}">
        <p14:creationId xmlns:p14="http://schemas.microsoft.com/office/powerpoint/2010/main" val="11722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6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Trust</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Trust comes from grounding, tools, and approval</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95350" y="1724025"/>
            <a:ext cx="10515600" cy="742950"/>
          </a:xfrm>
        </p:spPr>
        <p:txBody>
          <a:bodyPr>
            <a:normAutofit/>
          </a:bodyPr>
          <a:lstStyle/>
          <a:p>
            <a:pPr>
              <a:defRPr sz="1575">
                <a:solidFill>
                  <a:srgbClr val="4A4A4A"/>
                </a:solidFill>
                <a:latin typeface="Calibri"/>
                <a:ea typeface="Calibri"/>
                <a:cs typeface="Calibri"/>
              </a:defRPr>
            </a:pPr>
            <a:r>
              <a:rPr sz="1800" dirty="0">
                <a:solidFill>
                  <a:srgbClr val="4A4A4A"/>
                </a:solidFill>
                <a:latin typeface="Calibri"/>
                <a:ea typeface="Calibri"/>
                <a:cs typeface="Calibri"/>
              </a:rPr>
              <a:t>Grounding, visible queries, verified tools, and human approval define the trust boundary.</a:t>
            </a:r>
          </a:p>
        </p:txBody>
      </p:sp>
      <p:sp>
        <p:nvSpPr>
          <p:cNvPr id="5" name="box">
            <a:extLst>
              <a:ext uri="{FF2B5EF4-FFF2-40B4-BE49-F238E27FC236}">
                <a16:creationId xmlns:a16="http://schemas.microsoft.com/office/drawing/2014/main" id="{E356365E-F93F-4DE6-B861-3A1B7A3CFA47}"/>
              </a:ext>
            </a:extLst>
          </p:cNvPr>
          <p:cNvSpPr>
            <a:spLocks noGrp="1"/>
          </p:cNvSpPr>
          <p:nvPr/>
        </p:nvSpPr>
        <p:spPr>
          <a:xfrm>
            <a:off x="1053358" y="2726724"/>
            <a:ext cx="2095500" cy="1047750"/>
          </a:xfrm>
          <a:prstGeom prst="roundRect">
            <a:avLst>
              <a:gd name="adj" fmla="val 7273"/>
            </a:avLst>
          </a:prstGeom>
          <a:solidFill>
            <a:srgbClr val="F4FAF5"/>
          </a:solidFill>
          <a:ln w="9525">
            <a:solidFill>
              <a:srgbClr val="C9D8CB"/>
            </a:solidFill>
            <a:prstDash val="solid"/>
          </a:ln>
        </p:spPr>
        <p:txBody>
          <a:bodyPr/>
          <a:lstStyle/>
          <a:p>
            <a:endParaRPr lang="en-US" sz="2000"/>
          </a:p>
        </p:txBody>
      </p:sp>
      <p:sp>
        <p:nvSpPr>
          <p:cNvPr id="6" name="text">
            <a:extLst>
              <a:ext uri="{FF2B5EF4-FFF2-40B4-BE49-F238E27FC236}">
                <a16:creationId xmlns:a16="http://schemas.microsoft.com/office/drawing/2014/main" id="{BC9D842F-D76A-4CCE-98D2-9B3FF15C4B7A}"/>
              </a:ext>
            </a:extLst>
          </p:cNvPr>
          <p:cNvSpPr>
            <a:spLocks noGrp="1"/>
          </p:cNvSpPr>
          <p:nvPr/>
        </p:nvSpPr>
        <p:spPr>
          <a:xfrm>
            <a:off x="1224808" y="2860074"/>
            <a:ext cx="1752600" cy="438150"/>
          </a:xfrm>
          <a:prstGeom prst="rect">
            <a:avLst/>
          </a:prstGeom>
          <a:noFill/>
          <a:ln w="0">
            <a:noFill/>
            <a:prstDash val="solid"/>
          </a:ln>
        </p:spPr>
        <p:txBody>
          <a:bodyPr/>
          <a:lstStyle/>
          <a:p>
            <a:pPr algn="ctr">
              <a:defRPr sz="2550" b="1">
                <a:solidFill>
                  <a:srgbClr val="00619B"/>
                </a:solidFill>
                <a:latin typeface="Calibri"/>
                <a:ea typeface="Calibri"/>
                <a:cs typeface="Calibri"/>
              </a:defRPr>
            </a:pPr>
            <a:r>
              <a:rPr sz="2800" b="1" dirty="0">
                <a:solidFill>
                  <a:srgbClr val="00619B"/>
                </a:solidFill>
                <a:latin typeface="Calibri"/>
                <a:ea typeface="Calibri"/>
                <a:cs typeface="Calibri"/>
              </a:rPr>
              <a:t>104</a:t>
            </a:r>
          </a:p>
        </p:txBody>
      </p:sp>
      <p:sp>
        <p:nvSpPr>
          <p:cNvPr id="7" name="text">
            <a:extLst>
              <a:ext uri="{FF2B5EF4-FFF2-40B4-BE49-F238E27FC236}">
                <a16:creationId xmlns:a16="http://schemas.microsoft.com/office/drawing/2014/main" id="{3BB4A6C6-03B8-4DB9-856E-8B8F4F86956A}"/>
              </a:ext>
            </a:extLst>
          </p:cNvPr>
          <p:cNvSpPr>
            <a:spLocks noGrp="1"/>
          </p:cNvSpPr>
          <p:nvPr/>
        </p:nvSpPr>
        <p:spPr>
          <a:xfrm>
            <a:off x="1205758" y="3317274"/>
            <a:ext cx="1790700" cy="361950"/>
          </a:xfrm>
          <a:prstGeom prst="rect">
            <a:avLst/>
          </a:prstGeom>
          <a:noFill/>
          <a:ln w="0">
            <a:noFill/>
            <a:prstDash val="solid"/>
          </a:ln>
        </p:spPr>
        <p:txBody>
          <a:bodyPr/>
          <a:lstStyle/>
          <a:p>
            <a:pPr algn="ctr">
              <a:defRPr sz="1350">
                <a:solidFill>
                  <a:srgbClr val="4A4A4A"/>
                </a:solidFill>
                <a:latin typeface="Calibri"/>
                <a:ea typeface="Calibri"/>
                <a:cs typeface="Calibri"/>
              </a:defRPr>
            </a:pPr>
            <a:r>
              <a:rPr sz="1600" dirty="0">
                <a:solidFill>
                  <a:srgbClr val="4A4A4A"/>
                </a:solidFill>
                <a:latin typeface="Calibri"/>
                <a:ea typeface="Calibri"/>
                <a:cs typeface="Calibri"/>
              </a:rPr>
              <a:t>semantic questions</a:t>
            </a:r>
          </a:p>
        </p:txBody>
      </p:sp>
      <p:sp>
        <p:nvSpPr>
          <p:cNvPr id="8" name="box">
            <a:extLst>
              <a:ext uri="{FF2B5EF4-FFF2-40B4-BE49-F238E27FC236}">
                <a16:creationId xmlns:a16="http://schemas.microsoft.com/office/drawing/2014/main" id="{C5C70198-DF46-48D7-901A-AD197B989D8D}"/>
              </a:ext>
            </a:extLst>
          </p:cNvPr>
          <p:cNvSpPr>
            <a:spLocks noGrp="1"/>
          </p:cNvSpPr>
          <p:nvPr/>
        </p:nvSpPr>
        <p:spPr>
          <a:xfrm>
            <a:off x="3625108" y="2726724"/>
            <a:ext cx="2095500" cy="1047750"/>
          </a:xfrm>
          <a:prstGeom prst="roundRect">
            <a:avLst>
              <a:gd name="adj" fmla="val 7273"/>
            </a:avLst>
          </a:prstGeom>
          <a:solidFill>
            <a:srgbClr val="F4FAF5"/>
          </a:solidFill>
          <a:ln w="9525">
            <a:solidFill>
              <a:srgbClr val="C9D8CB"/>
            </a:solidFill>
            <a:prstDash val="solid"/>
          </a:ln>
        </p:spPr>
        <p:txBody>
          <a:bodyPr/>
          <a:lstStyle/>
          <a:p>
            <a:endParaRPr lang="en-US" sz="2000"/>
          </a:p>
        </p:txBody>
      </p:sp>
      <p:sp>
        <p:nvSpPr>
          <p:cNvPr id="9" name="text">
            <a:extLst>
              <a:ext uri="{FF2B5EF4-FFF2-40B4-BE49-F238E27FC236}">
                <a16:creationId xmlns:a16="http://schemas.microsoft.com/office/drawing/2014/main" id="{67DEDBA1-2B80-4780-864C-FB03F198BA53}"/>
              </a:ext>
            </a:extLst>
          </p:cNvPr>
          <p:cNvSpPr>
            <a:spLocks noGrp="1"/>
          </p:cNvSpPr>
          <p:nvPr/>
        </p:nvSpPr>
        <p:spPr>
          <a:xfrm>
            <a:off x="3796558" y="2860074"/>
            <a:ext cx="1752600" cy="438150"/>
          </a:xfrm>
          <a:prstGeom prst="rect">
            <a:avLst/>
          </a:prstGeom>
          <a:noFill/>
          <a:ln w="0">
            <a:noFill/>
            <a:prstDash val="solid"/>
          </a:ln>
        </p:spPr>
        <p:txBody>
          <a:bodyPr/>
          <a:lstStyle/>
          <a:p>
            <a:pPr algn="ctr">
              <a:defRPr sz="2550" b="1">
                <a:solidFill>
                  <a:srgbClr val="8A8A8A"/>
                </a:solidFill>
                <a:latin typeface="Calibri"/>
                <a:ea typeface="Calibri"/>
                <a:cs typeface="Calibri"/>
              </a:defRPr>
            </a:pPr>
            <a:r>
              <a:rPr sz="2800" b="1">
                <a:solidFill>
                  <a:srgbClr val="8A8A8A"/>
                </a:solidFill>
                <a:latin typeface="Calibri"/>
                <a:ea typeface="Calibri"/>
                <a:cs typeface="Calibri"/>
              </a:rPr>
              <a:t>31.73%</a:t>
            </a:r>
          </a:p>
        </p:txBody>
      </p:sp>
      <p:sp>
        <p:nvSpPr>
          <p:cNvPr id="10" name="text">
            <a:extLst>
              <a:ext uri="{FF2B5EF4-FFF2-40B4-BE49-F238E27FC236}">
                <a16:creationId xmlns:a16="http://schemas.microsoft.com/office/drawing/2014/main" id="{71DF3AC3-885E-4089-96C1-AFF41FE0FD51}"/>
              </a:ext>
            </a:extLst>
          </p:cNvPr>
          <p:cNvSpPr>
            <a:spLocks noGrp="1"/>
          </p:cNvSpPr>
          <p:nvPr/>
        </p:nvSpPr>
        <p:spPr>
          <a:xfrm>
            <a:off x="3777508" y="3317274"/>
            <a:ext cx="1929658" cy="361950"/>
          </a:xfrm>
          <a:prstGeom prst="rect">
            <a:avLst/>
          </a:prstGeom>
          <a:noFill/>
          <a:ln w="0">
            <a:noFill/>
            <a:prstDash val="solid"/>
          </a:ln>
        </p:spPr>
        <p:txBody>
          <a:bodyPr/>
          <a:lstStyle/>
          <a:p>
            <a:pPr algn="ctr">
              <a:defRPr sz="1350">
                <a:solidFill>
                  <a:srgbClr val="4A4A4A"/>
                </a:solidFill>
                <a:latin typeface="Calibri"/>
                <a:ea typeface="Calibri"/>
                <a:cs typeface="Calibri"/>
              </a:defRPr>
            </a:pPr>
            <a:r>
              <a:rPr lang="en-US" sz="1600" dirty="0" err="1">
                <a:solidFill>
                  <a:srgbClr val="4A4A4A"/>
                </a:solidFill>
                <a:latin typeface="Calibri"/>
                <a:ea typeface="Calibri"/>
                <a:cs typeface="Calibri"/>
              </a:rPr>
              <a:t>LangChain</a:t>
            </a:r>
            <a:r>
              <a:rPr sz="1600" dirty="0">
                <a:solidFill>
                  <a:srgbClr val="4A4A4A"/>
                </a:solidFill>
                <a:latin typeface="Calibri"/>
                <a:ea typeface="Calibri"/>
                <a:cs typeface="Calibri"/>
              </a:rPr>
              <a:t> workflow</a:t>
            </a:r>
          </a:p>
        </p:txBody>
      </p:sp>
      <p:sp>
        <p:nvSpPr>
          <p:cNvPr id="11" name="box">
            <a:extLst>
              <a:ext uri="{FF2B5EF4-FFF2-40B4-BE49-F238E27FC236}">
                <a16:creationId xmlns:a16="http://schemas.microsoft.com/office/drawing/2014/main" id="{0487C146-9F26-483B-9187-EE5F3C1D0AC3}"/>
              </a:ext>
            </a:extLst>
          </p:cNvPr>
          <p:cNvSpPr>
            <a:spLocks noGrp="1"/>
          </p:cNvSpPr>
          <p:nvPr/>
        </p:nvSpPr>
        <p:spPr>
          <a:xfrm>
            <a:off x="6196858" y="2726724"/>
            <a:ext cx="2095500" cy="1047750"/>
          </a:xfrm>
          <a:prstGeom prst="roundRect">
            <a:avLst>
              <a:gd name="adj" fmla="val 7273"/>
            </a:avLst>
          </a:prstGeom>
          <a:solidFill>
            <a:srgbClr val="F4FAF5"/>
          </a:solidFill>
          <a:ln w="9525">
            <a:solidFill>
              <a:srgbClr val="C9D8CB"/>
            </a:solidFill>
            <a:prstDash val="solid"/>
          </a:ln>
        </p:spPr>
        <p:txBody>
          <a:bodyPr/>
          <a:lstStyle/>
          <a:p>
            <a:endParaRPr lang="en-US" sz="2000"/>
          </a:p>
        </p:txBody>
      </p:sp>
      <p:sp>
        <p:nvSpPr>
          <p:cNvPr id="12" name="text">
            <a:extLst>
              <a:ext uri="{FF2B5EF4-FFF2-40B4-BE49-F238E27FC236}">
                <a16:creationId xmlns:a16="http://schemas.microsoft.com/office/drawing/2014/main" id="{3D3A0850-32EE-4432-9B98-BD0FEFC79683}"/>
              </a:ext>
            </a:extLst>
          </p:cNvPr>
          <p:cNvSpPr>
            <a:spLocks noGrp="1"/>
          </p:cNvSpPr>
          <p:nvPr/>
        </p:nvSpPr>
        <p:spPr>
          <a:xfrm>
            <a:off x="6368308" y="2860074"/>
            <a:ext cx="1752600" cy="438150"/>
          </a:xfrm>
          <a:prstGeom prst="rect">
            <a:avLst/>
          </a:prstGeom>
          <a:noFill/>
          <a:ln w="0">
            <a:noFill/>
            <a:prstDash val="solid"/>
          </a:ln>
        </p:spPr>
        <p:txBody>
          <a:bodyPr/>
          <a:lstStyle/>
          <a:p>
            <a:pPr algn="ctr">
              <a:defRPr sz="2550" b="1">
                <a:solidFill>
                  <a:srgbClr val="00833C"/>
                </a:solidFill>
                <a:latin typeface="Calibri"/>
                <a:ea typeface="Calibri"/>
                <a:cs typeface="Calibri"/>
              </a:defRPr>
            </a:pPr>
            <a:r>
              <a:rPr sz="2800" b="1">
                <a:solidFill>
                  <a:srgbClr val="00833C"/>
                </a:solidFill>
                <a:latin typeface="Calibri"/>
                <a:ea typeface="Calibri"/>
                <a:cs typeface="Calibri"/>
              </a:rPr>
              <a:t>71.15%</a:t>
            </a:r>
          </a:p>
        </p:txBody>
      </p:sp>
      <p:sp>
        <p:nvSpPr>
          <p:cNvPr id="13" name="text">
            <a:extLst>
              <a:ext uri="{FF2B5EF4-FFF2-40B4-BE49-F238E27FC236}">
                <a16:creationId xmlns:a16="http://schemas.microsoft.com/office/drawing/2014/main" id="{2407613D-FAC8-4513-9FDF-4BDBC8AED304}"/>
              </a:ext>
            </a:extLst>
          </p:cNvPr>
          <p:cNvSpPr>
            <a:spLocks noGrp="1"/>
          </p:cNvSpPr>
          <p:nvPr/>
        </p:nvSpPr>
        <p:spPr>
          <a:xfrm>
            <a:off x="6349258" y="3317274"/>
            <a:ext cx="1943100" cy="361950"/>
          </a:xfrm>
          <a:prstGeom prst="rect">
            <a:avLst/>
          </a:prstGeom>
          <a:noFill/>
          <a:ln w="0">
            <a:noFill/>
            <a:prstDash val="solid"/>
          </a:ln>
        </p:spPr>
        <p:txBody>
          <a:bodyPr/>
          <a:lstStyle/>
          <a:p>
            <a:pPr algn="ctr">
              <a:defRPr sz="1350">
                <a:solidFill>
                  <a:srgbClr val="4A4A4A"/>
                </a:solidFill>
                <a:latin typeface="Calibri"/>
                <a:ea typeface="Calibri"/>
                <a:cs typeface="Calibri"/>
              </a:defRPr>
            </a:pPr>
            <a:r>
              <a:rPr sz="1600" dirty="0" err="1">
                <a:solidFill>
                  <a:srgbClr val="4A4A4A"/>
                </a:solidFill>
                <a:latin typeface="Calibri"/>
                <a:ea typeface="Calibri"/>
                <a:cs typeface="Calibri"/>
              </a:rPr>
              <a:t>LangGraph</a:t>
            </a:r>
            <a:r>
              <a:rPr sz="1600" dirty="0">
                <a:solidFill>
                  <a:srgbClr val="4A4A4A"/>
                </a:solidFill>
                <a:latin typeface="Calibri"/>
                <a:ea typeface="Calibri"/>
                <a:cs typeface="Calibri"/>
              </a:rPr>
              <a:t> workflow</a:t>
            </a:r>
          </a:p>
        </p:txBody>
      </p:sp>
      <p:sp>
        <p:nvSpPr>
          <p:cNvPr id="14" name="box">
            <a:extLst>
              <a:ext uri="{FF2B5EF4-FFF2-40B4-BE49-F238E27FC236}">
                <a16:creationId xmlns:a16="http://schemas.microsoft.com/office/drawing/2014/main" id="{399F15DC-79E3-48F2-B203-8CBBC23BA64B}"/>
              </a:ext>
            </a:extLst>
          </p:cNvPr>
          <p:cNvSpPr>
            <a:spLocks noGrp="1"/>
          </p:cNvSpPr>
          <p:nvPr/>
        </p:nvSpPr>
        <p:spPr>
          <a:xfrm>
            <a:off x="8768608" y="2762250"/>
            <a:ext cx="2381250" cy="1628776"/>
          </a:xfrm>
          <a:prstGeom prst="roundRect">
            <a:avLst>
              <a:gd name="adj" fmla="val 5714"/>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text">
            <a:extLst>
              <a:ext uri="{FF2B5EF4-FFF2-40B4-BE49-F238E27FC236}">
                <a16:creationId xmlns:a16="http://schemas.microsoft.com/office/drawing/2014/main" id="{75DFDC91-4C8E-48FE-A380-B7E0D2547C2B}"/>
              </a:ext>
            </a:extLst>
          </p:cNvPr>
          <p:cNvSpPr>
            <a:spLocks noGrp="1"/>
          </p:cNvSpPr>
          <p:nvPr/>
        </p:nvSpPr>
        <p:spPr>
          <a:xfrm>
            <a:off x="8959108" y="2914650"/>
            <a:ext cx="200025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Safety stance</a:t>
            </a:r>
          </a:p>
        </p:txBody>
      </p:sp>
      <p:sp>
        <p:nvSpPr>
          <p:cNvPr id="16" name="text">
            <a:extLst>
              <a:ext uri="{FF2B5EF4-FFF2-40B4-BE49-F238E27FC236}">
                <a16:creationId xmlns:a16="http://schemas.microsoft.com/office/drawing/2014/main" id="{7A657746-52DC-46D3-802F-22A194DD0FE3}"/>
              </a:ext>
            </a:extLst>
          </p:cNvPr>
          <p:cNvSpPr>
            <a:spLocks noGrp="1"/>
          </p:cNvSpPr>
          <p:nvPr/>
        </p:nvSpPr>
        <p:spPr>
          <a:xfrm>
            <a:off x="8959108" y="3314700"/>
            <a:ext cx="2000250" cy="685800"/>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Decision support first: critical actions require explicit human approval.</a:t>
            </a:r>
          </a:p>
        </p:txBody>
      </p:sp>
      <p:sp>
        <p:nvSpPr>
          <p:cNvPr id="17" name="box">
            <a:extLst>
              <a:ext uri="{FF2B5EF4-FFF2-40B4-BE49-F238E27FC236}">
                <a16:creationId xmlns:a16="http://schemas.microsoft.com/office/drawing/2014/main" id="{C53C0F7B-9DA0-4B4D-8A85-B341C132E7A9}"/>
              </a:ext>
            </a:extLst>
          </p:cNvPr>
          <p:cNvSpPr>
            <a:spLocks noGrp="1"/>
          </p:cNvSpPr>
          <p:nvPr/>
        </p:nvSpPr>
        <p:spPr>
          <a:xfrm>
            <a:off x="8768608" y="4648199"/>
            <a:ext cx="2381250" cy="1628775"/>
          </a:xfrm>
          <a:prstGeom prst="roundRect">
            <a:avLst>
              <a:gd name="adj" fmla="val 6667"/>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8" name="text">
            <a:extLst>
              <a:ext uri="{FF2B5EF4-FFF2-40B4-BE49-F238E27FC236}">
                <a16:creationId xmlns:a16="http://schemas.microsoft.com/office/drawing/2014/main" id="{D74EFC90-65A3-4E8F-BD98-FCF7714CF04F}"/>
              </a:ext>
            </a:extLst>
          </p:cNvPr>
          <p:cNvSpPr>
            <a:spLocks noGrp="1"/>
          </p:cNvSpPr>
          <p:nvPr/>
        </p:nvSpPr>
        <p:spPr>
          <a:xfrm>
            <a:off x="8959108" y="4721087"/>
            <a:ext cx="200025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Remaining work</a:t>
            </a:r>
          </a:p>
        </p:txBody>
      </p:sp>
      <p:sp>
        <p:nvSpPr>
          <p:cNvPr id="19" name="text">
            <a:extLst>
              <a:ext uri="{FF2B5EF4-FFF2-40B4-BE49-F238E27FC236}">
                <a16:creationId xmlns:a16="http://schemas.microsoft.com/office/drawing/2014/main" id="{030CD89B-C1AC-4A93-AE7E-CBCAF413340D}"/>
              </a:ext>
            </a:extLst>
          </p:cNvPr>
          <p:cNvSpPr>
            <a:spLocks noGrp="1"/>
          </p:cNvSpPr>
          <p:nvPr/>
        </p:nvSpPr>
        <p:spPr>
          <a:xfrm>
            <a:off x="8959108" y="5121137"/>
            <a:ext cx="2000250" cy="495300"/>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Complex multi-hop topology and fault reasoning stay active research targets.</a:t>
            </a:r>
          </a:p>
        </p:txBody>
      </p:sp>
      <p:pic>
        <p:nvPicPr>
          <p:cNvPr id="1026" name="Picture 2" descr="GPT-4o is wild. If you don't use it, you're falling behind ...">
            <a:extLst>
              <a:ext uri="{FF2B5EF4-FFF2-40B4-BE49-F238E27FC236}">
                <a16:creationId xmlns:a16="http://schemas.microsoft.com/office/drawing/2014/main" id="{1B74599F-43CC-F458-1700-F3DF7DFB57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1666" y="4267200"/>
            <a:ext cx="2017818" cy="1387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589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European Fit</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The European value is interoperability plus auditability</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66775" y="1709945"/>
            <a:ext cx="10515600" cy="742950"/>
          </a:xfrm>
        </p:spPr>
        <p:txBody>
          <a:bodyPr>
            <a:normAutofit/>
          </a:bodyPr>
          <a:lstStyle/>
          <a:p>
            <a:pPr>
              <a:defRPr sz="1575">
                <a:solidFill>
                  <a:srgbClr val="4A4A4A"/>
                </a:solidFill>
                <a:latin typeface="Calibri"/>
                <a:ea typeface="Calibri"/>
                <a:cs typeface="Calibri"/>
              </a:defRPr>
            </a:pPr>
            <a:r>
              <a:rPr sz="1800" dirty="0">
                <a:solidFill>
                  <a:srgbClr val="4A4A4A"/>
                </a:solidFill>
                <a:latin typeface="Calibri"/>
                <a:ea typeface="Calibri"/>
                <a:cs typeface="Calibri"/>
              </a:rPr>
              <a:t>European fit = standards-based data import + auditable answers + extensible context.</a:t>
            </a:r>
          </a:p>
        </p:txBody>
      </p:sp>
      <p:sp>
        <p:nvSpPr>
          <p:cNvPr id="5" name="box">
            <a:extLst>
              <a:ext uri="{FF2B5EF4-FFF2-40B4-BE49-F238E27FC236}">
                <a16:creationId xmlns:a16="http://schemas.microsoft.com/office/drawing/2014/main" id="{0F58C970-27FB-4FA6-AEE0-5559310DA272}"/>
              </a:ext>
            </a:extLst>
          </p:cNvPr>
          <p:cNvSpPr>
            <a:spLocks noGrp="1"/>
          </p:cNvSpPr>
          <p:nvPr/>
        </p:nvSpPr>
        <p:spPr>
          <a:xfrm>
            <a:off x="965752" y="2586245"/>
            <a:ext cx="3048000" cy="1666875"/>
          </a:xfrm>
          <a:prstGeom prst="roundRect">
            <a:avLst>
              <a:gd name="adj" fmla="val 5926"/>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 name="text">
            <a:extLst>
              <a:ext uri="{FF2B5EF4-FFF2-40B4-BE49-F238E27FC236}">
                <a16:creationId xmlns:a16="http://schemas.microsoft.com/office/drawing/2014/main" id="{F3132FCD-600A-4677-9713-02877D28013C}"/>
              </a:ext>
            </a:extLst>
          </p:cNvPr>
          <p:cNvSpPr>
            <a:spLocks noGrp="1"/>
          </p:cNvSpPr>
          <p:nvPr/>
        </p:nvSpPr>
        <p:spPr>
          <a:xfrm>
            <a:off x="1156252" y="2738645"/>
            <a:ext cx="266700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CGMES/CIM first</a:t>
            </a:r>
          </a:p>
        </p:txBody>
      </p:sp>
      <p:sp>
        <p:nvSpPr>
          <p:cNvPr id="7" name="text">
            <a:extLst>
              <a:ext uri="{FF2B5EF4-FFF2-40B4-BE49-F238E27FC236}">
                <a16:creationId xmlns:a16="http://schemas.microsoft.com/office/drawing/2014/main" id="{FC6849CB-519A-44DD-8A06-AD37C2D91D24}"/>
              </a:ext>
            </a:extLst>
          </p:cNvPr>
          <p:cNvSpPr>
            <a:spLocks noGrp="1"/>
          </p:cNvSpPr>
          <p:nvPr/>
        </p:nvSpPr>
        <p:spPr>
          <a:xfrm>
            <a:off x="1156252" y="3138695"/>
            <a:ext cx="2857500" cy="638175"/>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Works from European interoperability standards instead of proprietary-only assumptions.</a:t>
            </a:r>
          </a:p>
        </p:txBody>
      </p:sp>
      <p:sp>
        <p:nvSpPr>
          <p:cNvPr id="8" name="box">
            <a:extLst>
              <a:ext uri="{FF2B5EF4-FFF2-40B4-BE49-F238E27FC236}">
                <a16:creationId xmlns:a16="http://schemas.microsoft.com/office/drawing/2014/main" id="{76083B82-D0A1-43A5-A878-318917EC10B0}"/>
              </a:ext>
            </a:extLst>
          </p:cNvPr>
          <p:cNvSpPr>
            <a:spLocks noGrp="1"/>
          </p:cNvSpPr>
          <p:nvPr/>
        </p:nvSpPr>
        <p:spPr>
          <a:xfrm>
            <a:off x="4585252" y="2586245"/>
            <a:ext cx="3048000" cy="1666875"/>
          </a:xfrm>
          <a:prstGeom prst="roundRect">
            <a:avLst>
              <a:gd name="adj" fmla="val 5926"/>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dirty="0"/>
          </a:p>
        </p:txBody>
      </p:sp>
      <p:sp>
        <p:nvSpPr>
          <p:cNvPr id="9" name="text">
            <a:extLst>
              <a:ext uri="{FF2B5EF4-FFF2-40B4-BE49-F238E27FC236}">
                <a16:creationId xmlns:a16="http://schemas.microsoft.com/office/drawing/2014/main" id="{85DBEF62-94A2-4C1F-8406-6D7B89C22034}"/>
              </a:ext>
            </a:extLst>
          </p:cNvPr>
          <p:cNvSpPr>
            <a:spLocks noGrp="1"/>
          </p:cNvSpPr>
          <p:nvPr/>
        </p:nvSpPr>
        <p:spPr>
          <a:xfrm>
            <a:off x="4775752" y="2738645"/>
            <a:ext cx="266700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Bring your own grid</a:t>
            </a:r>
          </a:p>
        </p:txBody>
      </p:sp>
      <p:sp>
        <p:nvSpPr>
          <p:cNvPr id="10" name="text">
            <a:extLst>
              <a:ext uri="{FF2B5EF4-FFF2-40B4-BE49-F238E27FC236}">
                <a16:creationId xmlns:a16="http://schemas.microsoft.com/office/drawing/2014/main" id="{33BF245D-8C66-4603-93BE-EC418C598D51}"/>
              </a:ext>
            </a:extLst>
          </p:cNvPr>
          <p:cNvSpPr>
            <a:spLocks noGrp="1"/>
          </p:cNvSpPr>
          <p:nvPr/>
        </p:nvSpPr>
        <p:spPr>
          <a:xfrm>
            <a:off x="4775752" y="3138695"/>
            <a:ext cx="2667000" cy="638175"/>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Import documentation supports a user's own CGMES/CIM data.</a:t>
            </a:r>
          </a:p>
        </p:txBody>
      </p:sp>
      <p:sp>
        <p:nvSpPr>
          <p:cNvPr id="11" name="box">
            <a:extLst>
              <a:ext uri="{FF2B5EF4-FFF2-40B4-BE49-F238E27FC236}">
                <a16:creationId xmlns:a16="http://schemas.microsoft.com/office/drawing/2014/main" id="{463863EA-8150-4B35-A094-35701EB0990B}"/>
              </a:ext>
            </a:extLst>
          </p:cNvPr>
          <p:cNvSpPr>
            <a:spLocks noGrp="1"/>
          </p:cNvSpPr>
          <p:nvPr/>
        </p:nvSpPr>
        <p:spPr>
          <a:xfrm>
            <a:off x="8204752" y="2586245"/>
            <a:ext cx="3048000" cy="1666875"/>
          </a:xfrm>
          <a:prstGeom prst="roundRect">
            <a:avLst>
              <a:gd name="adj" fmla="val 5926"/>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text">
            <a:extLst>
              <a:ext uri="{FF2B5EF4-FFF2-40B4-BE49-F238E27FC236}">
                <a16:creationId xmlns:a16="http://schemas.microsoft.com/office/drawing/2014/main" id="{C1887821-D4C5-4109-AAE0-9286E2F24A41}"/>
              </a:ext>
            </a:extLst>
          </p:cNvPr>
          <p:cNvSpPr>
            <a:spLocks noGrp="1"/>
          </p:cNvSpPr>
          <p:nvPr/>
        </p:nvSpPr>
        <p:spPr>
          <a:xfrm>
            <a:off x="8395252" y="2738645"/>
            <a:ext cx="266700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Critical-infra aware</a:t>
            </a:r>
          </a:p>
        </p:txBody>
      </p:sp>
      <p:sp>
        <p:nvSpPr>
          <p:cNvPr id="13" name="text">
            <a:extLst>
              <a:ext uri="{FF2B5EF4-FFF2-40B4-BE49-F238E27FC236}">
                <a16:creationId xmlns:a16="http://schemas.microsoft.com/office/drawing/2014/main" id="{51E7126C-4E48-404E-AAD8-3C055674B80E}"/>
              </a:ext>
            </a:extLst>
          </p:cNvPr>
          <p:cNvSpPr>
            <a:spLocks noGrp="1"/>
          </p:cNvSpPr>
          <p:nvPr/>
        </p:nvSpPr>
        <p:spPr>
          <a:xfrm>
            <a:off x="8395252" y="3138695"/>
            <a:ext cx="2667000" cy="638175"/>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Demo data can be anonymized while preserving topology-aware analysis.</a:t>
            </a:r>
          </a:p>
        </p:txBody>
      </p:sp>
      <p:sp>
        <p:nvSpPr>
          <p:cNvPr id="14" name="box">
            <a:extLst>
              <a:ext uri="{FF2B5EF4-FFF2-40B4-BE49-F238E27FC236}">
                <a16:creationId xmlns:a16="http://schemas.microsoft.com/office/drawing/2014/main" id="{C2EA7D8C-1192-4EC5-BA39-76CDDFE9A2F9}"/>
              </a:ext>
            </a:extLst>
          </p:cNvPr>
          <p:cNvSpPr>
            <a:spLocks noGrp="1"/>
          </p:cNvSpPr>
          <p:nvPr/>
        </p:nvSpPr>
        <p:spPr>
          <a:xfrm>
            <a:off x="2762250" y="4805570"/>
            <a:ext cx="6667500" cy="1095375"/>
          </a:xfrm>
          <a:prstGeom prst="roundRect">
            <a:avLst>
              <a:gd name="adj" fmla="val 6957"/>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text">
            <a:extLst>
              <a:ext uri="{FF2B5EF4-FFF2-40B4-BE49-F238E27FC236}">
                <a16:creationId xmlns:a16="http://schemas.microsoft.com/office/drawing/2014/main" id="{C6AEF09E-CB03-4DB9-8D9C-08C4EAD9521B}"/>
              </a:ext>
            </a:extLst>
          </p:cNvPr>
          <p:cNvSpPr>
            <a:spLocks noGrp="1"/>
          </p:cNvSpPr>
          <p:nvPr/>
        </p:nvSpPr>
        <p:spPr>
          <a:xfrm>
            <a:off x="2952750" y="4957970"/>
            <a:ext cx="628650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Extensible context</a:t>
            </a:r>
          </a:p>
        </p:txBody>
      </p:sp>
      <p:sp>
        <p:nvSpPr>
          <p:cNvPr id="16" name="text">
            <a:extLst>
              <a:ext uri="{FF2B5EF4-FFF2-40B4-BE49-F238E27FC236}">
                <a16:creationId xmlns:a16="http://schemas.microsoft.com/office/drawing/2014/main" id="{3DE8E40D-40E3-428B-970C-0F5632E0AF56}"/>
              </a:ext>
            </a:extLst>
          </p:cNvPr>
          <p:cNvSpPr>
            <a:spLocks noGrp="1"/>
          </p:cNvSpPr>
          <p:nvPr/>
        </p:nvSpPr>
        <p:spPr>
          <a:xfrm>
            <a:off x="2952750" y="5358020"/>
            <a:ext cx="6286500" cy="447675"/>
          </a:xfrm>
          <a:prstGeom prst="rect">
            <a:avLst/>
          </a:prstGeom>
          <a:noFill/>
          <a:ln w="0">
            <a:noFill/>
            <a:prstDash val="solid"/>
          </a:ln>
        </p:spPr>
        <p:txBody>
          <a:bodyPr/>
          <a:lstStyle/>
          <a:p>
            <a:pPr>
              <a:defRPr sz="1500">
                <a:solidFill>
                  <a:srgbClr val="4A4A4A"/>
                </a:solidFill>
                <a:latin typeface="Calibri"/>
                <a:ea typeface="Calibri"/>
                <a:cs typeface="Calibri"/>
              </a:defRPr>
            </a:pPr>
            <a:r>
              <a:rPr sz="1600" dirty="0">
                <a:solidFill>
                  <a:srgbClr val="4A4A4A"/>
                </a:solidFill>
                <a:latin typeface="Calibri"/>
                <a:ea typeface="Calibri"/>
                <a:cs typeface="Calibri"/>
              </a:rPr>
              <a:t>GIS, SCADA/EMS, AMI, weather, documents, and maintenance data can be linked into the graph.</a:t>
            </a:r>
          </a:p>
        </p:txBody>
      </p:sp>
    </p:spTree>
    <p:extLst>
      <p:ext uri="{BB962C8B-B14F-4D97-AF65-F5344CB8AC3E}">
        <p14:creationId xmlns:p14="http://schemas.microsoft.com/office/powerpoint/2010/main" val="1932589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Roadmap</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The next step is controlled tool use, not autonomous action</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66775" y="1751772"/>
            <a:ext cx="10515600" cy="742950"/>
          </a:xfrm>
        </p:spPr>
        <p:txBody>
          <a:bodyPr>
            <a:normAutofit/>
          </a:bodyPr>
          <a:lstStyle/>
          <a:p>
            <a:pPr>
              <a:defRPr sz="1575">
                <a:solidFill>
                  <a:srgbClr val="4A4A4A"/>
                </a:solidFill>
                <a:latin typeface="Calibri"/>
                <a:ea typeface="Calibri"/>
                <a:cs typeface="Calibri"/>
              </a:defRPr>
            </a:pPr>
            <a:r>
              <a:rPr sz="1800" dirty="0" err="1">
                <a:solidFill>
                  <a:srgbClr val="4A4A4A"/>
                </a:solidFill>
                <a:latin typeface="Calibri"/>
                <a:ea typeface="Calibri"/>
                <a:cs typeface="Calibri"/>
              </a:rPr>
              <a:t>GridSense</a:t>
            </a:r>
            <a:r>
              <a:rPr sz="1800" dirty="0">
                <a:solidFill>
                  <a:srgbClr val="4A4A4A"/>
                </a:solidFill>
                <a:latin typeface="Calibri"/>
                <a:ea typeface="Calibri"/>
                <a:cs typeface="Calibri"/>
              </a:rPr>
              <a:t> reasoning core -&gt; Neo4j</a:t>
            </a:r>
            <a:r>
              <a:rPr lang="en-US" sz="1800" dirty="0">
                <a:solidFill>
                  <a:srgbClr val="4A4A4A"/>
                </a:solidFill>
                <a:latin typeface="Calibri"/>
                <a:ea typeface="Calibri"/>
                <a:cs typeface="Calibri"/>
              </a:rPr>
              <a:t>/MCP</a:t>
            </a:r>
            <a:r>
              <a:rPr sz="1800" dirty="0">
                <a:solidFill>
                  <a:srgbClr val="4A4A4A"/>
                </a:solidFill>
                <a:latin typeface="Calibri"/>
                <a:ea typeface="Calibri"/>
                <a:cs typeface="Calibri"/>
              </a:rPr>
              <a:t> -&gt; </a:t>
            </a:r>
            <a:r>
              <a:rPr sz="1800" dirty="0" err="1">
                <a:solidFill>
                  <a:srgbClr val="4A4A4A"/>
                </a:solidFill>
                <a:latin typeface="Calibri"/>
                <a:ea typeface="Calibri"/>
                <a:cs typeface="Calibri"/>
              </a:rPr>
              <a:t>pandapower</a:t>
            </a:r>
            <a:r>
              <a:rPr sz="1800" dirty="0">
                <a:solidFill>
                  <a:srgbClr val="4A4A4A"/>
                </a:solidFill>
                <a:latin typeface="Calibri"/>
                <a:ea typeface="Calibri"/>
                <a:cs typeface="Calibri"/>
              </a:rPr>
              <a:t> or </a:t>
            </a:r>
            <a:r>
              <a:rPr sz="1800" dirty="0" err="1">
                <a:solidFill>
                  <a:srgbClr val="4A4A4A"/>
                </a:solidFill>
                <a:latin typeface="Calibri"/>
                <a:ea typeface="Calibri"/>
                <a:cs typeface="Calibri"/>
              </a:rPr>
              <a:t>PowerFactory</a:t>
            </a:r>
            <a:r>
              <a:rPr sz="1800" dirty="0">
                <a:solidFill>
                  <a:srgbClr val="4A4A4A"/>
                </a:solidFill>
                <a:latin typeface="Calibri"/>
                <a:ea typeface="Calibri"/>
                <a:cs typeface="Calibri"/>
              </a:rPr>
              <a:t> tools -&gt; OPAL-RT validation -&gt; human approval.</a:t>
            </a:r>
          </a:p>
        </p:txBody>
      </p:sp>
      <p:sp>
        <p:nvSpPr>
          <p:cNvPr id="5" name="box">
            <a:extLst>
              <a:ext uri="{FF2B5EF4-FFF2-40B4-BE49-F238E27FC236}">
                <a16:creationId xmlns:a16="http://schemas.microsoft.com/office/drawing/2014/main" id="{3F930EE6-6721-4F31-8ADA-0BFFFE9AB965}"/>
              </a:ext>
            </a:extLst>
          </p:cNvPr>
          <p:cNvSpPr>
            <a:spLocks noGrp="1"/>
          </p:cNvSpPr>
          <p:nvPr/>
        </p:nvSpPr>
        <p:spPr>
          <a:xfrm>
            <a:off x="1704176" y="2862264"/>
            <a:ext cx="1676400" cy="819150"/>
          </a:xfrm>
          <a:prstGeom prst="roundRect">
            <a:avLst>
              <a:gd name="adj" fmla="val 9302"/>
            </a:avLst>
          </a:prstGeom>
          <a:solidFill>
            <a:srgbClr val="EAF6EC"/>
          </a:solidFill>
          <a:ln w="19050">
            <a:solidFill>
              <a:srgbClr val="00833C"/>
            </a:solidFill>
            <a:prstDash val="solid"/>
          </a:ln>
        </p:spPr>
        <p:txBody>
          <a:bodyPr/>
          <a:lstStyle/>
          <a:p>
            <a:endParaRPr lang="en-US"/>
          </a:p>
        </p:txBody>
      </p:sp>
      <p:sp>
        <p:nvSpPr>
          <p:cNvPr id="6" name="text">
            <a:extLst>
              <a:ext uri="{FF2B5EF4-FFF2-40B4-BE49-F238E27FC236}">
                <a16:creationId xmlns:a16="http://schemas.microsoft.com/office/drawing/2014/main" id="{CC825618-1AA7-4CDE-8FC5-AD7B4168A27E}"/>
              </a:ext>
            </a:extLst>
          </p:cNvPr>
          <p:cNvSpPr>
            <a:spLocks noGrp="1"/>
          </p:cNvSpPr>
          <p:nvPr/>
        </p:nvSpPr>
        <p:spPr>
          <a:xfrm>
            <a:off x="1818476" y="3008453"/>
            <a:ext cx="1447800" cy="495300"/>
          </a:xfrm>
          <a:prstGeom prst="rect">
            <a:avLst/>
          </a:prstGeom>
          <a:noFill/>
          <a:ln w="0">
            <a:noFill/>
            <a:prstDash val="solid"/>
          </a:ln>
        </p:spPr>
        <p:txBody>
          <a:bodyPr/>
          <a:lstStyle/>
          <a:p>
            <a:pPr algn="ctr">
              <a:defRPr sz="1425" b="1">
                <a:solidFill>
                  <a:srgbClr val="006341"/>
                </a:solidFill>
                <a:latin typeface="Calibri"/>
                <a:ea typeface="Calibri"/>
                <a:cs typeface="Calibri"/>
              </a:defRPr>
            </a:pPr>
            <a:r>
              <a:rPr lang="en-US" sz="1600" b="1" dirty="0" err="1">
                <a:solidFill>
                  <a:srgbClr val="006341"/>
                </a:solidFill>
                <a:latin typeface="Calibri"/>
                <a:ea typeface="Calibri"/>
                <a:cs typeface="Calibri"/>
              </a:rPr>
              <a:t>LangGraph</a:t>
            </a:r>
            <a:r>
              <a:rPr sz="1600" b="1" dirty="0">
                <a:solidFill>
                  <a:srgbClr val="006341"/>
                </a:solidFill>
                <a:latin typeface="Calibri"/>
                <a:ea typeface="Calibri"/>
                <a:cs typeface="Calibri"/>
              </a:rPr>
              <a:t> core</a:t>
            </a:r>
          </a:p>
        </p:txBody>
      </p:sp>
      <p:sp>
        <p:nvSpPr>
          <p:cNvPr id="7" name="text">
            <a:extLst>
              <a:ext uri="{FF2B5EF4-FFF2-40B4-BE49-F238E27FC236}">
                <a16:creationId xmlns:a16="http://schemas.microsoft.com/office/drawing/2014/main" id="{7252C973-0A60-4963-AD97-CFE4C4F895CC}"/>
              </a:ext>
            </a:extLst>
          </p:cNvPr>
          <p:cNvSpPr>
            <a:spLocks noGrp="1"/>
          </p:cNvSpPr>
          <p:nvPr/>
        </p:nvSpPr>
        <p:spPr>
          <a:xfrm>
            <a:off x="3399626" y="3109914"/>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b="1">
                <a:solidFill>
                  <a:srgbClr val="00833C"/>
                </a:solidFill>
                <a:latin typeface="Calibri"/>
                <a:ea typeface="Calibri"/>
                <a:cs typeface="Calibri"/>
              </a:rPr>
              <a:t>&gt;</a:t>
            </a:r>
          </a:p>
        </p:txBody>
      </p:sp>
      <p:sp>
        <p:nvSpPr>
          <p:cNvPr id="8" name="box">
            <a:extLst>
              <a:ext uri="{FF2B5EF4-FFF2-40B4-BE49-F238E27FC236}">
                <a16:creationId xmlns:a16="http://schemas.microsoft.com/office/drawing/2014/main" id="{441C4402-DB96-48FB-A361-F96C26126B84}"/>
              </a:ext>
            </a:extLst>
          </p:cNvPr>
          <p:cNvSpPr>
            <a:spLocks noGrp="1"/>
          </p:cNvSpPr>
          <p:nvPr/>
        </p:nvSpPr>
        <p:spPr>
          <a:xfrm>
            <a:off x="3552026" y="2862264"/>
            <a:ext cx="167640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9" name="text">
            <a:extLst>
              <a:ext uri="{FF2B5EF4-FFF2-40B4-BE49-F238E27FC236}">
                <a16:creationId xmlns:a16="http://schemas.microsoft.com/office/drawing/2014/main" id="{931F0C10-3D07-4219-9D19-E39EF369882A}"/>
              </a:ext>
            </a:extLst>
          </p:cNvPr>
          <p:cNvSpPr>
            <a:spLocks noGrp="1"/>
          </p:cNvSpPr>
          <p:nvPr/>
        </p:nvSpPr>
        <p:spPr>
          <a:xfrm>
            <a:off x="3475826" y="2995614"/>
            <a:ext cx="18097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600" b="1" dirty="0">
                <a:solidFill>
                  <a:srgbClr val="111111"/>
                </a:solidFill>
                <a:latin typeface="Calibri"/>
                <a:ea typeface="Calibri"/>
                <a:cs typeface="Calibri"/>
              </a:rPr>
              <a:t>Neo4j / </a:t>
            </a:r>
            <a:r>
              <a:rPr lang="en-US" sz="1600" b="1" dirty="0">
                <a:solidFill>
                  <a:srgbClr val="111111"/>
                </a:solidFill>
                <a:latin typeface="Calibri"/>
                <a:ea typeface="Calibri"/>
                <a:cs typeface="Calibri"/>
              </a:rPr>
              <a:t>Model Context Protocol</a:t>
            </a:r>
            <a:endParaRPr sz="1600" b="1" dirty="0">
              <a:solidFill>
                <a:srgbClr val="111111"/>
              </a:solidFill>
              <a:latin typeface="Calibri"/>
              <a:ea typeface="Calibri"/>
              <a:cs typeface="Calibri"/>
            </a:endParaRPr>
          </a:p>
        </p:txBody>
      </p:sp>
      <p:sp>
        <p:nvSpPr>
          <p:cNvPr id="10" name="text">
            <a:extLst>
              <a:ext uri="{FF2B5EF4-FFF2-40B4-BE49-F238E27FC236}">
                <a16:creationId xmlns:a16="http://schemas.microsoft.com/office/drawing/2014/main" id="{0682A7F5-6B00-4D2E-B9DB-933C6AF1CE07}"/>
              </a:ext>
            </a:extLst>
          </p:cNvPr>
          <p:cNvSpPr>
            <a:spLocks noGrp="1"/>
          </p:cNvSpPr>
          <p:nvPr/>
        </p:nvSpPr>
        <p:spPr>
          <a:xfrm>
            <a:off x="5247476" y="3109914"/>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b="1">
                <a:solidFill>
                  <a:srgbClr val="00833C"/>
                </a:solidFill>
                <a:latin typeface="Calibri"/>
                <a:ea typeface="Calibri"/>
                <a:cs typeface="Calibri"/>
              </a:rPr>
              <a:t>&gt;</a:t>
            </a:r>
          </a:p>
        </p:txBody>
      </p:sp>
      <p:sp>
        <p:nvSpPr>
          <p:cNvPr id="11" name="box">
            <a:extLst>
              <a:ext uri="{FF2B5EF4-FFF2-40B4-BE49-F238E27FC236}">
                <a16:creationId xmlns:a16="http://schemas.microsoft.com/office/drawing/2014/main" id="{962CE32F-9F9D-459C-9A94-07830E74DCEF}"/>
              </a:ext>
            </a:extLst>
          </p:cNvPr>
          <p:cNvSpPr>
            <a:spLocks noGrp="1"/>
          </p:cNvSpPr>
          <p:nvPr/>
        </p:nvSpPr>
        <p:spPr>
          <a:xfrm>
            <a:off x="5399876" y="2862264"/>
            <a:ext cx="167640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2" name="text">
            <a:extLst>
              <a:ext uri="{FF2B5EF4-FFF2-40B4-BE49-F238E27FC236}">
                <a16:creationId xmlns:a16="http://schemas.microsoft.com/office/drawing/2014/main" id="{0819E87A-C30C-4D57-94FF-E0783F936B8E}"/>
              </a:ext>
            </a:extLst>
          </p:cNvPr>
          <p:cNvSpPr>
            <a:spLocks noGrp="1"/>
          </p:cNvSpPr>
          <p:nvPr/>
        </p:nvSpPr>
        <p:spPr>
          <a:xfrm>
            <a:off x="5437976" y="2995614"/>
            <a:ext cx="144780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600" b="1" dirty="0">
                <a:solidFill>
                  <a:srgbClr val="111111"/>
                </a:solidFill>
                <a:latin typeface="Calibri"/>
                <a:ea typeface="Calibri"/>
                <a:cs typeface="Calibri"/>
              </a:rPr>
              <a:t>Power-flow tools</a:t>
            </a:r>
          </a:p>
        </p:txBody>
      </p:sp>
      <p:sp>
        <p:nvSpPr>
          <p:cNvPr id="13" name="text">
            <a:extLst>
              <a:ext uri="{FF2B5EF4-FFF2-40B4-BE49-F238E27FC236}">
                <a16:creationId xmlns:a16="http://schemas.microsoft.com/office/drawing/2014/main" id="{AD8B09B4-6C64-4BAB-ACB0-DA40C1D293D8}"/>
              </a:ext>
            </a:extLst>
          </p:cNvPr>
          <p:cNvSpPr>
            <a:spLocks noGrp="1"/>
          </p:cNvSpPr>
          <p:nvPr/>
        </p:nvSpPr>
        <p:spPr>
          <a:xfrm>
            <a:off x="7095326" y="3109914"/>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b="1">
                <a:solidFill>
                  <a:srgbClr val="00833C"/>
                </a:solidFill>
                <a:latin typeface="Calibri"/>
                <a:ea typeface="Calibri"/>
                <a:cs typeface="Calibri"/>
              </a:rPr>
              <a:t>&gt;</a:t>
            </a:r>
          </a:p>
        </p:txBody>
      </p:sp>
      <p:sp>
        <p:nvSpPr>
          <p:cNvPr id="14" name="box">
            <a:extLst>
              <a:ext uri="{FF2B5EF4-FFF2-40B4-BE49-F238E27FC236}">
                <a16:creationId xmlns:a16="http://schemas.microsoft.com/office/drawing/2014/main" id="{B1D8F4AB-B427-4CF1-B339-154C8280DA59}"/>
              </a:ext>
            </a:extLst>
          </p:cNvPr>
          <p:cNvSpPr>
            <a:spLocks noGrp="1"/>
          </p:cNvSpPr>
          <p:nvPr/>
        </p:nvSpPr>
        <p:spPr>
          <a:xfrm>
            <a:off x="7247726" y="2862264"/>
            <a:ext cx="167640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5" name="text">
            <a:extLst>
              <a:ext uri="{FF2B5EF4-FFF2-40B4-BE49-F238E27FC236}">
                <a16:creationId xmlns:a16="http://schemas.microsoft.com/office/drawing/2014/main" id="{5D5497B9-7F2C-42F7-BBBF-900C06A3E1C4}"/>
              </a:ext>
            </a:extLst>
          </p:cNvPr>
          <p:cNvSpPr>
            <a:spLocks noGrp="1"/>
          </p:cNvSpPr>
          <p:nvPr/>
        </p:nvSpPr>
        <p:spPr>
          <a:xfrm>
            <a:off x="7362026" y="3033714"/>
            <a:ext cx="144780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600" b="1" dirty="0">
                <a:solidFill>
                  <a:srgbClr val="111111"/>
                </a:solidFill>
                <a:latin typeface="Calibri"/>
                <a:ea typeface="Calibri"/>
                <a:cs typeface="Calibri"/>
              </a:rPr>
              <a:t>OPAL-RT validation</a:t>
            </a:r>
          </a:p>
        </p:txBody>
      </p:sp>
      <p:sp>
        <p:nvSpPr>
          <p:cNvPr id="16" name="text">
            <a:extLst>
              <a:ext uri="{FF2B5EF4-FFF2-40B4-BE49-F238E27FC236}">
                <a16:creationId xmlns:a16="http://schemas.microsoft.com/office/drawing/2014/main" id="{69F9AB25-1F68-4B8C-859C-B662CBB3AA9C}"/>
              </a:ext>
            </a:extLst>
          </p:cNvPr>
          <p:cNvSpPr>
            <a:spLocks noGrp="1"/>
          </p:cNvSpPr>
          <p:nvPr/>
        </p:nvSpPr>
        <p:spPr>
          <a:xfrm>
            <a:off x="8943176" y="3109914"/>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b="1">
                <a:solidFill>
                  <a:srgbClr val="00833C"/>
                </a:solidFill>
                <a:latin typeface="Calibri"/>
                <a:ea typeface="Calibri"/>
                <a:cs typeface="Calibri"/>
              </a:rPr>
              <a:t>&gt;</a:t>
            </a:r>
          </a:p>
        </p:txBody>
      </p:sp>
      <p:sp>
        <p:nvSpPr>
          <p:cNvPr id="17" name="box">
            <a:extLst>
              <a:ext uri="{FF2B5EF4-FFF2-40B4-BE49-F238E27FC236}">
                <a16:creationId xmlns:a16="http://schemas.microsoft.com/office/drawing/2014/main" id="{0A699073-3C88-4E9F-8791-4BA1D9FD20B0}"/>
              </a:ext>
            </a:extLst>
          </p:cNvPr>
          <p:cNvSpPr>
            <a:spLocks noGrp="1"/>
          </p:cNvSpPr>
          <p:nvPr/>
        </p:nvSpPr>
        <p:spPr>
          <a:xfrm>
            <a:off x="9095576" y="2862264"/>
            <a:ext cx="167640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8" name="text">
            <a:extLst>
              <a:ext uri="{FF2B5EF4-FFF2-40B4-BE49-F238E27FC236}">
                <a16:creationId xmlns:a16="http://schemas.microsoft.com/office/drawing/2014/main" id="{F3CC619B-70F0-458B-ABE8-09B219BAA034}"/>
              </a:ext>
            </a:extLst>
          </p:cNvPr>
          <p:cNvSpPr>
            <a:spLocks noGrp="1"/>
          </p:cNvSpPr>
          <p:nvPr/>
        </p:nvSpPr>
        <p:spPr>
          <a:xfrm>
            <a:off x="9137817" y="2995614"/>
            <a:ext cx="144780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600" b="1" dirty="0">
                <a:solidFill>
                  <a:srgbClr val="111111"/>
                </a:solidFill>
                <a:latin typeface="Calibri"/>
                <a:ea typeface="Calibri"/>
                <a:cs typeface="Calibri"/>
              </a:rPr>
              <a:t>Human approval</a:t>
            </a:r>
          </a:p>
        </p:txBody>
      </p:sp>
      <p:sp>
        <p:nvSpPr>
          <p:cNvPr id="19" name="box">
            <a:extLst>
              <a:ext uri="{FF2B5EF4-FFF2-40B4-BE49-F238E27FC236}">
                <a16:creationId xmlns:a16="http://schemas.microsoft.com/office/drawing/2014/main" id="{7D8CA4B5-3A11-4F56-8E8D-B42508B17153}"/>
              </a:ext>
            </a:extLst>
          </p:cNvPr>
          <p:cNvSpPr>
            <a:spLocks noGrp="1"/>
          </p:cNvSpPr>
          <p:nvPr/>
        </p:nvSpPr>
        <p:spPr>
          <a:xfrm>
            <a:off x="1704176" y="4471057"/>
            <a:ext cx="9242119" cy="954881"/>
          </a:xfrm>
          <a:prstGeom prst="roundRect">
            <a:avLst>
              <a:gd name="adj" fmla="val 7619"/>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dirty="0"/>
          </a:p>
        </p:txBody>
      </p:sp>
      <p:sp>
        <p:nvSpPr>
          <p:cNvPr id="20" name="text">
            <a:extLst>
              <a:ext uri="{FF2B5EF4-FFF2-40B4-BE49-F238E27FC236}">
                <a16:creationId xmlns:a16="http://schemas.microsoft.com/office/drawing/2014/main" id="{9DE744E8-5015-4C1B-BC13-C4F5E80F221D}"/>
              </a:ext>
            </a:extLst>
          </p:cNvPr>
          <p:cNvSpPr>
            <a:spLocks noGrp="1"/>
          </p:cNvSpPr>
          <p:nvPr/>
        </p:nvSpPr>
        <p:spPr>
          <a:xfrm>
            <a:off x="1704175" y="4537732"/>
            <a:ext cx="790575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Roadmap message</a:t>
            </a:r>
          </a:p>
        </p:txBody>
      </p:sp>
      <p:sp>
        <p:nvSpPr>
          <p:cNvPr id="21" name="text">
            <a:extLst>
              <a:ext uri="{FF2B5EF4-FFF2-40B4-BE49-F238E27FC236}">
                <a16:creationId xmlns:a16="http://schemas.microsoft.com/office/drawing/2014/main" id="{3D36572C-862D-40F2-82A9-527F39394A00}"/>
              </a:ext>
            </a:extLst>
          </p:cNvPr>
          <p:cNvSpPr>
            <a:spLocks noGrp="1"/>
          </p:cNvSpPr>
          <p:nvPr/>
        </p:nvSpPr>
        <p:spPr>
          <a:xfrm>
            <a:off x="2116619" y="5073513"/>
            <a:ext cx="8286749" cy="352425"/>
          </a:xfrm>
          <a:prstGeom prst="rect">
            <a:avLst/>
          </a:prstGeom>
          <a:noFill/>
          <a:ln w="0">
            <a:noFill/>
            <a:prstDash val="solid"/>
          </a:ln>
        </p:spPr>
        <p:txBody>
          <a:bodyPr/>
          <a:lstStyle/>
          <a:p>
            <a:pPr>
              <a:defRPr sz="1500">
                <a:solidFill>
                  <a:srgbClr val="4A4A4A"/>
                </a:solidFill>
                <a:latin typeface="Calibri"/>
                <a:ea typeface="Calibri"/>
                <a:cs typeface="Calibri"/>
              </a:defRPr>
            </a:pPr>
            <a:endParaRPr dirty="0">
              <a:solidFill>
                <a:srgbClr val="4A4A4A"/>
              </a:solidFill>
              <a:latin typeface="Calibri"/>
              <a:ea typeface="Calibri"/>
              <a:cs typeface="Calibri"/>
            </a:endParaRPr>
          </a:p>
        </p:txBody>
      </p:sp>
      <p:sp>
        <p:nvSpPr>
          <p:cNvPr id="22" name="TextBox 21">
            <a:extLst>
              <a:ext uri="{FF2B5EF4-FFF2-40B4-BE49-F238E27FC236}">
                <a16:creationId xmlns:a16="http://schemas.microsoft.com/office/drawing/2014/main" id="{07673CF6-1C43-23B4-BDB3-044D46EF98A2}"/>
              </a:ext>
            </a:extLst>
          </p:cNvPr>
          <p:cNvSpPr txBox="1"/>
          <p:nvPr/>
        </p:nvSpPr>
        <p:spPr>
          <a:xfrm>
            <a:off x="1704177" y="4973500"/>
            <a:ext cx="9408153" cy="646331"/>
          </a:xfrm>
          <a:prstGeom prst="rect">
            <a:avLst/>
          </a:prstGeom>
          <a:noFill/>
        </p:spPr>
        <p:txBody>
          <a:bodyPr wrap="none" rtlCol="0">
            <a:spAutoFit/>
          </a:bodyPr>
          <a:lstStyle/>
          <a:p>
            <a:r>
              <a:rPr lang="en-US" dirty="0">
                <a:solidFill>
                  <a:srgbClr val="4A4A4A"/>
                </a:solidFill>
                <a:latin typeface="Calibri"/>
                <a:ea typeface="Calibri"/>
                <a:cs typeface="Calibri"/>
              </a:rPr>
              <a:t>Agentic AI should call controlled tools and produce evidence, not execute unreviewed grid actions.</a:t>
            </a:r>
          </a:p>
          <a:p>
            <a:endParaRPr lang="en-US" dirty="0"/>
          </a:p>
        </p:txBody>
      </p:sp>
    </p:spTree>
    <p:extLst>
      <p:ext uri="{BB962C8B-B14F-4D97-AF65-F5344CB8AC3E}">
        <p14:creationId xmlns:p14="http://schemas.microsoft.com/office/powerpoint/2010/main" val="193258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Takeaway</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dirty="0">
                <a:solidFill>
                  <a:srgbClr val="111111"/>
                </a:solidFill>
                <a:latin typeface="Calibri"/>
                <a:ea typeface="Calibri"/>
                <a:cs typeface="Calibri"/>
              </a:rPr>
              <a:t>Ask the grid, but verify the answer</a:t>
            </a:r>
          </a:p>
        </p:txBody>
      </p:sp>
      <p:sp>
        <p:nvSpPr>
          <p:cNvPr id="5" name="box">
            <a:extLst>
              <a:ext uri="{FF2B5EF4-FFF2-40B4-BE49-F238E27FC236}">
                <a16:creationId xmlns:a16="http://schemas.microsoft.com/office/drawing/2014/main" id="{6DFD145A-899A-4C26-864D-6E42EEBBECCC}"/>
              </a:ext>
            </a:extLst>
          </p:cNvPr>
          <p:cNvSpPr>
            <a:spLocks noGrp="1"/>
          </p:cNvSpPr>
          <p:nvPr/>
        </p:nvSpPr>
        <p:spPr>
          <a:xfrm>
            <a:off x="1047750" y="2745684"/>
            <a:ext cx="2952750" cy="1571625"/>
          </a:xfrm>
          <a:prstGeom prst="roundRect">
            <a:avLst>
              <a:gd name="adj" fmla="val 4848"/>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text">
            <a:extLst>
              <a:ext uri="{FF2B5EF4-FFF2-40B4-BE49-F238E27FC236}">
                <a16:creationId xmlns:a16="http://schemas.microsoft.com/office/drawing/2014/main" id="{CFC9E608-F919-4EEF-AA0E-45A5AE8DD6B7}"/>
              </a:ext>
            </a:extLst>
          </p:cNvPr>
          <p:cNvSpPr>
            <a:spLocks noGrp="1"/>
          </p:cNvSpPr>
          <p:nvPr/>
        </p:nvSpPr>
        <p:spPr>
          <a:xfrm>
            <a:off x="1238250" y="3364638"/>
            <a:ext cx="2571750" cy="771525"/>
          </a:xfrm>
          <a:prstGeom prst="rect">
            <a:avLst/>
          </a:prstGeom>
          <a:noFill/>
          <a:ln w="0">
            <a:noFill/>
            <a:prstDash val="solid"/>
          </a:ln>
        </p:spPr>
        <p:txBody>
          <a:bodyPr/>
          <a:lstStyle/>
          <a:p>
            <a:pPr>
              <a:defRPr sz="1500">
                <a:solidFill>
                  <a:srgbClr val="4A4A4A"/>
                </a:solidFill>
                <a:latin typeface="Calibri"/>
                <a:ea typeface="Calibri"/>
                <a:cs typeface="Calibri"/>
              </a:defRPr>
            </a:pPr>
            <a:r>
              <a:rPr sz="1500" dirty="0">
                <a:solidFill>
                  <a:srgbClr val="4A4A4A"/>
                </a:solidFill>
                <a:latin typeface="Calibri"/>
                <a:ea typeface="Calibri"/>
                <a:cs typeface="Calibri"/>
              </a:rPr>
              <a:t>Operators ask operational questions directly.</a:t>
            </a:r>
          </a:p>
        </p:txBody>
      </p:sp>
      <p:sp>
        <p:nvSpPr>
          <p:cNvPr id="8" name="box">
            <a:extLst>
              <a:ext uri="{FF2B5EF4-FFF2-40B4-BE49-F238E27FC236}">
                <a16:creationId xmlns:a16="http://schemas.microsoft.com/office/drawing/2014/main" id="{D6EDF26D-0A7C-4B32-ACFA-5F70A428DD96}"/>
              </a:ext>
            </a:extLst>
          </p:cNvPr>
          <p:cNvSpPr>
            <a:spLocks noGrp="1"/>
          </p:cNvSpPr>
          <p:nvPr/>
        </p:nvSpPr>
        <p:spPr>
          <a:xfrm>
            <a:off x="4524375" y="2745684"/>
            <a:ext cx="2952750" cy="1571625"/>
          </a:xfrm>
          <a:prstGeom prst="roundRect">
            <a:avLst>
              <a:gd name="adj" fmla="val 4848"/>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9" name="text">
            <a:extLst>
              <a:ext uri="{FF2B5EF4-FFF2-40B4-BE49-F238E27FC236}">
                <a16:creationId xmlns:a16="http://schemas.microsoft.com/office/drawing/2014/main" id="{BA9C5970-A49D-47A2-B975-2503C0C105D2}"/>
              </a:ext>
            </a:extLst>
          </p:cNvPr>
          <p:cNvSpPr>
            <a:spLocks noGrp="1"/>
          </p:cNvSpPr>
          <p:nvPr/>
        </p:nvSpPr>
        <p:spPr>
          <a:xfrm>
            <a:off x="4714875" y="2898084"/>
            <a:ext cx="2571750" cy="323850"/>
          </a:xfrm>
          <a:prstGeom prst="rect">
            <a:avLst/>
          </a:prstGeom>
          <a:noFill/>
          <a:ln w="0">
            <a:noFill/>
            <a:prstDash val="solid"/>
          </a:ln>
        </p:spPr>
        <p:txBody>
          <a:bodyPr/>
          <a:lstStyle/>
          <a:p>
            <a:pPr>
              <a:defRPr sz="1800" b="1">
                <a:solidFill>
                  <a:srgbClr val="00619B"/>
                </a:solidFill>
                <a:latin typeface="Calibri"/>
                <a:ea typeface="Calibri"/>
                <a:cs typeface="Calibri"/>
              </a:defRPr>
            </a:pPr>
            <a:endParaRPr sz="1800" b="1" dirty="0">
              <a:solidFill>
                <a:srgbClr val="00619B"/>
              </a:solidFill>
              <a:latin typeface="Calibri"/>
              <a:ea typeface="Calibri"/>
              <a:cs typeface="Calibri"/>
            </a:endParaRPr>
          </a:p>
        </p:txBody>
      </p:sp>
      <p:sp>
        <p:nvSpPr>
          <p:cNvPr id="10" name="text">
            <a:extLst>
              <a:ext uri="{FF2B5EF4-FFF2-40B4-BE49-F238E27FC236}">
                <a16:creationId xmlns:a16="http://schemas.microsoft.com/office/drawing/2014/main" id="{134ACFFC-99CF-4D9B-9331-DF08FA04FC5A}"/>
              </a:ext>
            </a:extLst>
          </p:cNvPr>
          <p:cNvSpPr>
            <a:spLocks noGrp="1"/>
          </p:cNvSpPr>
          <p:nvPr/>
        </p:nvSpPr>
        <p:spPr>
          <a:xfrm>
            <a:off x="4743450" y="3328618"/>
            <a:ext cx="2571750" cy="923925"/>
          </a:xfrm>
          <a:prstGeom prst="rect">
            <a:avLst/>
          </a:prstGeom>
          <a:noFill/>
          <a:ln w="0">
            <a:noFill/>
            <a:prstDash val="solid"/>
          </a:ln>
        </p:spPr>
        <p:txBody>
          <a:bodyPr/>
          <a:lstStyle/>
          <a:p>
            <a:pPr>
              <a:defRPr sz="1500">
                <a:solidFill>
                  <a:srgbClr val="4A4A4A"/>
                </a:solidFill>
                <a:latin typeface="Calibri"/>
                <a:ea typeface="Calibri"/>
                <a:cs typeface="Calibri"/>
              </a:defRPr>
            </a:pPr>
            <a:r>
              <a:rPr sz="1500" dirty="0">
                <a:solidFill>
                  <a:srgbClr val="4A4A4A"/>
                </a:solidFill>
                <a:latin typeface="Calibri"/>
                <a:ea typeface="Calibri"/>
                <a:cs typeface="Calibri"/>
              </a:rPr>
              <a:t>Answers are grounded in retrieved CGMES/CIM graph results.</a:t>
            </a:r>
          </a:p>
        </p:txBody>
      </p:sp>
      <p:sp>
        <p:nvSpPr>
          <p:cNvPr id="11" name="box">
            <a:extLst>
              <a:ext uri="{FF2B5EF4-FFF2-40B4-BE49-F238E27FC236}">
                <a16:creationId xmlns:a16="http://schemas.microsoft.com/office/drawing/2014/main" id="{93385768-3DAF-422C-B3D8-15323BB04090}"/>
              </a:ext>
            </a:extLst>
          </p:cNvPr>
          <p:cNvSpPr>
            <a:spLocks noGrp="1"/>
          </p:cNvSpPr>
          <p:nvPr/>
        </p:nvSpPr>
        <p:spPr>
          <a:xfrm>
            <a:off x="8001000" y="2745684"/>
            <a:ext cx="2952750" cy="1571625"/>
          </a:xfrm>
          <a:prstGeom prst="roundRect">
            <a:avLst>
              <a:gd name="adj" fmla="val 4848"/>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text">
            <a:extLst>
              <a:ext uri="{FF2B5EF4-FFF2-40B4-BE49-F238E27FC236}">
                <a16:creationId xmlns:a16="http://schemas.microsoft.com/office/drawing/2014/main" id="{08C2186A-4D1D-48CE-9C82-5E346ADAA74B}"/>
              </a:ext>
            </a:extLst>
          </p:cNvPr>
          <p:cNvSpPr>
            <a:spLocks noGrp="1"/>
          </p:cNvSpPr>
          <p:nvPr/>
        </p:nvSpPr>
        <p:spPr>
          <a:xfrm>
            <a:off x="8191500" y="2898084"/>
            <a:ext cx="257175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dirty="0">
                <a:solidFill>
                  <a:srgbClr val="00833C"/>
                </a:solidFill>
                <a:latin typeface="Calibri"/>
                <a:ea typeface="Calibri"/>
                <a:cs typeface="Calibri"/>
              </a:rPr>
              <a:t>Solvers + human review</a:t>
            </a:r>
          </a:p>
        </p:txBody>
      </p:sp>
      <p:sp>
        <p:nvSpPr>
          <p:cNvPr id="13" name="text">
            <a:extLst>
              <a:ext uri="{FF2B5EF4-FFF2-40B4-BE49-F238E27FC236}">
                <a16:creationId xmlns:a16="http://schemas.microsoft.com/office/drawing/2014/main" id="{BFE9D704-DF8E-4834-B2B8-D661151356DC}"/>
              </a:ext>
            </a:extLst>
          </p:cNvPr>
          <p:cNvSpPr>
            <a:spLocks noGrp="1"/>
          </p:cNvSpPr>
          <p:nvPr/>
        </p:nvSpPr>
        <p:spPr>
          <a:xfrm>
            <a:off x="8191500" y="3364638"/>
            <a:ext cx="2571750" cy="923925"/>
          </a:xfrm>
          <a:prstGeom prst="rect">
            <a:avLst/>
          </a:prstGeom>
          <a:noFill/>
          <a:ln w="0">
            <a:noFill/>
            <a:prstDash val="solid"/>
          </a:ln>
        </p:spPr>
        <p:txBody>
          <a:bodyPr/>
          <a:lstStyle/>
          <a:p>
            <a:pPr>
              <a:defRPr sz="1500">
                <a:solidFill>
                  <a:srgbClr val="4A4A4A"/>
                </a:solidFill>
                <a:latin typeface="Calibri"/>
                <a:ea typeface="Calibri"/>
                <a:cs typeface="Calibri"/>
              </a:defRPr>
            </a:pPr>
            <a:r>
              <a:rPr sz="1500" dirty="0">
                <a:solidFill>
                  <a:srgbClr val="4A4A4A"/>
                </a:solidFill>
                <a:latin typeface="Calibri"/>
                <a:ea typeface="Calibri"/>
                <a:cs typeface="Calibri"/>
              </a:rPr>
              <a:t>Numerical work and critical actions stay verifiable.</a:t>
            </a:r>
          </a:p>
        </p:txBody>
      </p:sp>
      <p:sp>
        <p:nvSpPr>
          <p:cNvPr id="14" name="text">
            <a:extLst>
              <a:ext uri="{FF2B5EF4-FFF2-40B4-BE49-F238E27FC236}">
                <a16:creationId xmlns:a16="http://schemas.microsoft.com/office/drawing/2014/main" id="{4C108F3E-CF10-49C1-AABE-25A3B10437E8}"/>
              </a:ext>
            </a:extLst>
          </p:cNvPr>
          <p:cNvSpPr>
            <a:spLocks noGrp="1"/>
          </p:cNvSpPr>
          <p:nvPr/>
        </p:nvSpPr>
        <p:spPr>
          <a:xfrm>
            <a:off x="1428750" y="4610100"/>
            <a:ext cx="9334500" cy="495300"/>
          </a:xfrm>
          <a:prstGeom prst="rect">
            <a:avLst/>
          </a:prstGeom>
          <a:noFill/>
          <a:ln w="0">
            <a:noFill/>
            <a:prstDash val="solid"/>
          </a:ln>
        </p:spPr>
        <p:txBody>
          <a:bodyPr/>
          <a:lstStyle/>
          <a:p>
            <a:pPr algn="ctr">
              <a:defRPr sz="2100" b="1">
                <a:solidFill>
                  <a:srgbClr val="006341"/>
                </a:solidFill>
                <a:latin typeface="Calibri"/>
                <a:ea typeface="Calibri"/>
                <a:cs typeface="Calibri"/>
              </a:defRPr>
            </a:pPr>
            <a:endParaRPr b="1" dirty="0">
              <a:solidFill>
                <a:srgbClr val="006341"/>
              </a:solidFill>
              <a:latin typeface="Calibri"/>
              <a:ea typeface="Calibri"/>
              <a:cs typeface="Calibri"/>
            </a:endParaRPr>
          </a:p>
        </p:txBody>
      </p:sp>
      <p:sp>
        <p:nvSpPr>
          <p:cNvPr id="16" name="TextBox 15">
            <a:extLst>
              <a:ext uri="{FF2B5EF4-FFF2-40B4-BE49-F238E27FC236}">
                <a16:creationId xmlns:a16="http://schemas.microsoft.com/office/drawing/2014/main" id="{27E94344-28A5-FCA6-D4B6-DA0C27CC566C}"/>
              </a:ext>
            </a:extLst>
          </p:cNvPr>
          <p:cNvSpPr txBox="1"/>
          <p:nvPr/>
        </p:nvSpPr>
        <p:spPr>
          <a:xfrm>
            <a:off x="781050" y="1721576"/>
            <a:ext cx="6096000" cy="369332"/>
          </a:xfrm>
          <a:prstGeom prst="rect">
            <a:avLst/>
          </a:prstGeom>
          <a:noFill/>
        </p:spPr>
        <p:txBody>
          <a:bodyPr wrap="square">
            <a:spAutoFit/>
          </a:bodyPr>
          <a:lstStyle/>
          <a:p>
            <a:pPr>
              <a:defRPr sz="1575">
                <a:solidFill>
                  <a:srgbClr val="4A4A4A"/>
                </a:solidFill>
                <a:latin typeface="Calibri"/>
                <a:ea typeface="Calibri"/>
                <a:cs typeface="Calibri"/>
              </a:defRPr>
            </a:pPr>
            <a:r>
              <a:rPr lang="en-US" sz="1800" dirty="0">
                <a:solidFill>
                  <a:srgbClr val="4A4A4A"/>
                </a:solidFill>
                <a:latin typeface="Calibri"/>
                <a:ea typeface="Calibri"/>
                <a:cs typeface="Calibri"/>
              </a:rPr>
              <a:t>Three things to remember:</a:t>
            </a:r>
          </a:p>
        </p:txBody>
      </p:sp>
      <p:sp>
        <p:nvSpPr>
          <p:cNvPr id="17" name="TextBox 16">
            <a:extLst>
              <a:ext uri="{FF2B5EF4-FFF2-40B4-BE49-F238E27FC236}">
                <a16:creationId xmlns:a16="http://schemas.microsoft.com/office/drawing/2014/main" id="{A820CF57-1A74-EE97-6E2A-BB9F9564FBCB}"/>
              </a:ext>
            </a:extLst>
          </p:cNvPr>
          <p:cNvSpPr txBox="1"/>
          <p:nvPr/>
        </p:nvSpPr>
        <p:spPr>
          <a:xfrm>
            <a:off x="1158559" y="2835073"/>
            <a:ext cx="2731132" cy="646331"/>
          </a:xfrm>
          <a:prstGeom prst="rect">
            <a:avLst/>
          </a:prstGeom>
          <a:noFill/>
        </p:spPr>
        <p:txBody>
          <a:bodyPr wrap="none" rtlCol="0">
            <a:spAutoFit/>
          </a:bodyPr>
          <a:lstStyle/>
          <a:p>
            <a:r>
              <a:rPr lang="en-US" b="1" dirty="0">
                <a:solidFill>
                  <a:srgbClr val="00833C"/>
                </a:solidFill>
                <a:latin typeface="Calibri"/>
                <a:ea typeface="Calibri"/>
                <a:cs typeface="Calibri"/>
              </a:rPr>
              <a:t>Natural-language interface</a:t>
            </a:r>
          </a:p>
          <a:p>
            <a:endParaRPr lang="en-US" dirty="0"/>
          </a:p>
        </p:txBody>
      </p:sp>
      <p:sp>
        <p:nvSpPr>
          <p:cNvPr id="18" name="TextBox 17">
            <a:extLst>
              <a:ext uri="{FF2B5EF4-FFF2-40B4-BE49-F238E27FC236}">
                <a16:creationId xmlns:a16="http://schemas.microsoft.com/office/drawing/2014/main" id="{B343B983-7708-A643-90D7-658185BAD984}"/>
              </a:ext>
            </a:extLst>
          </p:cNvPr>
          <p:cNvSpPr txBox="1"/>
          <p:nvPr/>
        </p:nvSpPr>
        <p:spPr>
          <a:xfrm>
            <a:off x="4901795" y="2876585"/>
            <a:ext cx="2197909" cy="646331"/>
          </a:xfrm>
          <a:prstGeom prst="rect">
            <a:avLst/>
          </a:prstGeom>
          <a:noFill/>
        </p:spPr>
        <p:txBody>
          <a:bodyPr wrap="none" rtlCol="0">
            <a:spAutoFit/>
          </a:bodyPr>
          <a:lstStyle/>
          <a:p>
            <a:r>
              <a:rPr lang="en-US" sz="1800" b="1" dirty="0">
                <a:solidFill>
                  <a:srgbClr val="00619B"/>
                </a:solidFill>
                <a:latin typeface="Calibri"/>
                <a:ea typeface="Calibri"/>
                <a:cs typeface="Calibri"/>
              </a:rPr>
              <a:t>Graph evidence layer</a:t>
            </a:r>
          </a:p>
          <a:p>
            <a:endParaRPr lang="en-US" dirty="0"/>
          </a:p>
        </p:txBody>
      </p:sp>
      <p:sp>
        <p:nvSpPr>
          <p:cNvPr id="19" name="TextBox 18">
            <a:extLst>
              <a:ext uri="{FF2B5EF4-FFF2-40B4-BE49-F238E27FC236}">
                <a16:creationId xmlns:a16="http://schemas.microsoft.com/office/drawing/2014/main" id="{B4BDD6E6-25EB-CC0D-218C-E6D7A81E4F6B}"/>
              </a:ext>
            </a:extLst>
          </p:cNvPr>
          <p:cNvSpPr txBox="1"/>
          <p:nvPr/>
        </p:nvSpPr>
        <p:spPr>
          <a:xfrm>
            <a:off x="2127198" y="5264876"/>
            <a:ext cx="7994753" cy="646331"/>
          </a:xfrm>
          <a:prstGeom prst="rect">
            <a:avLst/>
          </a:prstGeom>
          <a:noFill/>
        </p:spPr>
        <p:txBody>
          <a:bodyPr wrap="none" rtlCol="0">
            <a:spAutoFit/>
          </a:bodyPr>
          <a:lstStyle/>
          <a:p>
            <a:r>
              <a:rPr lang="en-US" b="1" dirty="0" err="1">
                <a:solidFill>
                  <a:srgbClr val="006341"/>
                </a:solidFill>
                <a:latin typeface="Calibri"/>
                <a:ea typeface="Calibri"/>
                <a:cs typeface="Calibri"/>
              </a:rPr>
              <a:t>GridSense</a:t>
            </a:r>
            <a:r>
              <a:rPr lang="en-US" b="1" dirty="0">
                <a:solidFill>
                  <a:srgbClr val="006341"/>
                </a:solidFill>
                <a:latin typeface="Calibri"/>
                <a:ea typeface="Calibri"/>
                <a:cs typeface="Calibri"/>
              </a:rPr>
              <a:t> bridges interoperable grid models and trustworthy operator assistance.</a:t>
            </a:r>
          </a:p>
          <a:p>
            <a:endParaRPr lang="en-US" dirty="0"/>
          </a:p>
        </p:txBody>
      </p:sp>
    </p:spTree>
    <p:extLst>
      <p:ext uri="{BB962C8B-B14F-4D97-AF65-F5344CB8AC3E}">
        <p14:creationId xmlns:p14="http://schemas.microsoft.com/office/powerpoint/2010/main" val="1932589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1D436E-B15A-8945-BA99-E5F7CA98CA62}"/>
              </a:ext>
            </a:extLst>
          </p:cNvPr>
          <p:cNvSpPr>
            <a:spLocks noGrp="1"/>
          </p:cNvSpPr>
          <p:nvPr>
            <p:ph type="body" idx="13"/>
          </p:nvPr>
        </p:nvSpPr>
        <p:spPr>
          <a:xfrm>
            <a:off x="2190750" y="3848100"/>
            <a:ext cx="9334500" cy="533400"/>
          </a:xfrm>
        </p:spPr>
        <p:txBody>
          <a:bodyPr/>
          <a:lstStyle/>
          <a:p>
            <a:pPr algn="r">
              <a:defRPr sz="2775">
                <a:solidFill>
                  <a:srgbClr val="FFFFFF"/>
                </a:solidFill>
                <a:latin typeface="Calibri"/>
                <a:ea typeface="Calibri"/>
                <a:cs typeface="Calibri"/>
              </a:defRPr>
            </a:pPr>
            <a:r>
              <a:rPr sz="2775">
                <a:solidFill>
                  <a:srgbClr val="FFFFFF"/>
                </a:solidFill>
                <a:latin typeface="Calibri"/>
                <a:ea typeface="Calibri"/>
                <a:cs typeface="Calibri"/>
              </a:rPr>
              <a:t>Questions and discussion</a:t>
            </a:r>
          </a:p>
        </p:txBody>
      </p:sp>
      <p:sp>
        <p:nvSpPr>
          <p:cNvPr id="3" name="Text Placeholder 2">
            <a:extLst>
              <a:ext uri="{FF2B5EF4-FFF2-40B4-BE49-F238E27FC236}">
                <a16:creationId xmlns:a16="http://schemas.microsoft.com/office/drawing/2014/main" id="{F6267506-261B-6245-AB5F-24A591F62604}"/>
              </a:ext>
            </a:extLst>
          </p:cNvPr>
          <p:cNvSpPr>
            <a:spLocks noGrp="1"/>
          </p:cNvSpPr>
          <p:nvPr>
            <p:ph type="body" idx="14"/>
          </p:nvPr>
        </p:nvSpPr>
        <p:spPr>
          <a:xfrm>
            <a:off x="2476500" y="5286375"/>
            <a:ext cx="9048750" cy="1066800"/>
          </a:xfrm>
        </p:spPr>
        <p:txBody>
          <a:bodyPr/>
          <a:lstStyle/>
          <a:p>
            <a:pPr algn="r">
              <a:defRPr sz="1800">
                <a:solidFill>
                  <a:srgbClr val="FFFFFF"/>
                </a:solidFill>
                <a:latin typeface="Calibri"/>
                <a:ea typeface="Calibri"/>
                <a:cs typeface="Calibri"/>
              </a:defRPr>
            </a:pPr>
            <a:r>
              <a:rPr sz="1800">
                <a:solidFill>
                  <a:srgbClr val="FFFFFF"/>
                </a:solidFill>
                <a:latin typeface="Calibri"/>
                <a:ea typeface="Calibri"/>
                <a:cs typeface="Calibri"/>
              </a:rPr>
              <a:t>Changhun Kim | FAU Pattern Recognition Lab</a:t>
            </a:r>
          </a:p>
          <a:p>
            <a:pPr algn="r">
              <a:defRPr sz="1800">
                <a:solidFill>
                  <a:srgbClr val="FFFFFF"/>
                </a:solidFill>
                <a:latin typeface="Calibri"/>
                <a:ea typeface="Calibri"/>
                <a:cs typeface="Calibri"/>
              </a:defRPr>
            </a:pPr>
            <a:r>
              <a:rPr sz="1800">
                <a:solidFill>
                  <a:srgbClr val="FFFFFF"/>
                </a:solidFill>
                <a:latin typeface="Calibri"/>
                <a:ea typeface="Calibri"/>
                <a:cs typeface="Calibri"/>
              </a:rPr>
              <a:t>changhun.kim@fau.de</a:t>
            </a:r>
          </a:p>
          <a:p>
            <a:pPr algn="r">
              <a:defRPr sz="1800">
                <a:solidFill>
                  <a:srgbClr val="FFFFFF"/>
                </a:solidFill>
                <a:latin typeface="Calibri"/>
                <a:ea typeface="Calibri"/>
                <a:cs typeface="Calibri"/>
              </a:defRPr>
            </a:pPr>
            <a:r>
              <a:rPr sz="1800">
                <a:solidFill>
                  <a:srgbClr val="FFFFFF"/>
                </a:solidFill>
                <a:latin typeface="Calibri"/>
                <a:ea typeface="Calibri"/>
                <a:cs typeface="Calibri"/>
              </a:rPr>
              <a:t>IEEE PES GM 2026 | EDPG4 Panel</a:t>
            </a:r>
          </a:p>
        </p:txBody>
      </p:sp>
      <p:sp>
        <p:nvSpPr>
          <p:cNvPr id="7" name="Text Placeholder 6">
            <a:extLst>
              <a:ext uri="{FF2B5EF4-FFF2-40B4-BE49-F238E27FC236}">
                <a16:creationId xmlns:a16="http://schemas.microsoft.com/office/drawing/2014/main" id="{CD978786-E1EB-3843-9D40-197B5DED4C59}"/>
              </a:ext>
            </a:extLst>
          </p:cNvPr>
          <p:cNvSpPr>
            <a:spLocks noGrp="1"/>
          </p:cNvSpPr>
          <p:nvPr>
            <p:ph type="body" idx="15"/>
          </p:nvPr>
        </p:nvSpPr>
        <p:spPr>
          <a:xfrm>
            <a:off x="1143000" y="2857500"/>
            <a:ext cx="10382250" cy="723900"/>
          </a:xfrm>
        </p:spPr>
        <p:txBody>
          <a:bodyPr/>
          <a:lstStyle/>
          <a:p>
            <a:pPr algn="r">
              <a:defRPr sz="4350" b="1">
                <a:solidFill>
                  <a:srgbClr val="111111"/>
                </a:solidFill>
                <a:latin typeface="Calibri"/>
                <a:ea typeface="Calibri"/>
                <a:cs typeface="Calibri"/>
              </a:defRPr>
            </a:pPr>
            <a:r>
              <a:rPr sz="4350" b="1">
                <a:solidFill>
                  <a:srgbClr val="111111"/>
                </a:solidFill>
                <a:latin typeface="Calibri"/>
                <a:ea typeface="Calibri"/>
                <a:cs typeface="Calibri"/>
              </a:rPr>
              <a:t>GridSense: Ask Your Power Grid</a:t>
            </a:r>
          </a:p>
        </p:txBody>
      </p:sp>
      <p:sp>
        <p:nvSpPr>
          <p:cNvPr id="4" name="TextBox 3">
            <a:extLst>
              <a:ext uri="{FF2B5EF4-FFF2-40B4-BE49-F238E27FC236}">
                <a16:creationId xmlns:a16="http://schemas.microsoft.com/office/drawing/2014/main" id="{61880370-0644-F74C-8F3A-52EA3EAE1620}"/>
              </a:ext>
            </a:extLst>
          </p:cNvPr>
          <p:cNvSpPr>
            <a:spLocks noGrp="1"/>
          </p:cNvSpPr>
          <p:nvPr/>
        </p:nvSpPr>
        <p:spPr>
          <a:xfrm>
            <a:off x="1699327" y="2039193"/>
            <a:ext cx="0" cy="0"/>
          </a:xfrm>
          <a:prstGeom prst="rect">
            <a:avLst/>
          </a:prstGeom>
        </p:spPr>
        <p:txBody>
          <a:bodyPr vert="horz" wrap="none" lIns="91440" tIns="45720" rIns="91440" bIns="45720" anchor="b">
            <a:normAutofit fontScale="25000" lnSpcReduction="20000"/>
          </a:bodyPr>
          <a:lstStyle/>
          <a:p>
            <a:pPr algn="r">
              <a:buNone/>
            </a:pPr>
            <a:endParaRPr/>
          </a:p>
        </p:txBody>
      </p:sp>
      <p:pic>
        <p:nvPicPr>
          <p:cNvPr id="22" name="Picture 9"/>
          <p:cNvPicPr>
            <a:picLocks noChangeAspect="1"/>
          </p:cNvPicPr>
          <p:nvPr/>
        </p:nvPicPr>
        <p:blipFill>
          <a:blip r:embed="rId3"/>
          <a:stretch>
            <a:fillRect/>
          </a:stretch>
        </p:blipFill>
        <p:spPr>
          <a:xfrm>
            <a:off x="10121982" y="1659107"/>
            <a:ext cx="1855234" cy="703443"/>
          </a:xfrm>
          <a:prstGeom prst="rect">
            <a:avLst/>
          </a:prstGeom>
        </p:spPr>
      </p:pic>
      <p:pic>
        <p:nvPicPr>
          <p:cNvPr id="23" name="Picture 10"/>
          <p:cNvPicPr>
            <a:picLocks noChangeAspect="1"/>
          </p:cNvPicPr>
          <p:nvPr/>
        </p:nvPicPr>
        <p:blipFill>
          <a:blip r:embed="rId4"/>
          <a:stretch>
            <a:fillRect/>
          </a:stretch>
        </p:blipFill>
        <p:spPr>
          <a:xfrm>
            <a:off x="9006922" y="2153770"/>
            <a:ext cx="1279737" cy="249949"/>
          </a:xfrm>
          <a:prstGeom prst="rect">
            <a:avLst/>
          </a:prstGeom>
        </p:spPr>
      </p:pic>
      <p:pic>
        <p:nvPicPr>
          <p:cNvPr id="24" name="Picture 7"/>
          <p:cNvPicPr>
            <a:picLocks noChangeAspect="1"/>
          </p:cNvPicPr>
          <p:nvPr/>
        </p:nvPicPr>
        <p:blipFill>
          <a:blip r:embed="rId5"/>
          <a:stretch>
            <a:fillRect/>
          </a:stretch>
        </p:blipFill>
        <p:spPr>
          <a:xfrm>
            <a:off x="8952469" y="1620555"/>
            <a:ext cx="1334190" cy="470975"/>
          </a:xfrm>
          <a:prstGeom prst="rect">
            <a:avLst/>
          </a:prstGeom>
        </p:spPr>
      </p:pic>
      <p:sp>
        <p:nvSpPr>
          <p:cNvPr id="13" name="AutoShape 2">
            <a:extLst>
              <a:ext uri="{FF2B5EF4-FFF2-40B4-BE49-F238E27FC236}">
                <a16:creationId xmlns:a16="http://schemas.microsoft.com/office/drawing/2014/main" id="{38B4CC03-691F-7628-C89D-FD207F46DF61}"/>
              </a:ext>
            </a:extLst>
          </p:cNvPr>
          <p:cNvSpPr>
            <a:spLocks noGrp="1"/>
          </p:cNvSpPr>
          <p:nvPr/>
        </p:nvSpPr>
        <p:spPr>
          <a:xfrm>
            <a:off x="5943600" y="3276600"/>
            <a:ext cx="304800" cy="304800"/>
          </a:xfrm>
          <a:prstGeom prst="rect">
            <a:avLst/>
          </a:prstGeom>
          <a:noFill/>
        </p:spPr>
        <p:txBody>
          <a:bodyPr vert="horz" wrap="square" lIns="91440" tIns="45720" rIns="91440" bIns="45720" anchor="t"/>
          <a:lstStyle/>
          <a:p>
            <a:endParaRPr/>
          </a:p>
        </p:txBody>
      </p:sp>
      <p:pic>
        <p:nvPicPr>
          <p:cNvPr id="26" name="Picture 6"/>
          <p:cNvPicPr>
            <a:picLocks noChangeAspect="1"/>
          </p:cNvPicPr>
          <p:nvPr/>
        </p:nvPicPr>
        <p:blipFill>
          <a:blip r:embed="rId6"/>
          <a:srcRect/>
          <a:stretch>
            <a:fillRect/>
          </a:stretch>
        </p:blipFill>
        <p:spPr>
          <a:xfrm>
            <a:off x="7043007" y="1543119"/>
            <a:ext cx="1963915" cy="935417"/>
          </a:xfrm>
          <a:prstGeom prst="rect">
            <a:avLst/>
          </a:prstGeom>
        </p:spPr>
      </p:pic>
    </p:spTree>
    <p:extLst>
      <p:ext uri="{BB962C8B-B14F-4D97-AF65-F5344CB8AC3E}">
        <p14:creationId xmlns:p14="http://schemas.microsoft.com/office/powerpoint/2010/main" val="2217145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508EB2-C482-8C42-B115-A993211B242A}"/>
              </a:ext>
            </a:extLst>
          </p:cNvPr>
          <p:cNvSpPr>
            <a:spLocks noGrp="1"/>
          </p:cNvSpPr>
          <p:nvPr>
            <p:ph type="body" sz="quarter" idx="10"/>
          </p:nvPr>
        </p:nvSpPr>
        <p:spPr/>
        <p:txBody>
          <a:bodyPr/>
          <a:lstStyle/>
          <a:p>
            <a:r>
              <a:rPr lang="en-US" dirty="0"/>
              <a:t>Backup slides</a:t>
            </a:r>
          </a:p>
        </p:txBody>
      </p:sp>
      <p:sp>
        <p:nvSpPr>
          <p:cNvPr id="4" name="TextBox 3">
            <a:extLst>
              <a:ext uri="{FF2B5EF4-FFF2-40B4-BE49-F238E27FC236}">
                <a16:creationId xmlns:a16="http://schemas.microsoft.com/office/drawing/2014/main" id="{61880370-0644-F74C-8F3A-52EA3EAE1620}"/>
              </a:ext>
            </a:extLst>
          </p:cNvPr>
          <p:cNvSpPr txBox="1"/>
          <p:nvPr/>
        </p:nvSpPr>
        <p:spPr>
          <a:xfrm>
            <a:off x="1699327" y="2039193"/>
            <a:ext cx="0" cy="0"/>
          </a:xfrm>
          <a:prstGeom prst="rect">
            <a:avLst/>
          </a:prstGeom>
        </p:spPr>
        <p:txBody>
          <a:bodyPr vert="horz" wrap="none" lIns="91440" tIns="45720" rIns="91440" bIns="45720" rtlCol="0" anchor="b">
            <a:normAutofit fontScale="25000" lnSpcReduction="20000"/>
          </a:bodyPr>
          <a:lstStyle/>
          <a:p>
            <a:pPr algn="r"/>
            <a:endParaRPr lang="en-US" b="1" dirty="0">
              <a:latin typeface="+mn-lt"/>
            </a:endParaRPr>
          </a:p>
        </p:txBody>
      </p:sp>
    </p:spTree>
    <p:extLst>
      <p:ext uri="{BB962C8B-B14F-4D97-AF65-F5344CB8AC3E}">
        <p14:creationId xmlns:p14="http://schemas.microsoft.com/office/powerpoint/2010/main" val="197557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78573-7499-4549-ADBC-735EAE46EA3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Backup</a:t>
            </a:r>
          </a:p>
        </p:txBody>
      </p:sp>
      <p:sp>
        <p:nvSpPr>
          <p:cNvPr id="3" name="Text Placeholder 2">
            <a:extLst>
              <a:ext uri="{FF2B5EF4-FFF2-40B4-BE49-F238E27FC236}">
                <a16:creationId xmlns:a16="http://schemas.microsoft.com/office/drawing/2014/main" id="{4AA7E2D8-AE9F-604A-A95D-30D87D445B4A}"/>
              </a:ext>
            </a:extLst>
          </p:cNvPr>
          <p:cNvSpPr>
            <a:spLocks noGrp="1"/>
          </p:cNvSpPr>
          <p:nvPr>
            <p:ph type="body" idx="11"/>
          </p:nvPr>
        </p:nvSpPr>
        <p:spPr>
          <a:xfrm>
            <a:off x="838200" y="1066800"/>
            <a:ext cx="10572750" cy="781050"/>
          </a:xfrm>
        </p:spPr>
        <p:txBody>
          <a:bodyPr/>
          <a:lstStyle/>
          <a:p>
            <a:pPr>
              <a:defRPr sz="2850" b="1">
                <a:solidFill>
                  <a:srgbClr val="111111"/>
                </a:solidFill>
                <a:latin typeface="Calibri"/>
                <a:ea typeface="Calibri"/>
                <a:cs typeface="Calibri"/>
              </a:defRPr>
            </a:pPr>
            <a:r>
              <a:rPr sz="2850" b="1">
                <a:solidFill>
                  <a:srgbClr val="111111"/>
                </a:solidFill>
                <a:latin typeface="Calibri"/>
                <a:ea typeface="Calibri"/>
                <a:cs typeface="Calibri"/>
              </a:rPr>
              <a:t>Graph model detail</a:t>
            </a:r>
          </a:p>
        </p:txBody>
      </p:sp>
      <p:sp>
        <p:nvSpPr>
          <p:cNvPr id="4" name="Text Placeholder 3">
            <a:extLst>
              <a:ext uri="{FF2B5EF4-FFF2-40B4-BE49-F238E27FC236}">
                <a16:creationId xmlns:a16="http://schemas.microsoft.com/office/drawing/2014/main" id="{61F2A38F-1329-CB45-8996-F9A35C42D837}"/>
              </a:ext>
            </a:extLst>
          </p:cNvPr>
          <p:cNvSpPr>
            <a:spLocks noGrp="1"/>
          </p:cNvSpPr>
          <p:nvPr>
            <p:ph type="body" idx="12"/>
          </p:nvPr>
        </p:nvSpPr>
        <p:spPr>
          <a:xfrm>
            <a:off x="933450" y="2238375"/>
            <a:ext cx="10334625" cy="3714750"/>
          </a:xfrm>
        </p:spPr>
        <p:txBody>
          <a:bodyPr/>
          <a:lstStyle/>
          <a:p>
            <a:pPr>
              <a:defRPr sz="1725">
                <a:solidFill>
                  <a:srgbClr val="4A4A4A"/>
                </a:solidFill>
                <a:latin typeface="Calibri"/>
                <a:ea typeface="Calibri"/>
                <a:cs typeface="Calibri"/>
              </a:defRPr>
            </a:pPr>
            <a:r>
              <a:rPr sz="1725">
                <a:solidFill>
                  <a:srgbClr val="4A4A4A"/>
                </a:solidFill>
                <a:latin typeface="Calibri"/>
                <a:ea typeface="Calibri"/>
                <a:cs typeface="Calibri"/>
              </a:rPr>
              <a:t>Static CIM graph:</a:t>
            </a:r>
          </a:p>
          <a:p>
            <a:pPr>
              <a:defRPr sz="1725">
                <a:solidFill>
                  <a:srgbClr val="4A4A4A"/>
                </a:solidFill>
                <a:latin typeface="Calibri"/>
                <a:ea typeface="Calibri"/>
                <a:cs typeface="Calibri"/>
              </a:defRPr>
            </a:pPr>
            <a:r>
              <a:rPr sz="1725">
                <a:solidFill>
                  <a:srgbClr val="4A4A4A"/>
                </a:solidFill>
                <a:latin typeface="Calibri"/>
                <a:ea typeface="Calibri"/>
                <a:cs typeface="Calibri"/>
              </a:rPr>
              <a:t>- Equipment hierarchy and topology.</a:t>
            </a:r>
          </a:p>
          <a:p>
            <a:pPr>
              <a:defRPr sz="1725">
                <a:solidFill>
                  <a:srgbClr val="4A4A4A"/>
                </a:solidFill>
                <a:latin typeface="Calibri"/>
                <a:ea typeface="Calibri"/>
                <a:cs typeface="Calibri"/>
              </a:defRPr>
            </a:pPr>
            <a:r>
              <a:rPr sz="1725">
                <a:solidFill>
                  <a:srgbClr val="4A4A4A"/>
                </a:solidFill>
                <a:latin typeface="Calibri"/>
                <a:ea typeface="Calibri"/>
                <a:cs typeface="Calibri"/>
              </a:rPr>
              <a:t>- Terminals connect equipment to topological nodes.</a:t>
            </a:r>
          </a:p>
          <a:p>
            <a:pPr>
              <a:defRPr sz="1725">
                <a:solidFill>
                  <a:srgbClr val="4A4A4A"/>
                </a:solidFill>
                <a:latin typeface="Calibri"/>
                <a:ea typeface="Calibri"/>
                <a:cs typeface="Calibri"/>
              </a:defRPr>
            </a:pPr>
            <a:r>
              <a:rPr sz="1725">
                <a:solidFill>
                  <a:srgbClr val="4A4A4A"/>
                </a:solidFill>
                <a:latin typeface="Calibri"/>
                <a:ea typeface="Calibri"/>
                <a:cs typeface="Calibri"/>
              </a:rPr>
              <a:t>- Switch and breaker status remain queryable.</a:t>
            </a:r>
          </a:p>
          <a:p>
            <a:endParaRPr sz="1725">
              <a:solidFill>
                <a:srgbClr val="4A4A4A"/>
              </a:solidFill>
              <a:latin typeface="Calibri"/>
              <a:ea typeface="Calibri"/>
              <a:cs typeface="Calibri"/>
            </a:endParaRPr>
          </a:p>
          <a:p>
            <a:pPr>
              <a:defRPr sz="1725">
                <a:solidFill>
                  <a:srgbClr val="4A4A4A"/>
                </a:solidFill>
                <a:latin typeface="Calibri"/>
                <a:ea typeface="Calibri"/>
                <a:cs typeface="Calibri"/>
              </a:defRPr>
            </a:pPr>
            <a:r>
              <a:rPr sz="1725">
                <a:solidFill>
                  <a:srgbClr val="4A4A4A"/>
                </a:solidFill>
                <a:latin typeface="Calibri"/>
                <a:ea typeface="Calibri"/>
                <a:cs typeface="Calibri"/>
              </a:rPr>
              <a:t>Dynamic snapshot overlay:</a:t>
            </a:r>
          </a:p>
          <a:p>
            <a:pPr>
              <a:defRPr sz="1725">
                <a:solidFill>
                  <a:srgbClr val="4A4A4A"/>
                </a:solidFill>
                <a:latin typeface="Calibri"/>
                <a:ea typeface="Calibri"/>
                <a:cs typeface="Calibri"/>
              </a:defRPr>
            </a:pPr>
            <a:r>
              <a:rPr sz="1725">
                <a:solidFill>
                  <a:srgbClr val="4A4A4A"/>
                </a:solidFill>
                <a:latin typeface="Calibri"/>
                <a:ea typeface="Calibri"/>
                <a:cs typeface="Calibri"/>
              </a:rPr>
              <a:t>- Each timestamp links states to the same assets.</a:t>
            </a:r>
          </a:p>
          <a:p>
            <a:pPr>
              <a:defRPr sz="1725">
                <a:solidFill>
                  <a:srgbClr val="4A4A4A"/>
                </a:solidFill>
                <a:latin typeface="Calibri"/>
                <a:ea typeface="Calibri"/>
                <a:cs typeface="Calibri"/>
              </a:defRPr>
            </a:pPr>
            <a:r>
              <a:rPr sz="1725">
                <a:solidFill>
                  <a:srgbClr val="4A4A4A"/>
                </a:solidFill>
                <a:latin typeface="Calibri"/>
                <a:ea typeface="Calibri"/>
                <a:cs typeface="Calibri"/>
              </a:rPr>
              <a:t>- Supports transformer trends, bus voltages, flows, tap positions, and switching history.</a:t>
            </a:r>
          </a:p>
        </p:txBody>
      </p:sp>
    </p:spTree>
    <p:extLst>
      <p:ext uri="{BB962C8B-B14F-4D97-AF65-F5344CB8AC3E}">
        <p14:creationId xmlns:p14="http://schemas.microsoft.com/office/powerpoint/2010/main" val="778969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78573-7499-4549-ADBC-735EAE46EA3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Backup</a:t>
            </a:r>
          </a:p>
        </p:txBody>
      </p:sp>
      <p:sp>
        <p:nvSpPr>
          <p:cNvPr id="3" name="Text Placeholder 2">
            <a:extLst>
              <a:ext uri="{FF2B5EF4-FFF2-40B4-BE49-F238E27FC236}">
                <a16:creationId xmlns:a16="http://schemas.microsoft.com/office/drawing/2014/main" id="{4AA7E2D8-AE9F-604A-A95D-30D87D445B4A}"/>
              </a:ext>
            </a:extLst>
          </p:cNvPr>
          <p:cNvSpPr>
            <a:spLocks noGrp="1"/>
          </p:cNvSpPr>
          <p:nvPr>
            <p:ph type="body" idx="11"/>
          </p:nvPr>
        </p:nvSpPr>
        <p:spPr>
          <a:xfrm>
            <a:off x="838200" y="1066800"/>
            <a:ext cx="10572750" cy="781050"/>
          </a:xfrm>
        </p:spPr>
        <p:txBody>
          <a:bodyPr/>
          <a:lstStyle/>
          <a:p>
            <a:pPr>
              <a:defRPr sz="2850" b="1">
                <a:solidFill>
                  <a:srgbClr val="111111"/>
                </a:solidFill>
                <a:latin typeface="Calibri"/>
                <a:ea typeface="Calibri"/>
                <a:cs typeface="Calibri"/>
              </a:defRPr>
            </a:pPr>
            <a:r>
              <a:rPr sz="2850" b="1">
                <a:solidFill>
                  <a:srgbClr val="111111"/>
                </a:solidFill>
                <a:latin typeface="Calibri"/>
                <a:ea typeface="Calibri"/>
                <a:cs typeface="Calibri"/>
              </a:rPr>
              <a:t>Cypher-to-Y-bus detail</a:t>
            </a:r>
          </a:p>
        </p:txBody>
      </p:sp>
      <p:sp>
        <p:nvSpPr>
          <p:cNvPr id="4" name="Text Placeholder 3">
            <a:extLst>
              <a:ext uri="{FF2B5EF4-FFF2-40B4-BE49-F238E27FC236}">
                <a16:creationId xmlns:a16="http://schemas.microsoft.com/office/drawing/2014/main" id="{61F2A38F-1329-CB45-8996-F9A35C42D837}"/>
              </a:ext>
            </a:extLst>
          </p:cNvPr>
          <p:cNvSpPr>
            <a:spLocks noGrp="1"/>
          </p:cNvSpPr>
          <p:nvPr>
            <p:ph type="body" idx="12"/>
          </p:nvPr>
        </p:nvSpPr>
        <p:spPr>
          <a:xfrm>
            <a:off x="933450" y="2238375"/>
            <a:ext cx="10334625" cy="3714750"/>
          </a:xfrm>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Core retrieval pattern:</a:t>
            </a:r>
          </a:p>
          <a:p>
            <a:pPr>
              <a:defRPr sz="1500">
                <a:solidFill>
                  <a:srgbClr val="4A4A4A"/>
                </a:solidFill>
                <a:latin typeface="Calibri"/>
                <a:ea typeface="Calibri"/>
                <a:cs typeface="Calibri"/>
              </a:defRPr>
            </a:pPr>
            <a:r>
              <a:rPr sz="1500">
                <a:solidFill>
                  <a:srgbClr val="4A4A4A"/>
                </a:solidFill>
                <a:latin typeface="Calibri"/>
                <a:ea typeface="Calibri"/>
                <a:cs typeface="Calibri"/>
              </a:rPr>
              <a:t>MATCH (bus1)&lt;-[:CONNECTED_TO_TOPO_NODE]-(:Terminal)</a:t>
            </a:r>
          </a:p>
          <a:p>
            <a:pPr>
              <a:defRPr sz="1500">
                <a:solidFill>
                  <a:srgbClr val="4A4A4A"/>
                </a:solidFill>
                <a:latin typeface="Calibri"/>
                <a:ea typeface="Calibri"/>
                <a:cs typeface="Calibri"/>
              </a:defRPr>
            </a:pPr>
            <a:r>
              <a:rPr sz="1500">
                <a:solidFill>
                  <a:srgbClr val="4A4A4A"/>
                </a:solidFill>
                <a:latin typeface="Calibri"/>
                <a:ea typeface="Calibri"/>
                <a:cs typeface="Calibri"/>
              </a:rPr>
              <a:t>      -[:PART_OF_EQUIPMENT]-&gt;(line:ACLineSegment),</a:t>
            </a:r>
          </a:p>
          <a:p>
            <a:pPr>
              <a:defRPr sz="1500">
                <a:solidFill>
                  <a:srgbClr val="4A4A4A"/>
                </a:solidFill>
                <a:latin typeface="Calibri"/>
                <a:ea typeface="Calibri"/>
                <a:cs typeface="Calibri"/>
              </a:defRPr>
            </a:pPr>
            <a:r>
              <a:rPr sz="1500">
                <a:solidFill>
                  <a:srgbClr val="4A4A4A"/>
                </a:solidFill>
                <a:latin typeface="Calibri"/>
                <a:ea typeface="Calibri"/>
                <a:cs typeface="Calibri"/>
              </a:rPr>
              <a:t>      (line)&lt;-[:PART_OF_EQUIPMENT]-(:Terminal)</a:t>
            </a:r>
          </a:p>
          <a:p>
            <a:pPr>
              <a:defRPr sz="1500">
                <a:solidFill>
                  <a:srgbClr val="4A4A4A"/>
                </a:solidFill>
                <a:latin typeface="Calibri"/>
                <a:ea typeface="Calibri"/>
                <a:cs typeface="Calibri"/>
              </a:defRPr>
            </a:pPr>
            <a:r>
              <a:rPr sz="1500">
                <a:solidFill>
                  <a:srgbClr val="4A4A4A"/>
                </a:solidFill>
                <a:latin typeface="Calibri"/>
                <a:ea typeface="Calibri"/>
                <a:cs typeface="Calibri"/>
              </a:rPr>
              <a:t>      -[:CONNECTED_TO_TOPO_NODE]-&gt;(bus2)</a:t>
            </a:r>
          </a:p>
          <a:p>
            <a:pPr>
              <a:defRPr sz="1500">
                <a:solidFill>
                  <a:srgbClr val="4A4A4A"/>
                </a:solidFill>
                <a:latin typeface="Calibri"/>
                <a:ea typeface="Calibri"/>
                <a:cs typeface="Calibri"/>
              </a:defRPr>
            </a:pPr>
            <a:r>
              <a:rPr sz="1500">
                <a:solidFill>
                  <a:srgbClr val="4A4A4A"/>
                </a:solidFill>
                <a:latin typeface="Calibri"/>
                <a:ea typeface="Calibri"/>
                <a:cs typeface="Calibri"/>
              </a:rPr>
              <a:t>RETURN bus1, bus2, line.r, line.x</a:t>
            </a:r>
          </a:p>
          <a:p>
            <a:endParaRPr sz="1500">
              <a:solidFill>
                <a:srgbClr val="4A4A4A"/>
              </a:solidFill>
              <a:latin typeface="Calibri"/>
              <a:ea typeface="Calibri"/>
              <a:cs typeface="Calibri"/>
            </a:endParaRPr>
          </a:p>
          <a:p>
            <a:pPr>
              <a:defRPr sz="1500">
                <a:solidFill>
                  <a:srgbClr val="4A4A4A"/>
                </a:solidFill>
                <a:latin typeface="Calibri"/>
                <a:ea typeface="Calibri"/>
                <a:cs typeface="Calibri"/>
              </a:defRPr>
            </a:pPr>
            <a:r>
              <a:rPr sz="1500">
                <a:solidFill>
                  <a:srgbClr val="4A4A4A"/>
                </a:solidFill>
                <a:latin typeface="Calibri"/>
                <a:ea typeface="Calibri"/>
                <a:cs typeface="Calibri"/>
              </a:rPr>
              <a:t>Meaning: retrieve electrical edges and parameters, then compute with trusted code.</a:t>
            </a:r>
          </a:p>
        </p:txBody>
      </p:sp>
    </p:spTree>
    <p:extLst>
      <p:ext uri="{BB962C8B-B14F-4D97-AF65-F5344CB8AC3E}">
        <p14:creationId xmlns:p14="http://schemas.microsoft.com/office/powerpoint/2010/main" val="2050875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78573-7499-4549-ADBC-735EAE46EA3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Backup</a:t>
            </a:r>
          </a:p>
        </p:txBody>
      </p:sp>
      <p:sp>
        <p:nvSpPr>
          <p:cNvPr id="3" name="Text Placeholder 2">
            <a:extLst>
              <a:ext uri="{FF2B5EF4-FFF2-40B4-BE49-F238E27FC236}">
                <a16:creationId xmlns:a16="http://schemas.microsoft.com/office/drawing/2014/main" id="{4AA7E2D8-AE9F-604A-A95D-30D87D445B4A}"/>
              </a:ext>
            </a:extLst>
          </p:cNvPr>
          <p:cNvSpPr>
            <a:spLocks noGrp="1"/>
          </p:cNvSpPr>
          <p:nvPr>
            <p:ph type="body" idx="11"/>
          </p:nvPr>
        </p:nvSpPr>
        <p:spPr>
          <a:xfrm>
            <a:off x="838200" y="1066800"/>
            <a:ext cx="10572750" cy="781050"/>
          </a:xfrm>
        </p:spPr>
        <p:txBody>
          <a:bodyPr/>
          <a:lstStyle/>
          <a:p>
            <a:pPr>
              <a:defRPr sz="2850" b="1">
                <a:solidFill>
                  <a:srgbClr val="111111"/>
                </a:solidFill>
                <a:latin typeface="Calibri"/>
                <a:ea typeface="Calibri"/>
                <a:cs typeface="Calibri"/>
              </a:defRPr>
            </a:pPr>
            <a:r>
              <a:rPr sz="2850" b="1">
                <a:solidFill>
                  <a:srgbClr val="111111"/>
                </a:solidFill>
                <a:latin typeface="Calibri"/>
                <a:ea typeface="Calibri"/>
                <a:cs typeface="Calibri"/>
              </a:rPr>
              <a:t>Validation detail</a:t>
            </a:r>
          </a:p>
        </p:txBody>
      </p:sp>
      <p:sp>
        <p:nvSpPr>
          <p:cNvPr id="4" name="Text Placeholder 3">
            <a:extLst>
              <a:ext uri="{FF2B5EF4-FFF2-40B4-BE49-F238E27FC236}">
                <a16:creationId xmlns:a16="http://schemas.microsoft.com/office/drawing/2014/main" id="{61F2A38F-1329-CB45-8996-F9A35C42D837}"/>
              </a:ext>
            </a:extLst>
          </p:cNvPr>
          <p:cNvSpPr>
            <a:spLocks noGrp="1"/>
          </p:cNvSpPr>
          <p:nvPr>
            <p:ph type="body" idx="12"/>
          </p:nvPr>
        </p:nvSpPr>
        <p:spPr>
          <a:xfrm>
            <a:off x="933450" y="2238375"/>
            <a:ext cx="10334625" cy="3714750"/>
          </a:xfrm>
        </p:spPr>
        <p:txBody>
          <a:bodyPr/>
          <a:lstStyle/>
          <a:p>
            <a:pPr>
              <a:defRPr sz="1725">
                <a:solidFill>
                  <a:srgbClr val="4A4A4A"/>
                </a:solidFill>
                <a:latin typeface="Calibri"/>
                <a:ea typeface="Calibri"/>
                <a:cs typeface="Calibri"/>
              </a:defRPr>
            </a:pPr>
            <a:r>
              <a:rPr sz="1725">
                <a:solidFill>
                  <a:srgbClr val="4A4A4A"/>
                </a:solidFill>
                <a:latin typeface="Calibri"/>
                <a:ea typeface="Calibri"/>
                <a:cs typeface="Calibri"/>
              </a:rPr>
              <a:t>Validation setup:</a:t>
            </a:r>
          </a:p>
          <a:p>
            <a:pPr>
              <a:defRPr sz="1725">
                <a:solidFill>
                  <a:srgbClr val="4A4A4A"/>
                </a:solidFill>
                <a:latin typeface="Calibri"/>
                <a:ea typeface="Calibri"/>
                <a:cs typeface="Calibri"/>
              </a:defRPr>
            </a:pPr>
            <a:r>
              <a:rPr sz="1725">
                <a:solidFill>
                  <a:srgbClr val="4A4A4A"/>
                </a:solidFill>
                <a:latin typeface="Calibri"/>
                <a:ea typeface="Calibri"/>
                <a:cs typeface="Calibri"/>
              </a:rPr>
              <a:t>- 104 semantic questions.</a:t>
            </a:r>
          </a:p>
          <a:p>
            <a:pPr>
              <a:defRPr sz="1725">
                <a:solidFill>
                  <a:srgbClr val="4A4A4A"/>
                </a:solidFill>
                <a:latin typeface="Calibri"/>
                <a:ea typeface="Calibri"/>
                <a:cs typeface="Calibri"/>
              </a:defRPr>
            </a:pPr>
            <a:r>
              <a:rPr sz="1725">
                <a:solidFill>
                  <a:srgbClr val="4A4A4A"/>
                </a:solidFill>
                <a:latin typeface="Calibri"/>
                <a:ea typeface="Calibri"/>
                <a:cs typeface="Calibri"/>
              </a:rPr>
              <a:t>- Six feature groups: counting, topology, connectivity, aggregation, electrical values, fault/state validation.</a:t>
            </a:r>
          </a:p>
          <a:p>
            <a:pPr>
              <a:defRPr sz="1725">
                <a:solidFill>
                  <a:srgbClr val="4A4A4A"/>
                </a:solidFill>
                <a:latin typeface="Calibri"/>
                <a:ea typeface="Calibri"/>
                <a:cs typeface="Calibri"/>
              </a:defRPr>
            </a:pPr>
            <a:r>
              <a:rPr sz="1725">
                <a:solidFill>
                  <a:srgbClr val="4A4A4A"/>
                </a:solidFill>
                <a:latin typeface="Calibri"/>
                <a:ea typeface="Calibri"/>
                <a:cs typeface="Calibri"/>
              </a:rPr>
              <a:t>- Evaluation compares generated Cypher results with ground truth.</a:t>
            </a:r>
          </a:p>
          <a:p>
            <a:endParaRPr sz="1725">
              <a:solidFill>
                <a:srgbClr val="4A4A4A"/>
              </a:solidFill>
              <a:latin typeface="Calibri"/>
              <a:ea typeface="Calibri"/>
              <a:cs typeface="Calibri"/>
            </a:endParaRPr>
          </a:p>
          <a:p>
            <a:pPr>
              <a:defRPr sz="1725">
                <a:solidFill>
                  <a:srgbClr val="4A4A4A"/>
                </a:solidFill>
                <a:latin typeface="Calibri"/>
                <a:ea typeface="Calibri"/>
                <a:cs typeface="Calibri"/>
              </a:defRPr>
            </a:pPr>
            <a:r>
              <a:rPr sz="1725">
                <a:solidFill>
                  <a:srgbClr val="4A4A4A"/>
                </a:solidFill>
                <a:latin typeface="Calibri"/>
                <a:ea typeface="Calibri"/>
                <a:cs typeface="Calibri"/>
              </a:rPr>
              <a:t>Observed prototype result:</a:t>
            </a:r>
          </a:p>
          <a:p>
            <a:pPr>
              <a:defRPr sz="1725">
                <a:solidFill>
                  <a:srgbClr val="4A4A4A"/>
                </a:solidFill>
                <a:latin typeface="Calibri"/>
                <a:ea typeface="Calibri"/>
                <a:cs typeface="Calibri"/>
              </a:defRPr>
            </a:pPr>
            <a:r>
              <a:rPr sz="1725">
                <a:solidFill>
                  <a:srgbClr val="4A4A4A"/>
                </a:solidFill>
                <a:latin typeface="Calibri"/>
                <a:ea typeface="Calibri"/>
                <a:cs typeface="Calibri"/>
              </a:rPr>
              <a:t>- Earlier LangChain workflow: 31.73% overall accuracy.</a:t>
            </a:r>
          </a:p>
          <a:p>
            <a:pPr>
              <a:defRPr sz="1725">
                <a:solidFill>
                  <a:srgbClr val="4A4A4A"/>
                </a:solidFill>
                <a:latin typeface="Calibri"/>
                <a:ea typeface="Calibri"/>
                <a:cs typeface="Calibri"/>
              </a:defRPr>
            </a:pPr>
            <a:r>
              <a:rPr sz="1725">
                <a:solidFill>
                  <a:srgbClr val="4A4A4A"/>
                </a:solidFill>
                <a:latin typeface="Calibri"/>
                <a:ea typeface="Calibri"/>
                <a:cs typeface="Calibri"/>
              </a:rPr>
              <a:t>- LangGraph workflow: 71.15% overall accuracy.</a:t>
            </a:r>
          </a:p>
          <a:p>
            <a:pPr>
              <a:defRPr sz="1725">
                <a:solidFill>
                  <a:srgbClr val="4A4A4A"/>
                </a:solidFill>
                <a:latin typeface="Calibri"/>
                <a:ea typeface="Calibri"/>
                <a:cs typeface="Calibri"/>
              </a:defRPr>
            </a:pPr>
            <a:r>
              <a:rPr sz="1725">
                <a:solidFill>
                  <a:srgbClr val="4A4A4A"/>
                </a:solidFill>
                <a:latin typeface="Calibri"/>
                <a:ea typeface="Calibri"/>
                <a:cs typeface="Calibri"/>
              </a:rPr>
              <a:t>- Hard cases remain multi-hop topology and fault reasoning.</a:t>
            </a:r>
          </a:p>
        </p:txBody>
      </p:sp>
    </p:spTree>
    <p:extLst>
      <p:ext uri="{BB962C8B-B14F-4D97-AF65-F5344CB8AC3E}">
        <p14:creationId xmlns:p14="http://schemas.microsoft.com/office/powerpoint/2010/main" val="2954970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78573-7499-4549-ADBC-735EAE46EA3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Backup</a:t>
            </a:r>
          </a:p>
        </p:txBody>
      </p:sp>
      <p:sp>
        <p:nvSpPr>
          <p:cNvPr id="3" name="Text Placeholder 2">
            <a:extLst>
              <a:ext uri="{FF2B5EF4-FFF2-40B4-BE49-F238E27FC236}">
                <a16:creationId xmlns:a16="http://schemas.microsoft.com/office/drawing/2014/main" id="{4AA7E2D8-AE9F-604A-A95D-30D87D445B4A}"/>
              </a:ext>
            </a:extLst>
          </p:cNvPr>
          <p:cNvSpPr>
            <a:spLocks noGrp="1"/>
          </p:cNvSpPr>
          <p:nvPr>
            <p:ph type="body" idx="11"/>
          </p:nvPr>
        </p:nvSpPr>
        <p:spPr>
          <a:xfrm>
            <a:off x="838200" y="1066800"/>
            <a:ext cx="10572750" cy="781050"/>
          </a:xfrm>
        </p:spPr>
        <p:txBody>
          <a:bodyPr/>
          <a:lstStyle/>
          <a:p>
            <a:pPr>
              <a:defRPr sz="2850" b="1">
                <a:solidFill>
                  <a:srgbClr val="111111"/>
                </a:solidFill>
                <a:latin typeface="Calibri"/>
                <a:ea typeface="Calibri"/>
                <a:cs typeface="Calibri"/>
              </a:defRPr>
            </a:pPr>
            <a:r>
              <a:rPr sz="2850" b="1">
                <a:solidFill>
                  <a:srgbClr val="111111"/>
                </a:solidFill>
                <a:latin typeface="Calibri"/>
                <a:ea typeface="Calibri"/>
                <a:cs typeface="Calibri"/>
              </a:rPr>
              <a:t>Restoration algorithm detail</a:t>
            </a:r>
          </a:p>
        </p:txBody>
      </p:sp>
      <p:sp>
        <p:nvSpPr>
          <p:cNvPr id="4" name="Text Placeholder 3">
            <a:extLst>
              <a:ext uri="{FF2B5EF4-FFF2-40B4-BE49-F238E27FC236}">
                <a16:creationId xmlns:a16="http://schemas.microsoft.com/office/drawing/2014/main" id="{61F2A38F-1329-CB45-8996-F9A35C42D837}"/>
              </a:ext>
            </a:extLst>
          </p:cNvPr>
          <p:cNvSpPr>
            <a:spLocks noGrp="1"/>
          </p:cNvSpPr>
          <p:nvPr>
            <p:ph type="body" idx="12"/>
          </p:nvPr>
        </p:nvSpPr>
        <p:spPr>
          <a:xfrm>
            <a:off x="933450" y="2238375"/>
            <a:ext cx="10334625" cy="3714750"/>
          </a:xfrm>
        </p:spPr>
        <p:txBody>
          <a:bodyPr/>
          <a:lstStyle/>
          <a:p>
            <a:pPr>
              <a:defRPr sz="1725">
                <a:solidFill>
                  <a:srgbClr val="4A4A4A"/>
                </a:solidFill>
                <a:latin typeface="Calibri"/>
                <a:ea typeface="Calibri"/>
                <a:cs typeface="Calibri"/>
              </a:defRPr>
            </a:pPr>
            <a:r>
              <a:rPr sz="1725">
                <a:solidFill>
                  <a:srgbClr val="4A4A4A"/>
                </a:solidFill>
                <a:latin typeface="Calibri"/>
                <a:ea typeface="Calibri"/>
                <a:cs typeface="Calibri"/>
              </a:rPr>
              <a:t>Restoration planner primitives:</a:t>
            </a:r>
          </a:p>
          <a:p>
            <a:pPr>
              <a:defRPr sz="1725">
                <a:solidFill>
                  <a:srgbClr val="4A4A4A"/>
                </a:solidFill>
                <a:latin typeface="Calibri"/>
                <a:ea typeface="Calibri"/>
                <a:cs typeface="Calibri"/>
              </a:defRPr>
            </a:pPr>
            <a:r>
              <a:rPr sz="1725">
                <a:solidFill>
                  <a:srgbClr val="4A4A4A"/>
                </a:solidFill>
                <a:latin typeface="Calibri"/>
                <a:ea typeface="Calibri"/>
                <a:cs typeface="Calibri"/>
              </a:rPr>
              <a:t>- Weakly connected components detect energized and de-energized islands.</a:t>
            </a:r>
          </a:p>
          <a:p>
            <a:pPr>
              <a:defRPr sz="1725">
                <a:solidFill>
                  <a:srgbClr val="4A4A4A"/>
                </a:solidFill>
                <a:latin typeface="Calibri"/>
                <a:ea typeface="Calibri"/>
                <a:cs typeface="Calibri"/>
              </a:defRPr>
            </a:pPr>
            <a:r>
              <a:rPr sz="1725">
                <a:solidFill>
                  <a:srgbClr val="4A4A4A"/>
                </a:solidFill>
                <a:latin typeface="Calibri"/>
                <a:ea typeface="Calibri"/>
                <a:cs typeface="Calibri"/>
              </a:rPr>
              <a:t>- Weighted path search finds candidate energization routes.</a:t>
            </a:r>
          </a:p>
          <a:p>
            <a:pPr>
              <a:defRPr sz="1725">
                <a:solidFill>
                  <a:srgbClr val="4A4A4A"/>
                </a:solidFill>
                <a:latin typeface="Calibri"/>
                <a:ea typeface="Calibri"/>
                <a:cs typeface="Calibri"/>
              </a:defRPr>
            </a:pPr>
            <a:r>
              <a:rPr sz="1725">
                <a:solidFill>
                  <a:srgbClr val="4A4A4A"/>
                </a:solidFill>
                <a:latin typeface="Calibri"/>
                <a:ea typeface="Calibri"/>
                <a:cs typeface="Calibri"/>
              </a:rPr>
              <a:t>- Yen's K-shortest paths ranks alternatives.</a:t>
            </a:r>
          </a:p>
          <a:p>
            <a:pPr>
              <a:defRPr sz="1725">
                <a:solidFill>
                  <a:srgbClr val="4A4A4A"/>
                </a:solidFill>
                <a:latin typeface="Calibri"/>
                <a:ea typeface="Calibri"/>
                <a:cs typeface="Calibri"/>
              </a:defRPr>
            </a:pPr>
            <a:r>
              <a:rPr sz="1725">
                <a:solidFill>
                  <a:srgbClr val="4A4A4A"/>
                </a:solidFill>
                <a:latin typeface="Calibri"/>
                <a:ea typeface="Calibri"/>
                <a:cs typeface="Calibri"/>
              </a:rPr>
              <a:t>- Dijkstra can find generator-to-route prefixes.</a:t>
            </a:r>
          </a:p>
          <a:p>
            <a:pPr>
              <a:defRPr sz="1725">
                <a:solidFill>
                  <a:srgbClr val="4A4A4A"/>
                </a:solidFill>
                <a:latin typeface="Calibri"/>
                <a:ea typeface="Calibri"/>
                <a:cs typeface="Calibri"/>
              </a:defRPr>
            </a:pPr>
            <a:r>
              <a:rPr sz="1725">
                <a:solidFill>
                  <a:srgbClr val="4A4A4A"/>
                </a:solidFill>
                <a:latin typeface="Calibri"/>
                <a:ea typeface="Calibri"/>
                <a:cs typeface="Calibri"/>
              </a:rPr>
              <a:t>- The result is a ranked option list, not an automatic switching command.</a:t>
            </a:r>
          </a:p>
        </p:txBody>
      </p:sp>
    </p:spTree>
    <p:extLst>
      <p:ext uri="{BB962C8B-B14F-4D97-AF65-F5344CB8AC3E}">
        <p14:creationId xmlns:p14="http://schemas.microsoft.com/office/powerpoint/2010/main" val="1597232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078573-7499-4549-ADBC-735EAE46EA3B}"/>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Backup</a:t>
            </a:r>
          </a:p>
        </p:txBody>
      </p:sp>
      <p:sp>
        <p:nvSpPr>
          <p:cNvPr id="3" name="Text Placeholder 2">
            <a:extLst>
              <a:ext uri="{FF2B5EF4-FFF2-40B4-BE49-F238E27FC236}">
                <a16:creationId xmlns:a16="http://schemas.microsoft.com/office/drawing/2014/main" id="{4AA7E2D8-AE9F-604A-A95D-30D87D445B4A}"/>
              </a:ext>
            </a:extLst>
          </p:cNvPr>
          <p:cNvSpPr>
            <a:spLocks noGrp="1"/>
          </p:cNvSpPr>
          <p:nvPr>
            <p:ph type="body" idx="11"/>
          </p:nvPr>
        </p:nvSpPr>
        <p:spPr>
          <a:xfrm>
            <a:off x="838200" y="1066800"/>
            <a:ext cx="10572750" cy="781050"/>
          </a:xfrm>
        </p:spPr>
        <p:txBody>
          <a:bodyPr/>
          <a:lstStyle/>
          <a:p>
            <a:pPr>
              <a:defRPr sz="2850" b="1">
                <a:solidFill>
                  <a:srgbClr val="111111"/>
                </a:solidFill>
                <a:latin typeface="Calibri"/>
                <a:ea typeface="Calibri"/>
                <a:cs typeface="Calibri"/>
              </a:defRPr>
            </a:pPr>
            <a:r>
              <a:rPr sz="2850" b="1" dirty="0">
                <a:solidFill>
                  <a:srgbClr val="111111"/>
                </a:solidFill>
                <a:latin typeface="Calibri"/>
                <a:ea typeface="Calibri"/>
                <a:cs typeface="Calibri"/>
              </a:rPr>
              <a:t>Weather-aware operation detail</a:t>
            </a:r>
          </a:p>
        </p:txBody>
      </p:sp>
      <p:sp>
        <p:nvSpPr>
          <p:cNvPr id="4" name="Text Placeholder 3">
            <a:extLst>
              <a:ext uri="{FF2B5EF4-FFF2-40B4-BE49-F238E27FC236}">
                <a16:creationId xmlns:a16="http://schemas.microsoft.com/office/drawing/2014/main" id="{61F2A38F-1329-CB45-8996-F9A35C42D837}"/>
              </a:ext>
            </a:extLst>
          </p:cNvPr>
          <p:cNvSpPr>
            <a:spLocks noGrp="1"/>
          </p:cNvSpPr>
          <p:nvPr>
            <p:ph type="body" idx="12"/>
          </p:nvPr>
        </p:nvSpPr>
        <p:spPr>
          <a:xfrm>
            <a:off x="933450" y="2238375"/>
            <a:ext cx="10334625" cy="3714750"/>
          </a:xfrm>
        </p:spPr>
        <p:txBody>
          <a:bodyPr/>
          <a:lstStyle/>
          <a:p>
            <a:pPr>
              <a:defRPr sz="1725">
                <a:solidFill>
                  <a:srgbClr val="4A4A4A"/>
                </a:solidFill>
                <a:latin typeface="Calibri"/>
                <a:ea typeface="Calibri"/>
                <a:cs typeface="Calibri"/>
              </a:defRPr>
            </a:pPr>
            <a:r>
              <a:rPr sz="1725" dirty="0">
                <a:solidFill>
                  <a:srgbClr val="4A4A4A"/>
                </a:solidFill>
                <a:latin typeface="Calibri"/>
                <a:ea typeface="Calibri"/>
                <a:cs typeface="Calibri"/>
              </a:rPr>
              <a:t>Optional exogenous context:</a:t>
            </a:r>
          </a:p>
          <a:p>
            <a:pPr>
              <a:defRPr sz="1725">
                <a:solidFill>
                  <a:srgbClr val="4A4A4A"/>
                </a:solidFill>
                <a:latin typeface="Calibri"/>
                <a:ea typeface="Calibri"/>
                <a:cs typeface="Calibri"/>
              </a:defRPr>
            </a:pPr>
            <a:r>
              <a:rPr sz="1725" dirty="0">
                <a:solidFill>
                  <a:srgbClr val="4A4A4A"/>
                </a:solidFill>
                <a:latin typeface="Calibri"/>
                <a:ea typeface="Calibri"/>
                <a:cs typeface="Calibri"/>
              </a:rPr>
              <a:t>- Temperature, wind, gusts, precipitation, snowfall, humidity, CAPE, soil moisture.</a:t>
            </a:r>
          </a:p>
          <a:p>
            <a:pPr>
              <a:defRPr sz="1725">
                <a:solidFill>
                  <a:srgbClr val="4A4A4A"/>
                </a:solidFill>
                <a:latin typeface="Calibri"/>
                <a:ea typeface="Calibri"/>
                <a:cs typeface="Calibri"/>
              </a:defRPr>
            </a:pPr>
            <a:r>
              <a:rPr sz="1725" dirty="0">
                <a:solidFill>
                  <a:srgbClr val="4A4A4A"/>
                </a:solidFill>
                <a:latin typeface="Calibri"/>
                <a:ea typeface="Calibri"/>
                <a:cs typeface="Calibri"/>
              </a:rPr>
              <a:t>- Hazard scores normalize risk per branch or location.</a:t>
            </a:r>
          </a:p>
          <a:p>
            <a:pPr>
              <a:defRPr sz="1725">
                <a:solidFill>
                  <a:srgbClr val="4A4A4A"/>
                </a:solidFill>
                <a:latin typeface="Calibri"/>
                <a:ea typeface="Calibri"/>
                <a:cs typeface="Calibri"/>
              </a:defRPr>
            </a:pPr>
            <a:r>
              <a:rPr sz="1725" dirty="0">
                <a:solidFill>
                  <a:srgbClr val="4A4A4A"/>
                </a:solidFill>
                <a:latin typeface="Calibri"/>
                <a:ea typeface="Calibri"/>
                <a:cs typeface="Calibri"/>
              </a:rPr>
              <a:t>- Routing can penalize high-risk branches.</a:t>
            </a:r>
          </a:p>
          <a:p>
            <a:endParaRPr sz="1725" dirty="0">
              <a:solidFill>
                <a:srgbClr val="4A4A4A"/>
              </a:solidFill>
              <a:latin typeface="Calibri"/>
              <a:ea typeface="Calibri"/>
              <a:cs typeface="Calibri"/>
            </a:endParaRPr>
          </a:p>
          <a:p>
            <a:pPr>
              <a:defRPr sz="1725">
                <a:solidFill>
                  <a:srgbClr val="4A4A4A"/>
                </a:solidFill>
                <a:latin typeface="Calibri"/>
                <a:ea typeface="Calibri"/>
                <a:cs typeface="Calibri"/>
              </a:defRPr>
            </a:pPr>
            <a:r>
              <a:rPr sz="1725" dirty="0">
                <a:solidFill>
                  <a:srgbClr val="4A4A4A"/>
                </a:solidFill>
                <a:latin typeface="Calibri"/>
                <a:ea typeface="Calibri"/>
                <a:cs typeface="Calibri"/>
              </a:rPr>
              <a:t>Purpose: enrich the decision context without replacing protection or operational rules.</a:t>
            </a:r>
          </a:p>
        </p:txBody>
      </p:sp>
    </p:spTree>
    <p:extLst>
      <p:ext uri="{BB962C8B-B14F-4D97-AF65-F5344CB8AC3E}">
        <p14:creationId xmlns:p14="http://schemas.microsoft.com/office/powerpoint/2010/main" val="2418319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8299C-42C7-6403-012F-63935082497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51DD4FD-8B72-EF10-1A68-5B1B6FBE786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2B9159F6-31A8-6B21-3FB0-7761BA97BED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AAC28F8B-512B-545D-B549-A371C9CB11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77AF2E72-4692-851B-4934-FA715A4CA6C3}"/>
              </a:ext>
            </a:extLst>
          </p:cNvPr>
          <p:cNvSpPr>
            <a:spLocks noGrp="1"/>
          </p:cNvSpPr>
          <p:nvPr>
            <p:ph type="title"/>
          </p:nvPr>
        </p:nvSpPr>
        <p:spPr>
          <a:xfrm>
            <a:off x="518318" y="301185"/>
            <a:ext cx="6844385" cy="664797"/>
          </a:xfrm>
        </p:spPr>
        <p:txBody>
          <a:bodyPr/>
          <a:lstStyle/>
          <a:p>
            <a:r>
              <a:rPr lang="en-US" dirty="0"/>
              <a:t>Emerging Agentic AI for </a:t>
            </a:r>
            <a:br>
              <a:rPr lang="en-US" dirty="0"/>
            </a:br>
            <a:r>
              <a:rPr lang="en-US" dirty="0"/>
              <a:t>Power grid</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60A58887-0004-5B63-7B37-3AFBE4DEB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736" y="23449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898A225-8396-81DF-2D14-20DA27260FB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AFF7EAAC-ED1F-11CF-403D-F41C98677B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30" name="Grafik 92">
            <a:extLst>
              <a:ext uri="{FF2B5EF4-FFF2-40B4-BE49-F238E27FC236}">
                <a16:creationId xmlns:a16="http://schemas.microsoft.com/office/drawing/2014/main" id="{2D422B5D-AD4F-1AF0-6080-D8B73C34F26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pic>
        <p:nvPicPr>
          <p:cNvPr id="5" name="Picture 4">
            <a:extLst>
              <a:ext uri="{FF2B5EF4-FFF2-40B4-BE49-F238E27FC236}">
                <a16:creationId xmlns:a16="http://schemas.microsoft.com/office/drawing/2014/main" id="{7B92A4D7-117E-8870-D225-9330A98AA266}"/>
              </a:ext>
            </a:extLst>
          </p:cNvPr>
          <p:cNvPicPr>
            <a:picLocks noChangeAspect="1"/>
          </p:cNvPicPr>
          <p:nvPr/>
        </p:nvPicPr>
        <p:blipFill>
          <a:blip r:embed="rId7"/>
          <a:stretch>
            <a:fillRect/>
          </a:stretch>
        </p:blipFill>
        <p:spPr>
          <a:xfrm>
            <a:off x="3138906" y="4927889"/>
            <a:ext cx="2865899" cy="1060664"/>
          </a:xfrm>
          <a:prstGeom prst="rect">
            <a:avLst/>
          </a:prstGeom>
        </p:spPr>
      </p:pic>
      <p:pic>
        <p:nvPicPr>
          <p:cNvPr id="15" name="Picture 14" descr="A diagram of a planner&#10;&#10;AI-generated content may be incorrect.">
            <a:extLst>
              <a:ext uri="{FF2B5EF4-FFF2-40B4-BE49-F238E27FC236}">
                <a16:creationId xmlns:a16="http://schemas.microsoft.com/office/drawing/2014/main" id="{67599013-8FA9-5B5C-60E8-47B2D4DD2647}"/>
              </a:ext>
            </a:extLst>
          </p:cNvPr>
          <p:cNvPicPr>
            <a:picLocks noChangeAspect="1"/>
          </p:cNvPicPr>
          <p:nvPr/>
        </p:nvPicPr>
        <p:blipFill>
          <a:blip r:embed="rId8"/>
          <a:stretch>
            <a:fillRect/>
          </a:stretch>
        </p:blipFill>
        <p:spPr>
          <a:xfrm>
            <a:off x="6014330" y="4825913"/>
            <a:ext cx="2236615" cy="1482793"/>
          </a:xfrm>
          <a:prstGeom prst="rect">
            <a:avLst/>
          </a:prstGeom>
        </p:spPr>
      </p:pic>
      <p:sp>
        <p:nvSpPr>
          <p:cNvPr id="20" name="Rounded Rectangle 19">
            <a:extLst>
              <a:ext uri="{FF2B5EF4-FFF2-40B4-BE49-F238E27FC236}">
                <a16:creationId xmlns:a16="http://schemas.microsoft.com/office/drawing/2014/main" id="{0E088FA8-4ED6-DCE5-082D-10F8832D9666}"/>
              </a:ext>
            </a:extLst>
          </p:cNvPr>
          <p:cNvSpPr>
            <a:spLocks noGrp="1"/>
          </p:cNvSpPr>
          <p:nvPr/>
        </p:nvSpPr>
        <p:spPr>
          <a:xfrm>
            <a:off x="703263" y="1425435"/>
            <a:ext cx="10972800" cy="19050"/>
          </a:xfrm>
          <a:prstGeom prst="roundRect">
            <a:avLst>
              <a:gd name="adj" fmla="val 50000"/>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2" name="Oval 21">
            <a:extLst>
              <a:ext uri="{FF2B5EF4-FFF2-40B4-BE49-F238E27FC236}">
                <a16:creationId xmlns:a16="http://schemas.microsoft.com/office/drawing/2014/main" id="{C04BF3A9-F378-9CED-D6FF-6A8C2879B607}"/>
              </a:ext>
            </a:extLst>
          </p:cNvPr>
          <p:cNvSpPr>
            <a:spLocks noGrp="1"/>
          </p:cNvSpPr>
          <p:nvPr/>
        </p:nvSpPr>
        <p:spPr>
          <a:xfrm>
            <a:off x="1370013" y="1815960"/>
            <a:ext cx="704850" cy="704850"/>
          </a:xfrm>
          <a:prstGeom prst="ellipse">
            <a:avLst/>
          </a:prstGeom>
          <a:solidFill>
            <a:srgbClr val="EAF4F5"/>
          </a:solidFill>
          <a:ln w="0">
            <a:solidFill>
              <a:srgbClr val="EAF4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C7C0F093-A285-4A91-EA4B-FF91A5D56F85}"/>
              </a:ext>
            </a:extLst>
          </p:cNvPr>
          <p:cNvSpPr>
            <a:spLocks noGrp="1"/>
          </p:cNvSpPr>
          <p:nvPr/>
        </p:nvSpPr>
        <p:spPr>
          <a:xfrm>
            <a:off x="1370013" y="1977885"/>
            <a:ext cx="7048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1976A3"/>
                </a:solidFill>
              </a:defRPr>
            </a:pPr>
            <a:r>
              <a:rPr kumimoji="0" sz="1800" b="1" i="0" u="none" strike="noStrike" kern="1200" cap="none" spc="0" normalizeH="0" baseline="0" noProof="0">
                <a:ln>
                  <a:noFill/>
                </a:ln>
                <a:solidFill>
                  <a:srgbClr val="1976A3"/>
                </a:solidFill>
                <a:effectLst/>
                <a:uLnTx/>
                <a:uFillTx/>
                <a:latin typeface="Arial"/>
                <a:ea typeface="+mn-ea"/>
                <a:cs typeface="+mn-cs"/>
              </a:rPr>
              <a:t>01</a:t>
            </a:r>
          </a:p>
        </p:txBody>
      </p:sp>
      <p:sp>
        <p:nvSpPr>
          <p:cNvPr id="29" name="Rectangle 28">
            <a:extLst>
              <a:ext uri="{FF2B5EF4-FFF2-40B4-BE49-F238E27FC236}">
                <a16:creationId xmlns:a16="http://schemas.microsoft.com/office/drawing/2014/main" id="{F33A5F67-E457-AF01-4A0A-C7810219B3BF}"/>
              </a:ext>
            </a:extLst>
          </p:cNvPr>
          <p:cNvSpPr>
            <a:spLocks noGrp="1"/>
          </p:cNvSpPr>
          <p:nvPr/>
        </p:nvSpPr>
        <p:spPr>
          <a:xfrm>
            <a:off x="703263" y="2787510"/>
            <a:ext cx="2038350" cy="5524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9233F"/>
                </a:solidFill>
              </a:defRPr>
            </a:pPr>
            <a:r>
              <a:rPr kumimoji="0" sz="1350" b="1" i="0" u="none" strike="noStrike" kern="1200" cap="none" spc="0" normalizeH="0" baseline="0" noProof="0">
                <a:ln>
                  <a:noFill/>
                </a:ln>
                <a:solidFill>
                  <a:srgbClr val="09233F"/>
                </a:solidFill>
                <a:effectLst/>
                <a:uLnTx/>
                <a:uFillTx/>
                <a:latin typeface="Arial"/>
                <a:ea typeface="+mn-ea"/>
                <a:cs typeface="+mn-cs"/>
              </a:rPr>
              <a:t>Grid foundation models</a:t>
            </a:r>
          </a:p>
        </p:txBody>
      </p:sp>
      <p:sp>
        <p:nvSpPr>
          <p:cNvPr id="31" name="Rectangle 30">
            <a:extLst>
              <a:ext uri="{FF2B5EF4-FFF2-40B4-BE49-F238E27FC236}">
                <a16:creationId xmlns:a16="http://schemas.microsoft.com/office/drawing/2014/main" id="{573C4E75-1FB4-9610-77AC-0B77246E4AC3}"/>
              </a:ext>
            </a:extLst>
          </p:cNvPr>
          <p:cNvSpPr>
            <a:spLocks noGrp="1"/>
          </p:cNvSpPr>
          <p:nvPr/>
        </p:nvSpPr>
        <p:spPr>
          <a:xfrm>
            <a:off x="703263" y="3435210"/>
            <a:ext cx="20383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sz="1125" b="0" i="0" u="none" strike="noStrike" kern="1200" cap="none" spc="0" normalizeH="0" baseline="0" noProof="0">
                <a:ln>
                  <a:noFill/>
                </a:ln>
                <a:solidFill>
                  <a:srgbClr val="607589"/>
                </a:solidFill>
                <a:effectLst/>
                <a:uLnTx/>
                <a:uFillTx/>
                <a:latin typeface="Arial"/>
                <a:ea typeface="+mn-ea"/>
                <a:cs typeface="+mn-cs"/>
              </a:rPr>
              <a:t>GridFM, GridSFM</a:t>
            </a:r>
          </a:p>
        </p:txBody>
      </p:sp>
      <p:sp>
        <p:nvSpPr>
          <p:cNvPr id="32" name="Rounded Rectangle 31">
            <a:extLst>
              <a:ext uri="{FF2B5EF4-FFF2-40B4-BE49-F238E27FC236}">
                <a16:creationId xmlns:a16="http://schemas.microsoft.com/office/drawing/2014/main" id="{2FD62F79-480E-FC2F-6466-A502B8E66331}"/>
              </a:ext>
            </a:extLst>
          </p:cNvPr>
          <p:cNvSpPr>
            <a:spLocks noGrp="1"/>
          </p:cNvSpPr>
          <p:nvPr/>
        </p:nvSpPr>
        <p:spPr>
          <a:xfrm>
            <a:off x="2179638" y="2177910"/>
            <a:ext cx="571500" cy="38100"/>
          </a:xfrm>
          <a:prstGeom prst="roundRect">
            <a:avLst>
              <a:gd name="adj" fmla="val 50000"/>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Triangle 32">
            <a:extLst>
              <a:ext uri="{FF2B5EF4-FFF2-40B4-BE49-F238E27FC236}">
                <a16:creationId xmlns:a16="http://schemas.microsoft.com/office/drawing/2014/main" id="{19410C4F-8B96-90CB-4262-B651D92B094C}"/>
              </a:ext>
            </a:extLst>
          </p:cNvPr>
          <p:cNvSpPr>
            <a:spLocks noGrp="1"/>
          </p:cNvSpPr>
          <p:nvPr/>
        </p:nvSpPr>
        <p:spPr>
          <a:xfrm rot="5400000">
            <a:off x="2674938" y="2111235"/>
            <a:ext cx="171450" cy="171450"/>
          </a:xfrm>
          <a:prstGeom prst="triangle">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4" name="Oval 33">
            <a:extLst>
              <a:ext uri="{FF2B5EF4-FFF2-40B4-BE49-F238E27FC236}">
                <a16:creationId xmlns:a16="http://schemas.microsoft.com/office/drawing/2014/main" id="{AD6ADB09-8F03-EE0B-3727-F5A7C1043C2B}"/>
              </a:ext>
            </a:extLst>
          </p:cNvPr>
          <p:cNvSpPr>
            <a:spLocks noGrp="1"/>
          </p:cNvSpPr>
          <p:nvPr/>
        </p:nvSpPr>
        <p:spPr>
          <a:xfrm>
            <a:off x="3560763" y="1815960"/>
            <a:ext cx="704850" cy="704850"/>
          </a:xfrm>
          <a:prstGeom prst="ellipse">
            <a:avLst/>
          </a:prstGeom>
          <a:solidFill>
            <a:srgbClr val="EAF4F5"/>
          </a:solidFill>
          <a:ln w="0">
            <a:solidFill>
              <a:srgbClr val="EAF4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5" name="Rectangle 34">
            <a:extLst>
              <a:ext uri="{FF2B5EF4-FFF2-40B4-BE49-F238E27FC236}">
                <a16:creationId xmlns:a16="http://schemas.microsoft.com/office/drawing/2014/main" id="{83A74F40-D8E4-98AF-A698-CC9A615FD7A3}"/>
              </a:ext>
            </a:extLst>
          </p:cNvPr>
          <p:cNvSpPr>
            <a:spLocks noGrp="1"/>
          </p:cNvSpPr>
          <p:nvPr/>
        </p:nvSpPr>
        <p:spPr>
          <a:xfrm>
            <a:off x="3560763" y="1977885"/>
            <a:ext cx="7048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1976A3"/>
                </a:solidFill>
              </a:defRPr>
            </a:pPr>
            <a:r>
              <a:rPr kumimoji="0" sz="1800" b="1" i="0" u="none" strike="noStrike" kern="1200" cap="none" spc="0" normalizeH="0" baseline="0" noProof="0">
                <a:ln>
                  <a:noFill/>
                </a:ln>
                <a:solidFill>
                  <a:srgbClr val="1976A3"/>
                </a:solidFill>
                <a:effectLst/>
                <a:uLnTx/>
                <a:uFillTx/>
                <a:latin typeface="Arial"/>
                <a:ea typeface="+mn-ea"/>
                <a:cs typeface="+mn-cs"/>
              </a:rPr>
              <a:t>02</a:t>
            </a:r>
          </a:p>
        </p:txBody>
      </p:sp>
      <p:sp>
        <p:nvSpPr>
          <p:cNvPr id="36" name="Rectangle 35">
            <a:extLst>
              <a:ext uri="{FF2B5EF4-FFF2-40B4-BE49-F238E27FC236}">
                <a16:creationId xmlns:a16="http://schemas.microsoft.com/office/drawing/2014/main" id="{22B3A8FB-859C-E8A9-D477-31C3EBB12618}"/>
              </a:ext>
            </a:extLst>
          </p:cNvPr>
          <p:cNvSpPr>
            <a:spLocks noGrp="1"/>
          </p:cNvSpPr>
          <p:nvPr/>
        </p:nvSpPr>
        <p:spPr>
          <a:xfrm>
            <a:off x="2894013" y="2787510"/>
            <a:ext cx="2038350" cy="5524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9233F"/>
                </a:solidFill>
              </a:defRPr>
            </a:pPr>
            <a:r>
              <a:rPr kumimoji="0" sz="1350" b="1" i="0" u="none" strike="noStrike" kern="1200" cap="none" spc="0" normalizeH="0" baseline="0" noProof="0" dirty="0">
                <a:ln>
                  <a:noFill/>
                </a:ln>
                <a:solidFill>
                  <a:srgbClr val="09233F"/>
                </a:solidFill>
                <a:effectLst/>
                <a:uLnTx/>
                <a:uFillTx/>
                <a:latin typeface="Arial"/>
                <a:ea typeface="+mn-ea"/>
                <a:cs typeface="+mn-cs"/>
              </a:rPr>
              <a:t>Tool integration</a:t>
            </a:r>
          </a:p>
        </p:txBody>
      </p:sp>
      <p:sp>
        <p:nvSpPr>
          <p:cNvPr id="37" name="Rectangle 36">
            <a:extLst>
              <a:ext uri="{FF2B5EF4-FFF2-40B4-BE49-F238E27FC236}">
                <a16:creationId xmlns:a16="http://schemas.microsoft.com/office/drawing/2014/main" id="{DE4CA8EA-DE21-E6BE-C503-3D564CB233E8}"/>
              </a:ext>
            </a:extLst>
          </p:cNvPr>
          <p:cNvSpPr>
            <a:spLocks noGrp="1"/>
          </p:cNvSpPr>
          <p:nvPr/>
        </p:nvSpPr>
        <p:spPr>
          <a:xfrm>
            <a:off x="2894013" y="3435210"/>
            <a:ext cx="20383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sz="1125" b="0" i="0" u="none" strike="noStrike" kern="1200" cap="none" spc="0" normalizeH="0" baseline="0" noProof="0" dirty="0" err="1">
                <a:ln>
                  <a:noFill/>
                </a:ln>
                <a:solidFill>
                  <a:srgbClr val="607589"/>
                </a:solidFill>
                <a:effectLst/>
                <a:uLnTx/>
                <a:uFillTx/>
                <a:latin typeface="Arial"/>
                <a:ea typeface="+mn-ea"/>
                <a:cs typeface="+mn-cs"/>
              </a:rPr>
              <a:t>PowerMCP</a:t>
            </a:r>
            <a:endParaRPr kumimoji="0" sz="1125" b="0" i="0" u="none" strike="noStrike" kern="1200" cap="none" spc="0" normalizeH="0" baseline="0" noProof="0" dirty="0">
              <a:ln>
                <a:noFill/>
              </a:ln>
              <a:solidFill>
                <a:srgbClr val="607589"/>
              </a:solidFill>
              <a:effectLst/>
              <a:uLnTx/>
              <a:uFillTx/>
              <a:latin typeface="Arial"/>
              <a:ea typeface="+mn-ea"/>
              <a:cs typeface="+mn-cs"/>
            </a:endParaRPr>
          </a:p>
        </p:txBody>
      </p:sp>
      <p:sp>
        <p:nvSpPr>
          <p:cNvPr id="38" name="Rounded Rectangle 37">
            <a:extLst>
              <a:ext uri="{FF2B5EF4-FFF2-40B4-BE49-F238E27FC236}">
                <a16:creationId xmlns:a16="http://schemas.microsoft.com/office/drawing/2014/main" id="{769FD1D5-12BC-338E-7908-965E3D2D5A77}"/>
              </a:ext>
            </a:extLst>
          </p:cNvPr>
          <p:cNvSpPr>
            <a:spLocks noGrp="1"/>
          </p:cNvSpPr>
          <p:nvPr/>
        </p:nvSpPr>
        <p:spPr>
          <a:xfrm>
            <a:off x="4370388" y="2177910"/>
            <a:ext cx="571500" cy="38100"/>
          </a:xfrm>
          <a:prstGeom prst="roundRect">
            <a:avLst>
              <a:gd name="adj" fmla="val 50000"/>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Triangle 38">
            <a:extLst>
              <a:ext uri="{FF2B5EF4-FFF2-40B4-BE49-F238E27FC236}">
                <a16:creationId xmlns:a16="http://schemas.microsoft.com/office/drawing/2014/main" id="{2BCCB062-B3ED-2ABE-88D4-3534E4F6CCDC}"/>
              </a:ext>
            </a:extLst>
          </p:cNvPr>
          <p:cNvSpPr>
            <a:spLocks noGrp="1"/>
          </p:cNvSpPr>
          <p:nvPr/>
        </p:nvSpPr>
        <p:spPr>
          <a:xfrm rot="5400000">
            <a:off x="4865688" y="2111235"/>
            <a:ext cx="171450" cy="171450"/>
          </a:xfrm>
          <a:prstGeom prst="triangle">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0" name="Oval 39">
            <a:extLst>
              <a:ext uri="{FF2B5EF4-FFF2-40B4-BE49-F238E27FC236}">
                <a16:creationId xmlns:a16="http://schemas.microsoft.com/office/drawing/2014/main" id="{F3640447-5E56-BC53-0E03-F5846C5B01C2}"/>
              </a:ext>
            </a:extLst>
          </p:cNvPr>
          <p:cNvSpPr>
            <a:spLocks noGrp="1"/>
          </p:cNvSpPr>
          <p:nvPr/>
        </p:nvSpPr>
        <p:spPr>
          <a:xfrm>
            <a:off x="5751513" y="1815960"/>
            <a:ext cx="704850" cy="704850"/>
          </a:xfrm>
          <a:prstGeom prst="ellipse">
            <a:avLst/>
          </a:prstGeom>
          <a:solidFill>
            <a:srgbClr val="EAF4F5"/>
          </a:solidFill>
          <a:ln w="0">
            <a:solidFill>
              <a:srgbClr val="EAF4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C8E11670-E24D-2F78-1947-C9E491D33AB7}"/>
              </a:ext>
            </a:extLst>
          </p:cNvPr>
          <p:cNvSpPr>
            <a:spLocks noGrp="1"/>
          </p:cNvSpPr>
          <p:nvPr/>
        </p:nvSpPr>
        <p:spPr>
          <a:xfrm>
            <a:off x="5751513" y="1977885"/>
            <a:ext cx="7048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1976A3"/>
                </a:solidFill>
              </a:defRPr>
            </a:pPr>
            <a:r>
              <a:rPr kumimoji="0" sz="1800" b="1" i="0" u="none" strike="noStrike" kern="1200" cap="none" spc="0" normalizeH="0" baseline="0" noProof="0">
                <a:ln>
                  <a:noFill/>
                </a:ln>
                <a:solidFill>
                  <a:srgbClr val="1976A3"/>
                </a:solidFill>
                <a:effectLst/>
                <a:uLnTx/>
                <a:uFillTx/>
                <a:latin typeface="Arial"/>
                <a:ea typeface="+mn-ea"/>
                <a:cs typeface="+mn-cs"/>
              </a:rPr>
              <a:t>03</a:t>
            </a:r>
          </a:p>
        </p:txBody>
      </p:sp>
      <p:sp>
        <p:nvSpPr>
          <p:cNvPr id="42" name="Rectangle 41">
            <a:extLst>
              <a:ext uri="{FF2B5EF4-FFF2-40B4-BE49-F238E27FC236}">
                <a16:creationId xmlns:a16="http://schemas.microsoft.com/office/drawing/2014/main" id="{31982A32-5C36-E765-C849-DAB1C582F3B7}"/>
              </a:ext>
            </a:extLst>
          </p:cNvPr>
          <p:cNvSpPr>
            <a:spLocks noGrp="1"/>
          </p:cNvSpPr>
          <p:nvPr/>
        </p:nvSpPr>
        <p:spPr>
          <a:xfrm>
            <a:off x="5084763" y="2787510"/>
            <a:ext cx="2038350" cy="5524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9233F"/>
                </a:solidFill>
              </a:defRPr>
            </a:pPr>
            <a:r>
              <a:rPr kumimoji="0" lang="en-US" sz="1350" b="1" i="0" u="none" strike="noStrike" kern="1200" cap="none" spc="0" normalizeH="0" baseline="0" noProof="0" dirty="0">
                <a:ln>
                  <a:noFill/>
                </a:ln>
                <a:solidFill>
                  <a:srgbClr val="09233F"/>
                </a:solidFill>
                <a:effectLst/>
                <a:uLnTx/>
                <a:uFillTx/>
                <a:latin typeface="Arial"/>
                <a:ea typeface="+mn-ea"/>
                <a:cs typeface="+mn-cs"/>
              </a:rPr>
              <a:t>Research ecosystem</a:t>
            </a:r>
            <a:endParaRPr kumimoji="0" sz="1350" b="1" i="0" u="none" strike="noStrike" kern="1200" cap="none" spc="0" normalizeH="0" baseline="0" noProof="0" dirty="0">
              <a:ln>
                <a:noFill/>
              </a:ln>
              <a:solidFill>
                <a:srgbClr val="09233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D8707E5E-F1B0-7D3F-D6A2-942D1EC168D5}"/>
              </a:ext>
            </a:extLst>
          </p:cNvPr>
          <p:cNvSpPr>
            <a:spLocks noGrp="1"/>
          </p:cNvSpPr>
          <p:nvPr/>
        </p:nvSpPr>
        <p:spPr>
          <a:xfrm>
            <a:off x="5084763" y="3549510"/>
            <a:ext cx="20383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sz="1125" b="0" i="0" u="none" strike="noStrike" kern="1200" cap="none" spc="0" normalizeH="0" baseline="0" noProof="0" dirty="0">
                <a:ln>
                  <a:noFill/>
                </a:ln>
                <a:solidFill>
                  <a:srgbClr val="607589"/>
                </a:solidFill>
                <a:effectLst/>
                <a:uLnTx/>
                <a:uFillTx/>
                <a:latin typeface="Arial"/>
                <a:ea typeface="+mn-ea"/>
                <a:cs typeface="+mn-cs"/>
              </a:rPr>
              <a:t>NREL and DOE</a:t>
            </a:r>
            <a:r>
              <a:rPr kumimoji="0" lang="en-US" altLang="ko-KR" sz="1125" b="0" i="0" u="none" strike="noStrike" kern="1200" cap="none" spc="0" normalizeH="0" baseline="0" noProof="0" dirty="0">
                <a:ln>
                  <a:noFill/>
                </a:ln>
                <a:solidFill>
                  <a:srgbClr val="607589"/>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lang="en-US" sz="1125" b="0" i="0" u="none" strike="noStrike" kern="1200" cap="none" spc="0" normalizeH="0" baseline="0" noProof="0" dirty="0">
                <a:ln>
                  <a:noFill/>
                </a:ln>
                <a:solidFill>
                  <a:srgbClr val="607589"/>
                </a:solidFill>
                <a:effectLst/>
                <a:uLnTx/>
                <a:uFillTx/>
                <a:latin typeface="Arial"/>
                <a:ea typeface="+mn-ea"/>
                <a:cs typeface="+mn-cs"/>
              </a:rPr>
              <a:t>Fraunhofer, DFKI</a:t>
            </a:r>
          </a:p>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endParaRPr kumimoji="0" sz="1125" b="0" i="0" u="none" strike="noStrike" kern="1200" cap="none" spc="0" normalizeH="0" baseline="0" noProof="0" dirty="0">
              <a:ln>
                <a:noFill/>
              </a:ln>
              <a:solidFill>
                <a:srgbClr val="607589"/>
              </a:solidFill>
              <a:effectLst/>
              <a:uLnTx/>
              <a:uFillTx/>
              <a:latin typeface="Arial"/>
              <a:ea typeface="+mn-ea"/>
              <a:cs typeface="+mn-cs"/>
            </a:endParaRPr>
          </a:p>
        </p:txBody>
      </p:sp>
      <p:sp>
        <p:nvSpPr>
          <p:cNvPr id="44" name="Rounded Rectangle 43">
            <a:extLst>
              <a:ext uri="{FF2B5EF4-FFF2-40B4-BE49-F238E27FC236}">
                <a16:creationId xmlns:a16="http://schemas.microsoft.com/office/drawing/2014/main" id="{0E65A334-3C5C-86AC-35E6-EC60B0928B1E}"/>
              </a:ext>
            </a:extLst>
          </p:cNvPr>
          <p:cNvSpPr>
            <a:spLocks noGrp="1"/>
          </p:cNvSpPr>
          <p:nvPr/>
        </p:nvSpPr>
        <p:spPr>
          <a:xfrm>
            <a:off x="6561138" y="2177910"/>
            <a:ext cx="571500" cy="38100"/>
          </a:xfrm>
          <a:prstGeom prst="roundRect">
            <a:avLst>
              <a:gd name="adj" fmla="val 50000"/>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5" name="Triangle 44">
            <a:extLst>
              <a:ext uri="{FF2B5EF4-FFF2-40B4-BE49-F238E27FC236}">
                <a16:creationId xmlns:a16="http://schemas.microsoft.com/office/drawing/2014/main" id="{6A2BAF1D-A172-4E74-B601-6C739981A4CA}"/>
              </a:ext>
            </a:extLst>
          </p:cNvPr>
          <p:cNvSpPr>
            <a:spLocks noGrp="1"/>
          </p:cNvSpPr>
          <p:nvPr/>
        </p:nvSpPr>
        <p:spPr>
          <a:xfrm rot="5400000">
            <a:off x="7056438" y="2111235"/>
            <a:ext cx="171450" cy="171450"/>
          </a:xfrm>
          <a:prstGeom prst="triangle">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6" name="Oval 45">
            <a:extLst>
              <a:ext uri="{FF2B5EF4-FFF2-40B4-BE49-F238E27FC236}">
                <a16:creationId xmlns:a16="http://schemas.microsoft.com/office/drawing/2014/main" id="{DAA139F8-305B-368F-E063-97CE1C92139D}"/>
              </a:ext>
            </a:extLst>
          </p:cNvPr>
          <p:cNvSpPr>
            <a:spLocks noGrp="1"/>
          </p:cNvSpPr>
          <p:nvPr/>
        </p:nvSpPr>
        <p:spPr>
          <a:xfrm>
            <a:off x="7942263" y="1815960"/>
            <a:ext cx="704850" cy="704850"/>
          </a:xfrm>
          <a:prstGeom prst="ellipse">
            <a:avLst/>
          </a:prstGeom>
          <a:solidFill>
            <a:srgbClr val="EAF4F5"/>
          </a:solidFill>
          <a:ln w="0">
            <a:solidFill>
              <a:srgbClr val="EAF4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47" name="Rectangle 46">
            <a:extLst>
              <a:ext uri="{FF2B5EF4-FFF2-40B4-BE49-F238E27FC236}">
                <a16:creationId xmlns:a16="http://schemas.microsoft.com/office/drawing/2014/main" id="{1E7D122D-FB0E-1B8A-97E1-3422936F3F7C}"/>
              </a:ext>
            </a:extLst>
          </p:cNvPr>
          <p:cNvSpPr>
            <a:spLocks noGrp="1"/>
          </p:cNvSpPr>
          <p:nvPr/>
        </p:nvSpPr>
        <p:spPr>
          <a:xfrm>
            <a:off x="7942263" y="1977885"/>
            <a:ext cx="7048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1976A3"/>
                </a:solidFill>
              </a:defRPr>
            </a:pPr>
            <a:r>
              <a:rPr kumimoji="0" sz="1800" b="1" i="0" u="none" strike="noStrike" kern="1200" cap="none" spc="0" normalizeH="0" baseline="0" noProof="0">
                <a:ln>
                  <a:noFill/>
                </a:ln>
                <a:solidFill>
                  <a:srgbClr val="1976A3"/>
                </a:solidFill>
                <a:effectLst/>
                <a:uLnTx/>
                <a:uFillTx/>
                <a:latin typeface="Arial"/>
                <a:ea typeface="+mn-ea"/>
                <a:cs typeface="+mn-cs"/>
              </a:rPr>
              <a:t>04</a:t>
            </a:r>
          </a:p>
        </p:txBody>
      </p:sp>
      <p:sp>
        <p:nvSpPr>
          <p:cNvPr id="48" name="Rectangle 47">
            <a:extLst>
              <a:ext uri="{FF2B5EF4-FFF2-40B4-BE49-F238E27FC236}">
                <a16:creationId xmlns:a16="http://schemas.microsoft.com/office/drawing/2014/main" id="{2C711727-CE8F-B03F-31B6-CFF8CC1EE91F}"/>
              </a:ext>
            </a:extLst>
          </p:cNvPr>
          <p:cNvSpPr>
            <a:spLocks noGrp="1"/>
          </p:cNvSpPr>
          <p:nvPr/>
        </p:nvSpPr>
        <p:spPr>
          <a:xfrm>
            <a:off x="7275513" y="2787510"/>
            <a:ext cx="2038350" cy="5524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9233F"/>
                </a:solidFill>
              </a:defRPr>
            </a:pPr>
            <a:r>
              <a:rPr kumimoji="0" sz="1350" b="1" i="0" u="none" strike="noStrike" kern="1200" cap="none" spc="0" normalizeH="0" baseline="0" noProof="0">
                <a:ln>
                  <a:noFill/>
                </a:ln>
                <a:solidFill>
                  <a:srgbClr val="09233F"/>
                </a:solidFill>
                <a:effectLst/>
                <a:uLnTx/>
                <a:uFillTx/>
                <a:latin typeface="Arial"/>
                <a:ea typeface="+mn-ea"/>
                <a:cs typeface="+mn-cs"/>
              </a:rPr>
              <a:t>Public investment</a:t>
            </a:r>
          </a:p>
        </p:txBody>
      </p:sp>
      <p:sp>
        <p:nvSpPr>
          <p:cNvPr id="49" name="Rectangle 48">
            <a:extLst>
              <a:ext uri="{FF2B5EF4-FFF2-40B4-BE49-F238E27FC236}">
                <a16:creationId xmlns:a16="http://schemas.microsoft.com/office/drawing/2014/main" id="{997EAB85-E226-751A-24EC-6051644B6D5D}"/>
              </a:ext>
            </a:extLst>
          </p:cNvPr>
          <p:cNvSpPr>
            <a:spLocks noGrp="1"/>
          </p:cNvSpPr>
          <p:nvPr/>
        </p:nvSpPr>
        <p:spPr>
          <a:xfrm>
            <a:off x="7275513" y="3458432"/>
            <a:ext cx="21907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sz="1125" b="0" i="0" u="none" strike="noStrike" kern="1200" cap="none" spc="0" normalizeH="0" baseline="0" noProof="0" dirty="0">
                <a:ln>
                  <a:noFill/>
                </a:ln>
                <a:solidFill>
                  <a:srgbClr val="607589"/>
                </a:solidFill>
                <a:effectLst/>
                <a:uLnTx/>
                <a:uFillTx/>
                <a:latin typeface="Arial"/>
                <a:ea typeface="+mn-ea"/>
                <a:cs typeface="+mn-cs"/>
              </a:rPr>
              <a:t>ARPA-E</a:t>
            </a:r>
            <a:r>
              <a:rPr kumimoji="0" lang="en-US" sz="1125" b="0" i="0" u="none" strike="noStrike" kern="1200" cap="none" spc="0" normalizeH="0" baseline="0" noProof="0" dirty="0">
                <a:ln>
                  <a:noFill/>
                </a:ln>
                <a:solidFill>
                  <a:srgbClr val="607589"/>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lang="en-US" sz="1125" b="0" i="0" u="none" strike="noStrike" kern="1200" cap="none" spc="0" normalizeH="0" baseline="0" noProof="0" dirty="0">
                <a:ln>
                  <a:noFill/>
                </a:ln>
                <a:solidFill>
                  <a:srgbClr val="607589"/>
                </a:solidFill>
                <a:effectLst/>
                <a:uLnTx/>
                <a:uFillTx/>
                <a:latin typeface="Arial"/>
                <a:ea typeface="+mn-ea"/>
                <a:cs typeface="+mn-cs"/>
              </a:rPr>
              <a:t>Redispatch2.0, CINEA</a:t>
            </a:r>
          </a:p>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lang="en-US" sz="1125" b="0" i="0" u="none" strike="noStrike" kern="1200" cap="none" spc="0" normalizeH="0" baseline="0" noProof="0" dirty="0">
                <a:ln>
                  <a:noFill/>
                </a:ln>
                <a:solidFill>
                  <a:srgbClr val="607589"/>
                </a:solidFill>
                <a:effectLst/>
                <a:uLnTx/>
                <a:uFillTx/>
                <a:latin typeface="Arial"/>
                <a:ea typeface="+mn-ea"/>
                <a:cs typeface="+mn-cs"/>
              </a:rPr>
              <a:t>Horizon Europe </a:t>
            </a:r>
            <a:endParaRPr kumimoji="0" sz="1125" b="0" i="0" u="none" strike="noStrike" kern="1200" cap="none" spc="0" normalizeH="0" baseline="0" noProof="0" dirty="0">
              <a:ln>
                <a:noFill/>
              </a:ln>
              <a:solidFill>
                <a:srgbClr val="607589"/>
              </a:solidFill>
              <a:effectLst/>
              <a:uLnTx/>
              <a:uFillTx/>
              <a:latin typeface="Arial"/>
              <a:ea typeface="+mn-ea"/>
              <a:cs typeface="+mn-cs"/>
            </a:endParaRPr>
          </a:p>
        </p:txBody>
      </p:sp>
      <p:sp>
        <p:nvSpPr>
          <p:cNvPr id="50" name="Rounded Rectangle 49">
            <a:extLst>
              <a:ext uri="{FF2B5EF4-FFF2-40B4-BE49-F238E27FC236}">
                <a16:creationId xmlns:a16="http://schemas.microsoft.com/office/drawing/2014/main" id="{01962311-2207-C600-81FA-C8C090C43FD3}"/>
              </a:ext>
            </a:extLst>
          </p:cNvPr>
          <p:cNvSpPr>
            <a:spLocks noGrp="1"/>
          </p:cNvSpPr>
          <p:nvPr/>
        </p:nvSpPr>
        <p:spPr>
          <a:xfrm>
            <a:off x="8751888" y="2177910"/>
            <a:ext cx="571500" cy="38100"/>
          </a:xfrm>
          <a:prstGeom prst="roundRect">
            <a:avLst>
              <a:gd name="adj" fmla="val 50000"/>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1" name="Triangle 50">
            <a:extLst>
              <a:ext uri="{FF2B5EF4-FFF2-40B4-BE49-F238E27FC236}">
                <a16:creationId xmlns:a16="http://schemas.microsoft.com/office/drawing/2014/main" id="{FEF1EAD6-7E14-4706-6DE6-1F877D3D987B}"/>
              </a:ext>
            </a:extLst>
          </p:cNvPr>
          <p:cNvSpPr>
            <a:spLocks noGrp="1"/>
          </p:cNvSpPr>
          <p:nvPr/>
        </p:nvSpPr>
        <p:spPr>
          <a:xfrm rot="5400000">
            <a:off x="9247188" y="2111235"/>
            <a:ext cx="171450" cy="171450"/>
          </a:xfrm>
          <a:prstGeom prst="triangle">
            <a:avLst/>
          </a:prstGeom>
          <a:solidFill>
            <a:srgbClr val="C9D6DC"/>
          </a:solidFill>
          <a:ln w="0">
            <a:solidFill>
              <a:srgbClr val="C9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2" name="Oval 51">
            <a:extLst>
              <a:ext uri="{FF2B5EF4-FFF2-40B4-BE49-F238E27FC236}">
                <a16:creationId xmlns:a16="http://schemas.microsoft.com/office/drawing/2014/main" id="{7AE6AB67-E6A8-B25A-7CE8-4F3E8375116D}"/>
              </a:ext>
            </a:extLst>
          </p:cNvPr>
          <p:cNvSpPr>
            <a:spLocks noGrp="1"/>
          </p:cNvSpPr>
          <p:nvPr/>
        </p:nvSpPr>
        <p:spPr>
          <a:xfrm>
            <a:off x="10133013" y="1815960"/>
            <a:ext cx="704850" cy="704850"/>
          </a:xfrm>
          <a:prstGeom prst="ellipse">
            <a:avLst/>
          </a:prstGeom>
          <a:solidFill>
            <a:srgbClr val="E8A23B"/>
          </a:solidFill>
          <a:ln w="0">
            <a:solidFill>
              <a:srgbClr val="E8A23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53" name="Rectangle 52">
            <a:extLst>
              <a:ext uri="{FF2B5EF4-FFF2-40B4-BE49-F238E27FC236}">
                <a16:creationId xmlns:a16="http://schemas.microsoft.com/office/drawing/2014/main" id="{24E3F0EC-0955-94E6-D199-09C3900AD3EC}"/>
              </a:ext>
            </a:extLst>
          </p:cNvPr>
          <p:cNvSpPr>
            <a:spLocks noGrp="1"/>
          </p:cNvSpPr>
          <p:nvPr/>
        </p:nvSpPr>
        <p:spPr>
          <a:xfrm>
            <a:off x="10133013" y="1977885"/>
            <a:ext cx="7048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FFFFFF"/>
                </a:solidFill>
              </a:defRPr>
            </a:pPr>
            <a:r>
              <a:rPr kumimoji="0" sz="1800" b="1" i="0" u="none" strike="noStrike" kern="1200" cap="none" spc="0" normalizeH="0" baseline="0" noProof="0">
                <a:ln>
                  <a:noFill/>
                </a:ln>
                <a:solidFill>
                  <a:srgbClr val="FFFFFF"/>
                </a:solidFill>
                <a:effectLst/>
                <a:uLnTx/>
                <a:uFillTx/>
                <a:latin typeface="Arial"/>
                <a:ea typeface="+mn-ea"/>
                <a:cs typeface="+mn-cs"/>
              </a:rPr>
              <a:t>05</a:t>
            </a:r>
          </a:p>
        </p:txBody>
      </p:sp>
      <p:sp>
        <p:nvSpPr>
          <p:cNvPr id="54" name="Rectangle 53">
            <a:extLst>
              <a:ext uri="{FF2B5EF4-FFF2-40B4-BE49-F238E27FC236}">
                <a16:creationId xmlns:a16="http://schemas.microsoft.com/office/drawing/2014/main" id="{B072E345-6610-F20C-7798-EF3F660FAAB0}"/>
              </a:ext>
            </a:extLst>
          </p:cNvPr>
          <p:cNvSpPr>
            <a:spLocks noGrp="1"/>
          </p:cNvSpPr>
          <p:nvPr/>
        </p:nvSpPr>
        <p:spPr>
          <a:xfrm>
            <a:off x="9466263" y="2787510"/>
            <a:ext cx="2038350" cy="5524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350" b="1">
                <a:solidFill>
                  <a:srgbClr val="09233F"/>
                </a:solidFill>
              </a:defRPr>
            </a:pPr>
            <a:r>
              <a:rPr kumimoji="0" sz="1350" b="1" i="0" u="none" strike="noStrike" kern="1200" cap="none" spc="0" normalizeH="0" baseline="0" noProof="0">
                <a:ln>
                  <a:noFill/>
                </a:ln>
                <a:solidFill>
                  <a:srgbClr val="09233F"/>
                </a:solidFill>
                <a:effectLst/>
                <a:uLnTx/>
                <a:uFillTx/>
                <a:latin typeface="Arial"/>
                <a:ea typeface="+mn-ea"/>
                <a:cs typeface="+mn-cs"/>
              </a:rPr>
              <a:t>Future control rooms</a:t>
            </a:r>
          </a:p>
        </p:txBody>
      </p:sp>
      <p:sp>
        <p:nvSpPr>
          <p:cNvPr id="55" name="Rectangle 54">
            <a:extLst>
              <a:ext uri="{FF2B5EF4-FFF2-40B4-BE49-F238E27FC236}">
                <a16:creationId xmlns:a16="http://schemas.microsoft.com/office/drawing/2014/main" id="{EFB897CC-F23B-31DE-537F-3ABB824A4FDD}"/>
              </a:ext>
            </a:extLst>
          </p:cNvPr>
          <p:cNvSpPr>
            <a:spLocks noGrp="1"/>
          </p:cNvSpPr>
          <p:nvPr/>
        </p:nvSpPr>
        <p:spPr>
          <a:xfrm>
            <a:off x="9466263" y="3435210"/>
            <a:ext cx="2038350" cy="361950"/>
          </a:xfrm>
          <a:prstGeom prst="rect">
            <a:avLst/>
          </a:prstGeom>
          <a:noFill/>
          <a:ln w="0">
            <a:noFill/>
            <a:prstDash val="soli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sz="1125" b="0">
                <a:solidFill>
                  <a:srgbClr val="607589"/>
                </a:solidFill>
              </a:defRPr>
            </a:pPr>
            <a:r>
              <a:rPr kumimoji="0" lang="en-US" sz="1125" b="0" i="0" u="none" strike="noStrike" kern="1200" cap="none" spc="0" normalizeH="0" baseline="0" noProof="0" dirty="0">
                <a:ln>
                  <a:noFill/>
                </a:ln>
                <a:solidFill>
                  <a:srgbClr val="607589"/>
                </a:solidFill>
                <a:effectLst/>
                <a:uLnTx/>
                <a:uFillTx/>
                <a:latin typeface="Arial"/>
                <a:ea typeface="+mn-ea"/>
                <a:cs typeface="+mn-cs"/>
              </a:rPr>
              <a:t>Siemens,</a:t>
            </a:r>
            <a:r>
              <a:rPr kumimoji="0" lang="ko-KR" altLang="en-US" sz="1125" b="0" i="0" u="none" strike="noStrike" kern="1200" cap="none" spc="0" normalizeH="0" baseline="0" noProof="0" dirty="0">
                <a:ln>
                  <a:noFill/>
                </a:ln>
                <a:solidFill>
                  <a:srgbClr val="607589"/>
                </a:solidFill>
                <a:effectLst/>
                <a:uLnTx/>
                <a:uFillTx/>
                <a:latin typeface="Arial"/>
                <a:ea typeface="+mn-ea"/>
                <a:cs typeface="+mn-cs"/>
              </a:rPr>
              <a:t> </a:t>
            </a:r>
            <a:r>
              <a:rPr kumimoji="0" lang="en-US" sz="1125" b="0" i="0" u="none" strike="noStrike" kern="1200" cap="none" spc="0" normalizeH="0" baseline="0" noProof="0" dirty="0">
                <a:ln>
                  <a:noFill/>
                </a:ln>
                <a:solidFill>
                  <a:srgbClr val="607589"/>
                </a:solidFill>
                <a:effectLst/>
                <a:uLnTx/>
                <a:uFillTx/>
                <a:latin typeface="Arial"/>
                <a:ea typeface="+mn-ea"/>
                <a:cs typeface="+mn-cs"/>
              </a:rPr>
              <a:t>Hitachi</a:t>
            </a:r>
            <a:r>
              <a:rPr kumimoji="0" lang="en-US" altLang="ko-KR" sz="1125" b="0" i="0" u="none" strike="noStrike" kern="1200" cap="none" spc="0" normalizeH="0" baseline="0" noProof="0" dirty="0">
                <a:ln>
                  <a:noFill/>
                </a:ln>
                <a:solidFill>
                  <a:srgbClr val="607589"/>
                </a:solidFill>
                <a:effectLst/>
                <a:uLnTx/>
                <a:uFillTx/>
                <a:latin typeface="Arial"/>
                <a:ea typeface="+mn-ea"/>
                <a:cs typeface="+mn-cs"/>
              </a:rPr>
              <a:t>,</a:t>
            </a:r>
            <a:r>
              <a:rPr kumimoji="0" lang="en-US" sz="1125" b="0" i="0" u="none" strike="noStrike" kern="1200" cap="none" spc="0" normalizeH="0" baseline="0" noProof="0" dirty="0">
                <a:ln>
                  <a:noFill/>
                </a:ln>
                <a:solidFill>
                  <a:srgbClr val="607589"/>
                </a:solidFill>
                <a:effectLst/>
                <a:uLnTx/>
                <a:uFillTx/>
                <a:latin typeface="Arial"/>
                <a:ea typeface="+mn-ea"/>
                <a:cs typeface="+mn-cs"/>
              </a:rPr>
              <a:t> </a:t>
            </a:r>
            <a:r>
              <a:rPr kumimoji="0" sz="1125" b="0" i="0" u="none" strike="noStrike" kern="1200" cap="none" spc="0" normalizeH="0" baseline="0" noProof="0" dirty="0">
                <a:ln>
                  <a:noFill/>
                </a:ln>
                <a:solidFill>
                  <a:srgbClr val="607589"/>
                </a:solidFill>
                <a:effectLst/>
                <a:uLnTx/>
                <a:uFillTx/>
                <a:latin typeface="Arial"/>
                <a:ea typeface="+mn-ea"/>
                <a:cs typeface="+mn-cs"/>
              </a:rPr>
              <a:t>GE </a:t>
            </a:r>
          </a:p>
        </p:txBody>
      </p:sp>
      <p:pic>
        <p:nvPicPr>
          <p:cNvPr id="56" name="Picture 55">
            <a:extLst>
              <a:ext uri="{FF2B5EF4-FFF2-40B4-BE49-F238E27FC236}">
                <a16:creationId xmlns:a16="http://schemas.microsoft.com/office/drawing/2014/main" id="{1395ACB2-92F2-4644-9D09-BE4961DFC2B1}"/>
              </a:ext>
            </a:extLst>
          </p:cNvPr>
          <p:cNvPicPr>
            <a:picLocks noChangeAspect="1"/>
          </p:cNvPicPr>
          <p:nvPr/>
        </p:nvPicPr>
        <p:blipFill>
          <a:blip r:embed="rId9"/>
          <a:stretch>
            <a:fillRect/>
          </a:stretch>
        </p:blipFill>
        <p:spPr>
          <a:xfrm>
            <a:off x="3092959" y="4151807"/>
            <a:ext cx="1695102" cy="709404"/>
          </a:xfrm>
          <a:prstGeom prst="rect">
            <a:avLst/>
          </a:prstGeom>
        </p:spPr>
      </p:pic>
      <p:pic>
        <p:nvPicPr>
          <p:cNvPr id="57" name="Picture 56">
            <a:extLst>
              <a:ext uri="{FF2B5EF4-FFF2-40B4-BE49-F238E27FC236}">
                <a16:creationId xmlns:a16="http://schemas.microsoft.com/office/drawing/2014/main" id="{A0591B28-031E-5541-3E57-4D19FEF57BB9}"/>
              </a:ext>
            </a:extLst>
          </p:cNvPr>
          <p:cNvPicPr>
            <a:picLocks noChangeAspect="1"/>
          </p:cNvPicPr>
          <p:nvPr/>
        </p:nvPicPr>
        <p:blipFill>
          <a:blip r:embed="rId10"/>
          <a:stretch>
            <a:fillRect/>
          </a:stretch>
        </p:blipFill>
        <p:spPr>
          <a:xfrm>
            <a:off x="703263" y="4085836"/>
            <a:ext cx="1881234" cy="664797"/>
          </a:xfrm>
          <a:prstGeom prst="rect">
            <a:avLst/>
          </a:prstGeom>
        </p:spPr>
      </p:pic>
      <p:pic>
        <p:nvPicPr>
          <p:cNvPr id="58" name="Picture 57">
            <a:extLst>
              <a:ext uri="{FF2B5EF4-FFF2-40B4-BE49-F238E27FC236}">
                <a16:creationId xmlns:a16="http://schemas.microsoft.com/office/drawing/2014/main" id="{BA5856ED-34D1-9F0B-D862-B353A2C2403E}"/>
              </a:ext>
            </a:extLst>
          </p:cNvPr>
          <p:cNvPicPr>
            <a:picLocks noChangeAspect="1"/>
          </p:cNvPicPr>
          <p:nvPr/>
        </p:nvPicPr>
        <p:blipFill>
          <a:blip r:embed="rId11"/>
          <a:stretch>
            <a:fillRect/>
          </a:stretch>
        </p:blipFill>
        <p:spPr>
          <a:xfrm>
            <a:off x="518318" y="5032878"/>
            <a:ext cx="2438619" cy="955675"/>
          </a:xfrm>
          <a:prstGeom prst="rect">
            <a:avLst/>
          </a:prstGeom>
        </p:spPr>
      </p:pic>
      <p:pic>
        <p:nvPicPr>
          <p:cNvPr id="59" name="Picture 58">
            <a:extLst>
              <a:ext uri="{FF2B5EF4-FFF2-40B4-BE49-F238E27FC236}">
                <a16:creationId xmlns:a16="http://schemas.microsoft.com/office/drawing/2014/main" id="{52207C07-78F7-CE4A-555E-FC4E3AF20419}"/>
              </a:ext>
            </a:extLst>
          </p:cNvPr>
          <p:cNvPicPr>
            <a:picLocks noChangeAspect="1"/>
          </p:cNvPicPr>
          <p:nvPr/>
        </p:nvPicPr>
        <p:blipFill>
          <a:blip r:embed="rId12"/>
          <a:stretch>
            <a:fillRect/>
          </a:stretch>
        </p:blipFill>
        <p:spPr>
          <a:xfrm>
            <a:off x="8785149" y="4861560"/>
            <a:ext cx="3313454" cy="654112"/>
          </a:xfrm>
          <a:prstGeom prst="rect">
            <a:avLst/>
          </a:prstGeom>
        </p:spPr>
      </p:pic>
    </p:spTree>
    <p:extLst>
      <p:ext uri="{BB962C8B-B14F-4D97-AF65-F5344CB8AC3E}">
        <p14:creationId xmlns:p14="http://schemas.microsoft.com/office/powerpoint/2010/main" val="10468423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p:bldP spid="37" grpId="0"/>
      <p:bldP spid="38" grpId="0" animBg="1"/>
      <p:bldP spid="40" grpId="0" animBg="1"/>
      <p:bldP spid="41" grpId="0"/>
      <p:bldP spid="42" grpId="0"/>
      <p:bldP spid="43" grpId="0"/>
      <p:bldP spid="44" grpId="0" animBg="1"/>
      <p:bldP spid="46" grpId="0" animBg="1"/>
      <p:bldP spid="47" grpId="0"/>
      <p:bldP spid="48" grpId="0"/>
      <p:bldP spid="49" grpId="0"/>
      <p:bldP spid="50" grpId="0" animBg="1"/>
      <p:bldP spid="52" grpId="0" animBg="1"/>
      <p:bldP spid="53" grpId="0"/>
      <p:bldP spid="54" grpId="0"/>
      <p:bldP spid="5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D7E9-BBAB-0D49-F5FC-66B169FD423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420B386-65DC-A160-C77C-6BDEF8D143D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5B1302B2-1311-E5F4-CF1B-529B6761025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1E6D7708-B42E-6A60-16ED-8BDDDF8194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1F25EECF-A192-DF4F-7D09-8E681F448F73}"/>
              </a:ext>
            </a:extLst>
          </p:cNvPr>
          <p:cNvSpPr>
            <a:spLocks noGrp="1"/>
          </p:cNvSpPr>
          <p:nvPr>
            <p:ph type="title"/>
          </p:nvPr>
        </p:nvSpPr>
        <p:spPr/>
        <p:txBody>
          <a:bodyPr/>
          <a:lstStyle/>
          <a:p>
            <a:r>
              <a:rPr lang="en-US" dirty="0" err="1"/>
              <a:t>Gridsense.ai</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AE07CDD8-246E-FFC3-4E4D-0EF215116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382" y="202132"/>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67A114B-4780-91CA-947F-C8D472CCB80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4098201C-A2AB-1D40-1A0F-360A5EACEA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7" name="Grafik 92">
            <a:extLst>
              <a:ext uri="{FF2B5EF4-FFF2-40B4-BE49-F238E27FC236}">
                <a16:creationId xmlns:a16="http://schemas.microsoft.com/office/drawing/2014/main" id="{9289822E-1969-6D0B-CD56-16D657B3CD92}"/>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pic>
        <p:nvPicPr>
          <p:cNvPr id="8" name="Picture 7">
            <a:extLst>
              <a:ext uri="{FF2B5EF4-FFF2-40B4-BE49-F238E27FC236}">
                <a16:creationId xmlns:a16="http://schemas.microsoft.com/office/drawing/2014/main" id="{63E13B48-CAC1-C4B6-671E-1E11D43E53B8}"/>
              </a:ext>
            </a:extLst>
          </p:cNvPr>
          <p:cNvPicPr>
            <a:picLocks noChangeAspect="1"/>
          </p:cNvPicPr>
          <p:nvPr/>
        </p:nvPicPr>
        <p:blipFill>
          <a:blip r:embed="rId7"/>
          <a:stretch>
            <a:fillRect/>
          </a:stretch>
        </p:blipFill>
        <p:spPr>
          <a:xfrm>
            <a:off x="946370" y="1284314"/>
            <a:ext cx="10535729" cy="5199021"/>
          </a:xfrm>
          <a:prstGeom prst="rect">
            <a:avLst/>
          </a:prstGeom>
        </p:spPr>
      </p:pic>
      <p:sp>
        <p:nvSpPr>
          <p:cNvPr id="5" name="Text Placeholder 7">
            <a:extLst>
              <a:ext uri="{FF2B5EF4-FFF2-40B4-BE49-F238E27FC236}">
                <a16:creationId xmlns:a16="http://schemas.microsoft.com/office/drawing/2014/main" id="{0B35DFCB-FC88-F036-D7D7-96FC2AA0690E}"/>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 Restoration support and Model Context Protocol</a:t>
            </a:r>
          </a:p>
        </p:txBody>
      </p:sp>
    </p:spTree>
    <p:extLst>
      <p:ext uri="{BB962C8B-B14F-4D97-AF65-F5344CB8AC3E}">
        <p14:creationId xmlns:p14="http://schemas.microsoft.com/office/powerpoint/2010/main" val="31594196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057D-84F2-15F1-1752-36D02D51894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2D88A3E-523B-5A23-2158-1CA7016CB9A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5F5C94FA-FAD1-B3E4-A57C-FE910B0ECA3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F73E22BC-C45E-BA25-B70B-E28ECF4D22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292FE987-0EEF-D6B5-0AC2-54476D778352}"/>
              </a:ext>
            </a:extLst>
          </p:cNvPr>
          <p:cNvSpPr>
            <a:spLocks noGrp="1"/>
          </p:cNvSpPr>
          <p:nvPr>
            <p:ph type="title"/>
          </p:nvPr>
        </p:nvSpPr>
        <p:spPr/>
        <p:txBody>
          <a:bodyPr/>
          <a:lstStyle/>
          <a:p>
            <a:r>
              <a:rPr lang="en-US" dirty="0" err="1"/>
              <a:t>Gridsense.ai</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4C701E3B-2044-A043-8930-56AF53C60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382" y="202132"/>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0BFFC67-9F79-75D5-B676-08A403C79BDE}"/>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BAC8150D-A27A-ACE3-70CE-32D34F9CCC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7" name="Grafik 92">
            <a:extLst>
              <a:ext uri="{FF2B5EF4-FFF2-40B4-BE49-F238E27FC236}">
                <a16:creationId xmlns:a16="http://schemas.microsoft.com/office/drawing/2014/main" id="{A5071D4B-70C8-5A37-AAF6-A76CE6F8A52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
        <p:nvSpPr>
          <p:cNvPr id="5" name="Text Placeholder 7">
            <a:extLst>
              <a:ext uri="{FF2B5EF4-FFF2-40B4-BE49-F238E27FC236}">
                <a16:creationId xmlns:a16="http://schemas.microsoft.com/office/drawing/2014/main" id="{3878E29F-F3DC-C783-CA5A-D13964A80A10}"/>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err="1">
                <a:ln>
                  <a:noFill/>
                </a:ln>
                <a:solidFill>
                  <a:srgbClr val="041E42"/>
                </a:solidFill>
                <a:effectLst/>
                <a:uLnTx/>
                <a:uFillTx/>
                <a:latin typeface="Arial"/>
                <a:ea typeface="+mn-ea"/>
                <a:cs typeface="+mn-cs"/>
              </a:rPr>
              <a:t>Simbench</a:t>
            </a:r>
            <a:r>
              <a:rPr kumimoji="0" lang="en-US" sz="1600" b="0" i="0" u="none" strike="noStrike" kern="1200" cap="none" spc="0" normalizeH="0" baseline="0" noProof="0" dirty="0">
                <a:ln>
                  <a:noFill/>
                </a:ln>
                <a:solidFill>
                  <a:srgbClr val="041E42"/>
                </a:solidFill>
                <a:effectLst/>
                <a:uLnTx/>
                <a:uFillTx/>
                <a:latin typeface="Arial"/>
                <a:ea typeface="+mn-ea"/>
                <a:cs typeface="+mn-cs"/>
              </a:rPr>
              <a:t> 94buses 125lines</a:t>
            </a:r>
          </a:p>
        </p:txBody>
      </p:sp>
      <p:pic>
        <p:nvPicPr>
          <p:cNvPr id="6" name="Picture 5">
            <a:extLst>
              <a:ext uri="{FF2B5EF4-FFF2-40B4-BE49-F238E27FC236}">
                <a16:creationId xmlns:a16="http://schemas.microsoft.com/office/drawing/2014/main" id="{C18C35AE-A668-0C8A-5DF3-DBFA7C43F2E3}"/>
              </a:ext>
            </a:extLst>
          </p:cNvPr>
          <p:cNvPicPr>
            <a:picLocks noChangeAspect="1"/>
          </p:cNvPicPr>
          <p:nvPr/>
        </p:nvPicPr>
        <p:blipFill>
          <a:blip r:embed="rId7"/>
          <a:stretch>
            <a:fillRect/>
          </a:stretch>
        </p:blipFill>
        <p:spPr>
          <a:xfrm>
            <a:off x="721686" y="1314742"/>
            <a:ext cx="10545258" cy="5159624"/>
          </a:xfrm>
          <a:prstGeom prst="rect">
            <a:avLst/>
          </a:prstGeom>
        </p:spPr>
      </p:pic>
    </p:spTree>
    <p:extLst>
      <p:ext uri="{BB962C8B-B14F-4D97-AF65-F5344CB8AC3E}">
        <p14:creationId xmlns:p14="http://schemas.microsoft.com/office/powerpoint/2010/main" val="42545367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0B46A-C58B-BAE7-F101-22055A06492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ADC3F77-6CC3-EC65-7889-271C04FB9757}"/>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F832FA1-DCF2-9767-C2CE-CAAA46DDD96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9A62ADBA-C5FA-CE66-2C01-DEBB06AF2A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2F1A85A-D92A-721B-9E92-90A8F257FE23}"/>
              </a:ext>
            </a:extLst>
          </p:cNvPr>
          <p:cNvSpPr>
            <a:spLocks noGrp="1"/>
          </p:cNvSpPr>
          <p:nvPr>
            <p:ph type="title"/>
          </p:nvPr>
        </p:nvSpPr>
        <p:spPr/>
        <p:txBody>
          <a:bodyPr/>
          <a:lstStyle/>
          <a:p>
            <a:r>
              <a:rPr lang="en-US" dirty="0" err="1"/>
              <a:t>Gridsense.ai</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E5D2E218-DF2F-CAD7-214B-C69CEFC9D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9382" y="202132"/>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4A7C07D2-87D0-E930-1AF6-2F6F24019D79}"/>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7AA674D3-AD73-665D-656D-1E5C2BC707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7" name="Grafik 92">
            <a:extLst>
              <a:ext uri="{FF2B5EF4-FFF2-40B4-BE49-F238E27FC236}">
                <a16:creationId xmlns:a16="http://schemas.microsoft.com/office/drawing/2014/main" id="{47350B8F-874D-9B2A-2DFB-C49348653151}"/>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
        <p:nvSpPr>
          <p:cNvPr id="5" name="Text Placeholder 7">
            <a:extLst>
              <a:ext uri="{FF2B5EF4-FFF2-40B4-BE49-F238E27FC236}">
                <a16:creationId xmlns:a16="http://schemas.microsoft.com/office/drawing/2014/main" id="{D4C5FB6E-5982-E043-39CB-87EE57D3D5F1}"/>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err="1">
                <a:ln>
                  <a:noFill/>
                </a:ln>
                <a:solidFill>
                  <a:srgbClr val="041E42"/>
                </a:solidFill>
                <a:effectLst/>
                <a:uLnTx/>
                <a:uFillTx/>
                <a:latin typeface="Arial"/>
                <a:ea typeface="+mn-ea"/>
                <a:cs typeface="+mn-cs"/>
              </a:rPr>
              <a:t>Simbench</a:t>
            </a:r>
            <a:r>
              <a:rPr kumimoji="0" lang="en-US" sz="1600" b="0" i="0" u="none" strike="noStrike" kern="1200" cap="none" spc="0" normalizeH="0" baseline="0" noProof="0" dirty="0">
                <a:ln>
                  <a:noFill/>
                </a:ln>
                <a:solidFill>
                  <a:srgbClr val="041E42"/>
                </a:solidFill>
                <a:effectLst/>
                <a:uLnTx/>
                <a:uFillTx/>
                <a:latin typeface="Arial"/>
                <a:ea typeface="+mn-ea"/>
                <a:cs typeface="+mn-cs"/>
              </a:rPr>
              <a:t> 94buses 125lines</a:t>
            </a:r>
          </a:p>
        </p:txBody>
      </p:sp>
      <p:pic>
        <p:nvPicPr>
          <p:cNvPr id="8" name="Picture 7">
            <a:extLst>
              <a:ext uri="{FF2B5EF4-FFF2-40B4-BE49-F238E27FC236}">
                <a16:creationId xmlns:a16="http://schemas.microsoft.com/office/drawing/2014/main" id="{491320E1-E67B-D273-A6B2-4A27D382C4E0}"/>
              </a:ext>
            </a:extLst>
          </p:cNvPr>
          <p:cNvPicPr>
            <a:picLocks noChangeAspect="1"/>
          </p:cNvPicPr>
          <p:nvPr/>
        </p:nvPicPr>
        <p:blipFill>
          <a:blip r:embed="rId7"/>
          <a:stretch>
            <a:fillRect/>
          </a:stretch>
        </p:blipFill>
        <p:spPr>
          <a:xfrm>
            <a:off x="731991" y="1326801"/>
            <a:ext cx="10764377" cy="5114907"/>
          </a:xfrm>
          <a:prstGeom prst="rect">
            <a:avLst/>
          </a:prstGeom>
        </p:spPr>
      </p:pic>
    </p:spTree>
    <p:extLst>
      <p:ext uri="{BB962C8B-B14F-4D97-AF65-F5344CB8AC3E}">
        <p14:creationId xmlns:p14="http://schemas.microsoft.com/office/powerpoint/2010/main" val="36043449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8052C-0BEB-7DB4-8190-11CDF53E4CB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D8C86E2-6D98-41CD-6E0E-0F20D1B1174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0EB79DB-259B-5FE4-5058-BDFC23F270B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E89214DD-F6D6-F19F-0249-EB0AB5B8845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6039963B-0CB6-8EE6-207B-FA4348C35E15}"/>
              </a:ext>
            </a:extLst>
          </p:cNvPr>
          <p:cNvSpPr>
            <a:spLocks noGrp="1"/>
          </p:cNvSpPr>
          <p:nvPr>
            <p:ph type="title"/>
          </p:nvPr>
        </p:nvSpPr>
        <p:spPr>
          <a:xfrm>
            <a:off x="518318" y="301185"/>
            <a:ext cx="4360830" cy="664797"/>
          </a:xfrm>
        </p:spPr>
        <p:txBody>
          <a:bodyPr/>
          <a:lstStyle/>
          <a:p>
            <a:r>
              <a:rPr lang="en-US" dirty="0">
                <a:ea typeface="+mj-lt"/>
                <a:cs typeface="+mj-lt"/>
              </a:rPr>
              <a:t>Graph-based restoration planner</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01FDFE00-6297-0322-F380-727D94DDE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20266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C506B24-9564-958A-E48E-691314A95559}"/>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22400469-1BC1-5BFA-CDFE-7ED8BCFC45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6" name="TextBox 5">
            <a:extLst>
              <a:ext uri="{FF2B5EF4-FFF2-40B4-BE49-F238E27FC236}">
                <a16:creationId xmlns:a16="http://schemas.microsoft.com/office/drawing/2014/main" id="{EAF1391C-3A4F-9161-DD4E-C8DC9EE8E736}"/>
              </a:ext>
            </a:extLst>
          </p:cNvPr>
          <p:cNvSpPr txBox="1"/>
          <p:nvPr/>
        </p:nvSpPr>
        <p:spPr>
          <a:xfrm>
            <a:off x="614109" y="1379111"/>
            <a:ext cx="10963781"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1️⃣ </a:t>
            </a:r>
            <a:r>
              <a:rPr kumimoji="0" lang="en-US" sz="1800" b="1" i="0" u="none" strike="noStrike" kern="1200" cap="none" spc="0" normalizeH="0" baseline="0" noProof="0" dirty="0">
                <a:ln>
                  <a:noFill/>
                </a:ln>
                <a:solidFill>
                  <a:srgbClr val="000000"/>
                </a:solidFill>
                <a:effectLst/>
                <a:uLnTx/>
                <a:uFillTx/>
                <a:latin typeface="Arial"/>
                <a:ea typeface="+mn-ea"/>
                <a:cs typeface="+mn-cs"/>
              </a:rPr>
              <a:t>Detect energized vs de-energized areas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2️⃣ </a:t>
            </a:r>
            <a:r>
              <a:rPr kumimoji="0" lang="en-US" sz="1800" b="1" i="0" u="none" strike="noStrike" kern="1200" cap="none" spc="0" normalizeH="0" baseline="0" noProof="0" dirty="0">
                <a:ln>
                  <a:noFill/>
                </a:ln>
                <a:solidFill>
                  <a:srgbClr val="000000"/>
                </a:solidFill>
                <a:effectLst/>
                <a:uLnTx/>
                <a:uFillTx/>
                <a:latin typeface="Arial"/>
                <a:ea typeface="+mn-ea"/>
                <a:cs typeface="+mn-cs"/>
              </a:rPr>
              <a:t>Search candidate energization/restoration paths on a weighted network</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3️⃣ </a:t>
            </a:r>
            <a:r>
              <a:rPr kumimoji="0" lang="en-US" sz="1800" b="1" i="0" u="none" strike="noStrike" kern="1200" cap="none" spc="0" normalizeH="0" baseline="0" noProof="0" dirty="0">
                <a:ln>
                  <a:noFill/>
                </a:ln>
                <a:solidFill>
                  <a:srgbClr val="000000"/>
                </a:solidFill>
                <a:effectLst/>
                <a:uLnTx/>
                <a:uFillTx/>
                <a:latin typeface="Arial"/>
                <a:ea typeface="+mn-ea"/>
                <a:cs typeface="+mn-cs"/>
              </a:rPr>
              <a:t>rank alternative path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4️⃣ Identify equipment that must be reclosed/reconnected</a:t>
            </a:r>
          </a:p>
        </p:txBody>
      </p:sp>
      <p:sp>
        <p:nvSpPr>
          <p:cNvPr id="9" name="TextBox 8">
            <a:extLst>
              <a:ext uri="{FF2B5EF4-FFF2-40B4-BE49-F238E27FC236}">
                <a16:creationId xmlns:a16="http://schemas.microsoft.com/office/drawing/2014/main" id="{8CC05347-A54A-638A-AEDC-2959DDAE11AE}"/>
              </a:ext>
            </a:extLst>
          </p:cNvPr>
          <p:cNvSpPr txBox="1"/>
          <p:nvPr/>
        </p:nvSpPr>
        <p:spPr>
          <a:xfrm>
            <a:off x="614109" y="2861642"/>
            <a:ext cx="10867990" cy="215956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9CFF"/>
                </a:solidFill>
                <a:effectLst/>
                <a:uLnTx/>
                <a:uFillTx/>
                <a:latin typeface="-apple-system"/>
                <a:ea typeface="+mn-ea"/>
                <a:cs typeface="+mn-cs"/>
                <a:hlinkClick r:id="rId6"/>
              </a:rPr>
              <a:t> Goo et al. 2016: “Development of a Sequential Restoration Strategy Based on the Enhanced Dijkstra Algorithm for Korean Power Systems”</a:t>
            </a:r>
            <a:r>
              <a:rPr kumimoji="0" lang="en-US" sz="1800" b="0" i="0" u="none" strike="noStrike" kern="1200" cap="none" spc="0" normalizeH="0" baseline="0" noProof="0" dirty="0">
                <a:ln>
                  <a:noFill/>
                </a:ln>
                <a:solidFill>
                  <a:srgbClr val="0D0D0D"/>
                </a:solidFill>
                <a:effectLst/>
                <a:uLnTx/>
                <a:uFillTx/>
                <a:latin typeface="-apple-system"/>
                <a:ea typeface="+mn-ea"/>
                <a:cs typeface="+mn-cs"/>
              </a:rPr>
              <a:t>. Use an enhanced Dijkstra approach to determine generator start-up and restoration sequence.</a:t>
            </a: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9CFF"/>
                </a:solidFill>
                <a:effectLst/>
                <a:uLnTx/>
                <a:uFillTx/>
                <a:latin typeface="-apple-system"/>
                <a:ea typeface="+mn-ea"/>
                <a:cs typeface="+mn-cs"/>
                <a:hlinkClick r:id="rId7"/>
              </a:rPr>
              <a:t> Nasr et al. 2018: “Power System Restoration Planning Strategy Based on Optimal Energizing Time of Sectionalizing Islands”</a:t>
            </a:r>
            <a:r>
              <a:rPr kumimoji="0" lang="en-US" sz="1800" b="0" i="0" u="none" strike="noStrike" kern="1200" cap="none" spc="0" normalizeH="0" baseline="0" noProof="0" dirty="0">
                <a:ln>
                  <a:noFill/>
                </a:ln>
                <a:solidFill>
                  <a:srgbClr val="0D0D0D"/>
                </a:solidFill>
                <a:effectLst/>
                <a:uLnTx/>
                <a:uFillTx/>
                <a:latin typeface="-apple-system"/>
                <a:ea typeface="+mn-ea"/>
                <a:cs typeface="+mn-cs"/>
              </a:rPr>
              <a:t>. It explicitly uses </a:t>
            </a:r>
            <a:r>
              <a:rPr kumimoji="0" lang="en-US" sz="1800" b="1" i="0" u="none" strike="noStrike" kern="1200" cap="none" spc="0" normalizeH="0" baseline="0" noProof="0" dirty="0">
                <a:ln>
                  <a:noFill/>
                </a:ln>
                <a:solidFill>
                  <a:srgbClr val="0D0D0D"/>
                </a:solidFill>
                <a:effectLst/>
                <a:uLnTx/>
                <a:uFillTx/>
                <a:latin typeface="-apple-system"/>
                <a:ea typeface="+mn-ea"/>
                <a:cs typeface="+mn-cs"/>
              </a:rPr>
              <a:t>k-shortest paths based on Dijkstra’s algorithm</a:t>
            </a:r>
            <a:r>
              <a:rPr kumimoji="0" lang="en-US" sz="1800" b="0" i="0" u="none" strike="noStrike" kern="1200" cap="none" spc="0" normalizeH="0" baseline="0" noProof="0" dirty="0">
                <a:ln>
                  <a:noFill/>
                </a:ln>
                <a:solidFill>
                  <a:srgbClr val="0D0D0D"/>
                </a:solidFill>
                <a:effectLst/>
                <a:uLnTx/>
                <a:uFillTx/>
                <a:latin typeface="-apple-system"/>
                <a:ea typeface="+mn-ea"/>
                <a:cs typeface="+mn-cs"/>
              </a:rPr>
              <a:t> for energizing paths.</a:t>
            </a: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9CFF"/>
                </a:solidFill>
                <a:effectLst/>
                <a:uLnTx/>
                <a:uFillTx/>
                <a:latin typeface="-apple-system"/>
                <a:ea typeface="+mn-ea"/>
                <a:cs typeface="+mn-cs"/>
                <a:hlinkClick r:id="rId8"/>
              </a:rPr>
              <a:t> Quirós-Tortós &amp; Terzija 2013: “A graph theory based new approach for power system restoration”</a:t>
            </a:r>
            <a:r>
              <a:rPr kumimoji="0" lang="en-US" sz="1800" b="0" i="0" u="none" strike="noStrike" kern="1200" cap="none" spc="0" normalizeH="0" baseline="0" noProof="0" dirty="0">
                <a:ln>
                  <a:noFill/>
                </a:ln>
                <a:solidFill>
                  <a:srgbClr val="0D0D0D"/>
                </a:solidFill>
                <a:effectLst/>
                <a:uLnTx/>
                <a:uFillTx/>
                <a:latin typeface="-apple-system"/>
                <a:ea typeface="+mn-ea"/>
                <a:cs typeface="+mn-cs"/>
              </a:rPr>
              <a:t>. It uses graph modeling, sectionalization, and </a:t>
            </a:r>
            <a:r>
              <a:rPr kumimoji="0" lang="en-US" sz="1800" b="1" i="0" u="none" strike="noStrike" kern="1200" cap="none" spc="0" normalizeH="0" baseline="0" noProof="0" dirty="0">
                <a:ln>
                  <a:noFill/>
                </a:ln>
                <a:solidFill>
                  <a:srgbClr val="0D0D0D"/>
                </a:solidFill>
                <a:effectLst/>
                <a:uLnTx/>
                <a:uFillTx/>
                <a:latin typeface="-apple-system"/>
                <a:ea typeface="+mn-ea"/>
                <a:cs typeface="+mn-cs"/>
              </a:rPr>
              <a:t>k-shortest simple paths</a:t>
            </a:r>
            <a:r>
              <a:rPr kumimoji="0" lang="en-US" sz="1800" b="0" i="0" u="none" strike="noStrike" kern="1200" cap="none" spc="0" normalizeH="0" baseline="0" noProof="0" dirty="0">
                <a:ln>
                  <a:noFill/>
                </a:ln>
                <a:solidFill>
                  <a:srgbClr val="0D0D0D"/>
                </a:solidFill>
                <a:effectLst/>
                <a:uLnTx/>
                <a:uFillTx/>
                <a:latin typeface="-apple-system"/>
                <a:ea typeface="+mn-ea"/>
                <a:cs typeface="+mn-cs"/>
              </a:rPr>
              <a:t> from black-start units to non-black-start units and loads.</a:t>
            </a:r>
          </a:p>
        </p:txBody>
      </p:sp>
      <p:sp>
        <p:nvSpPr>
          <p:cNvPr id="10" name="TextBox 9">
            <a:extLst>
              <a:ext uri="{FF2B5EF4-FFF2-40B4-BE49-F238E27FC236}">
                <a16:creationId xmlns:a16="http://schemas.microsoft.com/office/drawing/2014/main" id="{72E4D3EA-173B-C764-2F5F-42B4564341A6}"/>
              </a:ext>
            </a:extLst>
          </p:cNvPr>
          <p:cNvSpPr txBox="1"/>
          <p:nvPr/>
        </p:nvSpPr>
        <p:spPr>
          <a:xfrm>
            <a:off x="614109" y="5409109"/>
            <a:ext cx="10963781"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Detection:</a:t>
            </a:r>
            <a:r>
              <a:rPr kumimoji="0" lang="en-US" sz="1800" b="0" i="0" u="none" strike="noStrike" kern="1200" cap="none" spc="0" normalizeH="0" baseline="0" noProof="0" dirty="0">
                <a:ln>
                  <a:noFill/>
                </a:ln>
                <a:solidFill>
                  <a:prstClr val="black"/>
                </a:solidFill>
                <a:effectLst/>
                <a:uLnTx/>
                <a:uFillTx/>
                <a:latin typeface="Arial"/>
                <a:ea typeface="+mn-ea"/>
                <a:cs typeface="+mn-cs"/>
              </a:rPr>
              <a:t> WCC (weakly connected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Main restoration route search:</a:t>
            </a:r>
            <a:r>
              <a:rPr kumimoji="0" lang="en-US" sz="1800" b="0" i="0" u="none" strike="noStrike" kern="1200" cap="none" spc="0" normalizeH="0" baseline="0" noProof="0" dirty="0">
                <a:ln>
                  <a:noFill/>
                </a:ln>
                <a:solidFill>
                  <a:prstClr val="black"/>
                </a:solidFill>
                <a:effectLst/>
                <a:uLnTx/>
                <a:uFillTx/>
                <a:latin typeface="Arial"/>
                <a:ea typeface="+mn-ea"/>
                <a:cs typeface="+mn-cs"/>
              </a:rPr>
              <a:t> Yen’s K-shortest paths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Generator-to-route prefix:</a:t>
            </a:r>
            <a:r>
              <a:rPr kumimoji="0" lang="en-US" sz="1800" b="0" i="0" u="none" strike="noStrike" kern="1200" cap="none" spc="0" normalizeH="0" baseline="0" noProof="0" dirty="0">
                <a:ln>
                  <a:noFill/>
                </a:ln>
                <a:solidFill>
                  <a:prstClr val="black"/>
                </a:solidFill>
                <a:effectLst/>
                <a:uLnTx/>
                <a:uFillTx/>
                <a:latin typeface="Arial"/>
                <a:ea typeface="+mn-ea"/>
                <a:cs typeface="+mn-cs"/>
              </a:rPr>
              <a:t> Dijkstra</a:t>
            </a:r>
          </a:p>
        </p:txBody>
      </p:sp>
      <p:pic>
        <p:nvPicPr>
          <p:cNvPr id="5" name="Grafik 92">
            <a:extLst>
              <a:ext uri="{FF2B5EF4-FFF2-40B4-BE49-F238E27FC236}">
                <a16:creationId xmlns:a16="http://schemas.microsoft.com/office/drawing/2014/main" id="{BAC949D4-64F0-23DD-71B2-A1E5CE5B8278}"/>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3643" y="568555"/>
            <a:ext cx="810303" cy="332399"/>
          </a:xfrm>
          <a:prstGeom prst="rect">
            <a:avLst/>
          </a:prstGeom>
        </p:spPr>
      </p:pic>
      <p:sp>
        <p:nvSpPr>
          <p:cNvPr id="7" name="TextBox 6">
            <a:extLst>
              <a:ext uri="{FF2B5EF4-FFF2-40B4-BE49-F238E27FC236}">
                <a16:creationId xmlns:a16="http://schemas.microsoft.com/office/drawing/2014/main" id="{E9F723F2-153C-61A3-DCD8-9E7F706D6941}"/>
              </a:ext>
            </a:extLst>
          </p:cNvPr>
          <p:cNvSpPr txBox="1"/>
          <p:nvPr/>
        </p:nvSpPr>
        <p:spPr>
          <a:xfrm>
            <a:off x="393700" y="2540000"/>
            <a:ext cx="65" cy="249812"/>
          </a:xfrm>
          <a:prstGeom prst="rect">
            <a:avLst/>
          </a:prstGeom>
          <a:noFill/>
        </p:spPr>
        <p:txBody>
          <a:bodyPr wrap="none" lIns="0" tIns="0" rIns="0" bIns="0" rtlCol="0">
            <a:spAutoFit/>
          </a:body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270323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35E58-551D-2BB1-8A4D-3C2608CB3AB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834EA902-2B22-0363-7A62-83C24A95D995}"/>
              </a:ext>
            </a:extLst>
          </p:cNvPr>
          <p:cNvSpPr>
            <a:spLocks noGrp="1"/>
          </p:cNvSpPr>
          <p:nvPr>
            <p:ph type="dt" sz="half" idx="10"/>
          </p:nvPr>
        </p:nvSpPr>
        <p:spPr/>
        <p:txBody>
          <a:bodyPr/>
          <a:lstStyle/>
          <a:p>
            <a:fld id="{0389F959-AAFA-471A-B8FB-4CD12773E51D}" type="datetime4">
              <a:rPr lang="de-DE" smtClean="0"/>
              <a:pPr/>
              <a:t>14. Juli 2026</a:t>
            </a:fld>
            <a:endParaRPr lang="de-DE"/>
          </a:p>
        </p:txBody>
      </p:sp>
      <p:sp>
        <p:nvSpPr>
          <p:cNvPr id="3" name="Fußzeilenplatzhalter 2">
            <a:extLst>
              <a:ext uri="{FF2B5EF4-FFF2-40B4-BE49-F238E27FC236}">
                <a16:creationId xmlns:a16="http://schemas.microsoft.com/office/drawing/2014/main" id="{62362675-128F-17E4-0804-64820B73123A}"/>
              </a:ext>
            </a:extLst>
          </p:cNvPr>
          <p:cNvSpPr>
            <a:spLocks noGrp="1"/>
          </p:cNvSpPr>
          <p:nvPr>
            <p:ph type="ftr" sz="quarter" idx="11"/>
          </p:nvPr>
        </p:nvSpPr>
        <p:spPr/>
        <p:txBody>
          <a:bodyPr/>
          <a:lstStyle/>
          <a:p>
            <a:r>
              <a:rPr lang="de-DE"/>
              <a:t>Technische Fakultät</a:t>
            </a:r>
          </a:p>
        </p:txBody>
      </p:sp>
      <p:sp>
        <p:nvSpPr>
          <p:cNvPr id="4" name="Foliennummernplatzhalter 3">
            <a:extLst>
              <a:ext uri="{FF2B5EF4-FFF2-40B4-BE49-F238E27FC236}">
                <a16:creationId xmlns:a16="http://schemas.microsoft.com/office/drawing/2014/main" id="{5C7CB51E-7232-D891-8E70-60BC2D10F005}"/>
              </a:ext>
            </a:extLst>
          </p:cNvPr>
          <p:cNvSpPr>
            <a:spLocks noGrp="1"/>
          </p:cNvSpPr>
          <p:nvPr>
            <p:ph type="sldNum" sz="quarter" idx="12"/>
          </p:nvPr>
        </p:nvSpPr>
        <p:spPr/>
        <p:txBody>
          <a:bodyPr/>
          <a:lstStyle/>
          <a:p>
            <a:fld id="{D949F9DF-37BD-4CD6-BF49-65BA579E1D7A}" type="slidenum">
              <a:rPr lang="de-DE" smtClean="0"/>
              <a:pPr/>
              <a:t>30</a:t>
            </a:fld>
            <a:endParaRPr lang="de-DE"/>
          </a:p>
        </p:txBody>
      </p:sp>
      <p:sp>
        <p:nvSpPr>
          <p:cNvPr id="27" name="Titel 26">
            <a:extLst>
              <a:ext uri="{FF2B5EF4-FFF2-40B4-BE49-F238E27FC236}">
                <a16:creationId xmlns:a16="http://schemas.microsoft.com/office/drawing/2014/main" id="{026D898D-4E08-B53E-CF59-8BC98D70D59C}"/>
              </a:ext>
            </a:extLst>
          </p:cNvPr>
          <p:cNvSpPr>
            <a:spLocks noGrp="1"/>
          </p:cNvSpPr>
          <p:nvPr>
            <p:ph type="title"/>
          </p:nvPr>
        </p:nvSpPr>
        <p:spPr>
          <a:xfrm>
            <a:off x="518318" y="301185"/>
            <a:ext cx="6844385" cy="664797"/>
          </a:xfrm>
        </p:spPr>
        <p:txBody>
          <a:bodyPr/>
          <a:lstStyle/>
          <a:p>
            <a:r>
              <a:rPr lang="en-US"/>
              <a:t>What is MCP</a:t>
            </a:r>
            <a:br>
              <a:rPr lang="en-US"/>
            </a:br>
            <a:r>
              <a:rPr lang="en-US"/>
              <a:t>(Model Context Protocol)</a:t>
            </a:r>
            <a:endParaRPr lang="de-DE"/>
          </a:p>
        </p:txBody>
      </p:sp>
      <p:pic>
        <p:nvPicPr>
          <p:cNvPr id="18" name="Picture 17">
            <a:extLst>
              <a:ext uri="{FF2B5EF4-FFF2-40B4-BE49-F238E27FC236}">
                <a16:creationId xmlns:a16="http://schemas.microsoft.com/office/drawing/2014/main" id="{4979CD2A-1E18-D633-330E-7C7D056127AE}"/>
              </a:ext>
            </a:extLst>
          </p:cNvPr>
          <p:cNvPicPr>
            <a:picLocks noChangeAspect="1"/>
          </p:cNvPicPr>
          <p:nvPr/>
        </p:nvPicPr>
        <p:blipFill>
          <a:blip r:embed="rId3"/>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3BDE4A03-83CE-C90D-72E7-C3AF534226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7" name="TextBox 6">
            <a:extLst>
              <a:ext uri="{FF2B5EF4-FFF2-40B4-BE49-F238E27FC236}">
                <a16:creationId xmlns:a16="http://schemas.microsoft.com/office/drawing/2014/main" id="{4EAB655B-0B9C-19E9-EF20-2666C32A9808}"/>
              </a:ext>
            </a:extLst>
          </p:cNvPr>
          <p:cNvSpPr txBox="1"/>
          <p:nvPr/>
        </p:nvSpPr>
        <p:spPr>
          <a:xfrm>
            <a:off x="518318" y="1545661"/>
            <a:ext cx="6305004" cy="923330"/>
          </a:xfrm>
          <a:prstGeom prst="rect">
            <a:avLst/>
          </a:prstGeom>
          <a:noFill/>
        </p:spPr>
        <p:txBody>
          <a:bodyPr wrap="square" lIns="91440" tIns="45720" rIns="91440" bIns="45720" anchor="t">
            <a:spAutoFit/>
          </a:bodyPr>
          <a:lstStyle/>
          <a:p>
            <a:pPr>
              <a:buNone/>
            </a:pPr>
            <a:r>
              <a:rPr lang="en-US">
                <a:solidFill>
                  <a:srgbClr val="000000"/>
                </a:solidFill>
                <a:effectLst/>
                <a:latin typeface="Arial"/>
                <a:cs typeface="Arial"/>
              </a:rPr>
              <a:t>MCP is like a </a:t>
            </a:r>
            <a:r>
              <a:rPr lang="en-US" b="1">
                <a:solidFill>
                  <a:srgbClr val="000000"/>
                </a:solidFill>
                <a:effectLst/>
                <a:latin typeface="Arial"/>
                <a:cs typeface="Arial"/>
              </a:rPr>
              <a:t>universal translator</a:t>
            </a:r>
            <a:r>
              <a:rPr lang="en-US">
                <a:solidFill>
                  <a:srgbClr val="000000"/>
                </a:solidFill>
                <a:effectLst/>
                <a:latin typeface="Arial"/>
                <a:cs typeface="Arial"/>
              </a:rPr>
              <a:t> that helps </a:t>
            </a:r>
            <a:r>
              <a:rPr lang="en-US">
                <a:solidFill>
                  <a:srgbClr val="000000"/>
                </a:solidFill>
                <a:latin typeface="Arial"/>
                <a:cs typeface="Arial"/>
              </a:rPr>
              <a:t>LLMs</a:t>
            </a:r>
            <a:endParaRPr lang="en-US">
              <a:solidFill>
                <a:srgbClr val="000000"/>
              </a:solidFill>
              <a:effectLst/>
              <a:latin typeface="Arial"/>
              <a:cs typeface="Arial"/>
            </a:endParaRPr>
          </a:p>
          <a:p>
            <a:pPr>
              <a:buNone/>
            </a:pPr>
            <a:r>
              <a:rPr lang="en-US">
                <a:solidFill>
                  <a:srgbClr val="000000"/>
                </a:solidFill>
                <a:effectLst/>
                <a:latin typeface="Arial"/>
                <a:cs typeface="Arial"/>
              </a:rPr>
              <a:t>talk to many external tools and data sources in a standard</a:t>
            </a:r>
          </a:p>
          <a:p>
            <a:r>
              <a:rPr lang="en-US">
                <a:solidFill>
                  <a:srgbClr val="000000"/>
                </a:solidFill>
                <a:effectLst/>
                <a:latin typeface="Arial"/>
                <a:cs typeface="Arial"/>
              </a:rPr>
              <a:t>way: making them more useful, flexible, and trustworthy.</a:t>
            </a:r>
          </a:p>
        </p:txBody>
      </p:sp>
      <p:pic>
        <p:nvPicPr>
          <p:cNvPr id="10" name="Picture 9">
            <a:extLst>
              <a:ext uri="{FF2B5EF4-FFF2-40B4-BE49-F238E27FC236}">
                <a16:creationId xmlns:a16="http://schemas.microsoft.com/office/drawing/2014/main" id="{617D6F7A-B3BA-7417-ED81-DC7554E87F63}"/>
              </a:ext>
            </a:extLst>
          </p:cNvPr>
          <p:cNvPicPr>
            <a:picLocks noChangeAspect="1"/>
          </p:cNvPicPr>
          <p:nvPr/>
        </p:nvPicPr>
        <p:blipFill>
          <a:blip r:embed="rId5"/>
          <a:stretch>
            <a:fillRect/>
          </a:stretch>
        </p:blipFill>
        <p:spPr>
          <a:xfrm>
            <a:off x="695767" y="2600138"/>
            <a:ext cx="4811304" cy="3690742"/>
          </a:xfrm>
          <a:prstGeom prst="rect">
            <a:avLst/>
          </a:prstGeom>
        </p:spPr>
      </p:pic>
      <p:pic>
        <p:nvPicPr>
          <p:cNvPr id="11" name="Picture 10">
            <a:extLst>
              <a:ext uri="{FF2B5EF4-FFF2-40B4-BE49-F238E27FC236}">
                <a16:creationId xmlns:a16="http://schemas.microsoft.com/office/drawing/2014/main" id="{5AC6E67E-6089-26D7-A842-11BE434BDEB4}"/>
              </a:ext>
            </a:extLst>
          </p:cNvPr>
          <p:cNvPicPr>
            <a:picLocks noChangeAspect="1"/>
          </p:cNvPicPr>
          <p:nvPr/>
        </p:nvPicPr>
        <p:blipFill>
          <a:blip r:embed="rId6"/>
          <a:stretch>
            <a:fillRect/>
          </a:stretch>
        </p:blipFill>
        <p:spPr>
          <a:xfrm>
            <a:off x="5744794" y="2501521"/>
            <a:ext cx="6195627" cy="3972845"/>
          </a:xfrm>
          <a:prstGeom prst="rect">
            <a:avLst/>
          </a:prstGeom>
        </p:spPr>
      </p:pic>
      <p:sp>
        <p:nvSpPr>
          <p:cNvPr id="13" name="TextBox 12">
            <a:extLst>
              <a:ext uri="{FF2B5EF4-FFF2-40B4-BE49-F238E27FC236}">
                <a16:creationId xmlns:a16="http://schemas.microsoft.com/office/drawing/2014/main" id="{5DFDFD10-3901-9708-5146-8FBBEE2985D5}"/>
              </a:ext>
            </a:extLst>
          </p:cNvPr>
          <p:cNvSpPr txBox="1"/>
          <p:nvPr/>
        </p:nvSpPr>
        <p:spPr>
          <a:xfrm>
            <a:off x="6051722" y="1438286"/>
            <a:ext cx="6305004" cy="923330"/>
          </a:xfrm>
          <a:prstGeom prst="rect">
            <a:avLst/>
          </a:prstGeom>
          <a:noFill/>
        </p:spPr>
        <p:txBody>
          <a:bodyPr wrap="square">
            <a:spAutoFit/>
          </a:bodyPr>
          <a:lstStyle/>
          <a:p>
            <a:pPr algn="ctr">
              <a:buNone/>
            </a:pPr>
            <a:r>
              <a:rPr lang="en-US" dirty="0">
                <a:solidFill>
                  <a:srgbClr val="000000"/>
                </a:solidFill>
                <a:effectLst/>
                <a:latin typeface="Helvetica" pitchFamily="2" charset="0"/>
              </a:rPr>
              <a:t>Some General Tutorial about MCP</a:t>
            </a:r>
          </a:p>
          <a:p>
            <a:pPr algn="ctr">
              <a:buNone/>
            </a:pPr>
            <a:r>
              <a:rPr lang="en-US" dirty="0" err="1">
                <a:solidFill>
                  <a:srgbClr val="0000FF"/>
                </a:solidFill>
                <a:effectLst/>
                <a:latin typeface="Helvetica" pitchFamily="2" charset="0"/>
              </a:rPr>
              <a:t>modelcontextprotocol.io</a:t>
            </a:r>
            <a:endParaRPr lang="en-US" dirty="0">
              <a:solidFill>
                <a:srgbClr val="0000FF"/>
              </a:solidFill>
              <a:effectLst/>
              <a:latin typeface="Helvetica" pitchFamily="2" charset="0"/>
            </a:endParaRPr>
          </a:p>
          <a:p>
            <a:pPr algn="ctr"/>
            <a:r>
              <a:rPr lang="en-US" dirty="0" err="1">
                <a:solidFill>
                  <a:srgbClr val="0000FF"/>
                </a:solidFill>
                <a:effectLst/>
                <a:latin typeface="Helvetica" pitchFamily="2" charset="0"/>
              </a:rPr>
              <a:t>huggingface.co</a:t>
            </a:r>
            <a:r>
              <a:rPr lang="en-US" dirty="0">
                <a:solidFill>
                  <a:srgbClr val="0000FF"/>
                </a:solidFill>
                <a:effectLst/>
                <a:latin typeface="Helvetica" pitchFamily="2" charset="0"/>
              </a:rPr>
              <a:t>/learn/</a:t>
            </a:r>
            <a:r>
              <a:rPr lang="en-US" dirty="0" err="1">
                <a:solidFill>
                  <a:srgbClr val="0000FF"/>
                </a:solidFill>
                <a:effectLst/>
                <a:latin typeface="Helvetica" pitchFamily="2" charset="0"/>
              </a:rPr>
              <a:t>mcp</a:t>
            </a:r>
            <a:r>
              <a:rPr lang="en-US" dirty="0">
                <a:solidFill>
                  <a:srgbClr val="0000FF"/>
                </a:solidFill>
                <a:effectLst/>
                <a:latin typeface="Helvetica" pitchFamily="2" charset="0"/>
              </a:rPr>
              <a:t>-course</a:t>
            </a:r>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BF48447A-7EF1-0FE0-E2DF-8210ECE464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3945" y="20266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92">
            <a:extLst>
              <a:ext uri="{FF2B5EF4-FFF2-40B4-BE49-F238E27FC236}">
                <a16:creationId xmlns:a16="http://schemas.microsoft.com/office/drawing/2014/main" id="{2E5F4BF9-4135-CA70-18F6-04B5F8DEF761}"/>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3643" y="568555"/>
            <a:ext cx="810303" cy="332399"/>
          </a:xfrm>
          <a:prstGeom prst="rect">
            <a:avLst/>
          </a:prstGeom>
        </p:spPr>
      </p:pic>
    </p:spTree>
    <p:extLst>
      <p:ext uri="{BB962C8B-B14F-4D97-AF65-F5344CB8AC3E}">
        <p14:creationId xmlns:p14="http://schemas.microsoft.com/office/powerpoint/2010/main" val="187604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C836-1C19-CFF6-99E3-38EC7B927F4F}"/>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3DC6DC3-00CD-14DC-DFC3-3F332805387F}"/>
              </a:ext>
            </a:extLst>
          </p:cNvPr>
          <p:cNvSpPr>
            <a:spLocks noGrp="1"/>
          </p:cNvSpPr>
          <p:nvPr>
            <p:ph type="dt" sz="half" idx="10"/>
          </p:nvPr>
        </p:nvSpPr>
        <p:spPr/>
        <p:txBody>
          <a:bodyPr/>
          <a:lstStyle/>
          <a:p>
            <a:fld id="{0389F959-AAFA-471A-B8FB-4CD12773E51D}" type="datetime4">
              <a:rPr lang="de-DE" smtClean="0"/>
              <a:pPr/>
              <a:t>14. Juli 2026</a:t>
            </a:fld>
            <a:endParaRPr lang="de-DE"/>
          </a:p>
        </p:txBody>
      </p:sp>
      <p:sp>
        <p:nvSpPr>
          <p:cNvPr id="4" name="Foliennummernplatzhalter 3">
            <a:extLst>
              <a:ext uri="{FF2B5EF4-FFF2-40B4-BE49-F238E27FC236}">
                <a16:creationId xmlns:a16="http://schemas.microsoft.com/office/drawing/2014/main" id="{E60CF208-7FA0-7839-B929-D6328A26EF55}"/>
              </a:ext>
            </a:extLst>
          </p:cNvPr>
          <p:cNvSpPr>
            <a:spLocks noGrp="1"/>
          </p:cNvSpPr>
          <p:nvPr>
            <p:ph type="sldNum" sz="quarter" idx="12"/>
          </p:nvPr>
        </p:nvSpPr>
        <p:spPr/>
        <p:txBody>
          <a:bodyPr/>
          <a:lstStyle/>
          <a:p>
            <a:fld id="{D949F9DF-37BD-4CD6-BF49-65BA579E1D7A}" type="slidenum">
              <a:rPr lang="de-DE" smtClean="0"/>
              <a:pPr/>
              <a:t>31</a:t>
            </a:fld>
            <a:endParaRPr lang="de-DE"/>
          </a:p>
        </p:txBody>
      </p:sp>
      <p:sp>
        <p:nvSpPr>
          <p:cNvPr id="27" name="Titel 26">
            <a:extLst>
              <a:ext uri="{FF2B5EF4-FFF2-40B4-BE49-F238E27FC236}">
                <a16:creationId xmlns:a16="http://schemas.microsoft.com/office/drawing/2014/main" id="{37D1A1C4-6B51-87D0-B55C-3DD402DB762B}"/>
              </a:ext>
            </a:extLst>
          </p:cNvPr>
          <p:cNvSpPr>
            <a:spLocks noGrp="1"/>
          </p:cNvSpPr>
          <p:nvPr>
            <p:ph type="title"/>
          </p:nvPr>
        </p:nvSpPr>
        <p:spPr/>
        <p:txBody>
          <a:bodyPr/>
          <a:lstStyle/>
          <a:p>
            <a:r>
              <a:rPr lang="en-US" dirty="0"/>
              <a:t>Power Flow surrogate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0224ED73-A5B1-EB09-4AA0-43E922C0B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4357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A82CE19-84DD-128A-7747-C91DA7C80055}"/>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AF51A06D-03F8-6E69-850A-14D6D0CF5E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B98D3C00-B1D3-D7A1-BAE7-E3A2314F1DE1}"/>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r>
              <a:rPr lang="en-US" dirty="0"/>
              <a:t>Power flow with neural network</a:t>
            </a:r>
          </a:p>
        </p:txBody>
      </p:sp>
      <p:pic>
        <p:nvPicPr>
          <p:cNvPr id="6" name="Grafik 92">
            <a:extLst>
              <a:ext uri="{FF2B5EF4-FFF2-40B4-BE49-F238E27FC236}">
                <a16:creationId xmlns:a16="http://schemas.microsoft.com/office/drawing/2014/main" id="{87BC91B2-8369-FF2A-67E0-94D721AE7F00}"/>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pic>
        <p:nvPicPr>
          <p:cNvPr id="7" name="Picture 6">
            <a:extLst>
              <a:ext uri="{FF2B5EF4-FFF2-40B4-BE49-F238E27FC236}">
                <a16:creationId xmlns:a16="http://schemas.microsoft.com/office/drawing/2014/main" id="{90A2FB1C-29B8-025B-09EF-0F6A8EF34F78}"/>
              </a:ext>
            </a:extLst>
          </p:cNvPr>
          <p:cNvPicPr>
            <a:picLocks noChangeAspect="1"/>
          </p:cNvPicPr>
          <p:nvPr/>
        </p:nvPicPr>
        <p:blipFill>
          <a:blip r:embed="rId7"/>
          <a:stretch>
            <a:fillRect/>
          </a:stretch>
        </p:blipFill>
        <p:spPr>
          <a:xfrm>
            <a:off x="215652" y="1341897"/>
            <a:ext cx="11753601" cy="4828505"/>
          </a:xfrm>
          <a:prstGeom prst="rect">
            <a:avLst/>
          </a:prstGeom>
        </p:spPr>
      </p:pic>
      <p:sp>
        <p:nvSpPr>
          <p:cNvPr id="5" name="TextBox 4">
            <a:extLst>
              <a:ext uri="{FF2B5EF4-FFF2-40B4-BE49-F238E27FC236}">
                <a16:creationId xmlns:a16="http://schemas.microsoft.com/office/drawing/2014/main" id="{E65E77F5-F5E5-925E-3B30-E82BA1735814}"/>
              </a:ext>
            </a:extLst>
          </p:cNvPr>
          <p:cNvSpPr txBox="1"/>
          <p:nvPr/>
        </p:nvSpPr>
        <p:spPr>
          <a:xfrm>
            <a:off x="3703320" y="2319383"/>
            <a:ext cx="6309360" cy="369332"/>
          </a:xfrm>
          <a:prstGeom prst="rect">
            <a:avLst/>
          </a:prstGeom>
          <a:noFill/>
        </p:spPr>
        <p:txBody>
          <a:bodyPr wrap="square">
            <a:spAutoFit/>
          </a:bodyPr>
          <a:lstStyle/>
          <a:p>
            <a:r>
              <a:rPr lang="en-US" dirty="0"/>
              <a:t>Run a power flow benchmark with 128 scenarios</a:t>
            </a:r>
          </a:p>
        </p:txBody>
      </p:sp>
    </p:spTree>
    <p:extLst>
      <p:ext uri="{BB962C8B-B14F-4D97-AF65-F5344CB8AC3E}">
        <p14:creationId xmlns:p14="http://schemas.microsoft.com/office/powerpoint/2010/main" val="116749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449B-7FF4-6D26-AA30-713A811D490E}"/>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635F247-421F-4512-9E46-35AB2B37665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90BA2E7-1698-3358-E66B-4D5E3F3F804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dirty="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86CB0C0-C4B6-5850-24A4-E806D08C40C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AF24B0A-C21E-9E91-AF2B-F3DA6705992A}"/>
              </a:ext>
            </a:extLst>
          </p:cNvPr>
          <p:cNvSpPr>
            <a:spLocks noGrp="1"/>
          </p:cNvSpPr>
          <p:nvPr>
            <p:ph type="title"/>
          </p:nvPr>
        </p:nvSpPr>
        <p:spPr/>
        <p:txBody>
          <a:bodyPr/>
          <a:lstStyle/>
          <a:p>
            <a:r>
              <a:rPr lang="en-US" dirty="0"/>
              <a:t>Weather Hazard Score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E2536DEC-C3B3-D5A2-AA1C-C68534F54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4357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C736FB20-C201-5ACF-6742-5597A80825BA}"/>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C4AC5FDB-90C5-349A-CBC1-C7C19540C7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2AE76A3C-4F30-7CF4-5607-22C795353778}"/>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Wind, Ice, Lightning, Flood, </a:t>
            </a:r>
            <a:r>
              <a:rPr kumimoji="0" lang="en-US" sz="1600" b="0" i="0" u="none" strike="noStrike" kern="1200" cap="none" spc="0" normalizeH="0" baseline="0" noProof="0" dirty="0" err="1">
                <a:ln>
                  <a:noFill/>
                </a:ln>
                <a:solidFill>
                  <a:srgbClr val="041E42"/>
                </a:solidFill>
                <a:effectLst/>
                <a:uLnTx/>
                <a:uFillTx/>
                <a:latin typeface="Arial"/>
                <a:ea typeface="+mn-ea"/>
                <a:cs typeface="+mn-cs"/>
              </a:rPr>
              <a:t>Sildfile</a:t>
            </a:r>
            <a:r>
              <a:rPr kumimoji="0" lang="en-US" sz="1600" b="0" i="0" u="none" strike="noStrike" kern="1200" cap="none" spc="0" normalizeH="0" baseline="0" noProof="0" dirty="0">
                <a:ln>
                  <a:noFill/>
                </a:ln>
                <a:solidFill>
                  <a:srgbClr val="041E42"/>
                </a:solidFill>
                <a:effectLst/>
                <a:uLnTx/>
                <a:uFillTx/>
                <a:latin typeface="Arial"/>
                <a:ea typeface="+mn-ea"/>
                <a:cs typeface="+mn-cs"/>
              </a:rPr>
              <a:t>, Thermal</a:t>
            </a:r>
          </a:p>
        </p:txBody>
      </p:sp>
      <p:pic>
        <p:nvPicPr>
          <p:cNvPr id="6" name="Grafik 92">
            <a:extLst>
              <a:ext uri="{FF2B5EF4-FFF2-40B4-BE49-F238E27FC236}">
                <a16:creationId xmlns:a16="http://schemas.microsoft.com/office/drawing/2014/main" id="{D1B2D299-F54D-94A9-C993-F759550DF531}"/>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
        <p:nvSpPr>
          <p:cNvPr id="76" name="Rounded Rectangle 75">
            <a:extLst>
              <a:ext uri="{FF2B5EF4-FFF2-40B4-BE49-F238E27FC236}">
                <a16:creationId xmlns:a16="http://schemas.microsoft.com/office/drawing/2014/main" id="{83EC3AC8-C192-CA74-6EDF-05954161D314}"/>
              </a:ext>
            </a:extLst>
          </p:cNvPr>
          <p:cNvSpPr/>
          <p:nvPr/>
        </p:nvSpPr>
        <p:spPr>
          <a:xfrm>
            <a:off x="637315" y="1456926"/>
            <a:ext cx="2743200"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77" name="Rounded Rectangle 76">
            <a:extLst>
              <a:ext uri="{FF2B5EF4-FFF2-40B4-BE49-F238E27FC236}">
                <a16:creationId xmlns:a16="http://schemas.microsoft.com/office/drawing/2014/main" id="{25E21B0E-19DC-7BC6-1B31-E4A11C06F6A0}"/>
              </a:ext>
            </a:extLst>
          </p:cNvPr>
          <p:cNvSpPr/>
          <p:nvPr/>
        </p:nvSpPr>
        <p:spPr>
          <a:xfrm>
            <a:off x="711015" y="1590039"/>
            <a:ext cx="1655064" cy="31089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Arial"/>
                <a:ea typeface="+mn-ea"/>
                <a:cs typeface="+mn-cs"/>
              </a:rPr>
              <a:t>RAW INPUTS</a:t>
            </a:r>
          </a:p>
        </p:txBody>
      </p:sp>
      <p:sp>
        <p:nvSpPr>
          <p:cNvPr id="78" name="TextBox 77">
            <a:extLst>
              <a:ext uri="{FF2B5EF4-FFF2-40B4-BE49-F238E27FC236}">
                <a16:creationId xmlns:a16="http://schemas.microsoft.com/office/drawing/2014/main" id="{4365F912-5C46-6E3E-7A2E-92E248E6A5E5}"/>
              </a:ext>
            </a:extLst>
          </p:cNvPr>
          <p:cNvSpPr txBox="1"/>
          <p:nvPr/>
        </p:nvSpPr>
        <p:spPr>
          <a:xfrm>
            <a:off x="564163" y="1998837"/>
            <a:ext cx="2706624" cy="584775"/>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7324D"/>
                </a:solidFill>
                <a:effectLst/>
                <a:uLnTx/>
                <a:uFillTx/>
                <a:latin typeface="Arial"/>
                <a:ea typeface="+mn-ea"/>
                <a:cs typeface="+mn-cs"/>
              </a:rPr>
              <a:t>Open-</a:t>
            </a:r>
            <a:r>
              <a:rPr kumimoji="0" sz="1600" b="1" i="0" u="none" strike="noStrike" kern="1200" cap="none" spc="0" normalizeH="0" baseline="0" noProof="0" dirty="0" err="1">
                <a:ln>
                  <a:noFill/>
                </a:ln>
                <a:solidFill>
                  <a:srgbClr val="17324D"/>
                </a:solidFill>
                <a:effectLst/>
                <a:uLnTx/>
                <a:uFillTx/>
                <a:latin typeface="Arial"/>
                <a:ea typeface="+mn-ea"/>
                <a:cs typeface="+mn-cs"/>
              </a:rPr>
              <a:t>Meteo</a:t>
            </a:r>
            <a:r>
              <a:rPr kumimoji="0" sz="1600" b="1" i="0" u="none" strike="noStrike" kern="1200" cap="none" spc="0" normalizeH="0" baseline="0" noProof="0" dirty="0">
                <a:ln>
                  <a:noFill/>
                </a:ln>
                <a:solidFill>
                  <a:srgbClr val="17324D"/>
                </a:solidFill>
                <a:effectLst/>
                <a:uLnTx/>
                <a:uFillTx/>
                <a:latin typeface="Arial"/>
                <a:ea typeface="+mn-ea"/>
                <a:cs typeface="+mn-cs"/>
              </a:rPr>
              <a:t> variables used by the pipeline:</a:t>
            </a:r>
          </a:p>
        </p:txBody>
      </p:sp>
      <p:sp>
        <p:nvSpPr>
          <p:cNvPr id="79" name="Rounded Rectangle 78">
            <a:extLst>
              <a:ext uri="{FF2B5EF4-FFF2-40B4-BE49-F238E27FC236}">
                <a16:creationId xmlns:a16="http://schemas.microsoft.com/office/drawing/2014/main" id="{772CFC51-31DF-BE54-F582-8B2444660823}"/>
              </a:ext>
            </a:extLst>
          </p:cNvPr>
          <p:cNvSpPr/>
          <p:nvPr/>
        </p:nvSpPr>
        <p:spPr>
          <a:xfrm>
            <a:off x="591595" y="2568829"/>
            <a:ext cx="1307592" cy="473438"/>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Temperature</a:t>
            </a:r>
          </a:p>
        </p:txBody>
      </p:sp>
      <p:sp>
        <p:nvSpPr>
          <p:cNvPr id="80" name="Rounded Rectangle 79">
            <a:extLst>
              <a:ext uri="{FF2B5EF4-FFF2-40B4-BE49-F238E27FC236}">
                <a16:creationId xmlns:a16="http://schemas.microsoft.com/office/drawing/2014/main" id="{C8EEC87E-5331-33C9-192C-96793A808854}"/>
              </a:ext>
            </a:extLst>
          </p:cNvPr>
          <p:cNvSpPr/>
          <p:nvPr/>
        </p:nvSpPr>
        <p:spPr>
          <a:xfrm>
            <a:off x="1816891" y="2568829"/>
            <a:ext cx="1307592" cy="47343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Wind speed</a:t>
            </a:r>
          </a:p>
        </p:txBody>
      </p:sp>
      <p:sp>
        <p:nvSpPr>
          <p:cNvPr id="81" name="Rounded Rectangle 80">
            <a:extLst>
              <a:ext uri="{FF2B5EF4-FFF2-40B4-BE49-F238E27FC236}">
                <a16:creationId xmlns:a16="http://schemas.microsoft.com/office/drawing/2014/main" id="{4115CE72-18DC-4CA4-4966-5F30E610EC4A}"/>
              </a:ext>
            </a:extLst>
          </p:cNvPr>
          <p:cNvSpPr/>
          <p:nvPr/>
        </p:nvSpPr>
        <p:spPr>
          <a:xfrm>
            <a:off x="591595" y="3135757"/>
            <a:ext cx="1307592" cy="473438"/>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Wind gusts</a:t>
            </a:r>
          </a:p>
        </p:txBody>
      </p:sp>
      <p:sp>
        <p:nvSpPr>
          <p:cNvPr id="82" name="Rounded Rectangle 81">
            <a:extLst>
              <a:ext uri="{FF2B5EF4-FFF2-40B4-BE49-F238E27FC236}">
                <a16:creationId xmlns:a16="http://schemas.microsoft.com/office/drawing/2014/main" id="{434DB9D8-250B-E845-5EBF-DFE38AA252CF}"/>
              </a:ext>
            </a:extLst>
          </p:cNvPr>
          <p:cNvSpPr/>
          <p:nvPr/>
        </p:nvSpPr>
        <p:spPr>
          <a:xfrm>
            <a:off x="1816891" y="3135757"/>
            <a:ext cx="1307592" cy="473438"/>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Precipitation</a:t>
            </a:r>
          </a:p>
        </p:txBody>
      </p:sp>
      <p:sp>
        <p:nvSpPr>
          <p:cNvPr id="83" name="Rounded Rectangle 82">
            <a:extLst>
              <a:ext uri="{FF2B5EF4-FFF2-40B4-BE49-F238E27FC236}">
                <a16:creationId xmlns:a16="http://schemas.microsoft.com/office/drawing/2014/main" id="{4084905F-B5FB-5831-7DC3-AF47006B92C8}"/>
              </a:ext>
            </a:extLst>
          </p:cNvPr>
          <p:cNvSpPr/>
          <p:nvPr/>
        </p:nvSpPr>
        <p:spPr>
          <a:xfrm>
            <a:off x="591595" y="3702685"/>
            <a:ext cx="1307592" cy="473438"/>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17324D"/>
                </a:solidFill>
                <a:effectLst/>
                <a:uLnTx/>
                <a:uFillTx/>
                <a:latin typeface="Arial"/>
                <a:ea typeface="+mn-ea"/>
                <a:cs typeface="+mn-cs"/>
              </a:rPr>
              <a:t>Snowfall</a:t>
            </a:r>
          </a:p>
        </p:txBody>
      </p:sp>
      <p:sp>
        <p:nvSpPr>
          <p:cNvPr id="84" name="Rounded Rectangle 83">
            <a:extLst>
              <a:ext uri="{FF2B5EF4-FFF2-40B4-BE49-F238E27FC236}">
                <a16:creationId xmlns:a16="http://schemas.microsoft.com/office/drawing/2014/main" id="{BD8236A7-C97A-EB9F-1EDA-791DDAB2B49B}"/>
              </a:ext>
            </a:extLst>
          </p:cNvPr>
          <p:cNvSpPr/>
          <p:nvPr/>
        </p:nvSpPr>
        <p:spPr>
          <a:xfrm>
            <a:off x="1816891" y="3702685"/>
            <a:ext cx="1307592" cy="473438"/>
          </a:xfrm>
          <a:prstGeom prst="roundRect">
            <a:avLst/>
          </a:prstGeom>
          <a:solidFill>
            <a:srgbClr val="E0E9E2"/>
          </a:solidFill>
          <a:ln>
            <a:solidFill>
              <a:srgbClr val="E0E9E2"/>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17324D"/>
                </a:solidFill>
                <a:effectLst/>
                <a:uLnTx/>
                <a:uFillTx/>
                <a:latin typeface="Arial"/>
                <a:ea typeface="+mn-ea"/>
                <a:cs typeface="+mn-cs"/>
              </a:rPr>
              <a:t>Relative humidity</a:t>
            </a:r>
          </a:p>
        </p:txBody>
      </p:sp>
      <p:sp>
        <p:nvSpPr>
          <p:cNvPr id="85" name="Rounded Rectangle 84">
            <a:extLst>
              <a:ext uri="{FF2B5EF4-FFF2-40B4-BE49-F238E27FC236}">
                <a16:creationId xmlns:a16="http://schemas.microsoft.com/office/drawing/2014/main" id="{B8299355-CCA7-B636-979D-8D6E005B433B}"/>
              </a:ext>
            </a:extLst>
          </p:cNvPr>
          <p:cNvSpPr/>
          <p:nvPr/>
        </p:nvSpPr>
        <p:spPr>
          <a:xfrm>
            <a:off x="591595" y="4269613"/>
            <a:ext cx="1307592" cy="473438"/>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CAPE</a:t>
            </a:r>
          </a:p>
        </p:txBody>
      </p:sp>
      <p:sp>
        <p:nvSpPr>
          <p:cNvPr id="86" name="Rounded Rectangle 85">
            <a:extLst>
              <a:ext uri="{FF2B5EF4-FFF2-40B4-BE49-F238E27FC236}">
                <a16:creationId xmlns:a16="http://schemas.microsoft.com/office/drawing/2014/main" id="{326AE2C1-191A-4E60-2B9E-DFF6679A8D8B}"/>
              </a:ext>
            </a:extLst>
          </p:cNvPr>
          <p:cNvSpPr/>
          <p:nvPr/>
        </p:nvSpPr>
        <p:spPr>
          <a:xfrm>
            <a:off x="1816891" y="4269613"/>
            <a:ext cx="1307592" cy="473438"/>
          </a:xfrm>
          <a:prstGeom prst="roundRect">
            <a:avLst/>
          </a:prstGeom>
          <a:solidFill>
            <a:srgbClr val="E0E9E2"/>
          </a:solidFill>
          <a:ln>
            <a:solidFill>
              <a:srgbClr val="E0E9E2"/>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17324D"/>
                </a:solidFill>
                <a:effectLst/>
                <a:uLnTx/>
                <a:uFillTx/>
                <a:latin typeface="Arial"/>
                <a:ea typeface="+mn-ea"/>
                <a:cs typeface="+mn-cs"/>
              </a:rPr>
              <a:t>Soil moisture</a:t>
            </a:r>
          </a:p>
        </p:txBody>
      </p:sp>
      <p:sp>
        <p:nvSpPr>
          <p:cNvPr id="87" name="Rounded Rectangle 86">
            <a:extLst>
              <a:ext uri="{FF2B5EF4-FFF2-40B4-BE49-F238E27FC236}">
                <a16:creationId xmlns:a16="http://schemas.microsoft.com/office/drawing/2014/main" id="{087E89AD-8E72-9434-26D2-3E5880026E87}"/>
              </a:ext>
            </a:extLst>
          </p:cNvPr>
          <p:cNvSpPr/>
          <p:nvPr/>
        </p:nvSpPr>
        <p:spPr>
          <a:xfrm>
            <a:off x="582451" y="4913471"/>
            <a:ext cx="2551176" cy="831878"/>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17324D"/>
                </a:solidFill>
                <a:effectLst/>
                <a:uLnTx/>
                <a:uFillTx/>
                <a:latin typeface="Arial"/>
                <a:ea typeface="+mn-ea"/>
                <a:cs typeface="+mn-cs"/>
              </a:rPr>
              <a:t>Each hazard score is normalized to </a:t>
            </a:r>
            <a:r>
              <a:rPr kumimoji="0" lang="en-US" sz="1500" b="1" i="0" u="none" strike="noStrike" kern="1200" cap="none" spc="0" normalizeH="0" baseline="0" noProof="0" dirty="0">
                <a:ln>
                  <a:noFill/>
                </a:ln>
                <a:solidFill>
                  <a:srgbClr val="17324D"/>
                </a:solidFill>
                <a:effectLst/>
                <a:uLnTx/>
                <a:uFillTx/>
                <a:latin typeface="Arial"/>
                <a:ea typeface="+mn-ea"/>
                <a:cs typeface="+mn-cs"/>
              </a:rPr>
              <a:t>0~1</a:t>
            </a:r>
            <a:r>
              <a:rPr kumimoji="0" sz="1500" b="1" i="0" u="none" strike="noStrike" kern="1200" cap="none" spc="0" normalizeH="0" baseline="0" noProof="0" dirty="0">
                <a:ln>
                  <a:noFill/>
                </a:ln>
                <a:solidFill>
                  <a:srgbClr val="17324D"/>
                </a:solidFill>
                <a:effectLst/>
                <a:uLnTx/>
                <a:uFillTx/>
                <a:latin typeface="Arial"/>
                <a:ea typeface="+mn-ea"/>
                <a:cs typeface="+mn-cs"/>
              </a:rPr>
              <a:t> before aggregation.</a:t>
            </a:r>
          </a:p>
        </p:txBody>
      </p:sp>
      <p:sp>
        <p:nvSpPr>
          <p:cNvPr id="88" name="Rounded Rectangle 87">
            <a:extLst>
              <a:ext uri="{FF2B5EF4-FFF2-40B4-BE49-F238E27FC236}">
                <a16:creationId xmlns:a16="http://schemas.microsoft.com/office/drawing/2014/main" id="{A6EAB53A-F656-4C4A-8325-A637051F1F8E}"/>
              </a:ext>
            </a:extLst>
          </p:cNvPr>
          <p:cNvSpPr/>
          <p:nvPr/>
        </p:nvSpPr>
        <p:spPr>
          <a:xfrm>
            <a:off x="3581683" y="1456926"/>
            <a:ext cx="4645152"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9" name="Rounded Rectangle 88">
            <a:extLst>
              <a:ext uri="{FF2B5EF4-FFF2-40B4-BE49-F238E27FC236}">
                <a16:creationId xmlns:a16="http://schemas.microsoft.com/office/drawing/2014/main" id="{7BCAD89C-C799-6F19-FB1C-F2F67CFEB637}"/>
              </a:ext>
            </a:extLst>
          </p:cNvPr>
          <p:cNvSpPr/>
          <p:nvPr/>
        </p:nvSpPr>
        <p:spPr>
          <a:xfrm>
            <a:off x="3764563" y="1603230"/>
            <a:ext cx="2039684" cy="347472"/>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Arial"/>
                <a:ea typeface="+mn-ea"/>
                <a:cs typeface="+mn-cs"/>
              </a:rPr>
              <a:t>HAZARD SCORES</a:t>
            </a:r>
          </a:p>
        </p:txBody>
      </p:sp>
      <p:sp>
        <p:nvSpPr>
          <p:cNvPr id="90" name="Rounded Rectangle 89">
            <a:extLst>
              <a:ext uri="{FF2B5EF4-FFF2-40B4-BE49-F238E27FC236}">
                <a16:creationId xmlns:a16="http://schemas.microsoft.com/office/drawing/2014/main" id="{71D545EF-8184-8F21-7AD2-BF9BC19C547F}"/>
              </a:ext>
            </a:extLst>
          </p:cNvPr>
          <p:cNvSpPr/>
          <p:nvPr/>
        </p:nvSpPr>
        <p:spPr>
          <a:xfrm>
            <a:off x="3755419" y="2133356"/>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91" name="Rounded Rectangle 90">
            <a:extLst>
              <a:ext uri="{FF2B5EF4-FFF2-40B4-BE49-F238E27FC236}">
                <a16:creationId xmlns:a16="http://schemas.microsoft.com/office/drawing/2014/main" id="{A9B96D57-9F60-80C5-41EF-C2536E257F9E}"/>
              </a:ext>
            </a:extLst>
          </p:cNvPr>
          <p:cNvSpPr/>
          <p:nvPr/>
        </p:nvSpPr>
        <p:spPr>
          <a:xfrm>
            <a:off x="3810283" y="2206508"/>
            <a:ext cx="914400" cy="21945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Wind</a:t>
            </a:r>
          </a:p>
        </p:txBody>
      </p:sp>
      <p:sp>
        <p:nvSpPr>
          <p:cNvPr id="92" name="TextBox 91">
            <a:extLst>
              <a:ext uri="{FF2B5EF4-FFF2-40B4-BE49-F238E27FC236}">
                <a16:creationId xmlns:a16="http://schemas.microsoft.com/office/drawing/2014/main" id="{FA50256F-D64B-9CA1-E7FB-E0C5933A6E21}"/>
              </a:ext>
            </a:extLst>
          </p:cNvPr>
          <p:cNvSpPr txBox="1"/>
          <p:nvPr/>
        </p:nvSpPr>
        <p:spPr>
          <a:xfrm>
            <a:off x="4834411" y="2188220"/>
            <a:ext cx="3127248"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7324D"/>
                </a:solidFill>
                <a:effectLst/>
                <a:uLnTx/>
                <a:uFillTx/>
                <a:latin typeface="Arial"/>
                <a:ea typeface="+mn-ea"/>
                <a:cs typeface="+mn-cs"/>
              </a:rPr>
              <a:t>sigmoid(max(speed, gust))</a:t>
            </a:r>
          </a:p>
        </p:txBody>
      </p:sp>
      <p:sp>
        <p:nvSpPr>
          <p:cNvPr id="93" name="TextBox 92">
            <a:extLst>
              <a:ext uri="{FF2B5EF4-FFF2-40B4-BE49-F238E27FC236}">
                <a16:creationId xmlns:a16="http://schemas.microsoft.com/office/drawing/2014/main" id="{309EF6CF-2BF2-14E5-EA89-6AC19853D05E}"/>
              </a:ext>
            </a:extLst>
          </p:cNvPr>
          <p:cNvSpPr txBox="1"/>
          <p:nvPr/>
        </p:nvSpPr>
        <p:spPr>
          <a:xfrm>
            <a:off x="4834411" y="2517404"/>
            <a:ext cx="3127248" cy="2693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50% at 20 m/s sustained, or 25 m/s gust</a:t>
            </a:r>
          </a:p>
        </p:txBody>
      </p:sp>
      <p:sp>
        <p:nvSpPr>
          <p:cNvPr id="94" name="Rounded Rectangle 93">
            <a:extLst>
              <a:ext uri="{FF2B5EF4-FFF2-40B4-BE49-F238E27FC236}">
                <a16:creationId xmlns:a16="http://schemas.microsoft.com/office/drawing/2014/main" id="{72BB1DAC-4219-CA2F-170D-A315C660B52E}"/>
              </a:ext>
            </a:extLst>
          </p:cNvPr>
          <p:cNvSpPr/>
          <p:nvPr/>
        </p:nvSpPr>
        <p:spPr>
          <a:xfrm>
            <a:off x="3755419" y="2709428"/>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95" name="Rounded Rectangle 94">
            <a:extLst>
              <a:ext uri="{FF2B5EF4-FFF2-40B4-BE49-F238E27FC236}">
                <a16:creationId xmlns:a16="http://schemas.microsoft.com/office/drawing/2014/main" id="{EB3F5DAA-560F-F099-A9CB-6DE6B2806CAE}"/>
              </a:ext>
            </a:extLst>
          </p:cNvPr>
          <p:cNvSpPr/>
          <p:nvPr/>
        </p:nvSpPr>
        <p:spPr>
          <a:xfrm>
            <a:off x="3810283" y="2782580"/>
            <a:ext cx="914400" cy="21945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Ice</a:t>
            </a:r>
          </a:p>
        </p:txBody>
      </p:sp>
      <p:sp>
        <p:nvSpPr>
          <p:cNvPr id="96" name="TextBox 95">
            <a:extLst>
              <a:ext uri="{FF2B5EF4-FFF2-40B4-BE49-F238E27FC236}">
                <a16:creationId xmlns:a16="http://schemas.microsoft.com/office/drawing/2014/main" id="{D94470FD-195E-6241-0521-281ADB7FD465}"/>
              </a:ext>
            </a:extLst>
          </p:cNvPr>
          <p:cNvSpPr txBox="1"/>
          <p:nvPr/>
        </p:nvSpPr>
        <p:spPr>
          <a:xfrm>
            <a:off x="4834411" y="2764292"/>
            <a:ext cx="3127248"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7324D"/>
                </a:solidFill>
                <a:effectLst/>
                <a:uLnTx/>
                <a:uFillTx/>
                <a:latin typeface="Arial"/>
                <a:ea typeface="+mn-ea"/>
                <a:cs typeface="+mn-cs"/>
              </a:rPr>
              <a:t>precip</a:t>
            </a:r>
            <a:r>
              <a:rPr kumimoji="0" sz="1400" b="1" i="0" u="none" strike="noStrike" kern="1200" cap="none" spc="0" normalizeH="0" baseline="0" noProof="0" dirty="0">
                <a:ln>
                  <a:noFill/>
                </a:ln>
                <a:solidFill>
                  <a:srgbClr val="17324D"/>
                </a:solidFill>
                <a:effectLst/>
                <a:uLnTx/>
                <a:uFillTx/>
                <a:latin typeface="Arial"/>
                <a:ea typeface="+mn-ea"/>
                <a:cs typeface="+mn-cs"/>
              </a:rPr>
              <a:t> ramp if -3C &lt;= T &lt;= +2C</a:t>
            </a:r>
          </a:p>
        </p:txBody>
      </p:sp>
      <p:sp>
        <p:nvSpPr>
          <p:cNvPr id="97" name="TextBox 96">
            <a:extLst>
              <a:ext uri="{FF2B5EF4-FFF2-40B4-BE49-F238E27FC236}">
                <a16:creationId xmlns:a16="http://schemas.microsoft.com/office/drawing/2014/main" id="{DE9798FB-E5E4-E25D-02C8-31C9D47CB5DE}"/>
              </a:ext>
            </a:extLst>
          </p:cNvPr>
          <p:cNvSpPr txBox="1"/>
          <p:nvPr/>
        </p:nvSpPr>
        <p:spPr>
          <a:xfrm>
            <a:off x="4834411" y="3057894"/>
            <a:ext cx="3127248" cy="2693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0% below 0.1 mm, 100% from 5 mm</a:t>
            </a:r>
          </a:p>
        </p:txBody>
      </p:sp>
      <p:sp>
        <p:nvSpPr>
          <p:cNvPr id="98" name="Rounded Rectangle 97">
            <a:extLst>
              <a:ext uri="{FF2B5EF4-FFF2-40B4-BE49-F238E27FC236}">
                <a16:creationId xmlns:a16="http://schemas.microsoft.com/office/drawing/2014/main" id="{B61F77BD-8F63-BD7A-30F6-92FA2903E49A}"/>
              </a:ext>
            </a:extLst>
          </p:cNvPr>
          <p:cNvSpPr/>
          <p:nvPr/>
        </p:nvSpPr>
        <p:spPr>
          <a:xfrm>
            <a:off x="3755419" y="3285500"/>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Rounded Rectangle 98">
            <a:extLst>
              <a:ext uri="{FF2B5EF4-FFF2-40B4-BE49-F238E27FC236}">
                <a16:creationId xmlns:a16="http://schemas.microsoft.com/office/drawing/2014/main" id="{08683C69-2A04-4F1E-AF18-C01CDB834B45}"/>
              </a:ext>
            </a:extLst>
          </p:cNvPr>
          <p:cNvSpPr/>
          <p:nvPr/>
        </p:nvSpPr>
        <p:spPr>
          <a:xfrm>
            <a:off x="3810283" y="3358652"/>
            <a:ext cx="914400" cy="219456"/>
          </a:xfrm>
          <a:prstGeom prst="roundRect">
            <a:avLst/>
          </a:prstGeom>
          <a:solidFill>
            <a:srgbClr val="B85C65"/>
          </a:solidFill>
          <a:ln>
            <a:solidFill>
              <a:srgbClr val="B85C65"/>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Lightning</a:t>
            </a:r>
          </a:p>
        </p:txBody>
      </p:sp>
      <p:sp>
        <p:nvSpPr>
          <p:cNvPr id="100" name="TextBox 99">
            <a:extLst>
              <a:ext uri="{FF2B5EF4-FFF2-40B4-BE49-F238E27FC236}">
                <a16:creationId xmlns:a16="http://schemas.microsoft.com/office/drawing/2014/main" id="{07DACC09-58A9-82F0-8A7E-00E47CB28E35}"/>
              </a:ext>
            </a:extLst>
          </p:cNvPr>
          <p:cNvSpPr txBox="1"/>
          <p:nvPr/>
        </p:nvSpPr>
        <p:spPr>
          <a:xfrm>
            <a:off x="4834411" y="3340364"/>
            <a:ext cx="3127248"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7324D"/>
                </a:solidFill>
                <a:effectLst/>
                <a:uLnTx/>
                <a:uFillTx/>
                <a:latin typeface="Arial"/>
                <a:ea typeface="+mn-ea"/>
                <a:cs typeface="+mn-cs"/>
              </a:rPr>
              <a:t>CAPE ramp</a:t>
            </a:r>
          </a:p>
        </p:txBody>
      </p:sp>
      <p:sp>
        <p:nvSpPr>
          <p:cNvPr id="101" name="TextBox 100">
            <a:extLst>
              <a:ext uri="{FF2B5EF4-FFF2-40B4-BE49-F238E27FC236}">
                <a16:creationId xmlns:a16="http://schemas.microsoft.com/office/drawing/2014/main" id="{693192E2-69D0-D3DD-DD73-F89FA8582F6E}"/>
              </a:ext>
            </a:extLst>
          </p:cNvPr>
          <p:cNvSpPr txBox="1"/>
          <p:nvPr/>
        </p:nvSpPr>
        <p:spPr>
          <a:xfrm>
            <a:off x="4838983" y="3646632"/>
            <a:ext cx="3127248" cy="2693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0% below 500 J/kg, 100% from 3,500 J/kg</a:t>
            </a:r>
          </a:p>
        </p:txBody>
      </p:sp>
      <p:sp>
        <p:nvSpPr>
          <p:cNvPr id="102" name="Rounded Rectangle 101">
            <a:extLst>
              <a:ext uri="{FF2B5EF4-FFF2-40B4-BE49-F238E27FC236}">
                <a16:creationId xmlns:a16="http://schemas.microsoft.com/office/drawing/2014/main" id="{64B1172A-22CC-6516-1225-3F47D60B9ECC}"/>
              </a:ext>
            </a:extLst>
          </p:cNvPr>
          <p:cNvSpPr/>
          <p:nvPr/>
        </p:nvSpPr>
        <p:spPr>
          <a:xfrm>
            <a:off x="3755419" y="3861572"/>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03" name="Rounded Rectangle 102">
            <a:extLst>
              <a:ext uri="{FF2B5EF4-FFF2-40B4-BE49-F238E27FC236}">
                <a16:creationId xmlns:a16="http://schemas.microsoft.com/office/drawing/2014/main" id="{C241CA3F-09DC-C515-52D7-AA971F9C8BC4}"/>
              </a:ext>
            </a:extLst>
          </p:cNvPr>
          <p:cNvSpPr/>
          <p:nvPr/>
        </p:nvSpPr>
        <p:spPr>
          <a:xfrm>
            <a:off x="3810283" y="3934724"/>
            <a:ext cx="914400" cy="219456"/>
          </a:xfrm>
          <a:prstGeom prst="round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Flood</a:t>
            </a:r>
          </a:p>
        </p:txBody>
      </p:sp>
      <p:sp>
        <p:nvSpPr>
          <p:cNvPr id="104" name="TextBox 103">
            <a:extLst>
              <a:ext uri="{FF2B5EF4-FFF2-40B4-BE49-F238E27FC236}">
                <a16:creationId xmlns:a16="http://schemas.microsoft.com/office/drawing/2014/main" id="{F5DE49C0-6350-FAC2-053D-B0F7D3FB2726}"/>
              </a:ext>
            </a:extLst>
          </p:cNvPr>
          <p:cNvSpPr txBox="1"/>
          <p:nvPr/>
        </p:nvSpPr>
        <p:spPr>
          <a:xfrm>
            <a:off x="4834411" y="3916436"/>
            <a:ext cx="3127248"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17324D"/>
                </a:solidFill>
                <a:effectLst/>
                <a:uLnTx/>
                <a:uFillTx/>
                <a:latin typeface="Arial"/>
                <a:ea typeface="+mn-ea"/>
                <a:cs typeface="+mn-cs"/>
              </a:rPr>
              <a:t>precipitation ramp</a:t>
            </a:r>
          </a:p>
        </p:txBody>
      </p:sp>
      <p:sp>
        <p:nvSpPr>
          <p:cNvPr id="105" name="TextBox 104">
            <a:extLst>
              <a:ext uri="{FF2B5EF4-FFF2-40B4-BE49-F238E27FC236}">
                <a16:creationId xmlns:a16="http://schemas.microsoft.com/office/drawing/2014/main" id="{7571BFA1-517D-3177-54F1-0382A3B1513B}"/>
              </a:ext>
            </a:extLst>
          </p:cNvPr>
          <p:cNvSpPr txBox="1"/>
          <p:nvPr/>
        </p:nvSpPr>
        <p:spPr>
          <a:xfrm>
            <a:off x="4834411" y="4222817"/>
            <a:ext cx="3127248" cy="2693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0% below 5 mm, 100% from 50 mm</a:t>
            </a:r>
          </a:p>
        </p:txBody>
      </p:sp>
      <p:sp>
        <p:nvSpPr>
          <p:cNvPr id="106" name="Rounded Rectangle 105">
            <a:extLst>
              <a:ext uri="{FF2B5EF4-FFF2-40B4-BE49-F238E27FC236}">
                <a16:creationId xmlns:a16="http://schemas.microsoft.com/office/drawing/2014/main" id="{373F08AF-81FF-4E49-A958-5E53F843398F}"/>
              </a:ext>
            </a:extLst>
          </p:cNvPr>
          <p:cNvSpPr/>
          <p:nvPr/>
        </p:nvSpPr>
        <p:spPr>
          <a:xfrm>
            <a:off x="3755419" y="4437644"/>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07" name="Rounded Rectangle 106">
            <a:extLst>
              <a:ext uri="{FF2B5EF4-FFF2-40B4-BE49-F238E27FC236}">
                <a16:creationId xmlns:a16="http://schemas.microsoft.com/office/drawing/2014/main" id="{C2762FB2-23F1-C9F3-F6D8-2D7EDC4E0E5D}"/>
              </a:ext>
            </a:extLst>
          </p:cNvPr>
          <p:cNvSpPr/>
          <p:nvPr/>
        </p:nvSpPr>
        <p:spPr>
          <a:xfrm>
            <a:off x="3810283" y="4510796"/>
            <a:ext cx="914400" cy="219456"/>
          </a:xfrm>
          <a:prstGeom prst="roundRect">
            <a:avLst/>
          </a:prstGeom>
          <a:solidFill>
            <a:srgbClr val="B85C65"/>
          </a:solidFill>
          <a:ln>
            <a:solidFill>
              <a:srgbClr val="B85C65"/>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Arial"/>
                <a:ea typeface="+mn-ea"/>
                <a:cs typeface="+mn-cs"/>
              </a:rPr>
              <a:t>Wildfire</a:t>
            </a:r>
          </a:p>
        </p:txBody>
      </p:sp>
      <p:sp>
        <p:nvSpPr>
          <p:cNvPr id="108" name="TextBox 107">
            <a:extLst>
              <a:ext uri="{FF2B5EF4-FFF2-40B4-BE49-F238E27FC236}">
                <a16:creationId xmlns:a16="http://schemas.microsoft.com/office/drawing/2014/main" id="{037488A5-E84C-0C9C-8A4E-39050604DC29}"/>
              </a:ext>
            </a:extLst>
          </p:cNvPr>
          <p:cNvSpPr txBox="1"/>
          <p:nvPr/>
        </p:nvSpPr>
        <p:spPr>
          <a:xfrm>
            <a:off x="4834411" y="4492508"/>
            <a:ext cx="3346704"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7324D"/>
                </a:solidFill>
                <a:effectLst/>
                <a:uLnTx/>
                <a:uFillTx/>
                <a:latin typeface="Arial"/>
                <a:ea typeface="+mn-ea"/>
                <a:cs typeface="+mn-cs"/>
              </a:rPr>
              <a:t>geometric mean(hot, dry, windy) x dry-soil penalty</a:t>
            </a:r>
          </a:p>
        </p:txBody>
      </p:sp>
      <p:sp>
        <p:nvSpPr>
          <p:cNvPr id="109" name="TextBox 108">
            <a:extLst>
              <a:ext uri="{FF2B5EF4-FFF2-40B4-BE49-F238E27FC236}">
                <a16:creationId xmlns:a16="http://schemas.microsoft.com/office/drawing/2014/main" id="{9598B93B-3F33-B79E-AB43-2EE94CF6B667}"/>
              </a:ext>
            </a:extLst>
          </p:cNvPr>
          <p:cNvSpPr txBox="1"/>
          <p:nvPr/>
        </p:nvSpPr>
        <p:spPr>
          <a:xfrm>
            <a:off x="4834411" y="4890329"/>
            <a:ext cx="3127248" cy="44627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temp sigmoid at 30C, wind sigmoid at 8 m/s, low RH, dry soil</a:t>
            </a:r>
          </a:p>
        </p:txBody>
      </p:sp>
      <p:sp>
        <p:nvSpPr>
          <p:cNvPr id="110" name="Rounded Rectangle 109">
            <a:extLst>
              <a:ext uri="{FF2B5EF4-FFF2-40B4-BE49-F238E27FC236}">
                <a16:creationId xmlns:a16="http://schemas.microsoft.com/office/drawing/2014/main" id="{6D67B84F-5D7D-FA6D-47D6-C3476547E808}"/>
              </a:ext>
            </a:extLst>
          </p:cNvPr>
          <p:cNvSpPr/>
          <p:nvPr/>
        </p:nvSpPr>
        <p:spPr>
          <a:xfrm>
            <a:off x="3801139" y="5279118"/>
            <a:ext cx="4315968" cy="859536"/>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11" name="Rounded Rectangle 110">
            <a:extLst>
              <a:ext uri="{FF2B5EF4-FFF2-40B4-BE49-F238E27FC236}">
                <a16:creationId xmlns:a16="http://schemas.microsoft.com/office/drawing/2014/main" id="{F07DA074-1084-EB09-559B-12A83DEF98CD}"/>
              </a:ext>
            </a:extLst>
          </p:cNvPr>
          <p:cNvSpPr/>
          <p:nvPr/>
        </p:nvSpPr>
        <p:spPr>
          <a:xfrm>
            <a:off x="3865147" y="5316135"/>
            <a:ext cx="914400" cy="219456"/>
          </a:xfrm>
          <a:prstGeom prst="round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mn-cs"/>
              </a:rPr>
              <a:t>Thermal</a:t>
            </a:r>
          </a:p>
        </p:txBody>
      </p:sp>
      <p:sp>
        <p:nvSpPr>
          <p:cNvPr id="112" name="TextBox 111">
            <a:extLst>
              <a:ext uri="{FF2B5EF4-FFF2-40B4-BE49-F238E27FC236}">
                <a16:creationId xmlns:a16="http://schemas.microsoft.com/office/drawing/2014/main" id="{218A9069-5806-D63F-B052-180E2102D53F}"/>
              </a:ext>
            </a:extLst>
          </p:cNvPr>
          <p:cNvSpPr txBox="1"/>
          <p:nvPr/>
        </p:nvSpPr>
        <p:spPr>
          <a:xfrm>
            <a:off x="4834411" y="5288149"/>
            <a:ext cx="3127248" cy="3108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7324D"/>
                </a:solidFill>
                <a:effectLst/>
                <a:uLnTx/>
                <a:uFillTx/>
                <a:latin typeface="Arial"/>
                <a:ea typeface="+mn-ea"/>
                <a:cs typeface="+mn-cs"/>
              </a:rPr>
              <a:t>temperature ramp</a:t>
            </a:r>
          </a:p>
        </p:txBody>
      </p:sp>
      <p:sp>
        <p:nvSpPr>
          <p:cNvPr id="113" name="TextBox 112">
            <a:extLst>
              <a:ext uri="{FF2B5EF4-FFF2-40B4-BE49-F238E27FC236}">
                <a16:creationId xmlns:a16="http://schemas.microsoft.com/office/drawing/2014/main" id="{9075DB9B-8127-A70B-F370-5FC2C815E0B4}"/>
              </a:ext>
            </a:extLst>
          </p:cNvPr>
          <p:cNvSpPr txBox="1"/>
          <p:nvPr/>
        </p:nvSpPr>
        <p:spPr>
          <a:xfrm>
            <a:off x="4834411" y="5525893"/>
            <a:ext cx="3127248" cy="269304"/>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dirty="0">
                <a:ln>
                  <a:noFill/>
                </a:ln>
                <a:solidFill>
                  <a:srgbClr val="4B647A"/>
                </a:solidFill>
                <a:effectLst/>
                <a:uLnTx/>
                <a:uFillTx/>
                <a:latin typeface="Arial"/>
                <a:ea typeface="+mn-ea"/>
                <a:cs typeface="+mn-cs"/>
              </a:rPr>
              <a:t>0% at 30C or below, 100% at 45C or above</a:t>
            </a:r>
          </a:p>
        </p:txBody>
      </p:sp>
      <p:sp>
        <p:nvSpPr>
          <p:cNvPr id="114" name="Rounded Rectangle 113">
            <a:extLst>
              <a:ext uri="{FF2B5EF4-FFF2-40B4-BE49-F238E27FC236}">
                <a16:creationId xmlns:a16="http://schemas.microsoft.com/office/drawing/2014/main" id="{43F37CB2-1E36-0847-464C-906B0DD938BF}"/>
              </a:ext>
            </a:extLst>
          </p:cNvPr>
          <p:cNvSpPr/>
          <p:nvPr/>
        </p:nvSpPr>
        <p:spPr>
          <a:xfrm>
            <a:off x="8409715" y="1456926"/>
            <a:ext cx="3072384" cy="4297680"/>
          </a:xfrm>
          <a:prstGeom prst="roundRect">
            <a:avLst/>
          </a:prstGeom>
          <a:solidFill>
            <a:srgbClr val="DCECEF"/>
          </a:solidFill>
          <a:ln>
            <a:solidFill>
              <a:srgbClr val="DCECE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15" name="Rounded Rectangle 114">
            <a:extLst>
              <a:ext uri="{FF2B5EF4-FFF2-40B4-BE49-F238E27FC236}">
                <a16:creationId xmlns:a16="http://schemas.microsoft.com/office/drawing/2014/main" id="{63A54BF9-5EE6-C211-AE4B-57521B5D799F}"/>
              </a:ext>
            </a:extLst>
          </p:cNvPr>
          <p:cNvSpPr/>
          <p:nvPr/>
        </p:nvSpPr>
        <p:spPr>
          <a:xfrm>
            <a:off x="8592595" y="1603230"/>
            <a:ext cx="1810512" cy="297966"/>
          </a:xfrm>
          <a:prstGeom prst="round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mn-cs"/>
              </a:rPr>
              <a:t>COMPOSITE RISK</a:t>
            </a:r>
          </a:p>
        </p:txBody>
      </p:sp>
      <p:sp>
        <p:nvSpPr>
          <p:cNvPr id="116" name="Rounded Rectangle 115">
            <a:extLst>
              <a:ext uri="{FF2B5EF4-FFF2-40B4-BE49-F238E27FC236}">
                <a16:creationId xmlns:a16="http://schemas.microsoft.com/office/drawing/2014/main" id="{5E5FF255-B18E-C990-4E89-0F51E6F1C762}"/>
              </a:ext>
            </a:extLst>
          </p:cNvPr>
          <p:cNvSpPr/>
          <p:nvPr/>
        </p:nvSpPr>
        <p:spPr>
          <a:xfrm>
            <a:off x="8610883" y="1975301"/>
            <a:ext cx="2656061" cy="1223913"/>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17324D"/>
                </a:solidFill>
                <a:effectLst/>
                <a:uLnTx/>
                <a:uFillTx/>
                <a:latin typeface="Arial"/>
                <a:ea typeface="+mn-ea"/>
                <a:cs typeface="+mn-cs"/>
              </a:rPr>
              <a:t>Composite risk = max(wind, ice, lightning, flood, wildfire, thermal)</a:t>
            </a:r>
          </a:p>
        </p:txBody>
      </p:sp>
      <p:sp>
        <p:nvSpPr>
          <p:cNvPr id="117" name="Rounded Rectangle 116">
            <a:extLst>
              <a:ext uri="{FF2B5EF4-FFF2-40B4-BE49-F238E27FC236}">
                <a16:creationId xmlns:a16="http://schemas.microsoft.com/office/drawing/2014/main" id="{6634E1BA-B183-068F-22AF-17D9AAF36B19}"/>
              </a:ext>
            </a:extLst>
          </p:cNvPr>
          <p:cNvSpPr/>
          <p:nvPr/>
        </p:nvSpPr>
        <p:spPr>
          <a:xfrm>
            <a:off x="8610883" y="3249149"/>
            <a:ext cx="2656061" cy="1069133"/>
          </a:xfrm>
          <a:prstGeom prst="roundRect">
            <a:avLst/>
          </a:prstGeom>
          <a:solidFill>
            <a:srgbClr val="F4E6CF"/>
          </a:solidFill>
          <a:ln>
            <a:solidFill>
              <a:srgbClr val="F4E6CF"/>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17324D"/>
                </a:solidFill>
                <a:effectLst/>
                <a:uLnTx/>
                <a:uFillTx/>
                <a:latin typeface="Arial"/>
                <a:ea typeface="+mn-ea"/>
                <a:cs typeface="+mn-cs"/>
              </a:rPr>
              <a:t>Worst-case reduction: one severe hazard is enough to dominate the final score.</a:t>
            </a:r>
          </a:p>
        </p:txBody>
      </p:sp>
      <p:sp>
        <p:nvSpPr>
          <p:cNvPr id="118" name="Rounded Rectangle 117">
            <a:extLst>
              <a:ext uri="{FF2B5EF4-FFF2-40B4-BE49-F238E27FC236}">
                <a16:creationId xmlns:a16="http://schemas.microsoft.com/office/drawing/2014/main" id="{BF3B6793-9F82-D625-6330-0FD0C73D9204}"/>
              </a:ext>
            </a:extLst>
          </p:cNvPr>
          <p:cNvSpPr/>
          <p:nvPr/>
        </p:nvSpPr>
        <p:spPr>
          <a:xfrm>
            <a:off x="8885203" y="4364718"/>
            <a:ext cx="2084831" cy="914400"/>
          </a:xfrm>
          <a:prstGeom prst="roundRect">
            <a:avLst/>
          </a:prstGeom>
          <a:solidFill>
            <a:srgbClr val="FFFFFF"/>
          </a:solidFill>
          <a:ln>
            <a:solidFill>
              <a:srgbClr val="A9BCC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19" name="Rounded Rectangle 118">
            <a:extLst>
              <a:ext uri="{FF2B5EF4-FFF2-40B4-BE49-F238E27FC236}">
                <a16:creationId xmlns:a16="http://schemas.microsoft.com/office/drawing/2014/main" id="{E47AD39B-F300-1E38-351C-5FBDE52C5BA3}"/>
              </a:ext>
            </a:extLst>
          </p:cNvPr>
          <p:cNvSpPr/>
          <p:nvPr/>
        </p:nvSpPr>
        <p:spPr>
          <a:xfrm>
            <a:off x="903150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0" name="Rectangle 119">
            <a:extLst>
              <a:ext uri="{FF2B5EF4-FFF2-40B4-BE49-F238E27FC236}">
                <a16:creationId xmlns:a16="http://schemas.microsoft.com/office/drawing/2014/main" id="{B5767545-1F2A-9807-D476-2B809C49C4F3}"/>
              </a:ext>
            </a:extLst>
          </p:cNvPr>
          <p:cNvSpPr/>
          <p:nvPr/>
        </p:nvSpPr>
        <p:spPr>
          <a:xfrm>
            <a:off x="9031507" y="4641964"/>
            <a:ext cx="164592" cy="399409"/>
          </a:xfrm>
          <a:prstGeom prst="rect">
            <a:avLst/>
          </a:prstGeom>
          <a:solidFill>
            <a:srgbClr val="C88A2C"/>
          </a:solidFill>
          <a:ln>
            <a:solidFill>
              <a:srgbClr val="C88A2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1" name="TextBox 120">
            <a:extLst>
              <a:ext uri="{FF2B5EF4-FFF2-40B4-BE49-F238E27FC236}">
                <a16:creationId xmlns:a16="http://schemas.microsoft.com/office/drawing/2014/main" id="{C6BFFD62-9E66-F389-8E5D-FFA42FCD7D57}"/>
              </a:ext>
            </a:extLst>
          </p:cNvPr>
          <p:cNvSpPr txBox="1"/>
          <p:nvPr/>
        </p:nvSpPr>
        <p:spPr>
          <a:xfrm>
            <a:off x="900407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W</a:t>
            </a:r>
          </a:p>
        </p:txBody>
      </p:sp>
      <p:sp>
        <p:nvSpPr>
          <p:cNvPr id="122" name="Rounded Rectangle 121">
            <a:extLst>
              <a:ext uri="{FF2B5EF4-FFF2-40B4-BE49-F238E27FC236}">
                <a16:creationId xmlns:a16="http://schemas.microsoft.com/office/drawing/2014/main" id="{046D1D64-BEE2-5435-7D41-EA6C635FD4EE}"/>
              </a:ext>
            </a:extLst>
          </p:cNvPr>
          <p:cNvSpPr/>
          <p:nvPr/>
        </p:nvSpPr>
        <p:spPr>
          <a:xfrm>
            <a:off x="930582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3" name="Rectangle 122">
            <a:extLst>
              <a:ext uri="{FF2B5EF4-FFF2-40B4-BE49-F238E27FC236}">
                <a16:creationId xmlns:a16="http://schemas.microsoft.com/office/drawing/2014/main" id="{838FC061-45E0-9A9C-C758-AEA69D99F671}"/>
              </a:ext>
            </a:extLst>
          </p:cNvPr>
          <p:cNvSpPr/>
          <p:nvPr/>
        </p:nvSpPr>
        <p:spPr>
          <a:xfrm>
            <a:off x="9305827" y="4928719"/>
            <a:ext cx="164592" cy="112654"/>
          </a:xfrm>
          <a:prstGeom prst="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4" name="TextBox 123">
            <a:extLst>
              <a:ext uri="{FF2B5EF4-FFF2-40B4-BE49-F238E27FC236}">
                <a16:creationId xmlns:a16="http://schemas.microsoft.com/office/drawing/2014/main" id="{EE52440C-DCEC-7638-12F9-2CCA11701FF5}"/>
              </a:ext>
            </a:extLst>
          </p:cNvPr>
          <p:cNvSpPr txBox="1"/>
          <p:nvPr/>
        </p:nvSpPr>
        <p:spPr>
          <a:xfrm>
            <a:off x="927839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I</a:t>
            </a:r>
          </a:p>
        </p:txBody>
      </p:sp>
      <p:sp>
        <p:nvSpPr>
          <p:cNvPr id="125" name="Rounded Rectangle 124">
            <a:extLst>
              <a:ext uri="{FF2B5EF4-FFF2-40B4-BE49-F238E27FC236}">
                <a16:creationId xmlns:a16="http://schemas.microsoft.com/office/drawing/2014/main" id="{8870F900-3882-DDD8-D1D0-23346A57D1D4}"/>
              </a:ext>
            </a:extLst>
          </p:cNvPr>
          <p:cNvSpPr/>
          <p:nvPr/>
        </p:nvSpPr>
        <p:spPr>
          <a:xfrm>
            <a:off x="958014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6" name="Rectangle 125">
            <a:extLst>
              <a:ext uri="{FF2B5EF4-FFF2-40B4-BE49-F238E27FC236}">
                <a16:creationId xmlns:a16="http://schemas.microsoft.com/office/drawing/2014/main" id="{6CB55F01-13E9-53A0-D860-6CBD87FAD69E}"/>
              </a:ext>
            </a:extLst>
          </p:cNvPr>
          <p:cNvSpPr/>
          <p:nvPr/>
        </p:nvSpPr>
        <p:spPr>
          <a:xfrm>
            <a:off x="9580147" y="4764859"/>
            <a:ext cx="164592" cy="276514"/>
          </a:xfrm>
          <a:prstGeom prst="rect">
            <a:avLst/>
          </a:prstGeom>
          <a:solidFill>
            <a:srgbClr val="B85C65"/>
          </a:solidFill>
          <a:ln>
            <a:solidFill>
              <a:srgbClr val="B85C6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B5AF371-D27A-E071-9E79-E44D8AE359E7}"/>
              </a:ext>
            </a:extLst>
          </p:cNvPr>
          <p:cNvSpPr txBox="1"/>
          <p:nvPr/>
        </p:nvSpPr>
        <p:spPr>
          <a:xfrm>
            <a:off x="955271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L</a:t>
            </a:r>
          </a:p>
        </p:txBody>
      </p:sp>
      <p:sp>
        <p:nvSpPr>
          <p:cNvPr id="128" name="Rounded Rectangle 127">
            <a:extLst>
              <a:ext uri="{FF2B5EF4-FFF2-40B4-BE49-F238E27FC236}">
                <a16:creationId xmlns:a16="http://schemas.microsoft.com/office/drawing/2014/main" id="{755503CF-1410-44D8-4873-F4AC2FDA601F}"/>
              </a:ext>
            </a:extLst>
          </p:cNvPr>
          <p:cNvSpPr/>
          <p:nvPr/>
        </p:nvSpPr>
        <p:spPr>
          <a:xfrm>
            <a:off x="985446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29" name="Rectangle 128">
            <a:extLst>
              <a:ext uri="{FF2B5EF4-FFF2-40B4-BE49-F238E27FC236}">
                <a16:creationId xmlns:a16="http://schemas.microsoft.com/office/drawing/2014/main" id="{2CA952C1-6530-40CC-B209-B5C6C7CE9539}"/>
              </a:ext>
            </a:extLst>
          </p:cNvPr>
          <p:cNvSpPr/>
          <p:nvPr/>
        </p:nvSpPr>
        <p:spPr>
          <a:xfrm>
            <a:off x="9854467" y="4887754"/>
            <a:ext cx="164592" cy="153619"/>
          </a:xfrm>
          <a:prstGeom prst="rect">
            <a:avLst/>
          </a:prstGeom>
          <a:solidFill>
            <a:srgbClr val="6B8A77"/>
          </a:solidFill>
          <a:ln>
            <a:solidFill>
              <a:srgbClr val="6B8A7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0" name="TextBox 129">
            <a:extLst>
              <a:ext uri="{FF2B5EF4-FFF2-40B4-BE49-F238E27FC236}">
                <a16:creationId xmlns:a16="http://schemas.microsoft.com/office/drawing/2014/main" id="{99676500-45C9-EC05-5DFA-9F95F6C6FFC6}"/>
              </a:ext>
            </a:extLst>
          </p:cNvPr>
          <p:cNvSpPr txBox="1"/>
          <p:nvPr/>
        </p:nvSpPr>
        <p:spPr>
          <a:xfrm>
            <a:off x="982703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F</a:t>
            </a:r>
          </a:p>
        </p:txBody>
      </p:sp>
      <p:sp>
        <p:nvSpPr>
          <p:cNvPr id="131" name="Rounded Rectangle 130">
            <a:extLst>
              <a:ext uri="{FF2B5EF4-FFF2-40B4-BE49-F238E27FC236}">
                <a16:creationId xmlns:a16="http://schemas.microsoft.com/office/drawing/2014/main" id="{F4FBA511-DAAA-22A7-08E8-D3BA5B27381A}"/>
              </a:ext>
            </a:extLst>
          </p:cNvPr>
          <p:cNvSpPr/>
          <p:nvPr/>
        </p:nvSpPr>
        <p:spPr>
          <a:xfrm>
            <a:off x="1012878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2" name="Rectangle 131">
            <a:extLst>
              <a:ext uri="{FF2B5EF4-FFF2-40B4-BE49-F238E27FC236}">
                <a16:creationId xmlns:a16="http://schemas.microsoft.com/office/drawing/2014/main" id="{DD64F975-6F6E-26E6-47F0-2B8A771C640D}"/>
              </a:ext>
            </a:extLst>
          </p:cNvPr>
          <p:cNvSpPr/>
          <p:nvPr/>
        </p:nvSpPr>
        <p:spPr>
          <a:xfrm>
            <a:off x="10128787" y="4580516"/>
            <a:ext cx="164592" cy="460857"/>
          </a:xfrm>
          <a:prstGeom prst="rect">
            <a:avLst/>
          </a:prstGeom>
          <a:solidFill>
            <a:srgbClr val="B85C65"/>
          </a:solidFill>
          <a:ln>
            <a:solidFill>
              <a:srgbClr val="B85C6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3" name="TextBox 132">
            <a:extLst>
              <a:ext uri="{FF2B5EF4-FFF2-40B4-BE49-F238E27FC236}">
                <a16:creationId xmlns:a16="http://schemas.microsoft.com/office/drawing/2014/main" id="{3AB275F3-4F13-CC45-4669-F911B6D61C1A}"/>
              </a:ext>
            </a:extLst>
          </p:cNvPr>
          <p:cNvSpPr txBox="1"/>
          <p:nvPr/>
        </p:nvSpPr>
        <p:spPr>
          <a:xfrm>
            <a:off x="1010135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W</a:t>
            </a:r>
          </a:p>
        </p:txBody>
      </p:sp>
      <p:sp>
        <p:nvSpPr>
          <p:cNvPr id="134" name="Rounded Rectangle 133">
            <a:extLst>
              <a:ext uri="{FF2B5EF4-FFF2-40B4-BE49-F238E27FC236}">
                <a16:creationId xmlns:a16="http://schemas.microsoft.com/office/drawing/2014/main" id="{393FFC88-7816-6015-6261-9D9A48AE7028}"/>
              </a:ext>
            </a:extLst>
          </p:cNvPr>
          <p:cNvSpPr/>
          <p:nvPr/>
        </p:nvSpPr>
        <p:spPr>
          <a:xfrm>
            <a:off x="10403107" y="4529310"/>
            <a:ext cx="164592" cy="512064"/>
          </a:xfrm>
          <a:prstGeom prst="roundRect">
            <a:avLst/>
          </a:prstGeom>
          <a:solidFill>
            <a:srgbClr val="F2E7E4"/>
          </a:solidFill>
          <a:ln>
            <a:solidFill>
              <a:srgbClr val="F2E7E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5" name="Rectangle 134">
            <a:extLst>
              <a:ext uri="{FF2B5EF4-FFF2-40B4-BE49-F238E27FC236}">
                <a16:creationId xmlns:a16="http://schemas.microsoft.com/office/drawing/2014/main" id="{27C4A184-ED8E-BABB-3007-BD8888F5BF42}"/>
              </a:ext>
            </a:extLst>
          </p:cNvPr>
          <p:cNvSpPr/>
          <p:nvPr/>
        </p:nvSpPr>
        <p:spPr>
          <a:xfrm>
            <a:off x="10403107" y="4805824"/>
            <a:ext cx="164592" cy="235549"/>
          </a:xfrm>
          <a:prstGeom prst="rect">
            <a:avLst/>
          </a:prstGeom>
          <a:solidFill>
            <a:srgbClr val="2D6F80"/>
          </a:solidFill>
          <a:ln>
            <a:solidFill>
              <a:srgbClr val="2D6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6" name="TextBox 135">
            <a:extLst>
              <a:ext uri="{FF2B5EF4-FFF2-40B4-BE49-F238E27FC236}">
                <a16:creationId xmlns:a16="http://schemas.microsoft.com/office/drawing/2014/main" id="{F5F957FB-DB11-4B01-FEDA-0808E4177C06}"/>
              </a:ext>
            </a:extLst>
          </p:cNvPr>
          <p:cNvSpPr txBox="1"/>
          <p:nvPr/>
        </p:nvSpPr>
        <p:spPr>
          <a:xfrm>
            <a:off x="10375675" y="5096238"/>
            <a:ext cx="219456" cy="246221"/>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4B647A"/>
                </a:solidFill>
                <a:effectLst/>
                <a:uLnTx/>
                <a:uFillTx/>
                <a:latin typeface="Arial"/>
                <a:ea typeface="+mn-ea"/>
                <a:cs typeface="+mn-cs"/>
              </a:rPr>
              <a:t>T</a:t>
            </a:r>
          </a:p>
        </p:txBody>
      </p:sp>
      <p:sp>
        <p:nvSpPr>
          <p:cNvPr id="137" name="Right Arrow 136">
            <a:extLst>
              <a:ext uri="{FF2B5EF4-FFF2-40B4-BE49-F238E27FC236}">
                <a16:creationId xmlns:a16="http://schemas.microsoft.com/office/drawing/2014/main" id="{CBD0EADE-D869-B624-D3AB-030139AC420D}"/>
              </a:ext>
            </a:extLst>
          </p:cNvPr>
          <p:cNvSpPr/>
          <p:nvPr/>
        </p:nvSpPr>
        <p:spPr>
          <a:xfrm>
            <a:off x="9159523" y="5443710"/>
            <a:ext cx="1536192" cy="256032"/>
          </a:xfrm>
          <a:prstGeom prst="rightArrow">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38" name="Rounded Rectangle 137">
            <a:extLst>
              <a:ext uri="{FF2B5EF4-FFF2-40B4-BE49-F238E27FC236}">
                <a16:creationId xmlns:a16="http://schemas.microsoft.com/office/drawing/2014/main" id="{000BBE8D-4ABC-A94A-C4A4-B3003124983F}"/>
              </a:ext>
            </a:extLst>
          </p:cNvPr>
          <p:cNvSpPr/>
          <p:nvPr/>
        </p:nvSpPr>
        <p:spPr>
          <a:xfrm>
            <a:off x="9580147" y="5343841"/>
            <a:ext cx="676656" cy="457200"/>
          </a:xfrm>
          <a:prstGeom prst="roundRect">
            <a:avLst/>
          </a:prstGeom>
          <a:solidFill>
            <a:srgbClr val="B85C65"/>
          </a:solidFill>
          <a:ln>
            <a:solidFill>
              <a:srgbClr val="B85C65"/>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FFFFFF"/>
                </a:solidFill>
                <a:effectLst/>
                <a:uLnTx/>
                <a:uFillTx/>
                <a:latin typeface="Arial"/>
                <a:ea typeface="+mn-ea"/>
                <a:cs typeface="+mn-cs"/>
              </a:rPr>
              <a:t>max</a:t>
            </a:r>
          </a:p>
        </p:txBody>
      </p:sp>
      <p:sp>
        <p:nvSpPr>
          <p:cNvPr id="139" name="Rounded Rectangle 138">
            <a:extLst>
              <a:ext uri="{FF2B5EF4-FFF2-40B4-BE49-F238E27FC236}">
                <a16:creationId xmlns:a16="http://schemas.microsoft.com/office/drawing/2014/main" id="{47668AF4-E117-99A0-AB51-DD1B2487253F}"/>
              </a:ext>
            </a:extLst>
          </p:cNvPr>
          <p:cNvSpPr/>
          <p:nvPr/>
        </p:nvSpPr>
        <p:spPr>
          <a:xfrm>
            <a:off x="418248" y="6001267"/>
            <a:ext cx="11600404" cy="334336"/>
          </a:xfrm>
          <a:prstGeom prst="roundRect">
            <a:avLst/>
          </a:prstGeom>
          <a:solidFill>
            <a:srgbClr val="17324D"/>
          </a:solidFill>
          <a:ln>
            <a:solidFill>
              <a:srgbClr val="17324D"/>
            </a:solidFill>
          </a:ln>
        </p:spPr>
        <p:style>
          <a:lnRef idx="1">
            <a:schemeClr val="accent1"/>
          </a:lnRef>
          <a:fillRef idx="3">
            <a:schemeClr val="accent1"/>
          </a:fillRef>
          <a:effectRef idx="2">
            <a:schemeClr val="accent1"/>
          </a:effectRef>
          <a:fontRef idx="minor">
            <a:schemeClr val="lt1"/>
          </a:fontRef>
        </p:style>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Raw meteorological variables are transformed into normalized hazard scores, then combined through a worst-case composite risk rule.</a:t>
            </a:r>
          </a:p>
        </p:txBody>
      </p:sp>
      <p:sp>
        <p:nvSpPr>
          <p:cNvPr id="8" name="TextBox 7">
            <a:extLst>
              <a:ext uri="{FF2B5EF4-FFF2-40B4-BE49-F238E27FC236}">
                <a16:creationId xmlns:a16="http://schemas.microsoft.com/office/drawing/2014/main" id="{1672C7D6-3B25-905D-15B9-8B7C07B4CDA8}"/>
              </a:ext>
            </a:extLst>
          </p:cNvPr>
          <p:cNvSpPr txBox="1"/>
          <p:nvPr/>
        </p:nvSpPr>
        <p:spPr>
          <a:xfrm>
            <a:off x="5876827" y="1867853"/>
            <a:ext cx="3127248" cy="276999"/>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B647A"/>
                </a:solidFill>
                <a:effectLst/>
                <a:uLnTx/>
                <a:uFillTx/>
                <a:latin typeface="Arial"/>
                <a:ea typeface="+mn-ea"/>
                <a:cs typeface="+mn-cs"/>
              </a:rPr>
              <a:t>BASED ON IEEE STANDARD [3]</a:t>
            </a:r>
            <a:endParaRPr kumimoji="0" sz="1200" b="1" i="0" u="none" strike="noStrike" kern="1200" cap="none" spc="0" normalizeH="0" baseline="0" noProof="0" dirty="0">
              <a:ln>
                <a:noFill/>
              </a:ln>
              <a:solidFill>
                <a:srgbClr val="4B647A"/>
              </a:solidFill>
              <a:effectLst/>
              <a:uLnTx/>
              <a:uFillTx/>
              <a:latin typeface="Arial"/>
              <a:ea typeface="+mn-ea"/>
              <a:cs typeface="+mn-cs"/>
            </a:endParaRPr>
          </a:p>
        </p:txBody>
      </p:sp>
    </p:spTree>
    <p:extLst>
      <p:ext uri="{BB962C8B-B14F-4D97-AF65-F5344CB8AC3E}">
        <p14:creationId xmlns:p14="http://schemas.microsoft.com/office/powerpoint/2010/main" val="8879348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AB62C-2847-8607-5DC9-18B46ED8131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974AB5C-8EEC-3E05-41F7-F1457EB06B6A}"/>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4" name="Foliennummernplatzhalter 3">
            <a:extLst>
              <a:ext uri="{FF2B5EF4-FFF2-40B4-BE49-F238E27FC236}">
                <a16:creationId xmlns:a16="http://schemas.microsoft.com/office/drawing/2014/main" id="{7194728C-56F0-41C9-7DC7-E4D6AEEFD6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8307E195-A294-B164-56A8-75D84BE688C0}"/>
              </a:ext>
            </a:extLst>
          </p:cNvPr>
          <p:cNvSpPr>
            <a:spLocks noGrp="1"/>
          </p:cNvSpPr>
          <p:nvPr>
            <p:ph type="title"/>
          </p:nvPr>
        </p:nvSpPr>
        <p:spPr/>
        <p:txBody>
          <a:bodyPr/>
          <a:lstStyle/>
          <a:p>
            <a:r>
              <a:rPr lang="en-US" dirty="0"/>
              <a:t>Forecast horizon available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001871D4-2BD9-8CBB-F88D-843A6CB9C3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4357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A87DE3EB-A3AE-9448-C430-A80F1F06DC86}"/>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F3F0891C-BD8F-2808-D154-2EE0806774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61663F0D-8AA6-1F58-D1B7-9355C6CB6549}"/>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Open-</a:t>
            </a:r>
            <a:r>
              <a:rPr kumimoji="0" lang="en-US" sz="1600" b="0" i="0" u="none" strike="noStrike" kern="1200" cap="none" spc="0" normalizeH="0" baseline="0" noProof="0" dirty="0" err="1">
                <a:ln>
                  <a:noFill/>
                </a:ln>
                <a:solidFill>
                  <a:srgbClr val="041E42"/>
                </a:solidFill>
                <a:effectLst/>
                <a:uLnTx/>
                <a:uFillTx/>
                <a:latin typeface="Arial"/>
                <a:ea typeface="+mn-ea"/>
                <a:cs typeface="+mn-cs"/>
              </a:rPr>
              <a:t>Meteo</a:t>
            </a:r>
            <a:r>
              <a:rPr kumimoji="0" lang="en-US" sz="1600" b="0" i="0" u="none" strike="noStrike" kern="1200" cap="none" spc="0" normalizeH="0" baseline="0" noProof="0" dirty="0">
                <a:ln>
                  <a:noFill/>
                </a:ln>
                <a:solidFill>
                  <a:srgbClr val="041E42"/>
                </a:solidFill>
                <a:effectLst/>
                <a:uLnTx/>
                <a:uFillTx/>
                <a:latin typeface="Arial"/>
                <a:ea typeface="+mn-ea"/>
                <a:cs typeface="+mn-cs"/>
              </a:rPr>
              <a:t> support up to 16 days</a:t>
            </a:r>
          </a:p>
        </p:txBody>
      </p:sp>
      <p:pic>
        <p:nvPicPr>
          <p:cNvPr id="6" name="Grafik 92">
            <a:extLst>
              <a:ext uri="{FF2B5EF4-FFF2-40B4-BE49-F238E27FC236}">
                <a16:creationId xmlns:a16="http://schemas.microsoft.com/office/drawing/2014/main" id="{11FE1179-A147-664B-2E8A-068A5C1470A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graphicFrame>
        <p:nvGraphicFramePr>
          <p:cNvPr id="5" name="Table 4">
            <a:extLst>
              <a:ext uri="{FF2B5EF4-FFF2-40B4-BE49-F238E27FC236}">
                <a16:creationId xmlns:a16="http://schemas.microsoft.com/office/drawing/2014/main" id="{BA98FDAE-24E1-60EB-11DA-1ACB9DC46ADC}"/>
              </a:ext>
            </a:extLst>
          </p:cNvPr>
          <p:cNvGraphicFramePr>
            <a:graphicFrameLocks noGrp="1"/>
          </p:cNvGraphicFramePr>
          <p:nvPr/>
        </p:nvGraphicFramePr>
        <p:xfrm>
          <a:off x="1657726" y="1510439"/>
          <a:ext cx="8641422" cy="3494516"/>
        </p:xfrm>
        <a:graphic>
          <a:graphicData uri="http://schemas.openxmlformats.org/drawingml/2006/table">
            <a:tbl>
              <a:tblPr>
                <a:tableStyleId>{5940675A-B579-460E-94D1-54222C63F5DA}</a:tableStyleId>
              </a:tblPr>
              <a:tblGrid>
                <a:gridCol w="4320711">
                  <a:extLst>
                    <a:ext uri="{9D8B030D-6E8A-4147-A177-3AD203B41FA5}">
                      <a16:colId xmlns:a16="http://schemas.microsoft.com/office/drawing/2014/main" val="4228655063"/>
                    </a:ext>
                  </a:extLst>
                </a:gridCol>
                <a:gridCol w="4320711">
                  <a:extLst>
                    <a:ext uri="{9D8B030D-6E8A-4147-A177-3AD203B41FA5}">
                      <a16:colId xmlns:a16="http://schemas.microsoft.com/office/drawing/2014/main" val="631180011"/>
                    </a:ext>
                  </a:extLst>
                </a:gridCol>
              </a:tblGrid>
              <a:tr h="416672">
                <a:tc>
                  <a:txBody>
                    <a:bodyPr/>
                    <a:lstStyle/>
                    <a:p>
                      <a:pPr algn="l" fontAlgn="t"/>
                      <a:r>
                        <a:rPr lang="en-US" b="0" dirty="0">
                          <a:effectLst/>
                          <a:highlight>
                            <a:srgbClr val="F2E7E4"/>
                          </a:highlight>
                        </a:rPr>
                        <a:t>Metric</a:t>
                      </a:r>
                    </a:p>
                  </a:txBody>
                  <a:tcPr marL="57150" marR="57150" marT="57150" marB="57150">
                    <a:solidFill>
                      <a:srgbClr val="F2E7E4"/>
                    </a:solidFill>
                  </a:tcPr>
                </a:tc>
                <a:tc>
                  <a:txBody>
                    <a:bodyPr/>
                    <a:lstStyle/>
                    <a:p>
                      <a:pPr algn="l" fontAlgn="t"/>
                      <a:r>
                        <a:rPr lang="en-US" b="0" dirty="0">
                          <a:effectLst/>
                          <a:highlight>
                            <a:srgbClr val="F2E7E4"/>
                          </a:highlight>
                        </a:rPr>
                        <a:t>Value</a:t>
                      </a:r>
                    </a:p>
                  </a:txBody>
                  <a:tcPr marL="57150" marR="57150" marT="57150" marB="57150">
                    <a:solidFill>
                      <a:srgbClr val="F2E7E4"/>
                    </a:solidFill>
                  </a:tcPr>
                </a:tc>
                <a:extLst>
                  <a:ext uri="{0D108BD9-81ED-4DB2-BD59-A6C34878D82A}">
                    <a16:rowId xmlns:a16="http://schemas.microsoft.com/office/drawing/2014/main" val="2152225990"/>
                  </a:ext>
                </a:extLst>
              </a:tr>
              <a:tr h="561125">
                <a:tc>
                  <a:txBody>
                    <a:bodyPr/>
                    <a:lstStyle/>
                    <a:p>
                      <a:pPr algn="l" fontAlgn="t"/>
                      <a:r>
                        <a:rPr lang="en-US" dirty="0">
                          <a:effectLst/>
                        </a:rPr>
                        <a:t>Configured horizon</a:t>
                      </a:r>
                    </a:p>
                  </a:txBody>
                  <a:tcPr marL="57150" marR="57150" marT="57150" marB="57150"/>
                </a:tc>
                <a:tc>
                  <a:txBody>
                    <a:bodyPr/>
                    <a:lstStyle/>
                    <a:p>
                      <a:pPr algn="l" fontAlgn="t"/>
                      <a:r>
                        <a:rPr lang="en-US" b="0">
                          <a:effectLst/>
                        </a:rPr>
                        <a:t>120 h (5 days)</a:t>
                      </a:r>
                      <a:r>
                        <a:rPr lang="en-US">
                          <a:effectLst/>
                        </a:rPr>
                        <a:t>, hourly</a:t>
                      </a:r>
                    </a:p>
                  </a:txBody>
                  <a:tcPr marL="57150" marR="57150" marT="57150" marB="57150"/>
                </a:tc>
                <a:extLst>
                  <a:ext uri="{0D108BD9-81ED-4DB2-BD59-A6C34878D82A}">
                    <a16:rowId xmlns:a16="http://schemas.microsoft.com/office/drawing/2014/main" val="3475413916"/>
                  </a:ext>
                </a:extLst>
              </a:tr>
              <a:tr h="561125">
                <a:tc>
                  <a:txBody>
                    <a:bodyPr/>
                    <a:lstStyle/>
                    <a:p>
                      <a:pPr algn="l" fontAlgn="t"/>
                      <a:r>
                        <a:rPr lang="en-US" dirty="0">
                          <a:effectLst/>
                        </a:rPr>
                        <a:t>Forecast window in DB</a:t>
                      </a:r>
                    </a:p>
                  </a:txBody>
                  <a:tcPr marL="57150" marR="57150" marT="57150" marB="57150"/>
                </a:tc>
                <a:tc>
                  <a:txBody>
                    <a:bodyPr/>
                    <a:lstStyle/>
                    <a:p>
                      <a:pPr algn="l" fontAlgn="t"/>
                      <a:r>
                        <a:rPr lang="en-US" dirty="0">
                          <a:effectLst/>
                        </a:rPr>
                        <a:t>2026-06-20 → </a:t>
                      </a:r>
                      <a:r>
                        <a:rPr lang="en-US" b="0" dirty="0">
                          <a:effectLst/>
                        </a:rPr>
                        <a:t>2026-06-24 23:00 UTC</a:t>
                      </a:r>
                      <a:endParaRPr lang="en-US" dirty="0">
                        <a:effectLst/>
                      </a:endParaRPr>
                    </a:p>
                  </a:txBody>
                  <a:tcPr marL="57150" marR="57150" marT="57150" marB="57150"/>
                </a:tc>
                <a:extLst>
                  <a:ext uri="{0D108BD9-81ED-4DB2-BD59-A6C34878D82A}">
                    <a16:rowId xmlns:a16="http://schemas.microsoft.com/office/drawing/2014/main" val="634276041"/>
                  </a:ext>
                </a:extLst>
              </a:tr>
              <a:tr h="561125">
                <a:tc>
                  <a:txBody>
                    <a:bodyPr/>
                    <a:lstStyle/>
                    <a:p>
                      <a:pPr algn="l" fontAlgn="t"/>
                      <a:r>
                        <a:rPr lang="en-US" b="0" dirty="0">
                          <a:effectLst/>
                        </a:rPr>
                        <a:t>Future hourly points from now</a:t>
                      </a:r>
                      <a:endParaRPr lang="en-US" dirty="0">
                        <a:effectLst/>
                      </a:endParaRPr>
                    </a:p>
                  </a:txBody>
                  <a:tcPr marL="57150" marR="57150" marT="57150" marB="57150"/>
                </a:tc>
                <a:tc>
                  <a:txBody>
                    <a:bodyPr/>
                    <a:lstStyle/>
                    <a:p>
                      <a:pPr algn="l" fontAlgn="t"/>
                      <a:r>
                        <a:rPr lang="en-US" b="0" dirty="0">
                          <a:effectLst/>
                        </a:rPr>
                        <a:t>101 hours</a:t>
                      </a:r>
                      <a:r>
                        <a:rPr lang="en-US" dirty="0">
                          <a:effectLst/>
                        </a:rPr>
                        <a:t> per bus</a:t>
                      </a:r>
                    </a:p>
                  </a:txBody>
                  <a:tcPr marL="57150" marR="57150" marT="57150" marB="57150"/>
                </a:tc>
                <a:extLst>
                  <a:ext uri="{0D108BD9-81ED-4DB2-BD59-A6C34878D82A}">
                    <a16:rowId xmlns:a16="http://schemas.microsoft.com/office/drawing/2014/main" val="3623252654"/>
                  </a:ext>
                </a:extLst>
              </a:tr>
              <a:tr h="416672">
                <a:tc>
                  <a:txBody>
                    <a:bodyPr/>
                    <a:lstStyle/>
                    <a:p>
                      <a:pPr algn="l" fontAlgn="t"/>
                      <a:r>
                        <a:rPr lang="en-US">
                          <a:effectLst/>
                        </a:rPr>
                        <a:t>Resolution</a:t>
                      </a:r>
                    </a:p>
                  </a:txBody>
                  <a:tcPr marL="57150" marR="57150" marT="57150" marB="57150"/>
                </a:tc>
                <a:tc>
                  <a:txBody>
                    <a:bodyPr/>
                    <a:lstStyle/>
                    <a:p>
                      <a:pPr algn="l" fontAlgn="t"/>
                      <a:r>
                        <a:rPr lang="en-US" b="0" dirty="0">
                          <a:effectLst/>
                        </a:rPr>
                        <a:t>1 hour</a:t>
                      </a:r>
                      <a:endParaRPr lang="en-US" dirty="0">
                        <a:effectLst/>
                      </a:endParaRPr>
                    </a:p>
                  </a:txBody>
                  <a:tcPr marL="57150" marR="57150" marT="57150" marB="57150"/>
                </a:tc>
                <a:extLst>
                  <a:ext uri="{0D108BD9-81ED-4DB2-BD59-A6C34878D82A}">
                    <a16:rowId xmlns:a16="http://schemas.microsoft.com/office/drawing/2014/main" val="2507557176"/>
                  </a:ext>
                </a:extLst>
              </a:tr>
              <a:tr h="416672">
                <a:tc>
                  <a:txBody>
                    <a:bodyPr/>
                    <a:lstStyle/>
                    <a:p>
                      <a:pPr algn="l" fontAlgn="t"/>
                      <a:r>
                        <a:rPr lang="en-US" dirty="0">
                          <a:effectLst/>
                        </a:rPr>
                        <a:t>Buses (Locations)</a:t>
                      </a:r>
                    </a:p>
                  </a:txBody>
                  <a:tcPr marL="57150" marR="57150" marT="57150" marB="57150"/>
                </a:tc>
                <a:tc>
                  <a:txBody>
                    <a:bodyPr/>
                    <a:lstStyle/>
                    <a:p>
                      <a:pPr algn="l" fontAlgn="t"/>
                      <a:r>
                        <a:rPr lang="en-US" dirty="0">
                          <a:effectLst/>
                        </a:rPr>
                        <a:t>14</a:t>
                      </a:r>
                    </a:p>
                  </a:txBody>
                  <a:tcPr marL="57150" marR="57150" marT="57150" marB="57150"/>
                </a:tc>
                <a:extLst>
                  <a:ext uri="{0D108BD9-81ED-4DB2-BD59-A6C34878D82A}">
                    <a16:rowId xmlns:a16="http://schemas.microsoft.com/office/drawing/2014/main" val="319467381"/>
                  </a:ext>
                </a:extLst>
              </a:tr>
              <a:tr h="561125">
                <a:tc>
                  <a:txBody>
                    <a:bodyPr/>
                    <a:lstStyle/>
                    <a:p>
                      <a:pPr algn="l" fontAlgn="t"/>
                      <a:r>
                        <a:rPr lang="en-US" b="0" dirty="0">
                          <a:effectLst/>
                        </a:rPr>
                        <a:t>Total future risk points</a:t>
                      </a:r>
                      <a:endParaRPr lang="en-US" dirty="0">
                        <a:effectLst/>
                      </a:endParaRPr>
                    </a:p>
                  </a:txBody>
                  <a:tcPr marL="57150" marR="57150" marT="57150" marB="57150"/>
                </a:tc>
                <a:tc>
                  <a:txBody>
                    <a:bodyPr/>
                    <a:lstStyle/>
                    <a:p>
                      <a:pPr algn="l" fontAlgn="t"/>
                      <a:r>
                        <a:rPr lang="en-US" dirty="0">
                          <a:effectLst/>
                        </a:rPr>
                        <a:t>101 × 14 = </a:t>
                      </a:r>
                      <a:r>
                        <a:rPr lang="en-US" b="0" dirty="0">
                          <a:effectLst/>
                        </a:rPr>
                        <a:t>~1,414</a:t>
                      </a:r>
                      <a:endParaRPr lang="en-US" dirty="0">
                        <a:effectLst/>
                      </a:endParaRPr>
                    </a:p>
                  </a:txBody>
                  <a:tcPr marL="57150" marR="57150" marT="57150" marB="57150"/>
                </a:tc>
                <a:extLst>
                  <a:ext uri="{0D108BD9-81ED-4DB2-BD59-A6C34878D82A}">
                    <a16:rowId xmlns:a16="http://schemas.microsoft.com/office/drawing/2014/main" val="3507281324"/>
                  </a:ext>
                </a:extLst>
              </a:tr>
            </a:tbl>
          </a:graphicData>
        </a:graphic>
      </p:graphicFrame>
      <p:pic>
        <p:nvPicPr>
          <p:cNvPr id="3" name="Picture 2">
            <a:extLst>
              <a:ext uri="{FF2B5EF4-FFF2-40B4-BE49-F238E27FC236}">
                <a16:creationId xmlns:a16="http://schemas.microsoft.com/office/drawing/2014/main" id="{E9ED918B-75A9-CEEA-7C3A-41E934070EA4}"/>
              </a:ext>
            </a:extLst>
          </p:cNvPr>
          <p:cNvPicPr>
            <a:picLocks noChangeAspect="1"/>
          </p:cNvPicPr>
          <p:nvPr/>
        </p:nvPicPr>
        <p:blipFill>
          <a:blip r:embed="rId7"/>
          <a:stretch>
            <a:fillRect/>
          </a:stretch>
        </p:blipFill>
        <p:spPr>
          <a:xfrm>
            <a:off x="1465385" y="5246069"/>
            <a:ext cx="8951966" cy="1016020"/>
          </a:xfrm>
          <a:prstGeom prst="rect">
            <a:avLst/>
          </a:prstGeom>
        </p:spPr>
      </p:pic>
    </p:spTree>
    <p:extLst>
      <p:ext uri="{BB962C8B-B14F-4D97-AF65-F5344CB8AC3E}">
        <p14:creationId xmlns:p14="http://schemas.microsoft.com/office/powerpoint/2010/main" val="8443428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16941-911F-DF03-C2C4-5BF2A64BF27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C12C8BB7-0373-23E6-D798-2887FF0EFDE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4" name="Foliennummernplatzhalter 3">
            <a:extLst>
              <a:ext uri="{FF2B5EF4-FFF2-40B4-BE49-F238E27FC236}">
                <a16:creationId xmlns:a16="http://schemas.microsoft.com/office/drawing/2014/main" id="{4554D17A-3B23-DADA-4C10-2938E7A7EF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DB96695B-FF3C-B002-F55E-5FD56BED2357}"/>
              </a:ext>
            </a:extLst>
          </p:cNvPr>
          <p:cNvSpPr>
            <a:spLocks noGrp="1"/>
          </p:cNvSpPr>
          <p:nvPr>
            <p:ph type="title"/>
          </p:nvPr>
        </p:nvSpPr>
        <p:spPr/>
        <p:txBody>
          <a:bodyPr/>
          <a:lstStyle/>
          <a:p>
            <a:r>
              <a:rPr lang="en-US" dirty="0"/>
              <a:t>Forecast horizon available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C724034-2F2B-5B4D-2FDE-AEC8EF6AA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4357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BA4F18F1-1D54-55DE-8025-5167DE9E4FCF}"/>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5E857925-B94C-D9BC-4F78-2A06DCB670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1FAD78B3-2FA0-C794-5263-659C383A2BC0}"/>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Open-</a:t>
            </a:r>
            <a:r>
              <a:rPr kumimoji="0" lang="en-US" sz="1600" b="0" i="0" u="none" strike="noStrike" kern="1200" cap="none" spc="0" normalizeH="0" baseline="0" noProof="0" dirty="0" err="1">
                <a:ln>
                  <a:noFill/>
                </a:ln>
                <a:solidFill>
                  <a:srgbClr val="041E42"/>
                </a:solidFill>
                <a:effectLst/>
                <a:uLnTx/>
                <a:uFillTx/>
                <a:latin typeface="Arial"/>
                <a:ea typeface="+mn-ea"/>
                <a:cs typeface="+mn-cs"/>
              </a:rPr>
              <a:t>Meteo</a:t>
            </a:r>
            <a:r>
              <a:rPr kumimoji="0" lang="en-US" sz="1600" b="0" i="0" u="none" strike="noStrike" kern="1200" cap="none" spc="0" normalizeH="0" baseline="0" noProof="0" dirty="0">
                <a:ln>
                  <a:noFill/>
                </a:ln>
                <a:solidFill>
                  <a:srgbClr val="041E42"/>
                </a:solidFill>
                <a:effectLst/>
                <a:uLnTx/>
                <a:uFillTx/>
                <a:latin typeface="Arial"/>
                <a:ea typeface="+mn-ea"/>
                <a:cs typeface="+mn-cs"/>
              </a:rPr>
              <a:t> support up to 16 days</a:t>
            </a:r>
          </a:p>
        </p:txBody>
      </p:sp>
      <p:pic>
        <p:nvPicPr>
          <p:cNvPr id="6" name="Grafik 92">
            <a:extLst>
              <a:ext uri="{FF2B5EF4-FFF2-40B4-BE49-F238E27FC236}">
                <a16:creationId xmlns:a16="http://schemas.microsoft.com/office/drawing/2014/main" id="{F04691F3-F620-8C29-BDFA-C72849B5430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pic>
        <p:nvPicPr>
          <p:cNvPr id="7" name="Picture 6">
            <a:extLst>
              <a:ext uri="{FF2B5EF4-FFF2-40B4-BE49-F238E27FC236}">
                <a16:creationId xmlns:a16="http://schemas.microsoft.com/office/drawing/2014/main" id="{72F948FE-88B7-E5C9-81B5-66B766425B1C}"/>
              </a:ext>
            </a:extLst>
          </p:cNvPr>
          <p:cNvPicPr>
            <a:picLocks noChangeAspect="1"/>
          </p:cNvPicPr>
          <p:nvPr/>
        </p:nvPicPr>
        <p:blipFill>
          <a:blip r:embed="rId7"/>
          <a:stretch>
            <a:fillRect/>
          </a:stretch>
        </p:blipFill>
        <p:spPr>
          <a:xfrm>
            <a:off x="379687" y="1703900"/>
            <a:ext cx="4882903" cy="4331746"/>
          </a:xfrm>
          <a:prstGeom prst="rect">
            <a:avLst/>
          </a:prstGeom>
        </p:spPr>
      </p:pic>
      <p:pic>
        <p:nvPicPr>
          <p:cNvPr id="8" name="Picture 7">
            <a:extLst>
              <a:ext uri="{FF2B5EF4-FFF2-40B4-BE49-F238E27FC236}">
                <a16:creationId xmlns:a16="http://schemas.microsoft.com/office/drawing/2014/main" id="{A84BE89C-78CA-917D-DD4A-04029C7DEFF1}"/>
              </a:ext>
            </a:extLst>
          </p:cNvPr>
          <p:cNvPicPr>
            <a:picLocks noChangeAspect="1"/>
          </p:cNvPicPr>
          <p:nvPr/>
        </p:nvPicPr>
        <p:blipFill>
          <a:blip r:embed="rId8"/>
          <a:srcRect b="31762"/>
          <a:stretch/>
        </p:blipFill>
        <p:spPr>
          <a:xfrm>
            <a:off x="5531857" y="1349365"/>
            <a:ext cx="3891192" cy="4972689"/>
          </a:xfrm>
          <a:prstGeom prst="rect">
            <a:avLst/>
          </a:prstGeom>
        </p:spPr>
      </p:pic>
      <p:pic>
        <p:nvPicPr>
          <p:cNvPr id="12" name="Picture 11">
            <a:extLst>
              <a:ext uri="{FF2B5EF4-FFF2-40B4-BE49-F238E27FC236}">
                <a16:creationId xmlns:a16="http://schemas.microsoft.com/office/drawing/2014/main" id="{47A46F74-2424-1E22-2B17-CA2113650601}"/>
              </a:ext>
            </a:extLst>
          </p:cNvPr>
          <p:cNvPicPr>
            <a:picLocks noChangeAspect="1"/>
          </p:cNvPicPr>
          <p:nvPr/>
        </p:nvPicPr>
        <p:blipFill>
          <a:blip r:embed="rId8"/>
          <a:srcRect t="78623" r="47794"/>
          <a:stretch/>
        </p:blipFill>
        <p:spPr>
          <a:xfrm>
            <a:off x="9473360" y="1969479"/>
            <a:ext cx="2105721" cy="1614773"/>
          </a:xfrm>
          <a:prstGeom prst="rect">
            <a:avLst/>
          </a:prstGeom>
        </p:spPr>
      </p:pic>
      <p:sp>
        <p:nvSpPr>
          <p:cNvPr id="5" name="TextBox 4">
            <a:extLst>
              <a:ext uri="{FF2B5EF4-FFF2-40B4-BE49-F238E27FC236}">
                <a16:creationId xmlns:a16="http://schemas.microsoft.com/office/drawing/2014/main" id="{DBFB8750-F713-E7A6-2A6C-DFF377D6C10F}"/>
              </a:ext>
            </a:extLst>
          </p:cNvPr>
          <p:cNvSpPr txBox="1"/>
          <p:nvPr/>
        </p:nvSpPr>
        <p:spPr>
          <a:xfrm>
            <a:off x="0" y="7524267"/>
            <a:ext cx="12702209" cy="3934923"/>
          </a:xfrm>
          <a:prstGeom prst="rect">
            <a:avLst/>
          </a:prstGeom>
          <a:noFill/>
        </p:spPr>
        <p:txBody>
          <a:bodyPr wrap="square">
            <a:spAutoFit/>
          </a:bodyPr>
          <a:lstStyle/>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[1] Open-</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Meteo</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 “Weather Forecast API Documentation” and “Historical Weather API Documentation,” Open-</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Meteo</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 Documentation. Online: https://open-</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meteo.com</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/docs and https://open-</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meteo.com</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/docs/historical-weather-</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api</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[2] IEEE Standards Association, “IEEE Std 738-2023: IEEE Standard for Calculating the Current-Temperature Relationship of Bare Overhead Conductors,” IEEE SA. Online: https://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ieee</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/738/4997/. Accessed: 27 May 2026.</a:t>
            </a:r>
            <a:endParaRPr kumimoji="0" lang="en-US" sz="2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[3] IEEE Standards Association, “IEEE Std C57.91-2025: IEEE Guide for Loading Mineral-Oil-Immersed Transformers and Step-Voltage Regulators,” IEEE SA. Online: https://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ieee</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/C57.91/5297/. Accessed: 27 May 2026.</a:t>
            </a:r>
            <a:endParaRPr kumimoji="0" lang="en-US" sz="2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[4] International Electrotechnical Commission (IEC), “IEC 60826:2003, Design criteria of overhead transmission lines,” IEC Webstore. Online: https://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webstore.iec.ch</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/publication/33148. See also: IEEE Standards Association, “National Electrical Safety Code (NESC).” Online: https://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/products-programs/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nesc</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[5] World Meteorological Organization (WMO), “Character and intensity of precipitation,” International Cloud Atlas. Online: https://</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cloudatlas.wmo.int</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/character-and-intensity-of-</a:t>
            </a:r>
            <a:r>
              <a:rPr kumimoji="0" lang="en-US" sz="1800" b="0" i="0" u="none" strike="noStrike" kern="1200" cap="none" spc="0" normalizeH="0" baseline="0" noProof="0" dirty="0" err="1">
                <a:ln>
                  <a:noFill/>
                </a:ln>
                <a:solidFill>
                  <a:prstClr val="black"/>
                </a:solidFill>
                <a:effectLst/>
                <a:uLnTx/>
                <a:uFillTx/>
                <a:latin typeface="Arial"/>
                <a:ea typeface="Batang" panose="02030600000101010101" pitchFamily="18" charset="-127"/>
                <a:cs typeface="Arial" panose="020B0604020202020204" pitchFamily="34" charset="0"/>
              </a:rPr>
              <a:t>precipitation.html</a:t>
            </a:r>
            <a:r>
              <a:rPr kumimoji="0" lang="en-US" sz="1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Arial"/>
              <a:ea typeface="Batang" panose="02030600000101010101" pitchFamily="18" charset="-127"/>
              <a:cs typeface="Arial" panose="020B0604020202020204" pitchFamily="34" charset="0"/>
            </a:endParaRPr>
          </a:p>
        </p:txBody>
      </p:sp>
    </p:spTree>
    <p:extLst>
      <p:ext uri="{BB962C8B-B14F-4D97-AF65-F5344CB8AC3E}">
        <p14:creationId xmlns:p14="http://schemas.microsoft.com/office/powerpoint/2010/main" val="4015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155B-9493-E11A-3D14-FF317987A04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281F86B-B171-6B23-0098-A9BFF9B7BCC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581BAFC-64B1-18DA-EF92-B392F6F8594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B7F7264-C845-FA08-9695-F62B5D356FE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8B2DC61-0CEB-3E71-681C-FB3292CAEAAC}"/>
              </a:ext>
            </a:extLst>
          </p:cNvPr>
          <p:cNvSpPr>
            <a:spLocks noGrp="1"/>
          </p:cNvSpPr>
          <p:nvPr>
            <p:ph type="title"/>
          </p:nvPr>
        </p:nvSpPr>
        <p:spPr/>
        <p:txBody>
          <a:bodyPr/>
          <a:lstStyle/>
          <a:p>
            <a:r>
              <a:rPr lang="en-US" dirty="0"/>
              <a:t>Integration into TP6</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1F1A61D-D6C5-D30A-27B7-1C94C22E5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E351030-D1B4-E96E-31E2-C68EAA92A29A}"/>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E4936C83-3EB7-88A1-5238-9A2925CE21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11" name="TextBox 10">
            <a:extLst>
              <a:ext uri="{FF2B5EF4-FFF2-40B4-BE49-F238E27FC236}">
                <a16:creationId xmlns:a16="http://schemas.microsoft.com/office/drawing/2014/main" id="{C543D839-3C74-04E3-62AE-5E95538ABEBC}"/>
              </a:ext>
            </a:extLst>
          </p:cNvPr>
          <p:cNvSpPr txBox="1"/>
          <p:nvPr/>
        </p:nvSpPr>
        <p:spPr>
          <a:xfrm>
            <a:off x="518318" y="1286619"/>
            <a:ext cx="10667412" cy="550920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User Request → </a:t>
            </a:r>
            <a:r>
              <a:rPr kumimoji="0" lang="en-US" sz="1600" b="1" i="0" u="none" strike="noStrike" kern="1200" cap="none" spc="0" normalizeH="0" baseline="0" noProof="0" dirty="0" err="1">
                <a:ln>
                  <a:noFill/>
                </a:ln>
                <a:solidFill>
                  <a:prstClr val="black"/>
                </a:solidFill>
                <a:effectLst/>
                <a:uLnTx/>
                <a:uFillTx/>
                <a:latin typeface="Arial"/>
                <a:ea typeface="+mn-lt"/>
                <a:cs typeface="Arial"/>
              </a:rPr>
              <a:t>GridSense.ai</a:t>
            </a:r>
            <a:r>
              <a:rPr kumimoji="0" lang="en-US" sz="1600" b="1" i="0" u="none" strike="noStrike" kern="1200" cap="none" spc="0" normalizeH="0" baseline="0" noProof="0" dirty="0">
                <a:ln>
                  <a:noFill/>
                </a:ln>
                <a:solidFill>
                  <a:prstClr val="black"/>
                </a:solidFill>
                <a:effectLst/>
                <a:uLnTx/>
                <a:uFillTx/>
                <a:latin typeface="Arial"/>
                <a:ea typeface="+mn-lt"/>
                <a:cs typeface="Arial"/>
              </a:rPr>
              <a:t>→ Specialized Domain MCPs</a:t>
            </a: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1️⃣ </a:t>
            </a:r>
            <a:r>
              <a:rPr kumimoji="0" lang="en-US" sz="1600" b="1" i="0" u="none" strike="noStrike" kern="1200" cap="none" spc="0" normalizeH="0" baseline="0" noProof="0" dirty="0">
                <a:ln>
                  <a:noFill/>
                </a:ln>
                <a:solidFill>
                  <a:prstClr val="black"/>
                </a:solidFill>
                <a:effectLst/>
                <a:uLnTx/>
                <a:uFillTx/>
                <a:latin typeface="Arial"/>
                <a:ea typeface="+mn-lt"/>
                <a:cs typeface="Arial"/>
              </a:rPr>
              <a:t>TP5 LLM Agent (Reasoning Core)</a:t>
            </a: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Interprets</a:t>
            </a:r>
            <a:r>
              <a:rPr kumimoji="0" lang="en-US" sz="1600" b="0" i="0" u="none" strike="noStrike" kern="1200" cap="none" spc="0" normalizeH="0" baseline="0" noProof="0" dirty="0">
                <a:ln>
                  <a:noFill/>
                </a:ln>
                <a:solidFill>
                  <a:prstClr val="black"/>
                </a:solidFill>
                <a:effectLst/>
                <a:uLnTx/>
                <a:uFillTx/>
                <a:latin typeface="Arial"/>
                <a:ea typeface="+mn-lt"/>
                <a:cs typeface="Arial"/>
              </a:rPr>
              <a:t> the user request and </a:t>
            </a:r>
            <a:r>
              <a:rPr kumimoji="0" lang="en-US" sz="1600" b="1" i="0" u="none" strike="noStrike" kern="1200" cap="none" spc="0" normalizeH="0" baseline="0" noProof="0" dirty="0">
                <a:ln>
                  <a:noFill/>
                </a:ln>
                <a:solidFill>
                  <a:prstClr val="black"/>
                </a:solidFill>
                <a:effectLst/>
                <a:uLnTx/>
                <a:uFillTx/>
                <a:latin typeface="Arial"/>
                <a:ea typeface="+mn-lt"/>
                <a:cs typeface="Arial"/>
              </a:rPr>
              <a:t>formulates an execution plan</a:t>
            </a:r>
            <a:r>
              <a:rPr kumimoji="0" lang="en-US" sz="1600" b="0" i="0" u="none" strike="noStrike" kern="1200" cap="none" spc="0" normalizeH="0" baseline="0" noProof="0" dirty="0">
                <a:ln>
                  <a:noFill/>
                </a:ln>
                <a:solidFill>
                  <a:prstClr val="black"/>
                </a:solidFill>
                <a:effectLst/>
                <a:uLnTx/>
                <a:uFillTx/>
                <a:latin typeface="Arial"/>
                <a:ea typeface="+mn-lt"/>
                <a:cs typeface="Arial"/>
              </a:rPr>
              <a: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Routes tasks to the appropriate domain MCPs based on intent and context.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2️⃣ </a:t>
            </a:r>
            <a:r>
              <a:rPr kumimoji="0" lang="en-US" sz="1600" b="1" i="0" u="none" strike="noStrike" kern="1200" cap="none" spc="0" normalizeH="0" baseline="0" noProof="0" dirty="0">
                <a:ln>
                  <a:noFill/>
                </a:ln>
                <a:solidFill>
                  <a:prstClr val="black"/>
                </a:solidFill>
                <a:effectLst/>
                <a:uLnTx/>
                <a:uFillTx/>
                <a:latin typeface="Arial"/>
                <a:ea typeface="+mn-lt"/>
                <a:cs typeface="Arial"/>
              </a:rPr>
              <a:t>Neo4j / File MCP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Explores grid snapshots</a:t>
            </a:r>
            <a:r>
              <a:rPr kumimoji="0" lang="en-US" sz="1600" b="0" i="0" u="none" strike="noStrike" kern="1200" cap="none" spc="0" normalizeH="0" baseline="0" noProof="0" dirty="0">
                <a:ln>
                  <a:noFill/>
                </a:ln>
                <a:solidFill>
                  <a:prstClr val="black"/>
                </a:solidFill>
                <a:effectLst/>
                <a:uLnTx/>
                <a:uFillTx/>
                <a:latin typeface="Arial"/>
                <a:ea typeface="+mn-lt"/>
                <a:cs typeface="Arial"/>
              </a:rPr>
              <a:t>, topology, and </a:t>
            </a:r>
            <a:r>
              <a:rPr kumimoji="0" lang="en-US" sz="1600" b="1" i="0" u="none" strike="noStrike" kern="1200" cap="none" spc="0" normalizeH="0" baseline="0" noProof="0" dirty="0">
                <a:ln>
                  <a:noFill/>
                </a:ln>
                <a:solidFill>
                  <a:prstClr val="black"/>
                </a:solidFill>
                <a:effectLst/>
                <a:uLnTx/>
                <a:uFillTx/>
                <a:latin typeface="Arial"/>
                <a:ea typeface="+mn-lt"/>
                <a:cs typeface="Arial"/>
              </a:rPr>
              <a:t>affected regions</a:t>
            </a:r>
            <a:r>
              <a:rPr kumimoji="0" lang="en-US" sz="1600" b="0" i="0" u="none" strike="noStrike" kern="1200" cap="none" spc="0" normalizeH="0" baseline="0" noProof="0" dirty="0">
                <a:ln>
                  <a:noFill/>
                </a:ln>
                <a:solidFill>
                  <a:prstClr val="black"/>
                </a:solidFill>
                <a:effectLst/>
                <a:uLnTx/>
                <a:uFillTx/>
                <a:latin typeface="Arial"/>
                <a:ea typeface="+mn-lt"/>
                <a:cs typeface="Arial"/>
              </a:rPr>
              <a:t> from stored data.</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Provides structural and historical context to the reasoning loop.</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3️⃣ </a:t>
            </a:r>
            <a:r>
              <a:rPr kumimoji="0" lang="en-US" sz="1600" b="1" i="0" u="none" strike="noStrike" kern="1200" cap="none" spc="0" normalizeH="0" baseline="0" noProof="0" dirty="0">
                <a:ln>
                  <a:noFill/>
                </a:ln>
                <a:solidFill>
                  <a:prstClr val="black"/>
                </a:solidFill>
                <a:effectLst/>
                <a:uLnTx/>
                <a:uFillTx/>
                <a:latin typeface="Arial"/>
                <a:ea typeface="+mn-lt"/>
                <a:cs typeface="Arial"/>
              </a:rPr>
              <a:t>TP3 MCP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Executes power-flow</a:t>
            </a:r>
            <a:r>
              <a:rPr kumimoji="0" lang="en-US" sz="1600" b="0" i="0" u="none" strike="noStrike" kern="1200" cap="none" spc="0" normalizeH="0" baseline="0" noProof="0" dirty="0">
                <a:ln>
                  <a:noFill/>
                </a:ln>
                <a:solidFill>
                  <a:prstClr val="black"/>
                </a:solidFill>
                <a:effectLst/>
                <a:uLnTx/>
                <a:uFillTx/>
                <a:latin typeface="Arial"/>
                <a:ea typeface="+mn-lt"/>
                <a:cs typeface="Arial"/>
              </a:rPr>
              <a:t>, </a:t>
            </a:r>
            <a:r>
              <a:rPr kumimoji="0" lang="en-US" sz="1600" b="1" i="0" u="none" strike="noStrike" kern="1200" cap="none" spc="0" normalizeH="0" baseline="0" noProof="0" dirty="0">
                <a:ln>
                  <a:noFill/>
                </a:ln>
                <a:solidFill>
                  <a:prstClr val="black"/>
                </a:solidFill>
                <a:effectLst/>
                <a:uLnTx/>
                <a:uFillTx/>
                <a:latin typeface="Arial"/>
                <a:ea typeface="+mn-lt"/>
                <a:cs typeface="Arial"/>
              </a:rPr>
              <a:t>contingency</a:t>
            </a:r>
            <a:r>
              <a:rPr kumimoji="0" lang="en-US" sz="1600" b="0" i="0" u="none" strike="noStrike" kern="1200" cap="none" spc="0" normalizeH="0" baseline="0" noProof="0" dirty="0">
                <a:ln>
                  <a:noFill/>
                </a:ln>
                <a:solidFill>
                  <a:prstClr val="black"/>
                </a:solidFill>
                <a:effectLst/>
                <a:uLnTx/>
                <a:uFillTx/>
                <a:latin typeface="Arial"/>
                <a:ea typeface="+mn-lt"/>
                <a:cs typeface="Arial"/>
              </a:rPr>
              <a:t>, </a:t>
            </a:r>
            <a:r>
              <a:rPr kumimoji="0" lang="en-US" sz="1600" b="1" i="0" u="none" strike="noStrike" kern="1200" cap="none" spc="0" normalizeH="0" baseline="0" noProof="0" dirty="0">
                <a:ln>
                  <a:noFill/>
                </a:ln>
                <a:solidFill>
                  <a:prstClr val="black"/>
                </a:solidFill>
                <a:effectLst/>
                <a:uLnTx/>
                <a:uFillTx/>
                <a:latin typeface="Arial"/>
                <a:ea typeface="+mn-lt"/>
                <a:cs typeface="Arial"/>
              </a:rPr>
              <a:t>congestion-relief</a:t>
            </a:r>
            <a:r>
              <a:rPr kumimoji="0" lang="en-US" sz="1600" b="0" i="0" u="none" strike="noStrike" kern="1200" cap="none" spc="0" normalizeH="0" baseline="0" noProof="0" dirty="0">
                <a:ln>
                  <a:noFill/>
                </a:ln>
                <a:solidFill>
                  <a:prstClr val="black"/>
                </a:solidFill>
                <a:effectLst/>
                <a:uLnTx/>
                <a:uFillTx/>
                <a:latin typeface="Arial"/>
                <a:ea typeface="+mn-lt"/>
                <a:cs typeface="Arial"/>
              </a:rPr>
              <a:t>, and </a:t>
            </a:r>
            <a:r>
              <a:rPr kumimoji="0" lang="en-US" sz="1600" b="1" i="0" u="none" strike="noStrike" kern="1200" cap="none" spc="0" normalizeH="0" baseline="0" noProof="0" dirty="0">
                <a:ln>
                  <a:noFill/>
                </a:ln>
                <a:solidFill>
                  <a:prstClr val="black"/>
                </a:solidFill>
                <a:effectLst/>
                <a:uLnTx/>
                <a:uFillTx/>
                <a:latin typeface="Arial"/>
                <a:ea typeface="+mn-lt"/>
                <a:cs typeface="Arial"/>
              </a:rPr>
              <a:t>restoration</a:t>
            </a:r>
            <a:r>
              <a:rPr kumimoji="0" lang="en-US" sz="1600" b="0" i="0" u="none" strike="noStrike" kern="1200" cap="none" spc="0" normalizeH="0" baseline="0" noProof="0" dirty="0">
                <a:ln>
                  <a:noFill/>
                </a:ln>
                <a:solidFill>
                  <a:prstClr val="black"/>
                </a:solidFill>
                <a:effectLst/>
                <a:uLnTx/>
                <a:uFillTx/>
                <a:latin typeface="Arial"/>
                <a:ea typeface="+mn-lt"/>
                <a:cs typeface="Arial"/>
              </a:rPr>
              <a:t> analyses.</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Returns validated numerical results and stability indicators.</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4️⃣ </a:t>
            </a:r>
            <a:r>
              <a:rPr kumimoji="0" lang="en-US" sz="1600" b="1" i="0" u="none" strike="noStrike" kern="1200" cap="none" spc="0" normalizeH="0" baseline="0" noProof="0" dirty="0">
                <a:ln>
                  <a:noFill/>
                </a:ln>
                <a:solidFill>
                  <a:prstClr val="black"/>
                </a:solidFill>
                <a:effectLst/>
                <a:uLnTx/>
                <a:uFillTx/>
                <a:latin typeface="Arial"/>
                <a:ea typeface="+mn-lt"/>
                <a:cs typeface="Arial"/>
              </a:rPr>
              <a:t>OPAL-RT MCP </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Performs real-time simulation or dry-run</a:t>
            </a:r>
            <a:r>
              <a:rPr kumimoji="0" lang="en-US" sz="1600" b="0" i="0" u="none" strike="noStrike" kern="1200" cap="none" spc="0" normalizeH="0" baseline="0" noProof="0" dirty="0">
                <a:ln>
                  <a:noFill/>
                </a:ln>
                <a:solidFill>
                  <a:prstClr val="black"/>
                </a:solidFill>
                <a:effectLst/>
                <a:uLnTx/>
                <a:uFillTx/>
                <a:latin typeface="Arial"/>
                <a:ea typeface="+mn-lt"/>
                <a:cs typeface="Arial"/>
              </a:rPr>
              <a:t> tests of the proposed restoration plan.</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Enables safety-checked deployment in cyber-physical environments.</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5️⃣ </a:t>
            </a:r>
            <a:r>
              <a:rPr kumimoji="0" lang="en-US" sz="1600" b="1" i="0" u="none" strike="noStrike" kern="1200" cap="none" spc="0" normalizeH="0" baseline="0" noProof="0" dirty="0">
                <a:ln>
                  <a:noFill/>
                </a:ln>
                <a:solidFill>
                  <a:prstClr val="black"/>
                </a:solidFill>
                <a:effectLst/>
                <a:uLnTx/>
                <a:uFillTx/>
                <a:latin typeface="Arial"/>
                <a:ea typeface="+mn-lt"/>
                <a:cs typeface="Arial"/>
              </a:rPr>
              <a:t>Summary &amp; Approval Step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Aggregates results, evidence</a:t>
            </a:r>
            <a:r>
              <a:rPr kumimoji="0" lang="en-US" sz="1600" b="0" i="0" u="none" strike="noStrike" kern="1200" cap="none" spc="0" normalizeH="0" baseline="0" noProof="0" dirty="0">
                <a:ln>
                  <a:noFill/>
                </a:ln>
                <a:solidFill>
                  <a:prstClr val="black"/>
                </a:solidFill>
                <a:effectLst/>
                <a:uLnTx/>
                <a:uFillTx/>
                <a:latin typeface="Arial"/>
                <a:ea typeface="+mn-lt"/>
                <a:cs typeface="Arial"/>
              </a:rPr>
              <a:t>, and </a:t>
            </a:r>
            <a:r>
              <a:rPr kumimoji="0" lang="en-US" sz="1600" b="1" i="0" u="none" strike="noStrike" kern="1200" cap="none" spc="0" normalizeH="0" baseline="0" noProof="0" dirty="0">
                <a:ln>
                  <a:noFill/>
                </a:ln>
                <a:solidFill>
                  <a:prstClr val="black"/>
                </a:solidFill>
                <a:effectLst/>
                <a:uLnTx/>
                <a:uFillTx/>
                <a:latin typeface="Arial"/>
                <a:ea typeface="+mn-lt"/>
                <a:cs typeface="Arial"/>
              </a:rPr>
              <a:t>snapshot references (IDs, file paths)</a:t>
            </a:r>
            <a:r>
              <a:rPr kumimoji="0" lang="en-US" sz="1600" b="0" i="0" u="none" strike="noStrike" kern="1200" cap="none" spc="0" normalizeH="0" baseline="0" noProof="0" dirty="0">
                <a:ln>
                  <a:noFill/>
                </a:ln>
                <a:solidFill>
                  <a:prstClr val="black"/>
                </a:solidFill>
                <a:effectLst/>
                <a:uLnTx/>
                <a:uFillTx/>
                <a:latin typeface="Arial"/>
                <a:ea typeface="+mn-lt"/>
                <a:cs typeface="Arial"/>
              </a:rPr>
              <a: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Prepares a structured summary for </a:t>
            </a:r>
            <a:r>
              <a:rPr kumimoji="0" lang="en-US" sz="1600" b="1" i="0" u="none" strike="noStrike" kern="1200" cap="none" spc="0" normalizeH="0" baseline="0" noProof="0" dirty="0">
                <a:ln>
                  <a:noFill/>
                </a:ln>
                <a:solidFill>
                  <a:prstClr val="black"/>
                </a:solidFill>
                <a:effectLst/>
                <a:uLnTx/>
                <a:uFillTx/>
                <a:latin typeface="Arial"/>
                <a:ea typeface="+mn-lt"/>
                <a:cs typeface="Arial"/>
              </a:rPr>
              <a:t>human approval or revision</a:t>
            </a:r>
            <a:r>
              <a:rPr kumimoji="0" lang="en-US" sz="1600" b="0" i="0" u="none" strike="noStrike" kern="1200" cap="none" spc="0" normalizeH="0" baseline="0" noProof="0" dirty="0">
                <a:ln>
                  <a:noFill/>
                </a:ln>
                <a:solidFill>
                  <a:prstClr val="black"/>
                </a:solidFill>
                <a:effectLst/>
                <a:uLnTx/>
                <a:uFillTx/>
                <a:latin typeface="Arial"/>
                <a:ea typeface="+mn-lt"/>
                <a:cs typeface="Arial"/>
              </a:rPr>
              <a:t> before final action.</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sp>
        <p:nvSpPr>
          <p:cNvPr id="5" name="Text Placeholder 7">
            <a:extLst>
              <a:ext uri="{FF2B5EF4-FFF2-40B4-BE49-F238E27FC236}">
                <a16:creationId xmlns:a16="http://schemas.microsoft.com/office/drawing/2014/main" id="{AB47A738-3C1A-F8C6-F2A0-88CB6B4E4C88}"/>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Connect Opal-RT </a:t>
            </a:r>
            <a:r>
              <a:rPr kumimoji="0" lang="en-US" sz="1600" b="0" i="0" u="none" strike="noStrike" kern="1200" cap="none" spc="0" normalizeH="0" baseline="0" noProof="0" dirty="0" err="1">
                <a:ln>
                  <a:noFill/>
                </a:ln>
                <a:solidFill>
                  <a:srgbClr val="041E42"/>
                </a:solidFill>
                <a:effectLst/>
                <a:uLnTx/>
                <a:uFillTx/>
                <a:latin typeface="Arial"/>
                <a:ea typeface="+mn-ea"/>
                <a:cs typeface="+mn-cs"/>
              </a:rPr>
              <a:t>eHASORSIM</a:t>
            </a:r>
            <a:r>
              <a:rPr kumimoji="0" lang="en-US" sz="1600" b="0" i="0" u="none" strike="noStrike" kern="1200" cap="none" spc="0" normalizeH="0" baseline="0" noProof="0" dirty="0">
                <a:ln>
                  <a:noFill/>
                </a:ln>
                <a:solidFill>
                  <a:srgbClr val="041E42"/>
                </a:solidFill>
                <a:effectLst/>
                <a:uLnTx/>
                <a:uFillTx/>
                <a:latin typeface="Arial"/>
                <a:ea typeface="+mn-ea"/>
                <a:cs typeface="+mn-cs"/>
              </a:rPr>
              <a:t>/HYPERSIM </a:t>
            </a:r>
          </a:p>
        </p:txBody>
      </p:sp>
    </p:spTree>
    <p:extLst>
      <p:ext uri="{BB962C8B-B14F-4D97-AF65-F5344CB8AC3E}">
        <p14:creationId xmlns:p14="http://schemas.microsoft.com/office/powerpoint/2010/main" val="41076525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8FE3-218B-F678-2EDF-2E781658051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9C4F5C2-0DD7-4C80-EEEC-E58624757D7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18734272-5104-5D26-B1E9-C2143B3D34F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135BA58F-452B-618C-4C12-D8897A53FE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EEBF8CE5-C473-75E6-7CDC-0B0E4CCAD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20266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D20C54E-94B7-8D43-5354-762DA0490CE6}"/>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18BA4419-EA69-C8FE-E0CE-B531FD589A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5" name="Grafik 92">
            <a:extLst>
              <a:ext uri="{FF2B5EF4-FFF2-40B4-BE49-F238E27FC236}">
                <a16:creationId xmlns:a16="http://schemas.microsoft.com/office/drawing/2014/main" id="{D04BB8D6-6320-3F2E-B25A-99851F9B1F5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3643" y="568555"/>
            <a:ext cx="810303" cy="332399"/>
          </a:xfrm>
          <a:prstGeom prst="rect">
            <a:avLst/>
          </a:prstGeom>
        </p:spPr>
      </p:pic>
      <p:sp>
        <p:nvSpPr>
          <p:cNvPr id="8" name="TextBox 7">
            <a:extLst>
              <a:ext uri="{FF2B5EF4-FFF2-40B4-BE49-F238E27FC236}">
                <a16:creationId xmlns:a16="http://schemas.microsoft.com/office/drawing/2014/main" id="{AA020533-EBFF-D9B5-C111-93E2CB555ACE}"/>
              </a:ext>
            </a:extLst>
          </p:cNvPr>
          <p:cNvSpPr txBox="1"/>
          <p:nvPr/>
        </p:nvSpPr>
        <p:spPr>
          <a:xfrm>
            <a:off x="-15194" y="7335970"/>
            <a:ext cx="12438289" cy="4238853"/>
          </a:xfrm>
          <a:prstGeom prst="rect">
            <a:avLst/>
          </a:prstGeom>
          <a:noFill/>
        </p:spPr>
        <p:txBody>
          <a:bodyPr wrap="square">
            <a:spAutoFit/>
          </a:bodyPr>
          <a:lstStyle/>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[6] Open-</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Meteo</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 “Weather Forecast API Documentation” and “Historical Weather API Documentation,” Open-</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Meteo</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 Documentation. Online: https://open-</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meteo.com</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/docs and https://open-</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meteo.com</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/docs/historical-weather-</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api</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[7] IEEE Standards Association, “IEEE Std 738-2023: IEEE Standard for Calculating the Current-Temperature Relationship of Bare Overhead Conductors,” IEEE SA. Online: https://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ieee</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/738/4997/. Accessed: 27 May 2026.</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[8] IEEE Standards Association, “IEEE Std C57.91-2025: IEEE Guide for Loading Mineral-Oil-Immersed Transformers and Step-Voltage Regulators,” IEEE SA. Online: https://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ieee</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/C57.91/5297/. Accessed: 27 May 2026.</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[9] International Electrotechnical Commission (IEC), “IEC 60826:2003, Design criteria of overhead transmission lines,” IEC Webstore. Online: https://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webstore.iec.ch</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/publication/33148. See also: IEEE Standards Association, “National Electrical Safety Code (NESC).” Online: https://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standards.ieee.org</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/products-programs/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nesc</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Batang" panose="02030600000101010101" pitchFamily="18" charset="-127"/>
              <a:cs typeface="Arial" panose="020B0604020202020204" pitchFamily="34" charset="0"/>
            </a:endParaRPr>
          </a:p>
          <a:p>
            <a:pPr marL="228600" marR="0" lvl="0" indent="-228600" algn="l" defTabSz="914400" rtl="0" eaLnBrk="1" fontAlgn="auto" latinLnBrk="0" hangingPunct="1">
              <a:lnSpc>
                <a:spcPct val="107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[10] World Meteorological Organization (WMO), “Character and intensity of precipitation,” International Cloud Atlas. Online: https://</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cloudatlas.wmo.int</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en</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/character-and-intensity-of-</a:t>
            </a:r>
            <a:r>
              <a:rPr kumimoji="0" lang="en-US" sz="1800" b="0" i="0" u="none" strike="noStrike" kern="1200" cap="none" spc="0" normalizeH="0" baseline="0" noProof="0" dirty="0" err="1">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precipitation.html</a:t>
            </a:r>
            <a:r>
              <a:rPr kumimoji="0" lang="en-US" sz="1800" b="0" i="0" u="none" strike="noStrike" kern="1200" cap="none" spc="0" normalizeH="0" baseline="0" noProof="0" dirty="0">
                <a:ln>
                  <a:noFill/>
                </a:ln>
                <a:solidFill>
                  <a:prstClr val="black"/>
                </a:solidFill>
                <a:effectLst/>
                <a:uLnTx/>
                <a:uFillTx/>
                <a:latin typeface="Bahnschrift" panose="020B0502040204020203" pitchFamily="34" charset="0"/>
                <a:ea typeface="Batang" panose="02030600000101010101" pitchFamily="18" charset="-127"/>
                <a:cs typeface="Arial" panose="020B0604020202020204" pitchFamily="34" charset="0"/>
              </a:rPr>
              <a:t>. Accessed: 27 May 2026.</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Batang" panose="02030600000101010101" pitchFamily="18" charset="-127"/>
              <a:cs typeface="Arial" panose="020B0604020202020204" pitchFamily="34" charset="0"/>
            </a:endParaRPr>
          </a:p>
        </p:txBody>
      </p:sp>
      <p:sp>
        <p:nvSpPr>
          <p:cNvPr id="12" name="Titel 26">
            <a:extLst>
              <a:ext uri="{FF2B5EF4-FFF2-40B4-BE49-F238E27FC236}">
                <a16:creationId xmlns:a16="http://schemas.microsoft.com/office/drawing/2014/main" id="{19F3A04F-9DC9-7E77-B7A6-E00BEA0BAE2E}"/>
              </a:ext>
            </a:extLst>
          </p:cNvPr>
          <p:cNvSpPr txBox="1">
            <a:spLocks/>
          </p:cNvSpPr>
          <p:nvPr/>
        </p:nvSpPr>
        <p:spPr>
          <a:xfrm>
            <a:off x="518318" y="301185"/>
            <a:ext cx="4360830" cy="3323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srgbClr val="041E42"/>
                </a:solidFill>
                <a:effectLst/>
                <a:uLnTx/>
                <a:uFillTx/>
                <a:latin typeface="Arial"/>
                <a:ea typeface="+mj-lt"/>
                <a:cs typeface="Arial"/>
              </a:rPr>
              <a:t>GridOS – General Electric </a:t>
            </a:r>
            <a:endParaRPr kumimoji="0" lang="en-US" sz="2400" b="1" i="0" u="none" strike="noStrike" kern="1200" cap="none" spc="0" normalizeH="0" baseline="0" noProof="0" dirty="0">
              <a:ln>
                <a:noFill/>
              </a:ln>
              <a:solidFill>
                <a:srgbClr val="041E42"/>
              </a:solidFill>
              <a:effectLst/>
              <a:uLnTx/>
              <a:uFillTx/>
              <a:latin typeface="Arial"/>
              <a:ea typeface="+mj-ea"/>
              <a:cs typeface="+mj-cs"/>
            </a:endParaRPr>
          </a:p>
        </p:txBody>
      </p:sp>
      <p:sp>
        <p:nvSpPr>
          <p:cNvPr id="13" name="Text Placeholder 7">
            <a:extLst>
              <a:ext uri="{FF2B5EF4-FFF2-40B4-BE49-F238E27FC236}">
                <a16:creationId xmlns:a16="http://schemas.microsoft.com/office/drawing/2014/main" id="{BE7FC5A4-9CF7-95B4-BFBF-D68690EAD105}"/>
              </a:ext>
            </a:extLst>
          </p:cNvPr>
          <p:cNvSpPr txBox="1">
            <a:spLocks/>
          </p:cNvSpPr>
          <p:nvPr/>
        </p:nvSpPr>
        <p:spPr>
          <a:xfrm>
            <a:off x="518317" y="687598"/>
            <a:ext cx="6844385" cy="674544"/>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Accelerating Energy Transition for Utilities</a:t>
            </a:r>
          </a:p>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Box 8">
            <a:extLst>
              <a:ext uri="{FF2B5EF4-FFF2-40B4-BE49-F238E27FC236}">
                <a16:creationId xmlns:a16="http://schemas.microsoft.com/office/drawing/2014/main" id="{8DF18215-CAD4-BE06-54B0-D718D9B2E159}"/>
              </a:ext>
            </a:extLst>
          </p:cNvPr>
          <p:cNvSpPr txBox="1"/>
          <p:nvPr/>
        </p:nvSpPr>
        <p:spPr>
          <a:xfrm>
            <a:off x="518317" y="2554775"/>
            <a:ext cx="9536258" cy="3901837"/>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err="1">
                <a:ln>
                  <a:noFill/>
                </a:ln>
                <a:solidFill>
                  <a:prstClr val="black"/>
                </a:solidFill>
                <a:effectLst/>
                <a:uLnTx/>
                <a:uFillTx/>
                <a:latin typeface="Arial"/>
                <a:ea typeface="+mn-ea"/>
                <a:cs typeface="+mn-cs"/>
              </a:rPr>
              <a:t>GridOS</a:t>
            </a:r>
            <a:r>
              <a:rPr kumimoji="0" lang="en-US" sz="2400" b="0" i="0" u="none" strike="noStrike" kern="1200" cap="none" spc="0" normalizeH="0" baseline="0" noProof="0" dirty="0">
                <a:ln>
                  <a:noFill/>
                </a:ln>
                <a:solidFill>
                  <a:prstClr val="black"/>
                </a:solidFill>
                <a:effectLst/>
                <a:uLnTx/>
                <a:uFillTx/>
                <a:latin typeface="Arial"/>
                <a:ea typeface="+mn-ea"/>
                <a:cs typeface="+mn-cs"/>
              </a:rPr>
              <a:t> Architecture </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Operator Dashboard + Forecasting + Contingency Control</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Digital Dynamic Line Rating</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Outage / Restoration Map</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Inertia Forecast Dashboard</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Data Management + GIS Network View</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WAMS / PMU Oscillation Monitoring</a:t>
            </a:r>
          </a:p>
        </p:txBody>
      </p:sp>
      <p:pic>
        <p:nvPicPr>
          <p:cNvPr id="10" name="Picture 9">
            <a:extLst>
              <a:ext uri="{FF2B5EF4-FFF2-40B4-BE49-F238E27FC236}">
                <a16:creationId xmlns:a16="http://schemas.microsoft.com/office/drawing/2014/main" id="{457DD790-F0A4-D649-681F-1D87EF7FEC4B}"/>
              </a:ext>
            </a:extLst>
          </p:cNvPr>
          <p:cNvPicPr>
            <a:picLocks noChangeAspect="1"/>
          </p:cNvPicPr>
          <p:nvPr/>
        </p:nvPicPr>
        <p:blipFill>
          <a:blip r:embed="rId7"/>
          <a:stretch>
            <a:fillRect/>
          </a:stretch>
        </p:blipFill>
        <p:spPr>
          <a:xfrm>
            <a:off x="4090492" y="1664322"/>
            <a:ext cx="3313454" cy="654112"/>
          </a:xfrm>
          <a:prstGeom prst="rect">
            <a:avLst/>
          </a:prstGeom>
        </p:spPr>
      </p:pic>
      <p:pic>
        <p:nvPicPr>
          <p:cNvPr id="11" name="Picture 2">
            <a:extLst>
              <a:ext uri="{FF2B5EF4-FFF2-40B4-BE49-F238E27FC236}">
                <a16:creationId xmlns:a16="http://schemas.microsoft.com/office/drawing/2014/main" id="{5171ABB6-DDA8-3369-981A-45BE671E2E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317" y="1651623"/>
            <a:ext cx="3077029" cy="679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1962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8732-9E79-A6E4-3C50-3E7EB15FC83F}"/>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9D1D7DA-91B2-2E90-D862-7904103FEFD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AAFCAD12-677A-B314-C148-D50C9824C93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6CF37A4-5CA1-72B4-7526-36E1137C28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F5406F4-B1ED-43B1-1355-848D5AC27FCD}"/>
              </a:ext>
            </a:extLst>
          </p:cNvPr>
          <p:cNvSpPr>
            <a:spLocks noGrp="1"/>
          </p:cNvSpPr>
          <p:nvPr>
            <p:ph type="title"/>
          </p:nvPr>
        </p:nvSpPr>
        <p:spPr>
          <a:xfrm>
            <a:off x="518318" y="301185"/>
            <a:ext cx="4360830" cy="332399"/>
          </a:xfrm>
        </p:spPr>
        <p:txBody>
          <a:bodyPr/>
          <a:lstStyle/>
          <a:p>
            <a:r>
              <a:rPr lang="en-US" dirty="0">
                <a:ea typeface="+mj-lt"/>
                <a:cs typeface="+mj-lt"/>
              </a:rPr>
              <a:t>Additional Source</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ACB0A415-80DE-CE66-FF6D-8C9952CD5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20266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0210412-4B70-3FFC-7F45-BD196D0EFA2A}"/>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6BA1E0F6-2F66-781D-AA37-D3561D8B2E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5" name="Grafik 92">
            <a:extLst>
              <a:ext uri="{FF2B5EF4-FFF2-40B4-BE49-F238E27FC236}">
                <a16:creationId xmlns:a16="http://schemas.microsoft.com/office/drawing/2014/main" id="{277638BB-A87A-4799-F2B1-4CB7973E37A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3643" y="568555"/>
            <a:ext cx="810303" cy="332399"/>
          </a:xfrm>
          <a:prstGeom prst="rect">
            <a:avLst/>
          </a:prstGeom>
        </p:spPr>
      </p:pic>
      <p:pic>
        <p:nvPicPr>
          <p:cNvPr id="9" name="Picture 8" descr="A large screens of a control room&#10;&#10;AI-generated content may be incorrect.">
            <a:extLst>
              <a:ext uri="{FF2B5EF4-FFF2-40B4-BE49-F238E27FC236}">
                <a16:creationId xmlns:a16="http://schemas.microsoft.com/office/drawing/2014/main" id="{91483FDB-31CC-84BE-E45F-334B42140B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16309" y="1391041"/>
            <a:ext cx="7325098" cy="5091602"/>
          </a:xfrm>
          <a:prstGeom prst="rect">
            <a:avLst/>
          </a:prstGeom>
        </p:spPr>
      </p:pic>
      <p:sp>
        <p:nvSpPr>
          <p:cNvPr id="10" name="Text Placeholder 7">
            <a:extLst>
              <a:ext uri="{FF2B5EF4-FFF2-40B4-BE49-F238E27FC236}">
                <a16:creationId xmlns:a16="http://schemas.microsoft.com/office/drawing/2014/main" id="{82075E76-982E-3734-148B-0F52C1852CFD}"/>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Control room of the Future</a:t>
            </a:r>
          </a:p>
        </p:txBody>
      </p:sp>
      <p:sp>
        <p:nvSpPr>
          <p:cNvPr id="11" name="TextBox 10">
            <a:extLst>
              <a:ext uri="{FF2B5EF4-FFF2-40B4-BE49-F238E27FC236}">
                <a16:creationId xmlns:a16="http://schemas.microsoft.com/office/drawing/2014/main" id="{565D5C8A-8C3B-9E74-A656-A0481F36E74E}"/>
              </a:ext>
            </a:extLst>
          </p:cNvPr>
          <p:cNvSpPr txBox="1"/>
          <p:nvPr/>
        </p:nvSpPr>
        <p:spPr>
          <a:xfrm>
            <a:off x="423436" y="1965686"/>
            <a:ext cx="4351898" cy="37343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39CFF"/>
                </a:solidFill>
                <a:effectLst/>
                <a:uLnTx/>
                <a:uFillTx/>
                <a:latin typeface="-apple-system"/>
                <a:ea typeface="+mn-ea"/>
                <a:cs typeface="+mn-cs"/>
                <a:hlinkClick r:id="rId8"/>
              </a:rPr>
              <a:t> </a:t>
            </a:r>
            <a:r>
              <a:rPr kumimoji="0" lang="en-US" sz="2000" b="0" i="0" u="none" strike="noStrike" kern="1200" cap="none" spc="0" normalizeH="0" baseline="0" noProof="0" dirty="0">
                <a:ln>
                  <a:noFill/>
                </a:ln>
                <a:solidFill>
                  <a:srgbClr val="0D0D0D"/>
                </a:solidFill>
                <a:effectLst/>
                <a:uLnTx/>
                <a:uFillTx/>
                <a:latin typeface="-apple-system"/>
                <a:ea typeface="+mn-ea"/>
                <a:cs typeface="+mn-cs"/>
                <a:hlinkClick r:id="rId9"/>
              </a:rPr>
              <a:t>GridOS</a:t>
            </a:r>
            <a:r>
              <a:rPr kumimoji="0" lang="en-US" sz="2000" b="0" i="0" u="none" strike="noStrike" kern="1200" cap="none" spc="0" normalizeH="0" baseline="0" noProof="0" dirty="0">
                <a:ln>
                  <a:noFill/>
                </a:ln>
                <a:solidFill>
                  <a:srgbClr val="339CFF"/>
                </a:solidFill>
                <a:effectLst/>
                <a:uLnTx/>
                <a:uFillTx/>
                <a:latin typeface="-apple-system"/>
                <a:ea typeface="+mn-ea"/>
                <a:cs typeface="+mn-cs"/>
                <a:hlinkClick r:id="rId8"/>
              </a:rPr>
              <a:t> </a:t>
            </a:r>
            <a:r>
              <a:rPr kumimoji="0" lang="en-US" sz="2000" b="0" i="0" u="none" strike="noStrike" kern="1200" cap="none" spc="0" normalizeH="0" baseline="0" noProof="0" dirty="0">
                <a:ln>
                  <a:noFill/>
                </a:ln>
                <a:solidFill>
                  <a:srgbClr val="0D0D0D"/>
                </a:solidFill>
                <a:effectLst/>
                <a:uLnTx/>
                <a:uFillTx/>
                <a:latin typeface="-apple-system"/>
                <a:ea typeface="+mn-ea"/>
                <a:cs typeface="+mn-cs"/>
              </a:rPr>
              <a:t>: GE </a:t>
            </a:r>
            <a:r>
              <a:rPr kumimoji="0" lang="en-US" sz="2000" b="0" i="0" u="none" strike="noStrike" kern="1200" cap="none" spc="0" normalizeH="0" baseline="0" noProof="0" dirty="0" err="1">
                <a:ln>
                  <a:noFill/>
                </a:ln>
                <a:solidFill>
                  <a:srgbClr val="0D0D0D"/>
                </a:solidFill>
                <a:effectLst/>
                <a:uLnTx/>
                <a:uFillTx/>
                <a:latin typeface="-apple-system"/>
                <a:ea typeface="+mn-ea"/>
                <a:cs typeface="+mn-cs"/>
              </a:rPr>
              <a:t>Vernova</a:t>
            </a:r>
            <a:r>
              <a:rPr kumimoji="0" lang="en-US" sz="2000" b="0" i="0" u="none" strike="noStrike" kern="1200" cap="none" spc="0" normalizeH="0" baseline="0" noProof="0" dirty="0">
                <a:ln>
                  <a:noFill/>
                </a:ln>
                <a:solidFill>
                  <a:srgbClr val="0D0D0D"/>
                </a:solidFill>
                <a:effectLst/>
                <a:uLnTx/>
                <a:uFillTx/>
                <a:latin typeface="-apple-system"/>
                <a:ea typeface="+mn-ea"/>
                <a:cs typeface="+mn-cs"/>
              </a:rPr>
              <a:t> – Unified grid intelligence platform integrating EMS,ADMS, operational data, AI</a:t>
            </a:r>
            <a:r>
              <a:rPr kumimoji="0" lang="en-US" sz="2000" b="0" i="0" u="none" strike="noStrike" kern="1200" cap="none" spc="0" normalizeH="0" baseline="0" noProof="0" dirty="0">
                <a:ln>
                  <a:noFill/>
                </a:ln>
                <a:solidFill>
                  <a:srgbClr val="339CFF"/>
                </a:solidFill>
                <a:effectLst/>
                <a:uLnTx/>
                <a:uFillTx/>
                <a:latin typeface="-apple-system"/>
                <a:ea typeface="+mn-ea"/>
                <a:cs typeface="+mn-cs"/>
                <a:hlinkClick r:id=""/>
              </a:rPr>
              <a:t> </a:t>
            </a: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339CFF"/>
              </a:solidFill>
              <a:effectLst/>
              <a:uLnTx/>
              <a:uFillTx/>
              <a:latin typeface="-apple-system"/>
              <a:ea typeface="+mn-ea"/>
              <a:cs typeface="+mn-cs"/>
              <a:hlinkClick r:id=""/>
            </a:endParaRP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39CFF"/>
                </a:solidFill>
                <a:effectLst/>
                <a:uLnTx/>
                <a:uFillTx/>
                <a:latin typeface="-apple-system"/>
                <a:ea typeface="+mn-ea"/>
                <a:cs typeface="+mn-cs"/>
                <a:hlinkClick r:id=""/>
              </a:rPr>
              <a:t>Control room of the Future</a:t>
            </a:r>
            <a:r>
              <a:rPr kumimoji="0" lang="ko-KR" altLang="en-US" sz="2000" b="0" i="0" u="none" strike="noStrike" kern="1200" cap="none" spc="0" normalizeH="0" baseline="0" noProof="0" dirty="0">
                <a:ln>
                  <a:noFill/>
                </a:ln>
                <a:solidFill>
                  <a:srgbClr val="0D0D0D"/>
                </a:solidFill>
                <a:effectLst/>
                <a:uLnTx/>
                <a:uFillTx/>
                <a:latin typeface="-apple-system"/>
                <a:ea typeface="+mn-ea"/>
                <a:cs typeface="+mn-cs"/>
              </a:rPr>
              <a:t> </a:t>
            </a:r>
            <a:r>
              <a:rPr kumimoji="0" lang="en-US" altLang="ko-KR" sz="2000" b="0" i="0" u="none" strike="noStrike" kern="1200" cap="none" spc="0" normalizeH="0" baseline="0" noProof="0" dirty="0">
                <a:ln>
                  <a:noFill/>
                </a:ln>
                <a:solidFill>
                  <a:srgbClr val="0D0D0D"/>
                </a:solidFill>
                <a:effectLst/>
                <a:uLnTx/>
                <a:uFillTx/>
                <a:latin typeface="-apple-system"/>
                <a:ea typeface="+mn-ea"/>
                <a:cs typeface="+mn-cs"/>
              </a:rPr>
              <a:t>:</a:t>
            </a:r>
            <a:r>
              <a:rPr kumimoji="0" lang="ko-KR" altLang="en-US" sz="2000" b="0" i="0" u="none" strike="noStrike" kern="1200" cap="none" spc="0" normalizeH="0" baseline="0" noProof="0" dirty="0">
                <a:ln>
                  <a:noFill/>
                </a:ln>
                <a:solidFill>
                  <a:srgbClr val="0D0D0D"/>
                </a:solidFill>
                <a:effectLst/>
                <a:uLnTx/>
                <a:uFillTx/>
                <a:latin typeface="-apple-system"/>
                <a:ea typeface="+mn-ea"/>
                <a:cs typeface="+mn-cs"/>
              </a:rPr>
              <a:t> </a:t>
            </a:r>
            <a:r>
              <a:rPr kumimoji="0" lang="en-US" altLang="ko-KR" sz="2000" b="0" i="0" u="none" strike="noStrike" kern="1200" cap="none" spc="0" normalizeH="0" baseline="0" noProof="0" dirty="0">
                <a:ln>
                  <a:noFill/>
                </a:ln>
                <a:solidFill>
                  <a:srgbClr val="0D0D0D"/>
                </a:solidFill>
                <a:effectLst/>
                <a:uLnTx/>
                <a:uFillTx/>
                <a:latin typeface="-apple-system"/>
                <a:ea typeface="+mn-ea"/>
                <a:cs typeface="+mn-cs"/>
              </a:rPr>
              <a:t>Hitachi Energy </a:t>
            </a:r>
            <a:r>
              <a:rPr kumimoji="0" lang="en-US" sz="2000" b="0" i="0" u="none" strike="noStrike" kern="1200" cap="none" spc="0" normalizeH="0" baseline="0" noProof="0" dirty="0">
                <a:ln>
                  <a:noFill/>
                </a:ln>
                <a:solidFill>
                  <a:srgbClr val="0D0D0D"/>
                </a:solidFill>
                <a:effectLst/>
                <a:uLnTx/>
                <a:uFillTx/>
                <a:latin typeface="-apple-system"/>
                <a:ea typeface="+mn-ea"/>
                <a:cs typeface="+mn-cs"/>
              </a:rPr>
              <a:t>–</a:t>
            </a:r>
            <a:r>
              <a:rPr kumimoji="0" lang="en-US" altLang="ko-KR" sz="2000" b="0" i="0" u="none" strike="noStrike" kern="1200" cap="none" spc="0" normalizeH="0" baseline="0" noProof="0" dirty="0">
                <a:ln>
                  <a:noFill/>
                </a:ln>
                <a:solidFill>
                  <a:srgbClr val="0D0D0D"/>
                </a:solidFill>
                <a:effectLst/>
                <a:uLnTx/>
                <a:uFillTx/>
                <a:latin typeface="-apple-system"/>
                <a:ea typeface="+mn-ea"/>
                <a:cs typeface="+mn-cs"/>
              </a:rPr>
              <a:t> </a:t>
            </a:r>
            <a:r>
              <a:rPr kumimoji="0" lang="en-US" sz="2000" b="0" i="0" u="none" strike="noStrike" kern="1200" cap="none" spc="0" normalizeH="0" baseline="0" noProof="0" dirty="0">
                <a:ln>
                  <a:noFill/>
                </a:ln>
                <a:solidFill>
                  <a:srgbClr val="0D0D0D"/>
                </a:solidFill>
                <a:effectLst/>
                <a:uLnTx/>
                <a:uFillTx/>
                <a:latin typeface="-apple-system"/>
                <a:ea typeface="+mn-ea"/>
                <a:cs typeface="+mn-cs"/>
              </a:rPr>
              <a:t> AI, Digital Twins, Grid automation </a:t>
            </a: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D0D0D"/>
              </a:solidFill>
              <a:effectLst/>
              <a:uLnTx/>
              <a:uFillTx/>
              <a:latin typeface="-apple-system"/>
              <a:ea typeface="+mn-ea"/>
              <a:cs typeface="+mn-cs"/>
            </a:endParaRPr>
          </a:p>
          <a:p>
            <a:pPr marL="0" marR="0" lvl="0" indent="0" algn="l" defTabSz="914400" rtl="0" eaLnBrk="1" fontAlgn="auto" latinLnBrk="0" hangingPunct="1">
              <a:lnSpc>
                <a:spcPct val="100000"/>
              </a:lnSpc>
              <a:spcBef>
                <a:spcPts val="0"/>
              </a:spcBef>
              <a:spcAft>
                <a:spcPts val="45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339CFF"/>
                </a:solidFill>
                <a:effectLst/>
                <a:uLnTx/>
                <a:uFillTx/>
                <a:latin typeface="-apple-system"/>
                <a:ea typeface="+mn-ea"/>
                <a:cs typeface="+mn-cs"/>
                <a:hlinkClick r:id="rId8"/>
              </a:rPr>
              <a:t>Grid AI Lab Orlando”</a:t>
            </a:r>
            <a:r>
              <a:rPr kumimoji="0" lang="en-US" sz="2000" b="0" i="0" u="none" strike="noStrike" kern="1200" cap="none" spc="0" normalizeH="0" baseline="0" noProof="0" dirty="0">
                <a:ln>
                  <a:noFill/>
                </a:ln>
                <a:solidFill>
                  <a:srgbClr val="0D0D0D"/>
                </a:solidFill>
                <a:effectLst/>
                <a:uLnTx/>
                <a:uFillTx/>
                <a:latin typeface="-apple-system"/>
                <a:ea typeface="+mn-ea"/>
                <a:cs typeface="+mn-cs"/>
              </a:rPr>
              <a:t>. : Siemens –  realistic grid testing lab to safely validate and stress-test grid operation.</a:t>
            </a:r>
          </a:p>
        </p:txBody>
      </p:sp>
    </p:spTree>
    <p:extLst>
      <p:ext uri="{BB962C8B-B14F-4D97-AF65-F5344CB8AC3E}">
        <p14:creationId xmlns:p14="http://schemas.microsoft.com/office/powerpoint/2010/main" val="16189216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A6FF0-321E-A97D-FAC3-11726D9458F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74F4D38-FA24-9186-36D8-54055DBDFFD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34298C7-256D-FCA9-183D-B0A67E0D8D2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1DBE0FCA-C57C-A342-471D-A406426510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0994CC62-8E26-39CF-C9F7-E45DF8718CC3}"/>
              </a:ext>
            </a:extLst>
          </p:cNvPr>
          <p:cNvSpPr>
            <a:spLocks noGrp="1"/>
          </p:cNvSpPr>
          <p:nvPr>
            <p:ph type="title"/>
          </p:nvPr>
        </p:nvSpPr>
        <p:spPr>
          <a:xfrm>
            <a:off x="518318" y="301185"/>
            <a:ext cx="4360830" cy="332399"/>
          </a:xfrm>
        </p:spPr>
        <p:txBody>
          <a:bodyPr/>
          <a:lstStyle/>
          <a:p>
            <a:r>
              <a:rPr lang="en-US" dirty="0" err="1">
                <a:ea typeface="+mj-lt"/>
                <a:cs typeface="+mj-lt"/>
              </a:rPr>
              <a:t>GridOS</a:t>
            </a:r>
            <a:r>
              <a:rPr lang="en-US" dirty="0">
                <a:ea typeface="+mj-lt"/>
                <a:cs typeface="+mj-lt"/>
              </a:rPr>
              <a:t> – General Electric </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03B68735-6B28-F0FB-3B1F-75F8972F7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20266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logo with blue text&#10;&#10;AI-generated content may be incorrect.">
            <a:extLst>
              <a:ext uri="{FF2B5EF4-FFF2-40B4-BE49-F238E27FC236}">
                <a16:creationId xmlns:a16="http://schemas.microsoft.com/office/drawing/2014/main" id="{3559545D-05DB-01ED-18F2-ACDF100E9D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5" name="Grafik 92">
            <a:extLst>
              <a:ext uri="{FF2B5EF4-FFF2-40B4-BE49-F238E27FC236}">
                <a16:creationId xmlns:a16="http://schemas.microsoft.com/office/drawing/2014/main" id="{41682A80-A12D-21B7-34DC-EE0773E7B25D}"/>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93643" y="568555"/>
            <a:ext cx="810303" cy="332399"/>
          </a:xfrm>
          <a:prstGeom prst="rect">
            <a:avLst/>
          </a:prstGeom>
        </p:spPr>
      </p:pic>
      <p:sp>
        <p:nvSpPr>
          <p:cNvPr id="6" name="Text Placeholder 7">
            <a:extLst>
              <a:ext uri="{FF2B5EF4-FFF2-40B4-BE49-F238E27FC236}">
                <a16:creationId xmlns:a16="http://schemas.microsoft.com/office/drawing/2014/main" id="{919F8A43-E401-373D-EACE-FE36968F727B}"/>
              </a:ext>
            </a:extLst>
          </p:cNvPr>
          <p:cNvSpPr txBox="1">
            <a:spLocks/>
          </p:cNvSpPr>
          <p:nvPr/>
        </p:nvSpPr>
        <p:spPr>
          <a:xfrm>
            <a:off x="518317" y="687598"/>
            <a:ext cx="6844385" cy="674544"/>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Accelerating Energy Transition for Utilities</a:t>
            </a:r>
          </a:p>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041E42"/>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F95DE616-1594-04EE-B10F-0A707C260B39}"/>
              </a:ext>
            </a:extLst>
          </p:cNvPr>
          <p:cNvPicPr>
            <a:picLocks noChangeAspect="1"/>
          </p:cNvPicPr>
          <p:nvPr/>
        </p:nvPicPr>
        <p:blipFill>
          <a:blip r:embed="rId6"/>
          <a:stretch>
            <a:fillRect/>
          </a:stretch>
        </p:blipFill>
        <p:spPr>
          <a:xfrm>
            <a:off x="7850254" y="383634"/>
            <a:ext cx="1279737" cy="249949"/>
          </a:xfrm>
          <a:prstGeom prst="rect">
            <a:avLst/>
          </a:prstGeom>
        </p:spPr>
      </p:pic>
      <p:pic>
        <p:nvPicPr>
          <p:cNvPr id="7" name="Picture 6">
            <a:extLst>
              <a:ext uri="{FF2B5EF4-FFF2-40B4-BE49-F238E27FC236}">
                <a16:creationId xmlns:a16="http://schemas.microsoft.com/office/drawing/2014/main" id="{BDAA665C-ED87-D589-98C6-DB6884BD127B}"/>
              </a:ext>
            </a:extLst>
          </p:cNvPr>
          <p:cNvPicPr>
            <a:picLocks noChangeAspect="1"/>
          </p:cNvPicPr>
          <p:nvPr/>
        </p:nvPicPr>
        <p:blipFill>
          <a:blip r:embed="rId7"/>
          <a:stretch>
            <a:fillRect/>
          </a:stretch>
        </p:blipFill>
        <p:spPr>
          <a:xfrm>
            <a:off x="92279" y="0"/>
            <a:ext cx="12007442" cy="6757777"/>
          </a:xfrm>
          <a:prstGeom prst="rect">
            <a:avLst/>
          </a:prstGeom>
        </p:spPr>
      </p:pic>
      <p:sp>
        <p:nvSpPr>
          <p:cNvPr id="12" name="Titel 20">
            <a:extLst>
              <a:ext uri="{FF2B5EF4-FFF2-40B4-BE49-F238E27FC236}">
                <a16:creationId xmlns:a16="http://schemas.microsoft.com/office/drawing/2014/main" id="{42EAEDC2-F491-4CE8-4407-89FF5090B87A}"/>
              </a:ext>
            </a:extLst>
          </p:cNvPr>
          <p:cNvSpPr txBox="1">
            <a:spLocks/>
          </p:cNvSpPr>
          <p:nvPr/>
        </p:nvSpPr>
        <p:spPr>
          <a:xfrm>
            <a:off x="1531192" y="3458913"/>
            <a:ext cx="11157743" cy="5539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err="1">
                <a:ln>
                  <a:noFill/>
                </a:ln>
                <a:solidFill>
                  <a:srgbClr val="041E42"/>
                </a:solidFill>
                <a:effectLst/>
                <a:uLnTx/>
                <a:uFillTx/>
                <a:latin typeface="Arial"/>
                <a:ea typeface="+mj-ea"/>
                <a:cs typeface="+mj-cs"/>
              </a:rPr>
              <a:t>GridOS</a:t>
            </a:r>
            <a:r>
              <a:rPr kumimoji="0" lang="en-US" sz="2400" b="1" i="0" u="none" strike="noStrike" kern="1200" cap="none" spc="0" normalizeH="0" baseline="0" noProof="0" dirty="0">
                <a:ln>
                  <a:noFill/>
                </a:ln>
                <a:solidFill>
                  <a:srgbClr val="041E42"/>
                </a:solidFill>
                <a:effectLst/>
                <a:uLnTx/>
                <a:uFillTx/>
                <a:latin typeface="Arial"/>
                <a:ea typeface="+mj-ea"/>
                <a:cs typeface="+mj-cs"/>
              </a:rPr>
              <a:t> Case-Study</a:t>
            </a:r>
            <a:endParaRPr kumimoji="0" lang="de-DE" sz="2400" b="1" i="0" u="none" strike="noStrike" kern="1200" cap="none" spc="0" normalizeH="0" baseline="0" noProof="0" dirty="0">
              <a:ln>
                <a:noFill/>
              </a:ln>
              <a:solidFill>
                <a:srgbClr val="041E42"/>
              </a:solidFill>
              <a:effectLst/>
              <a:uLnTx/>
              <a:uFillTx/>
              <a:latin typeface="Arial"/>
              <a:ea typeface="+mj-ea"/>
              <a:cs typeface="+mj-cs"/>
            </a:endParaRPr>
          </a:p>
        </p:txBody>
      </p:sp>
    </p:spTree>
    <p:extLst>
      <p:ext uri="{BB962C8B-B14F-4D97-AF65-F5344CB8AC3E}">
        <p14:creationId xmlns:p14="http://schemas.microsoft.com/office/powerpoint/2010/main" val="32386719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CF9C3D-412A-7CDB-782E-3E727763D495}"/>
              </a:ext>
            </a:extLst>
          </p:cNvPr>
          <p:cNvSpPr>
            <a:spLocks noGrp="1"/>
          </p:cNvSpPr>
          <p:nvPr>
            <p:ph type="body" idx="10"/>
          </p:nvPr>
        </p:nvSpPr>
        <p:spPr>
          <a:xfrm>
            <a:off x="838200" y="466725"/>
            <a:ext cx="9868593" cy="666750"/>
          </a:xfrm>
        </p:spPr>
        <p:txBody>
          <a:bodyPr/>
          <a:lstStyle/>
          <a:p>
            <a:r>
              <a:rPr lang="en-US" sz="3200" b="1" dirty="0">
                <a:solidFill>
                  <a:srgbClr val="09233F"/>
                </a:solidFill>
              </a:rPr>
              <a:t>A four-stage path to </a:t>
            </a:r>
            <a:br>
              <a:rPr lang="en-US" sz="3200" b="1" dirty="0">
                <a:solidFill>
                  <a:srgbClr val="09233F"/>
                </a:solidFill>
              </a:rPr>
            </a:br>
            <a:r>
              <a:rPr lang="en-US" sz="3200" b="1" dirty="0">
                <a:solidFill>
                  <a:srgbClr val="09233F"/>
                </a:solidFill>
              </a:rPr>
              <a:t>trusted deployment</a:t>
            </a:r>
            <a:br>
              <a:rPr lang="en-US" sz="3200" b="1" dirty="0">
                <a:solidFill>
                  <a:srgbClr val="09233F"/>
                </a:solidFill>
              </a:rPr>
            </a:br>
            <a:endParaRPr lang="en-US" sz="3200" dirty="0"/>
          </a:p>
        </p:txBody>
      </p:sp>
      <p:sp>
        <p:nvSpPr>
          <p:cNvPr id="4" name="Content Placeholder 3">
            <a:extLst>
              <a:ext uri="{FF2B5EF4-FFF2-40B4-BE49-F238E27FC236}">
                <a16:creationId xmlns:a16="http://schemas.microsoft.com/office/drawing/2014/main" id="{12789AD0-6C99-F7A7-AB67-F7E9C16081BE}"/>
              </a:ext>
            </a:extLst>
          </p:cNvPr>
          <p:cNvSpPr>
            <a:spLocks noGrp="1"/>
          </p:cNvSpPr>
          <p:nvPr>
            <p:ph idx="13"/>
          </p:nvPr>
        </p:nvSpPr>
        <p:spPr/>
        <p:txBody>
          <a:bodyPr/>
          <a:lstStyle/>
          <a:p>
            <a:endParaRPr lang="en-US"/>
          </a:p>
        </p:txBody>
      </p:sp>
      <p:sp>
        <p:nvSpPr>
          <p:cNvPr id="5" name="Rounded Rectangle 4">
            <a:extLst>
              <a:ext uri="{FF2B5EF4-FFF2-40B4-BE49-F238E27FC236}">
                <a16:creationId xmlns:a16="http://schemas.microsoft.com/office/drawing/2014/main" id="{E8BA4E2C-A2F4-0032-CB02-9011853B8167}"/>
              </a:ext>
            </a:extLst>
          </p:cNvPr>
          <p:cNvSpPr>
            <a:spLocks noGrp="1"/>
          </p:cNvSpPr>
          <p:nvPr/>
        </p:nvSpPr>
        <p:spPr>
          <a:xfrm>
            <a:off x="732294" y="2260585"/>
            <a:ext cx="2362200" cy="2857500"/>
          </a:xfrm>
          <a:prstGeom prst="roundRect">
            <a:avLst>
              <a:gd name="adj" fmla="val 4839"/>
            </a:avLst>
          </a:prstGeom>
          <a:solidFill>
            <a:srgbClr val="FFFFFF"/>
          </a:solidFill>
          <a:ln w="9525">
            <a:solidFill>
              <a:srgbClr val="C9D6DC"/>
            </a:solidFill>
            <a:prstDash val="solid"/>
          </a:ln>
        </p:spPr>
        <p:txBody>
          <a:bodyPr/>
          <a:lstStyle/>
          <a:p>
            <a:endParaRPr lang="en-US"/>
          </a:p>
        </p:txBody>
      </p:sp>
      <p:sp>
        <p:nvSpPr>
          <p:cNvPr id="6" name="Rounded Rectangle 5">
            <a:extLst>
              <a:ext uri="{FF2B5EF4-FFF2-40B4-BE49-F238E27FC236}">
                <a16:creationId xmlns:a16="http://schemas.microsoft.com/office/drawing/2014/main" id="{73C225E1-724C-EE6B-E814-8863A1F7FC71}"/>
              </a:ext>
            </a:extLst>
          </p:cNvPr>
          <p:cNvSpPr>
            <a:spLocks noGrp="1"/>
          </p:cNvSpPr>
          <p:nvPr/>
        </p:nvSpPr>
        <p:spPr>
          <a:xfrm>
            <a:off x="732294" y="2260585"/>
            <a:ext cx="66675" cy="2857500"/>
          </a:xfrm>
          <a:prstGeom prst="roundRect">
            <a:avLst>
              <a:gd name="adj" fmla="val 50000"/>
            </a:avLst>
          </a:prstGeom>
          <a:solidFill>
            <a:srgbClr val="1976A3"/>
          </a:solidFill>
          <a:ln w="0">
            <a:solidFill>
              <a:srgbClr val="1976A3"/>
            </a:solidFill>
            <a:prstDash val="solid"/>
          </a:ln>
        </p:spPr>
        <p:txBody>
          <a:bodyPr/>
          <a:lstStyle/>
          <a:p>
            <a:endParaRPr lang="en-US"/>
          </a:p>
        </p:txBody>
      </p:sp>
      <p:sp>
        <p:nvSpPr>
          <p:cNvPr id="7" name="Rectangle 6">
            <a:extLst>
              <a:ext uri="{FF2B5EF4-FFF2-40B4-BE49-F238E27FC236}">
                <a16:creationId xmlns:a16="http://schemas.microsoft.com/office/drawing/2014/main" id="{ABE4DAD8-5FC9-2B68-53F1-7279A63CF7EC}"/>
              </a:ext>
            </a:extLst>
          </p:cNvPr>
          <p:cNvSpPr>
            <a:spLocks noGrp="1"/>
          </p:cNvSpPr>
          <p:nvPr/>
        </p:nvSpPr>
        <p:spPr>
          <a:xfrm>
            <a:off x="960894" y="2412985"/>
            <a:ext cx="1943100" cy="361950"/>
          </a:xfrm>
          <a:prstGeom prst="rect">
            <a:avLst/>
          </a:prstGeom>
          <a:noFill/>
          <a:ln w="0">
            <a:noFill/>
            <a:prstDash val="solid"/>
          </a:ln>
        </p:spPr>
        <p:txBody>
          <a:bodyPr anchor="ctr"/>
          <a:lstStyle/>
          <a:p>
            <a:pPr algn="l">
              <a:defRPr sz="1575" b="1">
                <a:solidFill>
                  <a:srgbClr val="09233F"/>
                </a:solidFill>
              </a:defRPr>
            </a:pPr>
            <a:r>
              <a:rPr sz="1575" b="1">
                <a:solidFill>
                  <a:srgbClr val="09233F"/>
                </a:solidFill>
              </a:rPr>
              <a:t>Data + graph</a:t>
            </a:r>
          </a:p>
        </p:txBody>
      </p:sp>
      <p:sp>
        <p:nvSpPr>
          <p:cNvPr id="8" name="Rectangle 7">
            <a:extLst>
              <a:ext uri="{FF2B5EF4-FFF2-40B4-BE49-F238E27FC236}">
                <a16:creationId xmlns:a16="http://schemas.microsoft.com/office/drawing/2014/main" id="{321B9B93-9AE7-A329-FD5F-F5D58AEDB2F1}"/>
              </a:ext>
            </a:extLst>
          </p:cNvPr>
          <p:cNvSpPr>
            <a:spLocks noGrp="1"/>
          </p:cNvSpPr>
          <p:nvPr/>
        </p:nvSpPr>
        <p:spPr>
          <a:xfrm>
            <a:off x="960894" y="2851135"/>
            <a:ext cx="1943100" cy="2114550"/>
          </a:xfrm>
          <a:prstGeom prst="rect">
            <a:avLst/>
          </a:prstGeom>
          <a:noFill/>
          <a:ln w="0">
            <a:noFill/>
            <a:prstDash val="solid"/>
          </a:ln>
        </p:spPr>
        <p:txBody>
          <a:bodyPr anchor="ctr"/>
          <a:lstStyle/>
          <a:p>
            <a:pPr algn="l">
              <a:defRPr sz="1275" b="0">
                <a:solidFill>
                  <a:srgbClr val="607589"/>
                </a:solidFill>
              </a:defRPr>
            </a:pPr>
            <a:r>
              <a:rPr sz="1275" b="0" dirty="0">
                <a:solidFill>
                  <a:srgbClr val="607589"/>
                </a:solidFill>
              </a:rPr>
              <a:t>CIM / CGMES</a:t>
            </a:r>
          </a:p>
          <a:p>
            <a:pPr algn="l">
              <a:defRPr sz="1275" b="0">
                <a:solidFill>
                  <a:srgbClr val="607589"/>
                </a:solidFill>
              </a:defRPr>
            </a:pPr>
            <a:r>
              <a:rPr sz="1275" b="0" dirty="0">
                <a:solidFill>
                  <a:srgbClr val="607589"/>
                </a:solidFill>
              </a:rPr>
              <a:t>SCADA / EMS</a:t>
            </a:r>
          </a:p>
          <a:p>
            <a:pPr algn="l">
              <a:defRPr sz="1275" b="0">
                <a:solidFill>
                  <a:srgbClr val="607589"/>
                </a:solidFill>
              </a:defRPr>
            </a:pPr>
            <a:r>
              <a:rPr sz="1275" b="0" dirty="0">
                <a:solidFill>
                  <a:srgbClr val="607589"/>
                </a:solidFill>
              </a:rPr>
              <a:t>Weather / historian</a:t>
            </a:r>
          </a:p>
        </p:txBody>
      </p:sp>
      <p:sp>
        <p:nvSpPr>
          <p:cNvPr id="9" name="Oval 8">
            <a:extLst>
              <a:ext uri="{FF2B5EF4-FFF2-40B4-BE49-F238E27FC236}">
                <a16:creationId xmlns:a16="http://schemas.microsoft.com/office/drawing/2014/main" id="{75AA3D8C-D340-0A31-35D4-FD8F30F91F27}"/>
              </a:ext>
            </a:extLst>
          </p:cNvPr>
          <p:cNvSpPr>
            <a:spLocks noGrp="1"/>
          </p:cNvSpPr>
          <p:nvPr/>
        </p:nvSpPr>
        <p:spPr>
          <a:xfrm>
            <a:off x="1456194" y="1422385"/>
            <a:ext cx="914400" cy="914400"/>
          </a:xfrm>
          <a:prstGeom prst="ellipse">
            <a:avLst/>
          </a:prstGeom>
          <a:solidFill>
            <a:srgbClr val="1976A3"/>
          </a:solidFill>
          <a:ln w="0">
            <a:solidFill>
              <a:srgbClr val="1976A3"/>
            </a:solidFill>
            <a:prstDash val="solid"/>
          </a:ln>
        </p:spPr>
        <p:txBody>
          <a:bodyPr/>
          <a:lstStyle/>
          <a:p>
            <a:endParaRPr lang="en-US"/>
          </a:p>
        </p:txBody>
      </p:sp>
      <p:sp>
        <p:nvSpPr>
          <p:cNvPr id="10" name="Rectangle 9">
            <a:extLst>
              <a:ext uri="{FF2B5EF4-FFF2-40B4-BE49-F238E27FC236}">
                <a16:creationId xmlns:a16="http://schemas.microsoft.com/office/drawing/2014/main" id="{F477D71D-5537-6059-2637-08DF5C690CFD}"/>
              </a:ext>
            </a:extLst>
          </p:cNvPr>
          <p:cNvSpPr>
            <a:spLocks noGrp="1"/>
          </p:cNvSpPr>
          <p:nvPr/>
        </p:nvSpPr>
        <p:spPr>
          <a:xfrm>
            <a:off x="1456194" y="1641460"/>
            <a:ext cx="914400" cy="4000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1</a:t>
            </a:r>
          </a:p>
        </p:txBody>
      </p:sp>
      <p:sp>
        <p:nvSpPr>
          <p:cNvPr id="11" name="Rounded Rectangle 10">
            <a:extLst>
              <a:ext uri="{FF2B5EF4-FFF2-40B4-BE49-F238E27FC236}">
                <a16:creationId xmlns:a16="http://schemas.microsoft.com/office/drawing/2014/main" id="{C810C0AD-CB45-2038-EB68-4EB8729167FA}"/>
              </a:ext>
            </a:extLst>
          </p:cNvPr>
          <p:cNvSpPr>
            <a:spLocks noGrp="1"/>
          </p:cNvSpPr>
          <p:nvPr/>
        </p:nvSpPr>
        <p:spPr>
          <a:xfrm>
            <a:off x="3132594" y="3536935"/>
            <a:ext cx="247650" cy="38100"/>
          </a:xfrm>
          <a:prstGeom prst="roundRect">
            <a:avLst>
              <a:gd name="adj" fmla="val 50000"/>
            </a:avLst>
          </a:prstGeom>
          <a:solidFill>
            <a:srgbClr val="E8A23B"/>
          </a:solidFill>
          <a:ln w="0">
            <a:solidFill>
              <a:srgbClr val="E8A23B"/>
            </a:solidFill>
            <a:prstDash val="solid"/>
          </a:ln>
        </p:spPr>
        <p:txBody>
          <a:bodyPr/>
          <a:lstStyle/>
          <a:p>
            <a:endParaRPr lang="en-US"/>
          </a:p>
        </p:txBody>
      </p:sp>
      <p:sp>
        <p:nvSpPr>
          <p:cNvPr id="12" name="Triangle 11">
            <a:extLst>
              <a:ext uri="{FF2B5EF4-FFF2-40B4-BE49-F238E27FC236}">
                <a16:creationId xmlns:a16="http://schemas.microsoft.com/office/drawing/2014/main" id="{86F474C6-1D67-5A80-CD97-EF7B2A7CD4BA}"/>
              </a:ext>
            </a:extLst>
          </p:cNvPr>
          <p:cNvSpPr>
            <a:spLocks noGrp="1"/>
          </p:cNvSpPr>
          <p:nvPr/>
        </p:nvSpPr>
        <p:spPr>
          <a:xfrm rot="5400000">
            <a:off x="3304044" y="3470260"/>
            <a:ext cx="171450" cy="171450"/>
          </a:xfrm>
          <a:prstGeom prst="triangle">
            <a:avLst/>
          </a:prstGeom>
          <a:solidFill>
            <a:srgbClr val="E8A23B"/>
          </a:solidFill>
          <a:ln w="0">
            <a:solidFill>
              <a:srgbClr val="E8A23B"/>
            </a:solidFill>
            <a:prstDash val="solid"/>
          </a:ln>
        </p:spPr>
        <p:txBody>
          <a:bodyPr/>
          <a:lstStyle/>
          <a:p>
            <a:endParaRPr lang="en-US"/>
          </a:p>
        </p:txBody>
      </p:sp>
      <p:sp>
        <p:nvSpPr>
          <p:cNvPr id="13" name="Rounded Rectangle 12">
            <a:extLst>
              <a:ext uri="{FF2B5EF4-FFF2-40B4-BE49-F238E27FC236}">
                <a16:creationId xmlns:a16="http://schemas.microsoft.com/office/drawing/2014/main" id="{95D4E23D-8746-EA7D-3036-8C6D8B97B875}"/>
              </a:ext>
            </a:extLst>
          </p:cNvPr>
          <p:cNvSpPr>
            <a:spLocks noGrp="1"/>
          </p:cNvSpPr>
          <p:nvPr/>
        </p:nvSpPr>
        <p:spPr>
          <a:xfrm>
            <a:off x="3456444" y="2260585"/>
            <a:ext cx="2362200" cy="2857500"/>
          </a:xfrm>
          <a:prstGeom prst="roundRect">
            <a:avLst>
              <a:gd name="adj" fmla="val 4839"/>
            </a:avLst>
          </a:prstGeom>
          <a:solidFill>
            <a:srgbClr val="FFFFFF"/>
          </a:solidFill>
          <a:ln w="9525">
            <a:solidFill>
              <a:srgbClr val="C9D6DC"/>
            </a:solidFill>
            <a:prstDash val="solid"/>
          </a:ln>
        </p:spPr>
        <p:txBody>
          <a:bodyPr/>
          <a:lstStyle/>
          <a:p>
            <a:endParaRPr lang="en-US"/>
          </a:p>
        </p:txBody>
      </p:sp>
      <p:sp>
        <p:nvSpPr>
          <p:cNvPr id="14" name="Rounded Rectangle 13">
            <a:extLst>
              <a:ext uri="{FF2B5EF4-FFF2-40B4-BE49-F238E27FC236}">
                <a16:creationId xmlns:a16="http://schemas.microsoft.com/office/drawing/2014/main" id="{E8259163-8DC7-0800-9396-9877C5ABFE50}"/>
              </a:ext>
            </a:extLst>
          </p:cNvPr>
          <p:cNvSpPr>
            <a:spLocks noGrp="1"/>
          </p:cNvSpPr>
          <p:nvPr/>
        </p:nvSpPr>
        <p:spPr>
          <a:xfrm>
            <a:off x="3456444" y="2260585"/>
            <a:ext cx="66675" cy="2857500"/>
          </a:xfrm>
          <a:prstGeom prst="roundRect">
            <a:avLst>
              <a:gd name="adj" fmla="val 50000"/>
            </a:avLst>
          </a:prstGeom>
          <a:solidFill>
            <a:srgbClr val="1976A3"/>
          </a:solidFill>
          <a:ln w="0">
            <a:solidFill>
              <a:srgbClr val="1976A3"/>
            </a:solidFill>
            <a:prstDash val="solid"/>
          </a:ln>
        </p:spPr>
        <p:txBody>
          <a:bodyPr/>
          <a:lstStyle/>
          <a:p>
            <a:endParaRPr lang="en-US"/>
          </a:p>
        </p:txBody>
      </p:sp>
      <p:sp>
        <p:nvSpPr>
          <p:cNvPr id="15" name="Rectangle 14">
            <a:extLst>
              <a:ext uri="{FF2B5EF4-FFF2-40B4-BE49-F238E27FC236}">
                <a16:creationId xmlns:a16="http://schemas.microsoft.com/office/drawing/2014/main" id="{1ECEF73B-5E00-F760-888E-9EF991FC80EB}"/>
              </a:ext>
            </a:extLst>
          </p:cNvPr>
          <p:cNvSpPr>
            <a:spLocks noGrp="1"/>
          </p:cNvSpPr>
          <p:nvPr/>
        </p:nvSpPr>
        <p:spPr>
          <a:xfrm>
            <a:off x="3685044" y="2412985"/>
            <a:ext cx="1943100" cy="361950"/>
          </a:xfrm>
          <a:prstGeom prst="rect">
            <a:avLst/>
          </a:prstGeom>
          <a:noFill/>
          <a:ln w="0">
            <a:noFill/>
            <a:prstDash val="solid"/>
          </a:ln>
        </p:spPr>
        <p:txBody>
          <a:bodyPr anchor="ctr"/>
          <a:lstStyle/>
          <a:p>
            <a:pPr algn="l">
              <a:defRPr sz="1575" b="1">
                <a:solidFill>
                  <a:srgbClr val="09233F"/>
                </a:solidFill>
              </a:defRPr>
            </a:pPr>
            <a:r>
              <a:rPr lang="en-US" sz="1575" b="1" dirty="0">
                <a:solidFill>
                  <a:srgbClr val="09233F"/>
                </a:solidFill>
              </a:rPr>
              <a:t>Workflow-based</a:t>
            </a:r>
            <a:endParaRPr sz="1575" b="1" dirty="0">
              <a:solidFill>
                <a:srgbClr val="09233F"/>
              </a:solidFill>
            </a:endParaRPr>
          </a:p>
        </p:txBody>
      </p:sp>
      <p:sp>
        <p:nvSpPr>
          <p:cNvPr id="16" name="Rectangle 15">
            <a:extLst>
              <a:ext uri="{FF2B5EF4-FFF2-40B4-BE49-F238E27FC236}">
                <a16:creationId xmlns:a16="http://schemas.microsoft.com/office/drawing/2014/main" id="{8C90FD9B-708F-B64C-5EB4-AAB28E25A371}"/>
              </a:ext>
            </a:extLst>
          </p:cNvPr>
          <p:cNvSpPr>
            <a:spLocks noGrp="1"/>
          </p:cNvSpPr>
          <p:nvPr/>
        </p:nvSpPr>
        <p:spPr>
          <a:xfrm>
            <a:off x="3685044" y="2851135"/>
            <a:ext cx="1943100" cy="2114550"/>
          </a:xfrm>
          <a:prstGeom prst="rect">
            <a:avLst/>
          </a:prstGeom>
          <a:noFill/>
          <a:ln w="0">
            <a:noFill/>
            <a:prstDash val="solid"/>
          </a:ln>
        </p:spPr>
        <p:txBody>
          <a:bodyPr anchor="ctr"/>
          <a:lstStyle/>
          <a:p>
            <a:pPr algn="l">
              <a:defRPr sz="1275" b="0">
                <a:solidFill>
                  <a:srgbClr val="607589"/>
                </a:solidFill>
              </a:defRPr>
            </a:pPr>
            <a:r>
              <a:rPr sz="1275" b="0">
                <a:solidFill>
                  <a:srgbClr val="607589"/>
                </a:solidFill>
              </a:rPr>
              <a:t>Analyze</a:t>
            </a:r>
          </a:p>
          <a:p>
            <a:pPr algn="l">
              <a:defRPr sz="1275" b="0">
                <a:solidFill>
                  <a:srgbClr val="607589"/>
                </a:solidFill>
              </a:defRPr>
            </a:pPr>
            <a:r>
              <a:rPr sz="1275" b="0">
                <a:solidFill>
                  <a:srgbClr val="607589"/>
                </a:solidFill>
              </a:rPr>
              <a:t>Summarize</a:t>
            </a:r>
          </a:p>
          <a:p>
            <a:pPr algn="l">
              <a:defRPr sz="1275" b="0">
                <a:solidFill>
                  <a:srgbClr val="607589"/>
                </a:solidFill>
              </a:defRPr>
            </a:pPr>
            <a:r>
              <a:rPr sz="1275" b="0">
                <a:solidFill>
                  <a:srgbClr val="607589"/>
                </a:solidFill>
              </a:rPr>
              <a:t>Recommend</a:t>
            </a:r>
          </a:p>
        </p:txBody>
      </p:sp>
      <p:sp>
        <p:nvSpPr>
          <p:cNvPr id="17" name="Oval 16">
            <a:extLst>
              <a:ext uri="{FF2B5EF4-FFF2-40B4-BE49-F238E27FC236}">
                <a16:creationId xmlns:a16="http://schemas.microsoft.com/office/drawing/2014/main" id="{BEE5A49B-789F-469A-D1FE-13A3F2345CE7}"/>
              </a:ext>
            </a:extLst>
          </p:cNvPr>
          <p:cNvSpPr>
            <a:spLocks noGrp="1"/>
          </p:cNvSpPr>
          <p:nvPr/>
        </p:nvSpPr>
        <p:spPr>
          <a:xfrm>
            <a:off x="4180344" y="1422385"/>
            <a:ext cx="914400" cy="914400"/>
          </a:xfrm>
          <a:prstGeom prst="ellipse">
            <a:avLst/>
          </a:prstGeom>
          <a:solidFill>
            <a:srgbClr val="1976A3"/>
          </a:solidFill>
          <a:ln w="0">
            <a:solidFill>
              <a:srgbClr val="1976A3"/>
            </a:solidFill>
            <a:prstDash val="solid"/>
          </a:ln>
        </p:spPr>
        <p:txBody>
          <a:bodyPr/>
          <a:lstStyle/>
          <a:p>
            <a:endParaRPr lang="en-US"/>
          </a:p>
        </p:txBody>
      </p:sp>
      <p:sp>
        <p:nvSpPr>
          <p:cNvPr id="18" name="Rectangle 17">
            <a:extLst>
              <a:ext uri="{FF2B5EF4-FFF2-40B4-BE49-F238E27FC236}">
                <a16:creationId xmlns:a16="http://schemas.microsoft.com/office/drawing/2014/main" id="{9E6AE687-AC30-601A-AEEF-7F98986BFDC1}"/>
              </a:ext>
            </a:extLst>
          </p:cNvPr>
          <p:cNvSpPr>
            <a:spLocks noGrp="1"/>
          </p:cNvSpPr>
          <p:nvPr/>
        </p:nvSpPr>
        <p:spPr>
          <a:xfrm>
            <a:off x="4180344" y="1641460"/>
            <a:ext cx="914400" cy="4000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2</a:t>
            </a:r>
          </a:p>
        </p:txBody>
      </p:sp>
      <p:sp>
        <p:nvSpPr>
          <p:cNvPr id="19" name="Rounded Rectangle 18">
            <a:extLst>
              <a:ext uri="{FF2B5EF4-FFF2-40B4-BE49-F238E27FC236}">
                <a16:creationId xmlns:a16="http://schemas.microsoft.com/office/drawing/2014/main" id="{31D4D0DE-D15E-B13B-BE0D-36DFE798BFB5}"/>
              </a:ext>
            </a:extLst>
          </p:cNvPr>
          <p:cNvSpPr>
            <a:spLocks noGrp="1"/>
          </p:cNvSpPr>
          <p:nvPr/>
        </p:nvSpPr>
        <p:spPr>
          <a:xfrm>
            <a:off x="5856744" y="3536935"/>
            <a:ext cx="247650" cy="38100"/>
          </a:xfrm>
          <a:prstGeom prst="roundRect">
            <a:avLst>
              <a:gd name="adj" fmla="val 50000"/>
            </a:avLst>
          </a:prstGeom>
          <a:solidFill>
            <a:srgbClr val="E8A23B"/>
          </a:solidFill>
          <a:ln w="0">
            <a:solidFill>
              <a:srgbClr val="E8A23B"/>
            </a:solidFill>
            <a:prstDash val="solid"/>
          </a:ln>
        </p:spPr>
        <p:txBody>
          <a:bodyPr/>
          <a:lstStyle/>
          <a:p>
            <a:endParaRPr lang="en-US"/>
          </a:p>
        </p:txBody>
      </p:sp>
      <p:sp>
        <p:nvSpPr>
          <p:cNvPr id="20" name="Triangle 19">
            <a:extLst>
              <a:ext uri="{FF2B5EF4-FFF2-40B4-BE49-F238E27FC236}">
                <a16:creationId xmlns:a16="http://schemas.microsoft.com/office/drawing/2014/main" id="{B0B23D7D-4C24-D248-3B2B-EB16990E85A6}"/>
              </a:ext>
            </a:extLst>
          </p:cNvPr>
          <p:cNvSpPr>
            <a:spLocks noGrp="1"/>
          </p:cNvSpPr>
          <p:nvPr/>
        </p:nvSpPr>
        <p:spPr>
          <a:xfrm rot="5400000">
            <a:off x="6028194" y="3470260"/>
            <a:ext cx="171450" cy="171450"/>
          </a:xfrm>
          <a:prstGeom prst="triangle">
            <a:avLst/>
          </a:prstGeom>
          <a:solidFill>
            <a:srgbClr val="E8A23B"/>
          </a:solidFill>
          <a:ln w="0">
            <a:solidFill>
              <a:srgbClr val="E8A23B"/>
            </a:solidFill>
            <a:prstDash val="solid"/>
          </a:ln>
        </p:spPr>
        <p:txBody>
          <a:bodyPr/>
          <a:lstStyle/>
          <a:p>
            <a:endParaRPr lang="en-US"/>
          </a:p>
        </p:txBody>
      </p:sp>
      <p:sp>
        <p:nvSpPr>
          <p:cNvPr id="21" name="Rounded Rectangle 20">
            <a:extLst>
              <a:ext uri="{FF2B5EF4-FFF2-40B4-BE49-F238E27FC236}">
                <a16:creationId xmlns:a16="http://schemas.microsoft.com/office/drawing/2014/main" id="{09178DDC-8977-689A-12A3-4612176A9547}"/>
              </a:ext>
            </a:extLst>
          </p:cNvPr>
          <p:cNvSpPr>
            <a:spLocks noGrp="1"/>
          </p:cNvSpPr>
          <p:nvPr/>
        </p:nvSpPr>
        <p:spPr>
          <a:xfrm>
            <a:off x="6180594" y="2260585"/>
            <a:ext cx="2362200" cy="2857500"/>
          </a:xfrm>
          <a:prstGeom prst="roundRect">
            <a:avLst>
              <a:gd name="adj" fmla="val 4839"/>
            </a:avLst>
          </a:prstGeom>
          <a:solidFill>
            <a:srgbClr val="FFFFFF"/>
          </a:solidFill>
          <a:ln w="9525">
            <a:solidFill>
              <a:srgbClr val="C9D6DC"/>
            </a:solidFill>
            <a:prstDash val="solid"/>
          </a:ln>
        </p:spPr>
        <p:txBody>
          <a:bodyPr/>
          <a:lstStyle/>
          <a:p>
            <a:endParaRPr lang="en-US"/>
          </a:p>
        </p:txBody>
      </p:sp>
      <p:sp>
        <p:nvSpPr>
          <p:cNvPr id="22" name="Rounded Rectangle 21">
            <a:extLst>
              <a:ext uri="{FF2B5EF4-FFF2-40B4-BE49-F238E27FC236}">
                <a16:creationId xmlns:a16="http://schemas.microsoft.com/office/drawing/2014/main" id="{5A62456F-F121-475C-9EA2-EB24BA2F507D}"/>
              </a:ext>
            </a:extLst>
          </p:cNvPr>
          <p:cNvSpPr>
            <a:spLocks noGrp="1"/>
          </p:cNvSpPr>
          <p:nvPr/>
        </p:nvSpPr>
        <p:spPr>
          <a:xfrm>
            <a:off x="6180594" y="2260585"/>
            <a:ext cx="66675" cy="2857500"/>
          </a:xfrm>
          <a:prstGeom prst="roundRect">
            <a:avLst>
              <a:gd name="adj" fmla="val 50000"/>
            </a:avLst>
          </a:prstGeom>
          <a:solidFill>
            <a:srgbClr val="1976A3"/>
          </a:solidFill>
          <a:ln w="0">
            <a:solidFill>
              <a:srgbClr val="1976A3"/>
            </a:solidFill>
            <a:prstDash val="solid"/>
          </a:ln>
        </p:spPr>
        <p:txBody>
          <a:bodyPr/>
          <a:lstStyle/>
          <a:p>
            <a:endParaRPr lang="en-US"/>
          </a:p>
        </p:txBody>
      </p:sp>
      <p:sp>
        <p:nvSpPr>
          <p:cNvPr id="23" name="Rectangle 22">
            <a:extLst>
              <a:ext uri="{FF2B5EF4-FFF2-40B4-BE49-F238E27FC236}">
                <a16:creationId xmlns:a16="http://schemas.microsoft.com/office/drawing/2014/main" id="{04FF4FF0-66EE-2093-98B8-9F9D2BB2DE90}"/>
              </a:ext>
            </a:extLst>
          </p:cNvPr>
          <p:cNvSpPr>
            <a:spLocks noGrp="1"/>
          </p:cNvSpPr>
          <p:nvPr/>
        </p:nvSpPr>
        <p:spPr>
          <a:xfrm>
            <a:off x="6409194" y="2412985"/>
            <a:ext cx="1943100" cy="361950"/>
          </a:xfrm>
          <a:prstGeom prst="rect">
            <a:avLst/>
          </a:prstGeom>
          <a:noFill/>
          <a:ln w="0">
            <a:noFill/>
            <a:prstDash val="solid"/>
          </a:ln>
        </p:spPr>
        <p:txBody>
          <a:bodyPr anchor="ctr"/>
          <a:lstStyle/>
          <a:p>
            <a:pPr algn="l">
              <a:defRPr sz="1575" b="1">
                <a:solidFill>
                  <a:srgbClr val="09233F"/>
                </a:solidFill>
              </a:defRPr>
            </a:pPr>
            <a:r>
              <a:rPr sz="1575" b="1">
                <a:solidFill>
                  <a:srgbClr val="09233F"/>
                </a:solidFill>
              </a:rPr>
              <a:t>Sandbox agent</a:t>
            </a:r>
          </a:p>
        </p:txBody>
      </p:sp>
      <p:sp>
        <p:nvSpPr>
          <p:cNvPr id="24" name="Rectangle 23">
            <a:extLst>
              <a:ext uri="{FF2B5EF4-FFF2-40B4-BE49-F238E27FC236}">
                <a16:creationId xmlns:a16="http://schemas.microsoft.com/office/drawing/2014/main" id="{998C1549-FD60-EBA0-E267-5366F800EC90}"/>
              </a:ext>
            </a:extLst>
          </p:cNvPr>
          <p:cNvSpPr>
            <a:spLocks noGrp="1"/>
          </p:cNvSpPr>
          <p:nvPr/>
        </p:nvSpPr>
        <p:spPr>
          <a:xfrm>
            <a:off x="6409194" y="2851135"/>
            <a:ext cx="1943100" cy="2114550"/>
          </a:xfrm>
          <a:prstGeom prst="rect">
            <a:avLst/>
          </a:prstGeom>
          <a:noFill/>
          <a:ln w="0">
            <a:noFill/>
            <a:prstDash val="solid"/>
          </a:ln>
        </p:spPr>
        <p:txBody>
          <a:bodyPr anchor="ctr"/>
          <a:lstStyle/>
          <a:p>
            <a:pPr algn="l">
              <a:defRPr sz="1275" b="0">
                <a:solidFill>
                  <a:srgbClr val="607589"/>
                </a:solidFill>
              </a:defRPr>
            </a:pPr>
            <a:r>
              <a:rPr sz="1275" b="0">
                <a:solidFill>
                  <a:srgbClr val="607589"/>
                </a:solidFill>
              </a:rPr>
              <a:t>Switching plan</a:t>
            </a:r>
          </a:p>
          <a:p>
            <a:pPr algn="l">
              <a:defRPr sz="1275" b="0">
                <a:solidFill>
                  <a:srgbClr val="607589"/>
                </a:solidFill>
              </a:defRPr>
            </a:pPr>
            <a:r>
              <a:rPr sz="1275" b="0">
                <a:solidFill>
                  <a:srgbClr val="607589"/>
                </a:solidFill>
              </a:rPr>
              <a:t>Restoration plan</a:t>
            </a:r>
          </a:p>
          <a:p>
            <a:pPr algn="l">
              <a:defRPr sz="1275" b="0">
                <a:solidFill>
                  <a:srgbClr val="607589"/>
                </a:solidFill>
              </a:defRPr>
            </a:pPr>
            <a:r>
              <a:rPr sz="1275" b="0">
                <a:solidFill>
                  <a:srgbClr val="607589"/>
                </a:solidFill>
              </a:rPr>
              <a:t>Contingency study</a:t>
            </a:r>
          </a:p>
        </p:txBody>
      </p:sp>
      <p:sp>
        <p:nvSpPr>
          <p:cNvPr id="25" name="Oval 24">
            <a:extLst>
              <a:ext uri="{FF2B5EF4-FFF2-40B4-BE49-F238E27FC236}">
                <a16:creationId xmlns:a16="http://schemas.microsoft.com/office/drawing/2014/main" id="{8F94CA82-9BBD-137A-964D-7DA57D953E9B}"/>
              </a:ext>
            </a:extLst>
          </p:cNvPr>
          <p:cNvSpPr>
            <a:spLocks noGrp="1"/>
          </p:cNvSpPr>
          <p:nvPr/>
        </p:nvSpPr>
        <p:spPr>
          <a:xfrm>
            <a:off x="6904494" y="1422385"/>
            <a:ext cx="914400" cy="914400"/>
          </a:xfrm>
          <a:prstGeom prst="ellipse">
            <a:avLst/>
          </a:prstGeom>
          <a:solidFill>
            <a:srgbClr val="1976A3"/>
          </a:solidFill>
          <a:ln w="0">
            <a:solidFill>
              <a:srgbClr val="1976A3"/>
            </a:solidFill>
            <a:prstDash val="solid"/>
          </a:ln>
        </p:spPr>
        <p:txBody>
          <a:bodyPr/>
          <a:lstStyle/>
          <a:p>
            <a:endParaRPr lang="en-US"/>
          </a:p>
        </p:txBody>
      </p:sp>
      <p:sp>
        <p:nvSpPr>
          <p:cNvPr id="26" name="Rectangle 25">
            <a:extLst>
              <a:ext uri="{FF2B5EF4-FFF2-40B4-BE49-F238E27FC236}">
                <a16:creationId xmlns:a16="http://schemas.microsoft.com/office/drawing/2014/main" id="{029331F6-1880-0C2E-F0F0-35D327F16BBB}"/>
              </a:ext>
            </a:extLst>
          </p:cNvPr>
          <p:cNvSpPr>
            <a:spLocks noGrp="1"/>
          </p:cNvSpPr>
          <p:nvPr/>
        </p:nvSpPr>
        <p:spPr>
          <a:xfrm>
            <a:off x="6904494" y="1641460"/>
            <a:ext cx="914400" cy="4000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3</a:t>
            </a:r>
          </a:p>
        </p:txBody>
      </p:sp>
      <p:sp>
        <p:nvSpPr>
          <p:cNvPr id="27" name="Rounded Rectangle 26">
            <a:extLst>
              <a:ext uri="{FF2B5EF4-FFF2-40B4-BE49-F238E27FC236}">
                <a16:creationId xmlns:a16="http://schemas.microsoft.com/office/drawing/2014/main" id="{5534EF66-B62B-F928-C291-F5BA9B45F0D1}"/>
              </a:ext>
            </a:extLst>
          </p:cNvPr>
          <p:cNvSpPr>
            <a:spLocks noGrp="1"/>
          </p:cNvSpPr>
          <p:nvPr/>
        </p:nvSpPr>
        <p:spPr>
          <a:xfrm>
            <a:off x="8580894" y="3536935"/>
            <a:ext cx="247650" cy="38100"/>
          </a:xfrm>
          <a:prstGeom prst="roundRect">
            <a:avLst>
              <a:gd name="adj" fmla="val 50000"/>
            </a:avLst>
          </a:prstGeom>
          <a:solidFill>
            <a:srgbClr val="E8A23B"/>
          </a:solidFill>
          <a:ln w="0">
            <a:solidFill>
              <a:srgbClr val="E8A23B"/>
            </a:solidFill>
            <a:prstDash val="solid"/>
          </a:ln>
        </p:spPr>
        <p:txBody>
          <a:bodyPr/>
          <a:lstStyle/>
          <a:p>
            <a:endParaRPr lang="en-US"/>
          </a:p>
        </p:txBody>
      </p:sp>
      <p:sp>
        <p:nvSpPr>
          <p:cNvPr id="28" name="Triangle 27">
            <a:extLst>
              <a:ext uri="{FF2B5EF4-FFF2-40B4-BE49-F238E27FC236}">
                <a16:creationId xmlns:a16="http://schemas.microsoft.com/office/drawing/2014/main" id="{312AF3F3-F28C-1C97-A6D6-9BEC9961722D}"/>
              </a:ext>
            </a:extLst>
          </p:cNvPr>
          <p:cNvSpPr>
            <a:spLocks noGrp="1"/>
          </p:cNvSpPr>
          <p:nvPr/>
        </p:nvSpPr>
        <p:spPr>
          <a:xfrm rot="5400000">
            <a:off x="8752344" y="3470260"/>
            <a:ext cx="171450" cy="171450"/>
          </a:xfrm>
          <a:prstGeom prst="triangle">
            <a:avLst/>
          </a:prstGeom>
          <a:solidFill>
            <a:srgbClr val="E8A23B"/>
          </a:solidFill>
          <a:ln w="0">
            <a:solidFill>
              <a:srgbClr val="E8A23B"/>
            </a:solidFill>
            <a:prstDash val="solid"/>
          </a:ln>
        </p:spPr>
        <p:txBody>
          <a:bodyPr/>
          <a:lstStyle/>
          <a:p>
            <a:endParaRPr lang="en-US"/>
          </a:p>
        </p:txBody>
      </p:sp>
      <p:sp>
        <p:nvSpPr>
          <p:cNvPr id="29" name="Rounded Rectangle 28">
            <a:extLst>
              <a:ext uri="{FF2B5EF4-FFF2-40B4-BE49-F238E27FC236}">
                <a16:creationId xmlns:a16="http://schemas.microsoft.com/office/drawing/2014/main" id="{D7FB039C-0720-8EC3-BFF6-FE98E6CE0867}"/>
              </a:ext>
            </a:extLst>
          </p:cNvPr>
          <p:cNvSpPr>
            <a:spLocks noGrp="1"/>
          </p:cNvSpPr>
          <p:nvPr/>
        </p:nvSpPr>
        <p:spPr>
          <a:xfrm>
            <a:off x="8904744" y="2260585"/>
            <a:ext cx="2362200" cy="2857500"/>
          </a:xfrm>
          <a:prstGeom prst="roundRect">
            <a:avLst>
              <a:gd name="adj" fmla="val 4839"/>
            </a:avLst>
          </a:prstGeom>
          <a:solidFill>
            <a:srgbClr val="09233F"/>
          </a:solidFill>
          <a:ln w="9525">
            <a:solidFill>
              <a:srgbClr val="09233F"/>
            </a:solidFill>
            <a:prstDash val="solid"/>
          </a:ln>
        </p:spPr>
        <p:txBody>
          <a:bodyPr/>
          <a:lstStyle/>
          <a:p>
            <a:endParaRPr lang="en-US"/>
          </a:p>
        </p:txBody>
      </p:sp>
      <p:sp>
        <p:nvSpPr>
          <p:cNvPr id="30" name="Rounded Rectangle 29">
            <a:extLst>
              <a:ext uri="{FF2B5EF4-FFF2-40B4-BE49-F238E27FC236}">
                <a16:creationId xmlns:a16="http://schemas.microsoft.com/office/drawing/2014/main" id="{54719658-A0BB-6132-C1F9-C433C1D707FF}"/>
              </a:ext>
            </a:extLst>
          </p:cNvPr>
          <p:cNvSpPr>
            <a:spLocks noGrp="1"/>
          </p:cNvSpPr>
          <p:nvPr/>
        </p:nvSpPr>
        <p:spPr>
          <a:xfrm>
            <a:off x="8904744" y="2260585"/>
            <a:ext cx="66675" cy="2857500"/>
          </a:xfrm>
          <a:prstGeom prst="roundRect">
            <a:avLst>
              <a:gd name="adj" fmla="val 50000"/>
            </a:avLst>
          </a:prstGeom>
          <a:solidFill>
            <a:srgbClr val="E8A23B"/>
          </a:solidFill>
          <a:ln w="0">
            <a:solidFill>
              <a:srgbClr val="E8A23B"/>
            </a:solidFill>
            <a:prstDash val="solid"/>
          </a:ln>
        </p:spPr>
        <p:txBody>
          <a:bodyPr/>
          <a:lstStyle/>
          <a:p>
            <a:endParaRPr lang="en-US"/>
          </a:p>
        </p:txBody>
      </p:sp>
      <p:sp>
        <p:nvSpPr>
          <p:cNvPr id="31" name="Rectangle 30">
            <a:extLst>
              <a:ext uri="{FF2B5EF4-FFF2-40B4-BE49-F238E27FC236}">
                <a16:creationId xmlns:a16="http://schemas.microsoft.com/office/drawing/2014/main" id="{3F1A9AE1-5400-E7BE-2935-0E32067D4598}"/>
              </a:ext>
            </a:extLst>
          </p:cNvPr>
          <p:cNvSpPr>
            <a:spLocks noGrp="1"/>
          </p:cNvSpPr>
          <p:nvPr/>
        </p:nvSpPr>
        <p:spPr>
          <a:xfrm>
            <a:off x="9120644" y="2393935"/>
            <a:ext cx="1943100" cy="361950"/>
          </a:xfrm>
          <a:prstGeom prst="rect">
            <a:avLst/>
          </a:prstGeom>
          <a:noFill/>
          <a:ln w="0">
            <a:noFill/>
            <a:prstDash val="solid"/>
          </a:ln>
        </p:spPr>
        <p:txBody>
          <a:bodyPr anchor="ctr"/>
          <a:lstStyle/>
          <a:p>
            <a:pPr algn="l">
              <a:defRPr sz="1575" b="1">
                <a:solidFill>
                  <a:srgbClr val="FFFFFF"/>
                </a:solidFill>
              </a:defRPr>
            </a:pPr>
            <a:r>
              <a:rPr lang="en-US" sz="1575" b="1" dirty="0">
                <a:solidFill>
                  <a:srgbClr val="FFFFFF"/>
                </a:solidFill>
              </a:rPr>
              <a:t>Human-in-the-Loop Operating </a:t>
            </a:r>
            <a:endParaRPr sz="1575" b="1" dirty="0">
              <a:solidFill>
                <a:srgbClr val="FFFFFF"/>
              </a:solidFill>
            </a:endParaRPr>
          </a:p>
        </p:txBody>
      </p:sp>
      <p:sp>
        <p:nvSpPr>
          <p:cNvPr id="32" name="Rectangle 31">
            <a:extLst>
              <a:ext uri="{FF2B5EF4-FFF2-40B4-BE49-F238E27FC236}">
                <a16:creationId xmlns:a16="http://schemas.microsoft.com/office/drawing/2014/main" id="{CE441401-BE22-D518-A489-16F61B57700B}"/>
              </a:ext>
            </a:extLst>
          </p:cNvPr>
          <p:cNvSpPr>
            <a:spLocks noGrp="1"/>
          </p:cNvSpPr>
          <p:nvPr/>
        </p:nvSpPr>
        <p:spPr>
          <a:xfrm>
            <a:off x="9133344" y="2851135"/>
            <a:ext cx="1943100" cy="2114550"/>
          </a:xfrm>
          <a:prstGeom prst="rect">
            <a:avLst/>
          </a:prstGeom>
          <a:noFill/>
          <a:ln w="0">
            <a:noFill/>
            <a:prstDash val="solid"/>
          </a:ln>
        </p:spPr>
        <p:txBody>
          <a:bodyPr anchor="ctr"/>
          <a:lstStyle/>
          <a:p>
            <a:pPr algn="l">
              <a:defRPr sz="1275" b="0">
                <a:solidFill>
                  <a:srgbClr val="65C6D4"/>
                </a:solidFill>
              </a:defRPr>
            </a:pPr>
            <a:r>
              <a:rPr sz="1275" b="0" dirty="0">
                <a:solidFill>
                  <a:srgbClr val="65C6D4"/>
                </a:solidFill>
              </a:rPr>
              <a:t>Create studies</a:t>
            </a:r>
          </a:p>
          <a:p>
            <a:pPr algn="l">
              <a:defRPr sz="1275" b="0">
                <a:solidFill>
                  <a:srgbClr val="65C6D4"/>
                </a:solidFill>
              </a:defRPr>
            </a:pPr>
            <a:r>
              <a:rPr sz="1275" b="0" dirty="0">
                <a:solidFill>
                  <a:srgbClr val="65C6D4"/>
                </a:solidFill>
              </a:rPr>
              <a:t>Tickets / reports</a:t>
            </a:r>
          </a:p>
          <a:p>
            <a:pPr algn="l">
              <a:defRPr sz="1275" b="0">
                <a:solidFill>
                  <a:srgbClr val="65C6D4"/>
                </a:solidFill>
              </a:defRPr>
            </a:pPr>
            <a:r>
              <a:rPr sz="1275" b="0" dirty="0">
                <a:solidFill>
                  <a:srgbClr val="65C6D4"/>
                </a:solidFill>
              </a:rPr>
              <a:t>Operator notes</a:t>
            </a:r>
          </a:p>
        </p:txBody>
      </p:sp>
      <p:sp>
        <p:nvSpPr>
          <p:cNvPr id="33" name="Oval 32">
            <a:extLst>
              <a:ext uri="{FF2B5EF4-FFF2-40B4-BE49-F238E27FC236}">
                <a16:creationId xmlns:a16="http://schemas.microsoft.com/office/drawing/2014/main" id="{5F3F5351-C357-BB9F-22EF-B1A558BB97E2}"/>
              </a:ext>
            </a:extLst>
          </p:cNvPr>
          <p:cNvSpPr>
            <a:spLocks noGrp="1"/>
          </p:cNvSpPr>
          <p:nvPr/>
        </p:nvSpPr>
        <p:spPr>
          <a:xfrm>
            <a:off x="9628644" y="1422385"/>
            <a:ext cx="914400" cy="914400"/>
          </a:xfrm>
          <a:prstGeom prst="ellipse">
            <a:avLst/>
          </a:prstGeom>
          <a:solidFill>
            <a:srgbClr val="E8A23B"/>
          </a:solidFill>
          <a:ln w="0">
            <a:solidFill>
              <a:srgbClr val="E8A23B"/>
            </a:solidFill>
            <a:prstDash val="solid"/>
          </a:ln>
        </p:spPr>
        <p:txBody>
          <a:bodyPr/>
          <a:lstStyle/>
          <a:p>
            <a:endParaRPr lang="en-US"/>
          </a:p>
        </p:txBody>
      </p:sp>
      <p:sp>
        <p:nvSpPr>
          <p:cNvPr id="34" name="Rectangle 33">
            <a:extLst>
              <a:ext uri="{FF2B5EF4-FFF2-40B4-BE49-F238E27FC236}">
                <a16:creationId xmlns:a16="http://schemas.microsoft.com/office/drawing/2014/main" id="{0C1E807D-30D3-A6E6-6E55-74842AE97B52}"/>
              </a:ext>
            </a:extLst>
          </p:cNvPr>
          <p:cNvSpPr>
            <a:spLocks noGrp="1"/>
          </p:cNvSpPr>
          <p:nvPr/>
        </p:nvSpPr>
        <p:spPr>
          <a:xfrm>
            <a:off x="9628644" y="1641460"/>
            <a:ext cx="914400" cy="400050"/>
          </a:xfrm>
          <a:prstGeom prst="rect">
            <a:avLst/>
          </a:prstGeom>
          <a:noFill/>
          <a:ln w="0">
            <a:noFill/>
            <a:prstDash val="solid"/>
          </a:ln>
        </p:spPr>
        <p:txBody>
          <a:bodyPr anchor="ctr"/>
          <a:lstStyle/>
          <a:p>
            <a:pPr algn="ctr">
              <a:defRPr sz="2025" b="1">
                <a:solidFill>
                  <a:srgbClr val="FFFFFF"/>
                </a:solidFill>
              </a:defRPr>
            </a:pPr>
            <a:r>
              <a:rPr sz="2025" b="1">
                <a:solidFill>
                  <a:srgbClr val="FFFFFF"/>
                </a:solidFill>
              </a:rPr>
              <a:t>4</a:t>
            </a:r>
          </a:p>
        </p:txBody>
      </p:sp>
      <p:sp>
        <p:nvSpPr>
          <p:cNvPr id="35" name="Rounded Rectangle 34">
            <a:extLst>
              <a:ext uri="{FF2B5EF4-FFF2-40B4-BE49-F238E27FC236}">
                <a16:creationId xmlns:a16="http://schemas.microsoft.com/office/drawing/2014/main" id="{8AF6B634-CD6F-F60D-F7E3-9244D3EC9BB5}"/>
              </a:ext>
            </a:extLst>
          </p:cNvPr>
          <p:cNvSpPr>
            <a:spLocks noGrp="1"/>
          </p:cNvSpPr>
          <p:nvPr/>
        </p:nvSpPr>
        <p:spPr>
          <a:xfrm>
            <a:off x="1589544" y="5575285"/>
            <a:ext cx="9258300" cy="666750"/>
          </a:xfrm>
          <a:prstGeom prst="roundRect">
            <a:avLst>
              <a:gd name="adj" fmla="val 17143"/>
            </a:avLst>
          </a:prstGeom>
          <a:solidFill>
            <a:srgbClr val="FFFFFF"/>
          </a:solidFill>
          <a:ln w="9525">
            <a:solidFill>
              <a:srgbClr val="C9D6DC"/>
            </a:solidFill>
            <a:prstDash val="solid"/>
          </a:ln>
        </p:spPr>
        <p:txBody>
          <a:bodyPr/>
          <a:lstStyle/>
          <a:p>
            <a:endParaRPr lang="en-US"/>
          </a:p>
        </p:txBody>
      </p:sp>
      <p:sp>
        <p:nvSpPr>
          <p:cNvPr id="36" name="Rectangle 35">
            <a:extLst>
              <a:ext uri="{FF2B5EF4-FFF2-40B4-BE49-F238E27FC236}">
                <a16:creationId xmlns:a16="http://schemas.microsoft.com/office/drawing/2014/main" id="{A59219C4-B923-A873-F9C1-126F28D9F625}"/>
              </a:ext>
            </a:extLst>
          </p:cNvPr>
          <p:cNvSpPr>
            <a:spLocks noGrp="1"/>
          </p:cNvSpPr>
          <p:nvPr/>
        </p:nvSpPr>
        <p:spPr>
          <a:xfrm>
            <a:off x="1875294" y="5718160"/>
            <a:ext cx="8686800" cy="381000"/>
          </a:xfrm>
          <a:prstGeom prst="rect">
            <a:avLst/>
          </a:prstGeom>
          <a:noFill/>
          <a:ln w="0">
            <a:noFill/>
            <a:prstDash val="solid"/>
          </a:ln>
        </p:spPr>
        <p:txBody>
          <a:bodyPr anchor="ctr"/>
          <a:lstStyle/>
          <a:p>
            <a:pPr algn="ctr">
              <a:defRPr sz="1500" b="1">
                <a:solidFill>
                  <a:srgbClr val="D35D58"/>
                </a:solidFill>
              </a:defRPr>
            </a:pPr>
            <a:r>
              <a:rPr lang="en-US" sz="1600" b="1" dirty="0" err="1">
                <a:solidFill>
                  <a:srgbClr val="D35D58"/>
                </a:solidFill>
              </a:rPr>
              <a:t>GridSense</a:t>
            </a:r>
            <a:r>
              <a:rPr lang="en-US" sz="1500" b="1" dirty="0">
                <a:solidFill>
                  <a:srgbClr val="D35D58"/>
                </a:solidFill>
              </a:rPr>
              <a:t> evolve as a bounded Grid Copilot rather than a fully autonomous control agent</a:t>
            </a:r>
          </a:p>
        </p:txBody>
      </p:sp>
    </p:spTree>
    <p:extLst>
      <p:ext uri="{BB962C8B-B14F-4D97-AF65-F5344CB8AC3E}">
        <p14:creationId xmlns:p14="http://schemas.microsoft.com/office/powerpoint/2010/main" val="2614133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D0A0-CB2C-ED25-BEB4-F79834A958F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ADE2E8C-0CA8-92ED-FA48-B506877A306F}"/>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DAAE207-EF2B-EC30-B113-A723254483F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AC512035-3B8A-9B65-5CFD-F8A592463A4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E8575F1-CF3F-56BB-1245-FD39D6F567BC}"/>
              </a:ext>
            </a:extLst>
          </p:cNvPr>
          <p:cNvSpPr>
            <a:spLocks noGrp="1"/>
          </p:cNvSpPr>
          <p:nvPr>
            <p:ph type="title"/>
          </p:nvPr>
        </p:nvSpPr>
        <p:spPr/>
        <p:txBody>
          <a:bodyPr/>
          <a:lstStyle/>
          <a:p>
            <a:r>
              <a:rPr lang="en-US"/>
              <a:t>Cypher query example</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DB247666-4398-3EC6-4DD3-D08D51BAA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965" y="225785"/>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15F80285-2CC5-D3FB-3768-16221A5B088D}"/>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6A4067DF-0BD3-2999-22B3-97930E9595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7" name="TextBox 6">
            <a:extLst>
              <a:ext uri="{FF2B5EF4-FFF2-40B4-BE49-F238E27FC236}">
                <a16:creationId xmlns:a16="http://schemas.microsoft.com/office/drawing/2014/main" id="{8B494370-A6BF-0988-A4E3-5579CD1F2A6C}"/>
              </a:ext>
            </a:extLst>
          </p:cNvPr>
          <p:cNvSpPr txBox="1"/>
          <p:nvPr/>
        </p:nvSpPr>
        <p:spPr>
          <a:xfrm>
            <a:off x="518317" y="1388441"/>
            <a:ext cx="9907009"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MATCH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  (bus1:TopologicalNode)&lt;-[:CONNECTED_TO_TOPO_NODE]-(:Terminal)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       -[:PART_OF_EQUIPMENT]-&gt;(</a:t>
            </a:r>
            <a:r>
              <a:rPr kumimoji="0" lang="en-US" sz="1800" b="0" i="0" u="none" strike="noStrike" kern="1200" cap="none" spc="0" normalizeH="0" baseline="0" noProof="0" err="1">
                <a:ln>
                  <a:noFill/>
                </a:ln>
                <a:solidFill>
                  <a:prstClr val="black"/>
                </a:solidFill>
                <a:effectLst/>
                <a:uLnTx/>
                <a:uFillTx/>
                <a:latin typeface="Arial"/>
                <a:ea typeface="+mn-ea"/>
                <a:cs typeface="+mn-cs"/>
              </a:rPr>
              <a:t>line:ACLineSegment</a:t>
            </a:r>
            <a:r>
              <a:rPr kumimoji="0" lang="en-US" sz="1800" b="0" i="0" u="none" strike="noStrike" kern="1200" cap="none" spc="0" normalizeH="0" baseline="0" noProof="0">
                <a:ln>
                  <a:noFill/>
                </a:ln>
                <a:solidFill>
                  <a:prstClr val="black"/>
                </a:solidFill>
                <a:effectLst/>
                <a:uLnTx/>
                <a:uFillTx/>
                <a:latin typeface="Arial"/>
                <a:ea typeface="+mn-ea"/>
                <a:cs typeface="+mn-cs"/>
              </a:rPr>
              <a:t>),      ← pattern-A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  (line)&lt;-[:PART_OF_EQUIPMENT]-(:Terminal)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       -[:CONNECTED_TO_TOPO_NODE]-&gt;(bus2:TopologicalNode) ← pattern-B</a:t>
            </a: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WHERE bus1.id IN $</a:t>
            </a:r>
            <a:r>
              <a:rPr kumimoji="0" lang="en-US" sz="1800" b="0" i="0" u="none" strike="noStrike" kern="1200" cap="none" spc="0" normalizeH="0" baseline="0" noProof="0" err="1">
                <a:ln>
                  <a:noFill/>
                </a:ln>
                <a:solidFill>
                  <a:srgbClr val="6AAB73"/>
                </a:solidFill>
                <a:effectLst/>
                <a:uLnTx/>
                <a:uFillTx/>
                <a:latin typeface="Arial"/>
                <a:ea typeface="+mn-ea"/>
                <a:cs typeface="+mn-cs"/>
              </a:rPr>
              <a:t>bus_ids</a:t>
            </a:r>
            <a:r>
              <a:rPr kumimoji="0" lang="en-US" sz="1800" b="0" i="0" u="none" strike="noStrike" kern="1200" cap="none" spc="0" normalizeH="0" baseline="0" noProof="0">
                <a:ln>
                  <a:noFill/>
                </a:ln>
                <a:solidFill>
                  <a:srgbClr val="6AAB73"/>
                </a:solidFill>
                <a:effectLst/>
                <a:uLnTx/>
                <a:uFillTx/>
                <a:latin typeface="Arial"/>
                <a:ea typeface="+mn-ea"/>
                <a:cs typeface="+mn-cs"/>
              </a:rPr>
              <a:t> AND bus2.id IN $</a:t>
            </a:r>
            <a:r>
              <a:rPr kumimoji="0" lang="en-US" sz="1800" b="0" i="0" u="none" strike="noStrike" kern="1200" cap="none" spc="0" normalizeH="0" baseline="0" noProof="0" err="1">
                <a:ln>
                  <a:noFill/>
                </a:ln>
                <a:solidFill>
                  <a:srgbClr val="6AAB73"/>
                </a:solidFill>
                <a:effectLst/>
                <a:uLnTx/>
                <a:uFillTx/>
                <a:latin typeface="Arial"/>
                <a:ea typeface="+mn-ea"/>
                <a:cs typeface="+mn-cs"/>
              </a:rPr>
              <a:t>bus_ids</a:t>
            </a:r>
            <a:r>
              <a:rPr kumimoji="0" lang="en-US" sz="1800" b="0" i="0" u="none" strike="noStrike" kern="1200" cap="none" spc="0" normalizeH="0" baseline="0" noProof="0">
                <a:ln>
                  <a:noFill/>
                </a:ln>
                <a:solidFill>
                  <a:srgbClr val="6AAB73"/>
                </a:solidFill>
                <a:effectLst/>
                <a:uLnTx/>
                <a:uFillTx/>
                <a:latin typeface="Arial"/>
                <a:ea typeface="+mn-ea"/>
                <a:cs typeface="+mn-cs"/>
              </a:rPr>
              <a:t> AND </a:t>
            </a:r>
            <a:r>
              <a:rPr kumimoji="0" lang="en-US" sz="1800" b="0" i="0" u="none" strike="noStrike" kern="1200" cap="none" spc="0" normalizeH="0" baseline="0" noProof="0" err="1">
                <a:ln>
                  <a:noFill/>
                </a:ln>
                <a:solidFill>
                  <a:srgbClr val="6AAB73"/>
                </a:solidFill>
                <a:effectLst/>
                <a:uLnTx/>
                <a:uFillTx/>
                <a:latin typeface="Arial"/>
                <a:ea typeface="+mn-ea"/>
                <a:cs typeface="+mn-cs"/>
              </a:rPr>
              <a:t>elementId</a:t>
            </a:r>
            <a:r>
              <a:rPr kumimoji="0" lang="en-US" sz="1800" b="0" i="0" u="none" strike="noStrike" kern="1200" cap="none" spc="0" normalizeH="0" baseline="0" noProof="0">
                <a:ln>
                  <a:noFill/>
                </a:ln>
                <a:solidFill>
                  <a:srgbClr val="6AAB73"/>
                </a:solidFill>
                <a:effectLst/>
                <a:uLnTx/>
                <a:uFillTx/>
                <a:latin typeface="Arial"/>
                <a:ea typeface="+mn-ea"/>
                <a:cs typeface="+mn-cs"/>
              </a:rPr>
              <a:t>(bus1) &lt; </a:t>
            </a:r>
            <a:r>
              <a:rPr kumimoji="0" lang="en-US" sz="1800" b="0" i="0" u="none" strike="noStrike" kern="1200" cap="none" spc="0" normalizeH="0" baseline="0" noProof="0" err="1">
                <a:ln>
                  <a:noFill/>
                </a:ln>
                <a:solidFill>
                  <a:srgbClr val="6AAB73"/>
                </a:solidFill>
                <a:effectLst/>
                <a:uLnTx/>
                <a:uFillTx/>
                <a:latin typeface="Arial"/>
                <a:ea typeface="+mn-ea"/>
                <a:cs typeface="+mn-cs"/>
              </a:rPr>
              <a:t>elementId</a:t>
            </a:r>
            <a:r>
              <a:rPr kumimoji="0" lang="en-US" sz="1800" b="0" i="0" u="none" strike="noStrike" kern="1200" cap="none" spc="0" normalizeH="0" baseline="0" noProof="0">
                <a:ln>
                  <a:noFill/>
                </a:ln>
                <a:solidFill>
                  <a:srgbClr val="6AAB73"/>
                </a:solidFill>
                <a:effectLst/>
                <a:uLnTx/>
                <a:uFillTx/>
                <a:latin typeface="Arial"/>
                <a:ea typeface="+mn-ea"/>
                <a:cs typeface="+mn-cs"/>
              </a:rPr>
              <a:t>(bus2)</a:t>
            </a:r>
            <a:br>
              <a:rPr kumimoji="0" lang="en-US" sz="1800" b="0" i="0" u="none" strike="noStrike" kern="1200" cap="none" spc="0" normalizeH="0" baseline="0" noProof="0">
                <a:ln>
                  <a:noFill/>
                </a:ln>
                <a:solidFill>
                  <a:srgbClr val="6AAB73"/>
                </a:solidFill>
                <a:effectLst/>
                <a:uLnTx/>
                <a:uFillTx/>
                <a:latin typeface="Arial"/>
                <a:ea typeface="+mn-ea"/>
                <a:cs typeface="+mn-cs"/>
              </a:rPr>
            </a:b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RETURN</a:t>
            </a: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    bus1.id AS bus1_id, </a:t>
            </a:r>
            <a:r>
              <a:rPr kumimoji="0" lang="en-US" sz="1800" b="0" i="0" u="none" strike="noStrike" kern="1200" cap="none" spc="0" normalizeH="0" baseline="0" noProof="0">
                <a:ln>
                  <a:noFill/>
                </a:ln>
                <a:solidFill>
                  <a:prstClr val="black"/>
                </a:solidFill>
                <a:effectLst/>
                <a:uLnTx/>
                <a:uFillTx/>
                <a:latin typeface="Arial"/>
                <a:ea typeface="+mn-ea"/>
                <a:cs typeface="+mn-cs"/>
              </a:rPr>
              <a:t>Neo4j/CIM ID of the first bus (bus1).</a:t>
            </a: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    bus2.id AS bus2_id, </a:t>
            </a:r>
            <a:r>
              <a:rPr kumimoji="0" lang="en-US" sz="1800" b="0" i="0" u="none" strike="noStrike" kern="1200" cap="none" spc="0" normalizeH="0" baseline="0" noProof="0">
                <a:ln>
                  <a:noFill/>
                </a:ln>
                <a:solidFill>
                  <a:prstClr val="black"/>
                </a:solidFill>
                <a:effectLst/>
                <a:uLnTx/>
                <a:uFillTx/>
                <a:latin typeface="Arial"/>
                <a:ea typeface="+mn-ea"/>
                <a:cs typeface="+mn-cs"/>
              </a:rPr>
              <a:t>(bus2).</a:t>
            </a: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    </a:t>
            </a:r>
            <a:r>
              <a:rPr kumimoji="0" lang="en-US" sz="1800" b="0" i="0" u="none" strike="noStrike" kern="1200" cap="none" spc="0" normalizeH="0" baseline="0" noProof="0" err="1">
                <a:ln>
                  <a:noFill/>
                </a:ln>
                <a:solidFill>
                  <a:srgbClr val="6AAB73"/>
                </a:solidFill>
                <a:effectLst/>
                <a:uLnTx/>
                <a:uFillTx/>
                <a:latin typeface="Arial"/>
                <a:ea typeface="+mn-ea"/>
                <a:cs typeface="+mn-cs"/>
              </a:rPr>
              <a:t>line.ACLineSegment_r</a:t>
            </a:r>
            <a:r>
              <a:rPr kumimoji="0" lang="en-US" sz="1800" b="0" i="0" u="none" strike="noStrike" kern="1200" cap="none" spc="0" normalizeH="0" baseline="0" noProof="0">
                <a:ln>
                  <a:noFill/>
                </a:ln>
                <a:solidFill>
                  <a:srgbClr val="6AAB73"/>
                </a:solidFill>
                <a:effectLst/>
                <a:uLnTx/>
                <a:uFillTx/>
                <a:latin typeface="Arial"/>
                <a:ea typeface="+mn-ea"/>
                <a:cs typeface="+mn-cs"/>
              </a:rPr>
              <a:t> AS r,</a:t>
            </a:r>
            <a:br>
              <a:rPr kumimoji="0" lang="en-US" sz="1800" b="0" i="0" u="none" strike="noStrike" kern="1200" cap="none" spc="0" normalizeH="0" baseline="0" noProof="0">
                <a:ln>
                  <a:noFill/>
                </a:ln>
                <a:solidFill>
                  <a:srgbClr val="6AAB73"/>
                </a:solidFill>
                <a:effectLst/>
                <a:uLnTx/>
                <a:uFillTx/>
                <a:latin typeface="Arial"/>
                <a:ea typeface="+mn-ea"/>
                <a:cs typeface="+mn-cs"/>
              </a:rPr>
            </a:br>
            <a:r>
              <a:rPr kumimoji="0" lang="en-US" sz="1800" b="0" i="0" u="none" strike="noStrike" kern="1200" cap="none" spc="0" normalizeH="0" baseline="0" noProof="0">
                <a:ln>
                  <a:noFill/>
                </a:ln>
                <a:solidFill>
                  <a:srgbClr val="6AAB73"/>
                </a:solidFill>
                <a:effectLst/>
                <a:uLnTx/>
                <a:uFillTx/>
                <a:latin typeface="Arial"/>
                <a:ea typeface="+mn-ea"/>
                <a:cs typeface="+mn-cs"/>
              </a:rPr>
              <a:t>    </a:t>
            </a:r>
            <a:r>
              <a:rPr kumimoji="0" lang="en-US" sz="1800" b="0" i="0" u="none" strike="noStrike" kern="1200" cap="none" spc="0" normalizeH="0" baseline="0" noProof="0" err="1">
                <a:ln>
                  <a:noFill/>
                </a:ln>
                <a:solidFill>
                  <a:srgbClr val="6AAB73"/>
                </a:solidFill>
                <a:effectLst/>
                <a:uLnTx/>
                <a:uFillTx/>
                <a:latin typeface="Arial"/>
                <a:ea typeface="+mn-ea"/>
                <a:cs typeface="+mn-cs"/>
              </a:rPr>
              <a:t>line.ACLineSegment_x</a:t>
            </a:r>
            <a:r>
              <a:rPr kumimoji="0" lang="en-US" sz="1800" b="0" i="0" u="none" strike="noStrike" kern="1200" cap="none" spc="0" normalizeH="0" baseline="0" noProof="0">
                <a:ln>
                  <a:noFill/>
                </a:ln>
                <a:solidFill>
                  <a:srgbClr val="6AAB73"/>
                </a:solidFill>
                <a:effectLst/>
                <a:uLnTx/>
                <a:uFillTx/>
                <a:latin typeface="Arial"/>
                <a:ea typeface="+mn-ea"/>
                <a:cs typeface="+mn-cs"/>
              </a:rPr>
              <a:t> AS x</a:t>
            </a:r>
            <a:endParaRPr kumimoji="0" lang="en-US" sz="1800" b="0" i="0" u="none" strike="noStrike" kern="1200" cap="none" spc="0" normalizeH="0" baseline="0" noProof="0">
              <a:ln>
                <a:noFill/>
              </a:ln>
              <a:solidFill>
                <a:srgbClr val="BCBEC4"/>
              </a:solidFill>
              <a:effectLst/>
              <a:uLnTx/>
              <a:uFillTx/>
              <a:latin typeface="Arial"/>
              <a:ea typeface="+mn-ea"/>
              <a:cs typeface="+mn-cs"/>
            </a:endParaRPr>
          </a:p>
        </p:txBody>
      </p:sp>
      <p:graphicFrame>
        <p:nvGraphicFramePr>
          <p:cNvPr id="8" name="Table 7">
            <a:extLst>
              <a:ext uri="{FF2B5EF4-FFF2-40B4-BE49-F238E27FC236}">
                <a16:creationId xmlns:a16="http://schemas.microsoft.com/office/drawing/2014/main" id="{74F0E34A-CBF4-93FD-EF49-E144C1B80632}"/>
              </a:ext>
            </a:extLst>
          </p:cNvPr>
          <p:cNvGraphicFramePr>
            <a:graphicFrameLocks noGrp="1"/>
          </p:cNvGraphicFramePr>
          <p:nvPr/>
        </p:nvGraphicFramePr>
        <p:xfrm>
          <a:off x="518317" y="4922793"/>
          <a:ext cx="11457297" cy="1273649"/>
        </p:xfrm>
        <a:graphic>
          <a:graphicData uri="http://schemas.openxmlformats.org/drawingml/2006/table">
            <a:tbl>
              <a:tblPr/>
              <a:tblGrid>
                <a:gridCol w="1391464">
                  <a:extLst>
                    <a:ext uri="{9D8B030D-6E8A-4147-A177-3AD203B41FA5}">
                      <a16:colId xmlns:a16="http://schemas.microsoft.com/office/drawing/2014/main" val="1978303252"/>
                    </a:ext>
                  </a:extLst>
                </a:gridCol>
                <a:gridCol w="10065833">
                  <a:extLst>
                    <a:ext uri="{9D8B030D-6E8A-4147-A177-3AD203B41FA5}">
                      <a16:colId xmlns:a16="http://schemas.microsoft.com/office/drawing/2014/main" val="4134773912"/>
                    </a:ext>
                  </a:extLst>
                </a:gridCol>
              </a:tblGrid>
              <a:tr h="810504">
                <a:tc>
                  <a:txBody>
                    <a:bodyPr/>
                    <a:lstStyle/>
                    <a:p>
                      <a:pPr>
                        <a:buNone/>
                      </a:pPr>
                      <a:r>
                        <a:rPr lang="en-US" b="1"/>
                        <a:t>pattern-A</a:t>
                      </a:r>
                      <a:endParaRPr lang="en-US"/>
                    </a:p>
                  </a:txBody>
                  <a:tcPr anchor="ctr">
                    <a:lnL>
                      <a:noFill/>
                    </a:lnL>
                    <a:lnR>
                      <a:noFill/>
                    </a:lnR>
                    <a:lnT>
                      <a:noFill/>
                    </a:lnT>
                    <a:lnB>
                      <a:noFill/>
                    </a:lnB>
                    <a:noFill/>
                  </a:tcPr>
                </a:tc>
                <a:tc>
                  <a:txBody>
                    <a:bodyPr/>
                    <a:lstStyle/>
                    <a:p>
                      <a:pPr>
                        <a:buNone/>
                      </a:pPr>
                      <a:r>
                        <a:rPr lang="en-US"/>
                        <a:t>“There is a Terminal that is attached to </a:t>
                      </a:r>
                      <a:r>
                        <a:rPr lang="en-US" b="1"/>
                        <a:t>bus1</a:t>
                      </a:r>
                      <a:r>
                        <a:rPr lang="en-US"/>
                        <a:t> and belongs to an </a:t>
                      </a:r>
                      <a:r>
                        <a:rPr lang="en-US" b="1" err="1"/>
                        <a:t>ACLineSegment</a:t>
                      </a:r>
                      <a:r>
                        <a:rPr lang="en-US"/>
                        <a:t> we’ll call line.”</a:t>
                      </a:r>
                    </a:p>
                  </a:txBody>
                  <a:tcPr anchor="ctr">
                    <a:lnL>
                      <a:noFill/>
                    </a:lnL>
                    <a:lnR>
                      <a:noFill/>
                    </a:lnR>
                    <a:lnT>
                      <a:noFill/>
                    </a:lnT>
                    <a:lnB>
                      <a:noFill/>
                    </a:lnB>
                    <a:noFill/>
                  </a:tcPr>
                </a:tc>
                <a:extLst>
                  <a:ext uri="{0D108BD9-81ED-4DB2-BD59-A6C34878D82A}">
                    <a16:rowId xmlns:a16="http://schemas.microsoft.com/office/drawing/2014/main" val="2202583207"/>
                  </a:ext>
                </a:extLst>
              </a:tr>
              <a:tr h="463145">
                <a:tc>
                  <a:txBody>
                    <a:bodyPr/>
                    <a:lstStyle/>
                    <a:p>
                      <a:pPr>
                        <a:buNone/>
                      </a:pPr>
                      <a:r>
                        <a:rPr lang="en-US" b="1"/>
                        <a:t>pattern-B</a:t>
                      </a:r>
                      <a:endParaRPr lang="en-US"/>
                    </a:p>
                  </a:txBody>
                  <a:tcPr anchor="ctr">
                    <a:lnL>
                      <a:noFill/>
                    </a:lnL>
                    <a:lnR>
                      <a:noFill/>
                    </a:lnR>
                    <a:lnT>
                      <a:noFill/>
                    </a:lnT>
                    <a:lnB>
                      <a:noFill/>
                    </a:lnB>
                    <a:noFill/>
                  </a:tcPr>
                </a:tc>
                <a:tc>
                  <a:txBody>
                    <a:bodyPr/>
                    <a:lstStyle/>
                    <a:p>
                      <a:pPr>
                        <a:buNone/>
                      </a:pPr>
                      <a:r>
                        <a:rPr lang="en-US"/>
                        <a:t>“The </a:t>
                      </a:r>
                      <a:r>
                        <a:rPr lang="en-US" b="1"/>
                        <a:t>same line</a:t>
                      </a:r>
                      <a:r>
                        <a:rPr lang="en-US"/>
                        <a:t> also has another Terminal that is attached to </a:t>
                      </a:r>
                      <a:r>
                        <a:rPr lang="en-US" b="1"/>
                        <a:t>bus2</a:t>
                      </a:r>
                      <a:r>
                        <a:rPr lang="en-US"/>
                        <a:t>.”</a:t>
                      </a:r>
                    </a:p>
                  </a:txBody>
                  <a:tcPr anchor="ctr">
                    <a:lnL>
                      <a:noFill/>
                    </a:lnL>
                    <a:lnR>
                      <a:noFill/>
                    </a:lnR>
                    <a:lnT>
                      <a:noFill/>
                    </a:lnT>
                    <a:lnB>
                      <a:noFill/>
                    </a:lnB>
                    <a:noFill/>
                  </a:tcPr>
                </a:tc>
                <a:extLst>
                  <a:ext uri="{0D108BD9-81ED-4DB2-BD59-A6C34878D82A}">
                    <a16:rowId xmlns:a16="http://schemas.microsoft.com/office/drawing/2014/main" val="1624560098"/>
                  </a:ext>
                </a:extLst>
              </a:tr>
            </a:tbl>
          </a:graphicData>
        </a:graphic>
      </p:graphicFrame>
      <p:sp>
        <p:nvSpPr>
          <p:cNvPr id="9" name="Text Placeholder 7">
            <a:extLst>
              <a:ext uri="{FF2B5EF4-FFF2-40B4-BE49-F238E27FC236}">
                <a16:creationId xmlns:a16="http://schemas.microsoft.com/office/drawing/2014/main" id="{92B0858F-8E85-CB52-AE8F-8C966BC311E6}"/>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41E42"/>
                </a:solidFill>
                <a:effectLst/>
                <a:uLnTx/>
                <a:uFillTx/>
                <a:latin typeface="Arial"/>
                <a:ea typeface="+mn-ea"/>
                <a:cs typeface="+mn-cs"/>
              </a:rPr>
              <a:t>Cypher + Neo4j</a:t>
            </a:r>
          </a:p>
        </p:txBody>
      </p:sp>
      <p:pic>
        <p:nvPicPr>
          <p:cNvPr id="5" name="Grafik 92">
            <a:extLst>
              <a:ext uri="{FF2B5EF4-FFF2-40B4-BE49-F238E27FC236}">
                <a16:creationId xmlns:a16="http://schemas.microsoft.com/office/drawing/2014/main" id="{84AF7F9D-3E33-DBE5-A1C8-FB60A8039EC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Tree>
    <p:extLst>
      <p:ext uri="{BB962C8B-B14F-4D97-AF65-F5344CB8AC3E}">
        <p14:creationId xmlns:p14="http://schemas.microsoft.com/office/powerpoint/2010/main" val="2400142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CEB80-A843-1764-CE2D-7713CDFF7C0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4ADE6FF-4019-0BA8-D7A6-59625947872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BC8F3EE9-DC31-98A0-0D02-5A929B2CC86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B495B668-7EF0-C421-5BC2-51164311C3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587C5A36-F821-B241-975F-86F149156B15}"/>
              </a:ext>
            </a:extLst>
          </p:cNvPr>
          <p:cNvSpPr>
            <a:spLocks noGrp="1"/>
          </p:cNvSpPr>
          <p:nvPr>
            <p:ph type="title"/>
          </p:nvPr>
        </p:nvSpPr>
        <p:spPr/>
        <p:txBody>
          <a:bodyPr/>
          <a:lstStyle/>
          <a:p>
            <a:r>
              <a:rPr lang="en-US" dirty="0"/>
              <a:t>Build Y-bus matrix</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61EA576-CA2E-0340-BF05-94E46AE7E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4357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2D26E735-B924-46A5-CF39-1E7522C1B6F5}"/>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EA41A818-2DAE-7C6F-45E9-59211BEE7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EF588B90-43E9-2036-9416-00FD4539F10F}"/>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41E42"/>
                </a:solidFill>
                <a:effectLst/>
                <a:uLnTx/>
                <a:uFillTx/>
                <a:latin typeface="Arial"/>
                <a:ea typeface="+mn-ea"/>
                <a:cs typeface="+mn-cs"/>
              </a:rPr>
              <a:t>Cypher + Neo4j</a:t>
            </a:r>
          </a:p>
        </p:txBody>
      </p:sp>
      <p:pic>
        <p:nvPicPr>
          <p:cNvPr id="5" name="Picture 4">
            <a:extLst>
              <a:ext uri="{FF2B5EF4-FFF2-40B4-BE49-F238E27FC236}">
                <a16:creationId xmlns:a16="http://schemas.microsoft.com/office/drawing/2014/main" id="{C51B8CD1-0E00-25F3-8DFF-51752FFB841A}"/>
              </a:ext>
            </a:extLst>
          </p:cNvPr>
          <p:cNvPicPr>
            <a:picLocks noChangeAspect="1"/>
          </p:cNvPicPr>
          <p:nvPr/>
        </p:nvPicPr>
        <p:blipFill>
          <a:blip r:embed="rId6"/>
          <a:stretch>
            <a:fillRect/>
          </a:stretch>
        </p:blipFill>
        <p:spPr>
          <a:xfrm>
            <a:off x="3452017" y="1538872"/>
            <a:ext cx="4806959" cy="4897394"/>
          </a:xfrm>
          <a:prstGeom prst="rect">
            <a:avLst/>
          </a:prstGeom>
        </p:spPr>
      </p:pic>
      <p:pic>
        <p:nvPicPr>
          <p:cNvPr id="6" name="Grafik 92">
            <a:extLst>
              <a:ext uri="{FF2B5EF4-FFF2-40B4-BE49-F238E27FC236}">
                <a16:creationId xmlns:a16="http://schemas.microsoft.com/office/drawing/2014/main" id="{B52B9B78-E82D-DAA2-7148-D9024C0DF775}"/>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Tree>
    <p:extLst>
      <p:ext uri="{BB962C8B-B14F-4D97-AF65-F5344CB8AC3E}">
        <p14:creationId xmlns:p14="http://schemas.microsoft.com/office/powerpoint/2010/main" val="175569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CAB18-FB4A-B378-7D4A-9A4E99755732}"/>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D2D89064-45F4-33CB-4740-F720E55D560F}"/>
              </a:ext>
            </a:extLst>
          </p:cNvPr>
          <p:cNvSpPr>
            <a:spLocks noGrp="1"/>
          </p:cNvSpPr>
          <p:nvPr>
            <p:ph type="title"/>
          </p:nvPr>
        </p:nvSpPr>
        <p:spPr>
          <a:xfrm>
            <a:off x="518318" y="2875002"/>
            <a:ext cx="11157743" cy="1107996"/>
          </a:xfrm>
        </p:spPr>
        <p:txBody>
          <a:bodyPr/>
          <a:lstStyle/>
          <a:p>
            <a:r>
              <a:rPr lang="en-US" b="1" dirty="0">
                <a:effectLst/>
              </a:rPr>
              <a:t>Validation results (basic parameter verification, result-consistency)</a:t>
            </a:r>
            <a:endParaRPr lang="de-DE" dirty="0"/>
          </a:p>
        </p:txBody>
      </p:sp>
      <p:sp>
        <p:nvSpPr>
          <p:cNvPr id="2" name="Datumsplatzhalter 1">
            <a:extLst>
              <a:ext uri="{FF2B5EF4-FFF2-40B4-BE49-F238E27FC236}">
                <a16:creationId xmlns:a16="http://schemas.microsoft.com/office/drawing/2014/main" id="{E12558A3-A0DA-A09C-F2E4-EE81746CA5E7}"/>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22E95-EE2D-4F19-BA8F-A725A705DEB9}" type="datetime4">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39FBC3BE-FC10-6573-CEFC-31C2D2AC3D5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FFFFFF"/>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EED91AF-080F-18FE-3611-740CBBAF5B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D408E77F-DD15-08CC-08C5-A9E47807C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8746" y="254177"/>
            <a:ext cx="1583150" cy="2937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B492370-562F-1537-F005-0BA3D048D891}"/>
              </a:ext>
            </a:extLst>
          </p:cNvPr>
          <p:cNvPicPr>
            <a:picLocks noChangeAspect="1"/>
          </p:cNvPicPr>
          <p:nvPr/>
        </p:nvPicPr>
        <p:blipFill>
          <a:blip r:embed="rId4"/>
          <a:stretch>
            <a:fillRect/>
          </a:stretch>
        </p:blipFill>
        <p:spPr>
          <a:xfrm>
            <a:off x="6727357" y="423264"/>
            <a:ext cx="1583150" cy="309209"/>
          </a:xfrm>
          <a:prstGeom prst="rect">
            <a:avLst/>
          </a:prstGeom>
        </p:spPr>
      </p:pic>
      <p:pic>
        <p:nvPicPr>
          <p:cNvPr id="7" name="Picture 6" descr="A logo with blue text&#10;&#10;AI-generated content may be incorrect.">
            <a:extLst>
              <a:ext uri="{FF2B5EF4-FFF2-40B4-BE49-F238E27FC236}">
                <a16:creationId xmlns:a16="http://schemas.microsoft.com/office/drawing/2014/main" id="{00FA8B7C-07E1-B54F-9CF8-EE18D4E2EE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2910" y="264845"/>
            <a:ext cx="1945490" cy="737665"/>
          </a:xfrm>
          <a:prstGeom prst="rect">
            <a:avLst/>
          </a:prstGeom>
        </p:spPr>
      </p:pic>
      <p:pic>
        <p:nvPicPr>
          <p:cNvPr id="8" name="Grafik 92">
            <a:extLst>
              <a:ext uri="{FF2B5EF4-FFF2-40B4-BE49-F238E27FC236}">
                <a16:creationId xmlns:a16="http://schemas.microsoft.com/office/drawing/2014/main" id="{B52343E9-715E-B903-45EB-531C9C95559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15170" y="593597"/>
            <a:ext cx="810303" cy="332399"/>
          </a:xfrm>
          <a:prstGeom prst="rect">
            <a:avLst/>
          </a:prstGeom>
        </p:spPr>
      </p:pic>
    </p:spTree>
    <p:extLst>
      <p:ext uri="{BB962C8B-B14F-4D97-AF65-F5344CB8AC3E}">
        <p14:creationId xmlns:p14="http://schemas.microsoft.com/office/powerpoint/2010/main" val="2805865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3A66-97F1-DDD9-CF9B-42AA4D321FE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1A8ACA4-6484-8816-342F-A364F13C9A3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B54F2AEE-2E62-EB3A-7093-7CCDBE18BC9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52CA9611-3DE9-8604-5BFF-6CACCBAD2E2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8765D00-6445-D60F-7DE9-8BE6BA07E8D5}"/>
              </a:ext>
            </a:extLst>
          </p:cNvPr>
          <p:cNvSpPr>
            <a:spLocks noGrp="1"/>
          </p:cNvSpPr>
          <p:nvPr>
            <p:ph type="title"/>
          </p:nvPr>
        </p:nvSpPr>
        <p:spPr>
          <a:xfrm>
            <a:off x="518318" y="510755"/>
            <a:ext cx="6844385" cy="886397"/>
          </a:xfrm>
        </p:spPr>
        <p:txBody>
          <a:bodyPr/>
          <a:lstStyle/>
          <a:p>
            <a:r>
              <a:rPr lang="en-US" dirty="0">
                <a:cs typeface="Arial"/>
              </a:rPr>
              <a:t>Experimental setup</a:t>
            </a:r>
          </a:p>
          <a:p>
            <a:endParaRPr lang="en-US" sz="4000" dirty="0">
              <a:solidFill>
                <a:schemeClr val="tx1"/>
              </a:solidFill>
              <a:cs typeface="Arial"/>
            </a:endParaRP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D3092A2-CBD7-D2DD-0079-AD5CF1601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002" y="171972"/>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3E604529-7BD1-88D5-4BA3-9453D157E9BF}"/>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E73AECC9-4EDB-AC3C-3C45-7AE564022D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5" name="TextBox 4">
            <a:extLst>
              <a:ext uri="{FF2B5EF4-FFF2-40B4-BE49-F238E27FC236}">
                <a16:creationId xmlns:a16="http://schemas.microsoft.com/office/drawing/2014/main" id="{186D4AA6-2AA2-19B7-149E-3DBCC4C4E672}"/>
              </a:ext>
            </a:extLst>
          </p:cNvPr>
          <p:cNvSpPr txBox="1"/>
          <p:nvPr/>
        </p:nvSpPr>
        <p:spPr>
          <a:xfrm>
            <a:off x="673361" y="1251906"/>
            <a:ext cx="10751007" cy="53254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Test Data: </a:t>
            </a:r>
          </a:p>
          <a:p>
            <a:pPr marL="7429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A set of 104 Semantic Questions categorized into 6 distinct Features.</a:t>
            </a:r>
          </a:p>
          <a:p>
            <a:pPr marL="285750" marR="0" lvl="0"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Model : </a:t>
            </a:r>
          </a:p>
          <a:p>
            <a:pPr marL="7429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GPT 4.1</a:t>
            </a:r>
          </a:p>
          <a:p>
            <a:pPr marL="2857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Input: </a:t>
            </a:r>
          </a:p>
          <a:p>
            <a:pPr marL="742950" marR="0" lvl="2"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Semantic Question (e.g., "How many Substations are in the database?")</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LLM Task: </a:t>
            </a:r>
          </a:p>
          <a:p>
            <a:pPr marL="742950" marR="0" lvl="2"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Generate a Neo4j Cypher query.</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Execution: </a:t>
            </a:r>
          </a:p>
          <a:p>
            <a:pPr marL="742950" marR="0" lvl="2"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Run the </a:t>
            </a:r>
            <a:r>
              <a:rPr kumimoji="0" lang="en-US" sz="1800" b="0" i="0" u="none" strike="noStrike" kern="1200" cap="none" spc="0" normalizeH="0" baseline="0" noProof="0" dirty="0" err="1">
                <a:ln>
                  <a:noFill/>
                </a:ln>
                <a:solidFill>
                  <a:prstClr val="black"/>
                </a:solidFill>
                <a:effectLst/>
                <a:uLnTx/>
                <a:uFillTx/>
                <a:latin typeface="Arial"/>
                <a:ea typeface="+mn-ea"/>
                <a:cs typeface="+mn-cs"/>
              </a:rPr>
              <a:t>Generated_Cypher</a:t>
            </a:r>
            <a:r>
              <a:rPr kumimoji="0" lang="en-US" sz="1800" b="0" i="0" u="none" strike="noStrike" kern="1200" cap="none" spc="0" normalizeH="0" baseline="0" noProof="0" dirty="0">
                <a:ln>
                  <a:noFill/>
                </a:ln>
                <a:solidFill>
                  <a:prstClr val="black"/>
                </a:solidFill>
                <a:effectLst/>
                <a:uLnTx/>
                <a:uFillTx/>
                <a:latin typeface="Arial"/>
                <a:ea typeface="+mn-ea"/>
                <a:cs typeface="+mn-cs"/>
              </a:rPr>
              <a:t> against the Neo4j database.</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1"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Evaluation: </a:t>
            </a:r>
          </a:p>
          <a:p>
            <a:pPr marL="742950" marR="0" lvl="2" indent="-285750" algn="l" defTabSz="914400" rtl="0" eaLnBrk="1" fontAlgn="auto" latinLnBrk="0" hangingPunct="1">
              <a:lnSpc>
                <a:spcPct val="110000"/>
              </a:lnSpc>
              <a:spcBef>
                <a:spcPts val="0"/>
              </a:spcBef>
              <a:spcAft>
                <a:spcPts val="120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Compare the </a:t>
            </a:r>
            <a:r>
              <a:rPr kumimoji="0" lang="en-US" sz="1800" b="0" i="0" u="none" strike="noStrike" kern="1200" cap="none" spc="0" normalizeH="0" baseline="0" noProof="0" dirty="0" err="1">
                <a:ln>
                  <a:noFill/>
                </a:ln>
                <a:solidFill>
                  <a:prstClr val="black"/>
                </a:solidFill>
                <a:effectLst/>
                <a:uLnTx/>
                <a:uFillTx/>
                <a:latin typeface="Arial"/>
                <a:ea typeface="+mn-ea"/>
                <a:cs typeface="+mn-cs"/>
              </a:rPr>
              <a:t>Cypher_LLM_Result</a:t>
            </a:r>
            <a:r>
              <a:rPr kumimoji="0" lang="en-US" sz="1800" b="0" i="0" u="none" strike="noStrike" kern="1200" cap="none" spc="0" normalizeH="0" baseline="0" noProof="0" dirty="0">
                <a:ln>
                  <a:noFill/>
                </a:ln>
                <a:solidFill>
                  <a:prstClr val="black"/>
                </a:solidFill>
                <a:effectLst/>
                <a:uLnTx/>
                <a:uFillTx/>
                <a:latin typeface="Arial"/>
                <a:ea typeface="+mn-ea"/>
                <a:cs typeface="+mn-cs"/>
              </a:rPr>
              <a:t> against the Expected Output (Ground Truth)</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p:txBody>
      </p:sp>
      <p:pic>
        <p:nvPicPr>
          <p:cNvPr id="6" name="Grafik 92">
            <a:extLst>
              <a:ext uri="{FF2B5EF4-FFF2-40B4-BE49-F238E27FC236}">
                <a16:creationId xmlns:a16="http://schemas.microsoft.com/office/drawing/2014/main" id="{BEDB0F6E-F156-AF94-BA45-38FAC7DDF94A}"/>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00702" y="535107"/>
            <a:ext cx="810303" cy="332399"/>
          </a:xfrm>
          <a:prstGeom prst="rect">
            <a:avLst/>
          </a:prstGeom>
        </p:spPr>
      </p:pic>
    </p:spTree>
    <p:extLst>
      <p:ext uri="{BB962C8B-B14F-4D97-AF65-F5344CB8AC3E}">
        <p14:creationId xmlns:p14="http://schemas.microsoft.com/office/powerpoint/2010/main" val="27633256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7B9A61-B390-42EF-1330-47F0CB82381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2C6F2-BFE9-4DA1-8335-8212BBEBDEDB}"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ooter Placeholder 2">
            <a:extLst>
              <a:ext uri="{FF2B5EF4-FFF2-40B4-BE49-F238E27FC236}">
                <a16:creationId xmlns:a16="http://schemas.microsoft.com/office/drawing/2014/main" id="{52513F62-779C-9801-F249-CA29A98FDCC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Slide Number Placeholder 3">
            <a:extLst>
              <a:ext uri="{FF2B5EF4-FFF2-40B4-BE49-F238E27FC236}">
                <a16:creationId xmlns:a16="http://schemas.microsoft.com/office/drawing/2014/main" id="{64AD6963-8D77-BDC9-1BCA-996794CAD3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le 26">
            <a:extLst>
              <a:ext uri="{FF2B5EF4-FFF2-40B4-BE49-F238E27FC236}">
                <a16:creationId xmlns:a16="http://schemas.microsoft.com/office/drawing/2014/main" id="{D79A70D1-705C-75E4-BC48-FDA8C49C0669}"/>
              </a:ext>
            </a:extLst>
          </p:cNvPr>
          <p:cNvSpPr>
            <a:spLocks noGrp="1"/>
          </p:cNvSpPr>
          <p:nvPr>
            <p:ph type="title"/>
          </p:nvPr>
        </p:nvSpPr>
        <p:spPr/>
        <p:txBody>
          <a:bodyPr/>
          <a:lstStyle/>
          <a:p>
            <a:r>
              <a:rPr lang="en-US">
                <a:cs typeface="Arial"/>
              </a:rPr>
              <a:t>Test sample</a:t>
            </a:r>
            <a:endParaRPr lang="en-US"/>
          </a:p>
        </p:txBody>
      </p:sp>
      <p:graphicFrame>
        <p:nvGraphicFramePr>
          <p:cNvPr id="33" name="Table 32">
            <a:extLst>
              <a:ext uri="{FF2B5EF4-FFF2-40B4-BE49-F238E27FC236}">
                <a16:creationId xmlns:a16="http://schemas.microsoft.com/office/drawing/2014/main" id="{6D639A58-51CD-3E14-C330-34D756B7CE06}"/>
              </a:ext>
            </a:extLst>
          </p:cNvPr>
          <p:cNvGraphicFramePr>
            <a:graphicFrameLocks noGrp="1"/>
          </p:cNvGraphicFramePr>
          <p:nvPr/>
        </p:nvGraphicFramePr>
        <p:xfrm>
          <a:off x="521917" y="1470894"/>
          <a:ext cx="11466831" cy="4997620"/>
        </p:xfrm>
        <a:graphic>
          <a:graphicData uri="http://schemas.openxmlformats.org/drawingml/2006/table">
            <a:tbl>
              <a:tblPr bandRow="1">
                <a:tableStyleId>{5C22544A-7EE6-4342-B048-85BDC9FD1C3A}</a:tableStyleId>
              </a:tblPr>
              <a:tblGrid>
                <a:gridCol w="2573036">
                  <a:extLst>
                    <a:ext uri="{9D8B030D-6E8A-4147-A177-3AD203B41FA5}">
                      <a16:colId xmlns:a16="http://schemas.microsoft.com/office/drawing/2014/main" val="1390733326"/>
                    </a:ext>
                  </a:extLst>
                </a:gridCol>
                <a:gridCol w="1921184">
                  <a:extLst>
                    <a:ext uri="{9D8B030D-6E8A-4147-A177-3AD203B41FA5}">
                      <a16:colId xmlns:a16="http://schemas.microsoft.com/office/drawing/2014/main" val="3429804769"/>
                    </a:ext>
                  </a:extLst>
                </a:gridCol>
                <a:gridCol w="879566">
                  <a:extLst>
                    <a:ext uri="{9D8B030D-6E8A-4147-A177-3AD203B41FA5}">
                      <a16:colId xmlns:a16="http://schemas.microsoft.com/office/drawing/2014/main" val="3454407379"/>
                    </a:ext>
                  </a:extLst>
                </a:gridCol>
                <a:gridCol w="1778804">
                  <a:extLst>
                    <a:ext uri="{9D8B030D-6E8A-4147-A177-3AD203B41FA5}">
                      <a16:colId xmlns:a16="http://schemas.microsoft.com/office/drawing/2014/main" val="197371909"/>
                    </a:ext>
                  </a:extLst>
                </a:gridCol>
                <a:gridCol w="1170201">
                  <a:extLst>
                    <a:ext uri="{9D8B030D-6E8A-4147-A177-3AD203B41FA5}">
                      <a16:colId xmlns:a16="http://schemas.microsoft.com/office/drawing/2014/main" val="1400969873"/>
                    </a:ext>
                  </a:extLst>
                </a:gridCol>
                <a:gridCol w="3144040">
                  <a:extLst>
                    <a:ext uri="{9D8B030D-6E8A-4147-A177-3AD203B41FA5}">
                      <a16:colId xmlns:a16="http://schemas.microsoft.com/office/drawing/2014/main" val="1009383748"/>
                    </a:ext>
                  </a:extLst>
                </a:gridCol>
              </a:tblGrid>
              <a:tr h="580826">
                <a:tc>
                  <a:txBody>
                    <a:bodyPr/>
                    <a:lstStyle/>
                    <a:p>
                      <a:pPr fontAlgn="base">
                        <a:lnSpc>
                          <a:spcPts val="2175"/>
                        </a:lnSpc>
                        <a:buNone/>
                      </a:pPr>
                      <a:r>
                        <a:rPr lang="en-US" sz="1600" b="0" dirty="0">
                          <a:solidFill>
                            <a:srgbClr val="FFFFFF"/>
                          </a:solidFill>
                          <a:effectLst/>
                          <a:latin typeface="Arial"/>
                        </a:rPr>
                        <a:t>Question</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tc>
                  <a:txBody>
                    <a:bodyPr/>
                    <a:lstStyle/>
                    <a:p>
                      <a:pPr fontAlgn="base">
                        <a:lnSpc>
                          <a:spcPts val="2175"/>
                        </a:lnSpc>
                        <a:buNone/>
                      </a:pPr>
                      <a:r>
                        <a:rPr lang="en-US" sz="1600" b="0" dirty="0">
                          <a:solidFill>
                            <a:srgbClr val="FFFFFF"/>
                          </a:solidFill>
                          <a:effectLst/>
                          <a:latin typeface="Arial"/>
                        </a:rPr>
                        <a:t>Neo4j Cypher</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tc>
                  <a:txBody>
                    <a:bodyPr/>
                    <a:lstStyle/>
                    <a:p>
                      <a:pPr fontAlgn="base">
                        <a:lnSpc>
                          <a:spcPts val="2175"/>
                        </a:lnSpc>
                        <a:buNone/>
                      </a:pPr>
                      <a:r>
                        <a:rPr lang="en-US" sz="1600" b="0" dirty="0">
                          <a:solidFill>
                            <a:srgbClr val="FFFFFF"/>
                          </a:solidFill>
                          <a:effectLst/>
                          <a:latin typeface="Arial"/>
                        </a:rPr>
                        <a:t>Expected Output</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tc>
                  <a:txBody>
                    <a:bodyPr/>
                    <a:lstStyle/>
                    <a:p>
                      <a:pPr fontAlgn="base">
                        <a:lnSpc>
                          <a:spcPts val="2175"/>
                        </a:lnSpc>
                        <a:buNone/>
                      </a:pPr>
                      <a:r>
                        <a:rPr lang="en-US" sz="1600" b="0" dirty="0" err="1">
                          <a:solidFill>
                            <a:srgbClr val="FFFFFF"/>
                          </a:solidFill>
                          <a:effectLst/>
                          <a:latin typeface="Arial"/>
                        </a:rPr>
                        <a:t>Generated_Cypher</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tc>
                  <a:txBody>
                    <a:bodyPr/>
                    <a:lstStyle/>
                    <a:p>
                      <a:pPr fontAlgn="base">
                        <a:lnSpc>
                          <a:spcPts val="2175"/>
                        </a:lnSpc>
                        <a:buNone/>
                      </a:pPr>
                      <a:r>
                        <a:rPr lang="en-US" sz="1600" b="0" dirty="0" err="1">
                          <a:solidFill>
                            <a:srgbClr val="FFFFFF"/>
                          </a:solidFill>
                          <a:effectLst/>
                          <a:latin typeface="Arial"/>
                        </a:rPr>
                        <a:t>Generated_Output</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tc>
                  <a:txBody>
                    <a:bodyPr/>
                    <a:lstStyle/>
                    <a:p>
                      <a:pPr fontAlgn="base">
                        <a:lnSpc>
                          <a:spcPts val="2175"/>
                        </a:lnSpc>
                        <a:buNone/>
                      </a:pPr>
                      <a:r>
                        <a:rPr lang="en-US" sz="1600" b="0" dirty="0" err="1">
                          <a:solidFill>
                            <a:srgbClr val="FFFFFF"/>
                          </a:solidFill>
                          <a:effectLst/>
                          <a:latin typeface="Arial"/>
                        </a:rPr>
                        <a:t>Human_Readable</a:t>
                      </a:r>
                      <a:endParaRPr lang="en-US" sz="1600" b="1" dirty="0">
                        <a:solidFill>
                          <a:srgbClr val="FFFFFF"/>
                        </a:solidFill>
                        <a:effectLst/>
                        <a:latin typeface="Arial"/>
                      </a:endParaRPr>
                    </a:p>
                  </a:txBody>
                  <a:tcPr>
                    <a:lnL w="12700" cap="flat" cmpd="sng" algn="ctr">
                      <a:solidFill>
                        <a:srgbClr val="FFFFFF"/>
                      </a:solidFill>
                      <a:prstDash val="solid"/>
                      <a:round/>
                      <a:headEnd type="none" w="med" len="med"/>
                      <a:tailEnd type="none" w="med" len="med"/>
                    </a:lnL>
                    <a:lnR w="9525" cap="flat" cmpd="sng" algn="ctr">
                      <a:solidFill>
                        <a:srgbClr val="C2D0DC"/>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solidFill>
                      <a:srgbClr val="C2D0DC"/>
                    </a:solidFill>
                  </a:tcPr>
                </a:tc>
                <a:extLst>
                  <a:ext uri="{0D108BD9-81ED-4DB2-BD59-A6C34878D82A}">
                    <a16:rowId xmlns:a16="http://schemas.microsoft.com/office/drawing/2014/main" val="961615412"/>
                  </a:ext>
                </a:extLst>
              </a:tr>
              <a:tr h="1239096">
                <a:tc>
                  <a:txBody>
                    <a:bodyPr/>
                    <a:lstStyle/>
                    <a:p>
                      <a:pPr fontAlgn="base">
                        <a:lnSpc>
                          <a:spcPts val="2175"/>
                        </a:lnSpc>
                        <a:buNone/>
                      </a:pPr>
                      <a:r>
                        <a:rPr lang="en-US" sz="1000">
                          <a:effectLst/>
                          <a:latin typeface="Arial"/>
                        </a:rPr>
                        <a:t>How many </a:t>
                      </a:r>
                      <a:r>
                        <a:rPr lang="en-US" sz="1000" err="1">
                          <a:effectLst/>
                          <a:latin typeface="Arial"/>
                        </a:rPr>
                        <a:t>PowerTransformer</a:t>
                      </a:r>
                      <a:r>
                        <a:rPr lang="en-US" sz="1000">
                          <a:effectLst/>
                          <a:latin typeface="Arial"/>
                        </a:rPr>
                        <a:t> nodes are in the database?</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tc>
                  <a:txBody>
                    <a:bodyPr/>
                    <a:lstStyle/>
                    <a:p>
                      <a:pPr fontAlgn="base">
                        <a:lnSpc>
                          <a:spcPts val="2175"/>
                        </a:lnSpc>
                        <a:buNone/>
                      </a:pPr>
                      <a:r>
                        <a:rPr lang="en-US" sz="1000" dirty="0">
                          <a:effectLst/>
                          <a:latin typeface="Arial"/>
                        </a:rPr>
                        <a:t>MATCH (</a:t>
                      </a:r>
                      <a:r>
                        <a:rPr lang="en-US" sz="1000" dirty="0" err="1">
                          <a:effectLst/>
                          <a:latin typeface="Arial"/>
                        </a:rPr>
                        <a:t>pt:PowerTransformer</a:t>
                      </a:r>
                      <a:r>
                        <a:rPr lang="en-US" sz="1000" dirty="0">
                          <a:effectLst/>
                          <a:latin typeface="Arial"/>
                        </a:rPr>
                        <a:t>)</a:t>
                      </a:r>
                    </a:p>
                    <a:p>
                      <a:pPr fontAlgn="base">
                        <a:lnSpc>
                          <a:spcPts val="2175"/>
                        </a:lnSpc>
                        <a:buNone/>
                      </a:pPr>
                      <a:r>
                        <a:rPr lang="en-US" sz="1000" dirty="0">
                          <a:effectLst/>
                          <a:latin typeface="Arial"/>
                        </a:rPr>
                        <a:t>RETURN count(pt) AS </a:t>
                      </a:r>
                      <a:r>
                        <a:rPr lang="en-US" sz="1000" dirty="0" err="1">
                          <a:effectLst/>
                          <a:latin typeface="Arial"/>
                        </a:rPr>
                        <a:t>PowerTransformerCount</a:t>
                      </a:r>
                      <a:r>
                        <a:rPr lang="en-US" sz="1000" dirty="0">
                          <a:effectLst/>
                          <a:latin typeface="Arial"/>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tc>
                  <a:txBody>
                    <a:bodyPr/>
                    <a:lstStyle/>
                    <a:p>
                      <a:pPr lvl="0">
                        <a:buNone/>
                      </a:pPr>
                      <a:r>
                        <a:rPr lang="en-US" sz="1000" b="0" i="0" u="none" strike="noStrike" noProof="0">
                          <a:effectLst/>
                          <a:latin typeface="Arial"/>
                        </a:rPr>
                        <a:t>216</a:t>
                      </a:r>
                      <a:endParaRPr lang="en-US" sz="1000">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000" b="0" i="0" u="none" strike="noStrike" noProof="0">
                          <a:effectLst/>
                          <a:latin typeface="Arial"/>
                        </a:rPr>
                        <a:t>MATCH (</a:t>
                      </a:r>
                      <a:r>
                        <a:rPr lang="en-US" sz="1000" b="0" i="0" u="none" strike="noStrike" noProof="0" err="1">
                          <a:effectLst/>
                          <a:latin typeface="Arial"/>
                        </a:rPr>
                        <a:t>p:PowerTransformer</a:t>
                      </a:r>
                      <a:r>
                        <a:rPr lang="en-US" sz="1000" b="0" i="0" u="none" strike="noStrike" noProof="0">
                          <a:effectLst/>
                          <a:latin typeface="Arial"/>
                        </a:rPr>
                        <a:t>)</a:t>
                      </a:r>
                      <a:endParaRPr lang="en-US" sz="1000">
                        <a:latin typeface="Arial"/>
                      </a:endParaRPr>
                    </a:p>
                    <a:p>
                      <a:pPr lvl="0">
                        <a:buNone/>
                      </a:pPr>
                      <a:r>
                        <a:rPr lang="en-US" sz="1000" b="0" i="0" u="none" strike="noStrike" noProof="0">
                          <a:effectLst/>
                          <a:latin typeface="Arial"/>
                        </a:rPr>
                        <a:t>RETURN count(p) AS </a:t>
                      </a:r>
                      <a:r>
                        <a:rPr lang="en-US" sz="1000" b="0" i="0" u="none" strike="noStrike" noProof="0" err="1">
                          <a:effectLst/>
                          <a:latin typeface="Arial"/>
                        </a:rPr>
                        <a:t>numberOfNodes</a:t>
                      </a:r>
                      <a:endParaRPr lang="en-US" sz="1000">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tc>
                  <a:txBody>
                    <a:bodyPr/>
                    <a:lstStyle/>
                    <a:p>
                      <a:pPr lvl="0">
                        <a:buNone/>
                      </a:pPr>
                      <a:r>
                        <a:rPr lang="en-US" sz="1000" b="0" i="0" u="none" strike="noStrike" noProof="0">
                          <a:effectLst/>
                          <a:latin typeface="Arial"/>
                        </a:rPr>
                        <a:t>{'</a:t>
                      </a:r>
                      <a:r>
                        <a:rPr lang="en-US" sz="1000" b="0" i="0" u="none" strike="noStrike" noProof="0" err="1">
                          <a:effectLst/>
                          <a:latin typeface="Arial"/>
                        </a:rPr>
                        <a:t>numberOfNodes</a:t>
                      </a:r>
                      <a:r>
                        <a:rPr lang="en-US" sz="1000" b="0" i="0" u="none" strike="noStrike" noProof="0">
                          <a:effectLst/>
                          <a:latin typeface="Arial"/>
                        </a:rPr>
                        <a:t>': 216}</a:t>
                      </a:r>
                      <a:endParaRPr lang="en-US" sz="1000">
                        <a:latin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000" b="0" i="0" u="none" strike="noStrike" noProof="0">
                          <a:effectLst/>
                          <a:latin typeface="Arial"/>
                        </a:rPr>
                        <a:t>**Summary:** There are **216** </a:t>
                      </a:r>
                      <a:r>
                        <a:rPr lang="en-US" sz="1000" b="0" i="0" u="none" strike="noStrike" noProof="0" err="1">
                          <a:effectLst/>
                          <a:latin typeface="Arial"/>
                        </a:rPr>
                        <a:t>PowerTransformer</a:t>
                      </a:r>
                      <a:r>
                        <a:rPr lang="en-US" sz="1000" b="0" i="0" u="none" strike="noStrike" noProof="0">
                          <a:effectLst/>
                          <a:latin typeface="Arial"/>
                        </a:rPr>
                        <a:t> nodes in the database.</a:t>
                      </a:r>
                      <a:endParaRPr lang="en-US" sz="1000">
                        <a:latin typeface="Arial"/>
                      </a:endParaRPr>
                    </a:p>
                    <a:p>
                      <a:pPr lvl="0">
                        <a:buNone/>
                      </a:pPr>
                      <a:r>
                        <a:rPr lang="en-US" sz="1000" b="0" i="0" u="none" strike="noStrike" noProof="0">
                          <a:effectLst/>
                          <a:latin typeface="Arial"/>
                        </a:rPr>
                        <a:t>No further calculations or analysis required. The raw data provided already answers the question directly.</a:t>
                      </a:r>
                      <a:endParaRPr lang="en-US" sz="1000">
                        <a:latin typeface="Arial"/>
                      </a:endParaRPr>
                    </a:p>
                  </a:txBody>
                  <a:tcPr>
                    <a:lnL w="12700" cap="flat" cmpd="sng" algn="ctr">
                      <a:solidFill>
                        <a:srgbClr val="FFFFFF"/>
                      </a:solidFill>
                      <a:prstDash val="solid"/>
                      <a:round/>
                      <a:headEnd type="none" w="med" len="med"/>
                      <a:tailEnd type="none" w="med" len="med"/>
                    </a:lnL>
                    <a:lnR w="9525" cap="flat" cmpd="sng" algn="ctr">
                      <a:solidFill>
                        <a:srgbClr val="C2D0DC"/>
                      </a:solidFill>
                      <a:prstDash val="solid"/>
                      <a:round/>
                      <a:headEnd type="none" w="med" len="med"/>
                      <a:tailEnd type="none" w="med" len="med"/>
                    </a:lnR>
                    <a:lnT w="9525" cap="flat" cmpd="sng" algn="ctr">
                      <a:solidFill>
                        <a:srgbClr val="C2D0DC"/>
                      </a:solidFill>
                      <a:prstDash val="solid"/>
                      <a:round/>
                      <a:headEnd type="none" w="med" len="med"/>
                      <a:tailEnd type="none" w="med" len="med"/>
                    </a:lnT>
                    <a:lnB w="9525" cap="flat" cmpd="sng" algn="ctr">
                      <a:solidFill>
                        <a:srgbClr val="C2D0DC"/>
                      </a:solidFill>
                      <a:prstDash val="solid"/>
                      <a:round/>
                      <a:headEnd type="none" w="med" len="med"/>
                      <a:tailEnd type="none" w="med" len="med"/>
                    </a:lnB>
                    <a:noFill/>
                  </a:tcPr>
                </a:tc>
                <a:extLst>
                  <a:ext uri="{0D108BD9-81ED-4DB2-BD59-A6C34878D82A}">
                    <a16:rowId xmlns:a16="http://schemas.microsoft.com/office/drawing/2014/main" val="2676249261"/>
                  </a:ext>
                </a:extLst>
              </a:tr>
              <a:tr h="2852506">
                <a:tc>
                  <a:txBody>
                    <a:bodyPr/>
                    <a:lstStyle/>
                    <a:p>
                      <a:pPr lvl="0">
                        <a:lnSpc>
                          <a:spcPts val="2175"/>
                        </a:lnSpc>
                        <a:buNone/>
                      </a:pPr>
                      <a:r>
                        <a:rPr lang="en-US" sz="1000" b="0" i="0" u="none" strike="noStrike" noProof="0">
                          <a:effectLst/>
                          <a:latin typeface="Arial"/>
                        </a:rPr>
                        <a:t>Find the </a:t>
                      </a:r>
                      <a:r>
                        <a:rPr lang="en-US" sz="1000" b="0" i="0" u="none" strike="noStrike" noProof="0" err="1">
                          <a:effectLst/>
                          <a:latin typeface="Arial"/>
                        </a:rPr>
                        <a:t>VoltageLevel</a:t>
                      </a:r>
                      <a:r>
                        <a:rPr lang="en-US" sz="1000" b="0" i="0" u="none" strike="noStrike" noProof="0">
                          <a:effectLst/>
                          <a:latin typeface="Arial"/>
                        </a:rPr>
                        <a:t> entity that is node to the maximum number of open breakers.</a:t>
                      </a:r>
                      <a:endParaRPr lang="en-US" sz="1000">
                        <a:latin typeface="Arial"/>
                      </a:endParaRPr>
                    </a:p>
                  </a:txBody>
                  <a:tcPr>
                    <a:lnL w="12700">
                      <a:solidFill>
                        <a:srgbClr val="FFFFFF"/>
                      </a:solidFill>
                    </a:lnL>
                    <a:lnR w="12700">
                      <a:solidFill>
                        <a:srgbClr val="FFFFFF"/>
                      </a:solidFill>
                    </a:lnR>
                    <a:lnT w="9525" cap="flat" cmpd="sng" algn="ctr">
                      <a:solidFill>
                        <a:srgbClr val="C2D0DC"/>
                      </a:solidFill>
                      <a:prstDash val="solid"/>
                      <a:round/>
                      <a:headEnd type="none" w="med" len="med"/>
                      <a:tailEnd type="none" w="med" len="med"/>
                    </a:lnT>
                    <a:lnB w="9524">
                      <a:solidFill>
                        <a:srgbClr val="C2D0DC"/>
                      </a:solidFill>
                    </a:lnB>
                    <a:noFill/>
                  </a:tcPr>
                </a:tc>
                <a:tc>
                  <a:txBody>
                    <a:bodyPr/>
                    <a:lstStyle/>
                    <a:p>
                      <a:pPr lvl="0">
                        <a:lnSpc>
                          <a:spcPts val="2175"/>
                        </a:lnSpc>
                        <a:buNone/>
                      </a:pPr>
                      <a:r>
                        <a:rPr lang="en-US" sz="1000" b="0" i="0" u="none" strike="noStrike" noProof="0">
                          <a:effectLst/>
                          <a:latin typeface="Arial"/>
                        </a:rPr>
                        <a:t>MATCH (</a:t>
                      </a:r>
                      <a:r>
                        <a:rPr lang="en-US" sz="1000" b="0" i="0" u="none" strike="noStrike" noProof="0" err="1">
                          <a:effectLst/>
                          <a:latin typeface="Arial"/>
                        </a:rPr>
                        <a:t>v:VoltageLevel</a:t>
                      </a:r>
                      <a:r>
                        <a:rPr lang="en-US" sz="1000" b="0" i="0" u="none" strike="noStrike" noProof="0">
                          <a:effectLst/>
                          <a:latin typeface="Arial"/>
                        </a:rPr>
                        <a:t>)&lt;-[:IN_CONTAINER]-(</a:t>
                      </a:r>
                      <a:r>
                        <a:rPr lang="en-US" sz="1000" b="0" i="0" u="none" strike="noStrike" noProof="0" err="1">
                          <a:effectLst/>
                          <a:latin typeface="Arial"/>
                        </a:rPr>
                        <a:t>b:Breaker</a:t>
                      </a:r>
                      <a:r>
                        <a:rPr lang="en-US" sz="1000" b="0" i="0" u="none" strike="noStrike" noProof="0">
                          <a:effectLst/>
                          <a:latin typeface="Arial"/>
                        </a:rPr>
                        <a:t> {</a:t>
                      </a:r>
                      <a:r>
                        <a:rPr lang="en-US" sz="1000" b="0" i="0" u="none" strike="noStrike" noProof="0" err="1">
                          <a:effectLst/>
                          <a:latin typeface="Arial"/>
                        </a:rPr>
                        <a:t>Switch_open</a:t>
                      </a:r>
                      <a:r>
                        <a:rPr lang="en-US" sz="1000" b="0" i="0" u="none" strike="noStrike" noProof="0">
                          <a:effectLst/>
                          <a:latin typeface="Arial"/>
                        </a:rPr>
                        <a:t>: 'true'}) WITH v, COUNT(b) AS </a:t>
                      </a:r>
                      <a:r>
                        <a:rPr lang="en-US" sz="1000" b="0" i="0" u="none" strike="noStrike" noProof="0" err="1">
                          <a:effectLst/>
                          <a:latin typeface="Arial"/>
                        </a:rPr>
                        <a:t>OpenBreakerCount</a:t>
                      </a:r>
                      <a:r>
                        <a:rPr lang="en-US" sz="1000" b="0" i="0" u="none" strike="noStrike" noProof="0">
                          <a:effectLst/>
                          <a:latin typeface="Arial"/>
                        </a:rPr>
                        <a:t> RETURN </a:t>
                      </a:r>
                      <a:r>
                        <a:rPr lang="en-US" sz="1000" b="0" i="0" u="none" strike="noStrike" noProof="0" err="1">
                          <a:effectLst/>
                          <a:latin typeface="Arial"/>
                        </a:rPr>
                        <a:t>v.IdentifiedObject_name</a:t>
                      </a:r>
                      <a:r>
                        <a:rPr lang="en-US" sz="1000" b="0" i="0" u="none" strike="noStrike" noProof="0">
                          <a:effectLst/>
                          <a:latin typeface="Arial"/>
                        </a:rPr>
                        <a:t>, </a:t>
                      </a:r>
                      <a:r>
                        <a:rPr lang="en-US" sz="1000" b="0" i="0" u="none" strike="noStrike" noProof="0" err="1">
                          <a:effectLst/>
                          <a:latin typeface="Arial"/>
                        </a:rPr>
                        <a:t>OpenBreakerCount</a:t>
                      </a:r>
                      <a:r>
                        <a:rPr lang="en-US" sz="1000" b="0" i="0" u="none" strike="noStrike" noProof="0">
                          <a:effectLst/>
                          <a:latin typeface="Arial"/>
                        </a:rPr>
                        <a:t> ORDER BY </a:t>
                      </a:r>
                      <a:r>
                        <a:rPr lang="en-US" sz="1000" b="0" i="0" u="none" strike="noStrike" noProof="0" err="1">
                          <a:effectLst/>
                          <a:latin typeface="Arial"/>
                        </a:rPr>
                        <a:t>OpenBreakerCount</a:t>
                      </a:r>
                      <a:r>
                        <a:rPr lang="en-US" sz="1000" b="0" i="0" u="none" strike="noStrike" noProof="0">
                          <a:effectLst/>
                          <a:latin typeface="Arial"/>
                        </a:rPr>
                        <a:t> DESC LIMIT 1;</a:t>
                      </a:r>
                      <a:endParaRPr lang="en-US" sz="1000">
                        <a:latin typeface="Arial"/>
                      </a:endParaRPr>
                    </a:p>
                  </a:txBody>
                  <a:tcPr>
                    <a:lnL w="12700">
                      <a:solidFill>
                        <a:srgbClr val="FFFFFF"/>
                      </a:solidFill>
                    </a:lnL>
                    <a:lnR w="12700">
                      <a:solidFill>
                        <a:srgbClr val="FFFFFF"/>
                      </a:solidFill>
                    </a:lnR>
                    <a:lnT w="9525" cap="flat" cmpd="sng" algn="ctr">
                      <a:solidFill>
                        <a:srgbClr val="C2D0DC"/>
                      </a:solidFill>
                      <a:prstDash val="solid"/>
                      <a:round/>
                      <a:headEnd type="none" w="med" len="med"/>
                      <a:tailEnd type="none" w="med" len="med"/>
                    </a:lnT>
                    <a:lnB w="9524">
                      <a:solidFill>
                        <a:srgbClr val="C2D0DC"/>
                      </a:solidFill>
                    </a:lnB>
                    <a:noFill/>
                  </a:tcPr>
                </a:tc>
                <a:tc>
                  <a:txBody>
                    <a:bodyPr/>
                    <a:lstStyle/>
                    <a:p>
                      <a:pPr lvl="0">
                        <a:buNone/>
                      </a:pPr>
                      <a:r>
                        <a:rPr lang="en-US" sz="1000" b="0" i="0" u="none" strike="noStrike" noProof="0">
                          <a:effectLst/>
                          <a:latin typeface="Arial"/>
                        </a:rPr>
                        <a:t>"SA" (with 9 Open Breakers)</a:t>
                      </a:r>
                      <a:endParaRPr lang="en-US" sz="1000">
                        <a:latin typeface="Arial"/>
                      </a:endParaRPr>
                    </a:p>
                  </a:txBody>
                  <a:tcPr>
                    <a:lnL w="12700">
                      <a:solidFill>
                        <a:srgbClr val="FFFFFF"/>
                      </a:solidFill>
                    </a:lnL>
                    <a:lnR w="12700">
                      <a:solidFill>
                        <a:srgbClr val="FFFFFF"/>
                      </a:solidFill>
                    </a:lnR>
                    <a:lnT w="9525" cap="flat" cmpd="sng" algn="ctr">
                      <a:solidFill>
                        <a:srgbClr val="C2D0DC"/>
                      </a:solidFill>
                      <a:prstDash val="solid"/>
                      <a:round/>
                      <a:headEnd type="none" w="med" len="med"/>
                      <a:tailEnd type="none" w="med" len="med"/>
                    </a:lnT>
                    <a:lnB w="9524">
                      <a:solidFill>
                        <a:srgbClr val="C2D0DC"/>
                      </a:solidFill>
                    </a:lnB>
                    <a:noFill/>
                  </a:tcPr>
                </a:tc>
                <a:tc>
                  <a:txBody>
                    <a:bodyPr/>
                    <a:lstStyle/>
                    <a:p>
                      <a:pPr lvl="0" algn="l">
                        <a:lnSpc>
                          <a:spcPct val="100000"/>
                        </a:lnSpc>
                        <a:spcBef>
                          <a:spcPts val="0"/>
                        </a:spcBef>
                        <a:spcAft>
                          <a:spcPts val="0"/>
                        </a:spcAft>
                        <a:buNone/>
                      </a:pPr>
                      <a:r>
                        <a:rPr lang="en-US" sz="1000" b="0" i="0" u="none" strike="noStrike" noProof="0">
                          <a:effectLst/>
                          <a:latin typeface="Arial"/>
                        </a:rPr>
                        <a:t>MATCH (</a:t>
                      </a:r>
                      <a:r>
                        <a:rPr lang="en-US" sz="1000" b="0" i="0" u="none" strike="noStrike" noProof="0" err="1">
                          <a:effectLst/>
                          <a:latin typeface="Arial"/>
                        </a:rPr>
                        <a:t>vl:VoltageLevel</a:t>
                      </a:r>
                      <a:r>
                        <a:rPr lang="en-US" sz="1000" b="0" i="0" u="none" strike="noStrike" noProof="0">
                          <a:effectLst/>
                          <a:latin typeface="Arial"/>
                        </a:rPr>
                        <a:t>)&lt;-[:IN_CONTAINER]-(</a:t>
                      </a:r>
                      <a:r>
                        <a:rPr lang="en-US" sz="1000" b="0" i="0" u="none" strike="noStrike" noProof="0" err="1">
                          <a:effectLst/>
                          <a:latin typeface="Arial"/>
                        </a:rPr>
                        <a:t>b:Breaker</a:t>
                      </a:r>
                      <a:r>
                        <a:rPr lang="en-US" sz="1000" b="0" i="0" u="none" strike="noStrike" noProof="0">
                          <a:effectLst/>
                          <a:latin typeface="Arial"/>
                        </a:rPr>
                        <a:t>)</a:t>
                      </a:r>
                      <a:endParaRPr lang="en-US" sz="1000">
                        <a:latin typeface="Arial"/>
                      </a:endParaRPr>
                    </a:p>
                    <a:p>
                      <a:pPr lvl="0" algn="l">
                        <a:lnSpc>
                          <a:spcPct val="100000"/>
                        </a:lnSpc>
                        <a:spcBef>
                          <a:spcPts val="0"/>
                        </a:spcBef>
                        <a:spcAft>
                          <a:spcPts val="0"/>
                        </a:spcAft>
                        <a:buNone/>
                      </a:pPr>
                      <a:r>
                        <a:rPr lang="en-US" sz="1000" b="0" i="0" u="none" strike="noStrike" noProof="0">
                          <a:effectLst/>
                          <a:latin typeface="Arial"/>
                        </a:rPr>
                        <a:t>WHERE </a:t>
                      </a:r>
                      <a:r>
                        <a:rPr lang="en-US" sz="1000" b="0" i="0" u="none" strike="noStrike" noProof="0" err="1">
                          <a:effectLst/>
                          <a:latin typeface="Arial"/>
                        </a:rPr>
                        <a:t>b.Switch_open</a:t>
                      </a:r>
                      <a:r>
                        <a:rPr lang="en-US" sz="1000" b="0" i="0" u="none" strike="noStrike" noProof="0">
                          <a:effectLst/>
                          <a:latin typeface="Arial"/>
                        </a:rPr>
                        <a:t> = 'true'</a:t>
                      </a:r>
                      <a:endParaRPr lang="en-US" sz="1000">
                        <a:latin typeface="Arial"/>
                      </a:endParaRPr>
                    </a:p>
                    <a:p>
                      <a:pPr lvl="0" algn="l">
                        <a:lnSpc>
                          <a:spcPct val="100000"/>
                        </a:lnSpc>
                        <a:spcBef>
                          <a:spcPts val="0"/>
                        </a:spcBef>
                        <a:spcAft>
                          <a:spcPts val="0"/>
                        </a:spcAft>
                        <a:buNone/>
                      </a:pPr>
                      <a:r>
                        <a:rPr lang="en-US" sz="1000" b="0" i="0" u="none" strike="noStrike" noProof="0">
                          <a:effectLst/>
                          <a:latin typeface="Arial"/>
                        </a:rPr>
                        <a:t>WITH </a:t>
                      </a:r>
                      <a:r>
                        <a:rPr lang="en-US" sz="1000" b="0" i="0" u="none" strike="noStrike" noProof="0" err="1">
                          <a:effectLst/>
                          <a:latin typeface="Arial"/>
                        </a:rPr>
                        <a:t>vl</a:t>
                      </a:r>
                      <a:r>
                        <a:rPr lang="en-US" sz="1000" b="0" i="0" u="none" strike="noStrike" noProof="0">
                          <a:effectLst/>
                          <a:latin typeface="Arial"/>
                        </a:rPr>
                        <a:t>, COUNT(b) AS </a:t>
                      </a:r>
                      <a:r>
                        <a:rPr lang="en-US" sz="1000" b="0" i="0" u="none" strike="noStrike" noProof="0" err="1">
                          <a:effectLst/>
                          <a:latin typeface="Arial"/>
                        </a:rPr>
                        <a:t>breakerCount</a:t>
                      </a:r>
                      <a:endParaRPr lang="en-US" sz="1000">
                        <a:latin typeface="Arial"/>
                      </a:endParaRPr>
                    </a:p>
                    <a:p>
                      <a:pPr lvl="0" algn="l">
                        <a:lnSpc>
                          <a:spcPct val="100000"/>
                        </a:lnSpc>
                        <a:spcBef>
                          <a:spcPts val="0"/>
                        </a:spcBef>
                        <a:spcAft>
                          <a:spcPts val="0"/>
                        </a:spcAft>
                        <a:buNone/>
                      </a:pPr>
                      <a:r>
                        <a:rPr lang="en-US" sz="1000" b="0" i="0" u="none" strike="noStrike" noProof="0">
                          <a:effectLst/>
                          <a:latin typeface="Arial"/>
                        </a:rPr>
                        <a:t>ORDER BY </a:t>
                      </a:r>
                      <a:r>
                        <a:rPr lang="en-US" sz="1000" b="0" i="0" u="none" strike="noStrike" noProof="0" err="1">
                          <a:effectLst/>
                          <a:latin typeface="Arial"/>
                        </a:rPr>
                        <a:t>breakerCount</a:t>
                      </a:r>
                      <a:r>
                        <a:rPr lang="en-US" sz="1000" b="0" i="0" u="none" strike="noStrike" noProof="0">
                          <a:effectLst/>
                          <a:latin typeface="Arial"/>
                        </a:rPr>
                        <a:t> DESC</a:t>
                      </a:r>
                      <a:endParaRPr lang="en-US" sz="1000">
                        <a:latin typeface="Arial"/>
                      </a:endParaRPr>
                    </a:p>
                    <a:p>
                      <a:pPr lvl="0" algn="l">
                        <a:lnSpc>
                          <a:spcPct val="100000"/>
                        </a:lnSpc>
                        <a:spcBef>
                          <a:spcPts val="0"/>
                        </a:spcBef>
                        <a:spcAft>
                          <a:spcPts val="0"/>
                        </a:spcAft>
                        <a:buNone/>
                      </a:pPr>
                      <a:r>
                        <a:rPr lang="en-US" sz="1000" b="0" i="0" u="none" strike="noStrike" noProof="0">
                          <a:effectLst/>
                          <a:latin typeface="Arial"/>
                        </a:rPr>
                        <a:t>LIMIT 1</a:t>
                      </a:r>
                      <a:endParaRPr lang="en-US" sz="1000">
                        <a:latin typeface="Arial"/>
                      </a:endParaRPr>
                    </a:p>
                    <a:p>
                      <a:pPr lvl="0">
                        <a:buNone/>
                      </a:pPr>
                      <a:r>
                        <a:rPr lang="en-US" sz="1000" b="0" i="0" u="none" strike="noStrike" noProof="0">
                          <a:effectLst/>
                          <a:latin typeface="Arial"/>
                        </a:rPr>
                        <a:t>RETURN </a:t>
                      </a:r>
                      <a:r>
                        <a:rPr lang="en-US" sz="1000" b="0" i="0" u="none" strike="noStrike" noProof="0" err="1">
                          <a:effectLst/>
                          <a:latin typeface="Arial"/>
                        </a:rPr>
                        <a:t>vl.IdentifiedObject_name</a:t>
                      </a:r>
                      <a:r>
                        <a:rPr lang="en-US" sz="1000" b="0" i="0" u="none" strike="noStrike" noProof="0">
                          <a:effectLst/>
                          <a:latin typeface="Arial"/>
                        </a:rPr>
                        <a:t> AS </a:t>
                      </a:r>
                      <a:r>
                        <a:rPr lang="en-US" sz="1000" b="0" i="0" u="none" strike="noStrike" noProof="0" err="1">
                          <a:effectLst/>
                          <a:latin typeface="Arial"/>
                        </a:rPr>
                        <a:t>VoltageLevelName</a:t>
                      </a:r>
                      <a:r>
                        <a:rPr lang="en-US" sz="1000" b="0" i="0" u="none" strike="noStrike" noProof="0">
                          <a:effectLst/>
                          <a:latin typeface="Arial"/>
                        </a:rPr>
                        <a:t>, </a:t>
                      </a:r>
                      <a:r>
                        <a:rPr lang="en-US" sz="1000" b="0" i="0" u="none" strike="noStrike" noProof="0" err="1">
                          <a:effectLst/>
                          <a:latin typeface="Arial"/>
                        </a:rPr>
                        <a:t>breakerCount</a:t>
                      </a:r>
                      <a:endParaRPr lang="en-US" sz="1000">
                        <a:latin typeface="Arial"/>
                      </a:endParaRPr>
                    </a:p>
                  </a:txBody>
                  <a:tcPr>
                    <a:lnL w="12700">
                      <a:solidFill>
                        <a:srgbClr val="FFFFFF"/>
                      </a:solidFill>
                    </a:lnL>
                    <a:lnR w="12700">
                      <a:solidFill>
                        <a:srgbClr val="FFFFFF"/>
                      </a:solidFill>
                    </a:lnR>
                    <a:lnT w="9525" cap="flat" cmpd="sng" algn="ctr">
                      <a:solidFill>
                        <a:srgbClr val="C2D0DC"/>
                      </a:solidFill>
                      <a:prstDash val="solid"/>
                      <a:round/>
                      <a:headEnd type="none" w="med" len="med"/>
                      <a:tailEnd type="none" w="med" len="med"/>
                    </a:lnT>
                    <a:lnB w="9524">
                      <a:solidFill>
                        <a:srgbClr val="C2D0DC"/>
                      </a:solidFill>
                    </a:lnB>
                    <a:noFill/>
                  </a:tcPr>
                </a:tc>
                <a:tc>
                  <a:txBody>
                    <a:bodyPr/>
                    <a:lstStyle/>
                    <a:p>
                      <a:pPr lvl="0">
                        <a:buNone/>
                      </a:pPr>
                      <a:r>
                        <a:rPr lang="en-US" sz="1000" b="0" i="0" u="none" strike="noStrike" noProof="0">
                          <a:effectLst/>
                          <a:latin typeface="Arial"/>
                        </a:rPr>
                        <a:t>[{'</a:t>
                      </a:r>
                      <a:r>
                        <a:rPr lang="en-US" sz="1000" b="0" i="0" u="none" strike="noStrike" noProof="0" err="1">
                          <a:effectLst/>
                          <a:latin typeface="Arial"/>
                        </a:rPr>
                        <a:t>VoltageLevelName</a:t>
                      </a:r>
                      <a:r>
                        <a:rPr lang="en-US" sz="1000" b="0" i="0" u="none" strike="noStrike" noProof="0">
                          <a:effectLst/>
                          <a:latin typeface="Arial"/>
                        </a:rPr>
                        <a:t>': 'SA', '</a:t>
                      </a:r>
                      <a:r>
                        <a:rPr lang="en-US" sz="1000" b="0" i="0" u="none" strike="noStrike" noProof="0" err="1">
                          <a:effectLst/>
                          <a:latin typeface="Arial"/>
                        </a:rPr>
                        <a:t>breakerCount</a:t>
                      </a:r>
                      <a:r>
                        <a:rPr lang="en-US" sz="1000" b="0" i="0" u="none" strike="noStrike" noProof="0">
                          <a:effectLst/>
                          <a:latin typeface="Arial"/>
                        </a:rPr>
                        <a:t>': 9}]</a:t>
                      </a:r>
                      <a:endParaRPr lang="en-US" sz="1000">
                        <a:latin typeface="Arial"/>
                      </a:endParaRPr>
                    </a:p>
                  </a:txBody>
                  <a:tcPr>
                    <a:lnL w="12700">
                      <a:solidFill>
                        <a:srgbClr val="FFFFFF"/>
                      </a:solidFill>
                    </a:lnL>
                    <a:lnR w="12700">
                      <a:solidFill>
                        <a:srgbClr val="FFFFFF"/>
                      </a:solidFill>
                    </a:lnR>
                    <a:lnT w="9525" cap="flat" cmpd="sng" algn="ctr">
                      <a:solidFill>
                        <a:srgbClr val="C2D0DC"/>
                      </a:solidFill>
                      <a:prstDash val="solid"/>
                      <a:round/>
                      <a:headEnd type="none" w="med" len="med"/>
                      <a:tailEnd type="none" w="med" len="med"/>
                    </a:lnT>
                    <a:lnB w="9524">
                      <a:solidFill>
                        <a:srgbClr val="C2D0DC"/>
                      </a:solidFill>
                    </a:lnB>
                    <a:noFill/>
                  </a:tcPr>
                </a:tc>
                <a:tc>
                  <a:txBody>
                    <a:bodyPr/>
                    <a:lstStyle/>
                    <a:p>
                      <a:pPr lvl="0" algn="l">
                        <a:lnSpc>
                          <a:spcPct val="100000"/>
                        </a:lnSpc>
                        <a:spcBef>
                          <a:spcPts val="0"/>
                        </a:spcBef>
                        <a:spcAft>
                          <a:spcPts val="0"/>
                        </a:spcAft>
                        <a:buNone/>
                      </a:pPr>
                      <a:r>
                        <a:rPr lang="en-US" sz="1000" b="0" i="0" u="none" strike="noStrike" noProof="0" dirty="0">
                          <a:effectLst/>
                          <a:latin typeface="Arial"/>
                        </a:rPr>
                        <a:t>**Summary:** The voltage level with the highest number of open breakers is **'SA'**, which has **9** open breakers.</a:t>
                      </a:r>
                      <a:endParaRPr lang="en-US" sz="1000" dirty="0">
                        <a:latin typeface="Arial"/>
                      </a:endParaRPr>
                    </a:p>
                    <a:p>
                      <a:pPr lvl="0" algn="l">
                        <a:lnSpc>
                          <a:spcPct val="100000"/>
                        </a:lnSpc>
                        <a:spcBef>
                          <a:spcPts val="0"/>
                        </a:spcBef>
                        <a:spcAft>
                          <a:spcPts val="0"/>
                        </a:spcAft>
                        <a:buNone/>
                      </a:pPr>
                      <a:endParaRPr lang="en-US" sz="1000" dirty="0">
                        <a:latin typeface="Arial"/>
                      </a:endParaRPr>
                    </a:p>
                    <a:p>
                      <a:pPr lvl="0">
                        <a:buNone/>
                      </a:pPr>
                      <a:r>
                        <a:rPr lang="en-US" sz="1000" b="0" i="0" u="none" strike="noStrike" noProof="0" dirty="0">
                          <a:effectLst/>
                          <a:latin typeface="Arial"/>
                        </a:rPr>
                        <a:t>No additional calculations are required, as the raw data already provides the necessary information.</a:t>
                      </a:r>
                      <a:endParaRPr lang="en-US" sz="1000" dirty="0">
                        <a:latin typeface="Arial"/>
                      </a:endParaRPr>
                    </a:p>
                  </a:txBody>
                  <a:tcPr>
                    <a:lnL w="12700">
                      <a:solidFill>
                        <a:srgbClr val="FFFFFF"/>
                      </a:solidFill>
                    </a:lnL>
                    <a:lnR w="9524">
                      <a:solidFill>
                        <a:srgbClr val="C2D0DC"/>
                      </a:solidFill>
                    </a:lnR>
                    <a:lnT w="9525" cap="flat" cmpd="sng" algn="ctr">
                      <a:solidFill>
                        <a:srgbClr val="C2D0DC"/>
                      </a:solidFill>
                      <a:prstDash val="solid"/>
                      <a:round/>
                      <a:headEnd type="none" w="med" len="med"/>
                      <a:tailEnd type="none" w="med" len="med"/>
                    </a:lnT>
                    <a:lnB w="9524">
                      <a:solidFill>
                        <a:srgbClr val="C2D0DC"/>
                      </a:solidFill>
                    </a:lnB>
                    <a:noFill/>
                  </a:tcPr>
                </a:tc>
                <a:extLst>
                  <a:ext uri="{0D108BD9-81ED-4DB2-BD59-A6C34878D82A}">
                    <a16:rowId xmlns:a16="http://schemas.microsoft.com/office/drawing/2014/main" val="231967566"/>
                  </a:ext>
                </a:extLst>
              </a:tr>
            </a:tbl>
          </a:graphicData>
        </a:graphic>
      </p:graphicFrame>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3849594E-4757-8B15-58BE-6C040B1C2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5332" y="16112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52EFC88-24F5-DAFA-909D-603C8A7313A5}"/>
              </a:ext>
            </a:extLst>
          </p:cNvPr>
          <p:cNvPicPr>
            <a:picLocks noChangeAspect="1"/>
          </p:cNvPicPr>
          <p:nvPr/>
        </p:nvPicPr>
        <p:blipFill>
          <a:blip r:embed="rId3"/>
          <a:stretch>
            <a:fillRect/>
          </a:stretch>
        </p:blipFill>
        <p:spPr>
          <a:xfrm>
            <a:off x="7850254" y="383634"/>
            <a:ext cx="1279737" cy="249949"/>
          </a:xfrm>
          <a:prstGeom prst="rect">
            <a:avLst/>
          </a:prstGeom>
        </p:spPr>
      </p:pic>
      <p:pic>
        <p:nvPicPr>
          <p:cNvPr id="7" name="Picture 6" descr="A logo with blue text&#10;&#10;AI-generated content may be incorrect.">
            <a:extLst>
              <a:ext uri="{FF2B5EF4-FFF2-40B4-BE49-F238E27FC236}">
                <a16:creationId xmlns:a16="http://schemas.microsoft.com/office/drawing/2014/main" id="{5741217F-68D2-20D9-96C1-22735D1D6E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8" name="Grafik 92">
            <a:extLst>
              <a:ext uri="{FF2B5EF4-FFF2-40B4-BE49-F238E27FC236}">
                <a16:creationId xmlns:a16="http://schemas.microsoft.com/office/drawing/2014/main" id="{E171BFA7-7D08-2DAC-0EA0-59BCDE6D1515}"/>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60560" y="495108"/>
            <a:ext cx="810303" cy="332399"/>
          </a:xfrm>
          <a:prstGeom prst="rect">
            <a:avLst/>
          </a:prstGeom>
        </p:spPr>
      </p:pic>
    </p:spTree>
    <p:extLst>
      <p:ext uri="{BB962C8B-B14F-4D97-AF65-F5344CB8AC3E}">
        <p14:creationId xmlns:p14="http://schemas.microsoft.com/office/powerpoint/2010/main" val="239389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ECD5B-3788-1132-3E18-68BA0263A89E}"/>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D09C97F-5371-899B-F048-02BF334E936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2AD6146A-A2BC-8612-BDD5-6787BFA803E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97DACBBF-70F4-1B73-FF24-39D3A6322C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7954578-16AC-2288-2914-64F46633EE35}"/>
              </a:ext>
            </a:extLst>
          </p:cNvPr>
          <p:cNvSpPr>
            <a:spLocks noGrp="1"/>
          </p:cNvSpPr>
          <p:nvPr>
            <p:ph type="title"/>
          </p:nvPr>
        </p:nvSpPr>
        <p:spPr>
          <a:xfrm>
            <a:off x="518318" y="302925"/>
            <a:ext cx="4109536" cy="997196"/>
          </a:xfrm>
        </p:spPr>
        <p:txBody>
          <a:bodyPr/>
          <a:lstStyle/>
          <a:p>
            <a:r>
              <a:rPr lang="en-US">
                <a:latin typeface="Arial"/>
              </a:rPr>
              <a:t>Gridsense.ai -</a:t>
            </a:r>
            <a:r>
              <a:rPr lang="en-US">
                <a:latin typeface="Arial"/>
                <a:cs typeface="Arial"/>
              </a:rPr>
              <a:t> Validation</a:t>
            </a:r>
            <a:br>
              <a:rPr lang="en-US">
                <a:latin typeface="Arial"/>
                <a:cs typeface="Arial"/>
              </a:rPr>
            </a:br>
            <a:r>
              <a:rPr lang="en-US">
                <a:latin typeface="Arial"/>
                <a:cs typeface="Arial"/>
              </a:rPr>
              <a:t>(developed with </a:t>
            </a:r>
            <a:r>
              <a:rPr lang="en-US" err="1">
                <a:latin typeface="Arial"/>
                <a:cs typeface="Arial"/>
              </a:rPr>
              <a:t>LangChain</a:t>
            </a:r>
            <a:r>
              <a:rPr lang="en-US">
                <a:latin typeface="Arial"/>
                <a:cs typeface="Arial"/>
              </a:rPr>
              <a:t>)</a:t>
            </a:r>
          </a:p>
          <a:p>
            <a:endParaRPr lang="en-US">
              <a:cs typeface="Arial"/>
            </a:endParaRP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3DCD069-2654-13FE-6BC5-209ECE81C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372" y="216195"/>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EE8D1324-0D1C-CC84-E2D1-78DA1BB6F2CD}"/>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06434BD9-DF91-FDE0-A004-A028E298B7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graphicFrame>
        <p:nvGraphicFramePr>
          <p:cNvPr id="10" name="Table 9">
            <a:extLst>
              <a:ext uri="{FF2B5EF4-FFF2-40B4-BE49-F238E27FC236}">
                <a16:creationId xmlns:a16="http://schemas.microsoft.com/office/drawing/2014/main" id="{21D8E1AC-74B4-6AAD-A307-65DA12AEF77B}"/>
              </a:ext>
            </a:extLst>
          </p:cNvPr>
          <p:cNvGraphicFramePr>
            <a:graphicFrameLocks noGrp="1"/>
          </p:cNvGraphicFramePr>
          <p:nvPr/>
        </p:nvGraphicFramePr>
        <p:xfrm>
          <a:off x="583169" y="1759612"/>
          <a:ext cx="5821611" cy="4185451"/>
        </p:xfrm>
        <a:graphic>
          <a:graphicData uri="http://schemas.openxmlformats.org/drawingml/2006/table">
            <a:tbl>
              <a:tblPr firstRow="1" bandRow="1">
                <a:tableStyleId>{5A111915-BE36-4E01-A7E5-04B1672EAD32}</a:tableStyleId>
              </a:tblPr>
              <a:tblGrid>
                <a:gridCol w="2951065">
                  <a:extLst>
                    <a:ext uri="{9D8B030D-6E8A-4147-A177-3AD203B41FA5}">
                      <a16:colId xmlns:a16="http://schemas.microsoft.com/office/drawing/2014/main" val="2484801987"/>
                    </a:ext>
                  </a:extLst>
                </a:gridCol>
                <a:gridCol w="1277393">
                  <a:extLst>
                    <a:ext uri="{9D8B030D-6E8A-4147-A177-3AD203B41FA5}">
                      <a16:colId xmlns:a16="http://schemas.microsoft.com/office/drawing/2014/main" val="320289783"/>
                    </a:ext>
                  </a:extLst>
                </a:gridCol>
                <a:gridCol w="1593153">
                  <a:extLst>
                    <a:ext uri="{9D8B030D-6E8A-4147-A177-3AD203B41FA5}">
                      <a16:colId xmlns:a16="http://schemas.microsoft.com/office/drawing/2014/main" val="3444069266"/>
                    </a:ext>
                  </a:extLst>
                </a:gridCol>
              </a:tblGrid>
              <a:tr h="313986">
                <a:tc>
                  <a:txBody>
                    <a:bodyPr/>
                    <a:lstStyle/>
                    <a:p>
                      <a:pPr lvl="0">
                        <a:buNone/>
                      </a:pPr>
                      <a:r>
                        <a:rPr lang="en-US" sz="1400" b="0" i="0" u="none" strike="noStrike" baseline="0" noProof="0" dirty="0">
                          <a:solidFill>
                            <a:srgbClr val="000000"/>
                          </a:solidFill>
                          <a:latin typeface="Arial"/>
                        </a:rPr>
                        <a:t>Feature</a:t>
                      </a:r>
                      <a:endParaRPr lang="en-US" b="0" dirty="0"/>
                    </a:p>
                  </a:txBody>
                  <a:tcPr/>
                </a:tc>
                <a:tc>
                  <a:txBody>
                    <a:bodyPr/>
                    <a:lstStyle/>
                    <a:p>
                      <a:pPr lvl="0">
                        <a:buNone/>
                      </a:pPr>
                      <a:r>
                        <a:rPr lang="en-US" sz="1400" b="0" i="0" u="none" strike="noStrike" baseline="0" noProof="0" dirty="0">
                          <a:solidFill>
                            <a:srgbClr val="000000"/>
                          </a:solidFill>
                          <a:latin typeface="Arial"/>
                        </a:rPr>
                        <a:t>Total Questions</a:t>
                      </a:r>
                      <a:endParaRPr lang="en-US" b="0" dirty="0"/>
                    </a:p>
                  </a:txBody>
                  <a:tcPr/>
                </a:tc>
                <a:tc>
                  <a:txBody>
                    <a:bodyPr/>
                    <a:lstStyle/>
                    <a:p>
                      <a:pPr lvl="0">
                        <a:buNone/>
                      </a:pPr>
                      <a:r>
                        <a:rPr lang="en-US" sz="1400" b="0" i="0" u="none" strike="noStrike" baseline="0" noProof="0" dirty="0">
                          <a:solidFill>
                            <a:srgbClr val="000000"/>
                          </a:solidFill>
                        </a:rPr>
                        <a:t>Accuracy</a:t>
                      </a:r>
                      <a:endParaRPr lang="en-US" dirty="0"/>
                    </a:p>
                  </a:txBody>
                  <a:tcPr/>
                </a:tc>
                <a:extLst>
                  <a:ext uri="{0D108BD9-81ED-4DB2-BD59-A6C34878D82A}">
                    <a16:rowId xmlns:a16="http://schemas.microsoft.com/office/drawing/2014/main" val="2480637116"/>
                  </a:ext>
                </a:extLst>
              </a:tr>
              <a:tr h="361083">
                <a:tc>
                  <a:txBody>
                    <a:bodyPr/>
                    <a:lstStyle/>
                    <a:p>
                      <a:pPr lvl="0">
                        <a:buNone/>
                      </a:pPr>
                      <a:r>
                        <a:rPr lang="en-US" sz="1400" b="0" i="0" u="none" strike="noStrike" noProof="0" dirty="0">
                          <a:solidFill>
                            <a:schemeClr val="tx1"/>
                          </a:solidFill>
                          <a:latin typeface="Arial"/>
                        </a:rPr>
                        <a:t>Counting</a:t>
                      </a:r>
                      <a:endParaRPr lang="en-US" dirty="0"/>
                    </a:p>
                  </a:txBody>
                  <a:tcPr/>
                </a:tc>
                <a:tc>
                  <a:txBody>
                    <a:bodyPr/>
                    <a:lstStyle/>
                    <a:p>
                      <a:pPr lvl="0">
                        <a:buNone/>
                      </a:pPr>
                      <a:r>
                        <a:rPr lang="en-US" sz="1400" b="0" i="0" u="none" strike="noStrike" noProof="0" dirty="0">
                          <a:solidFill>
                            <a:schemeClr val="tx1"/>
                          </a:solidFill>
                          <a:latin typeface="Arial"/>
                        </a:rPr>
                        <a:t>21</a:t>
                      </a:r>
                      <a:endParaRPr lang="en-US" dirty="0"/>
                    </a:p>
                  </a:txBody>
                  <a:tcPr/>
                </a:tc>
                <a:tc>
                  <a:txBody>
                    <a:bodyPr/>
                    <a:lstStyle/>
                    <a:p>
                      <a:pPr lvl="0">
                        <a:buNone/>
                      </a:pPr>
                      <a:r>
                        <a:rPr lang="en-US" sz="1400" b="0" i="0" u="none" strike="noStrike" noProof="0" dirty="0">
                          <a:solidFill>
                            <a:schemeClr val="tx1"/>
                          </a:solidFill>
                          <a:latin typeface="Arial"/>
                        </a:rPr>
                        <a:t>71.43%</a:t>
                      </a:r>
                      <a:endParaRPr lang="en-US" dirty="0"/>
                    </a:p>
                  </a:txBody>
                  <a:tcPr/>
                </a:tc>
                <a:extLst>
                  <a:ext uri="{0D108BD9-81ED-4DB2-BD59-A6C34878D82A}">
                    <a16:rowId xmlns:a16="http://schemas.microsoft.com/office/drawing/2014/main" val="2052628122"/>
                  </a:ext>
                </a:extLst>
              </a:tr>
              <a:tr h="554691">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Fault Analysis &amp; State Change Validation Set</a:t>
                      </a:r>
                      <a:endParaRPr lang="en-US" sz="1400" b="0" i="0" u="none" strike="noStrike" noProof="0" dirty="0">
                        <a:solidFill>
                          <a:srgbClr val="000000"/>
                        </a:solidFill>
                        <a:latin typeface="Arial"/>
                      </a:endParaRPr>
                    </a:p>
                    <a:p>
                      <a:pPr lvl="0">
                        <a:buNone/>
                      </a:pPr>
                      <a:endParaRPr lang="en-US" sz="1400" b="0" i="0" u="none" strike="noStrike" noProof="0">
                        <a:solidFill>
                          <a:schemeClr val="tx1"/>
                        </a:solidFill>
                        <a:latin typeface="Arial"/>
                      </a:endParaRPr>
                    </a:p>
                  </a:txBody>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15</a:t>
                      </a:r>
                      <a:endParaRPr lang="en-US" sz="1400" b="0" i="0" u="none" strike="noStrike" noProof="0" dirty="0">
                        <a:solidFill>
                          <a:srgbClr val="000000"/>
                        </a:solidFill>
                        <a:latin typeface="Arial"/>
                      </a:endParaRPr>
                    </a:p>
                    <a:p>
                      <a:pPr marL="0" lvl="0" indent="0">
                        <a:buNone/>
                      </a:pPr>
                      <a:endParaRPr lang="en-US" sz="1400" b="0" u="none" strike="noStrike" noProof="0">
                        <a:solidFill>
                          <a:schemeClr val="tx1"/>
                        </a:solidFill>
                      </a:endParaRPr>
                    </a:p>
                  </a:txBody>
                  <a:tcPr/>
                </a:tc>
                <a:tc>
                  <a:txBody>
                    <a:bodyPr/>
                    <a:lstStyle/>
                    <a:p>
                      <a:pPr marL="0" lvl="0" indent="0">
                        <a:buNone/>
                      </a:pPr>
                      <a:r>
                        <a:rPr lang="en-US" sz="1400" b="0" i="0" u="none" strike="noStrike" noProof="0" dirty="0">
                          <a:solidFill>
                            <a:schemeClr val="tx1"/>
                          </a:solidFill>
                          <a:latin typeface="Arial"/>
                        </a:rPr>
                        <a:t>53.33%</a:t>
                      </a:r>
                      <a:endParaRPr lang="en-US" sz="1400" b="0" u="none" strike="noStrike" noProof="0" dirty="0">
                        <a:solidFill>
                          <a:schemeClr val="tx1"/>
                        </a:solidFill>
                      </a:endParaRPr>
                    </a:p>
                  </a:txBody>
                  <a:tcPr/>
                </a:tc>
                <a:extLst>
                  <a:ext uri="{0D108BD9-81ED-4DB2-BD59-A6C34878D82A}">
                    <a16:rowId xmlns:a16="http://schemas.microsoft.com/office/drawing/2014/main" val="2690367699"/>
                  </a:ext>
                </a:extLst>
              </a:tr>
              <a:tr h="643672">
                <a:tc>
                  <a:txBody>
                    <a:bodyPr/>
                    <a:lstStyle/>
                    <a:p>
                      <a:pPr lvl="0">
                        <a:buNone/>
                      </a:pPr>
                      <a:r>
                        <a:rPr lang="en-US" sz="1400" b="0" i="0" u="none" strike="noStrike" noProof="0" dirty="0">
                          <a:solidFill>
                            <a:schemeClr val="tx1"/>
                          </a:solidFill>
                          <a:latin typeface="Arial"/>
                        </a:rPr>
                        <a:t>Topology &amp; Network Structure</a:t>
                      </a:r>
                      <a:endParaRPr lang="en-US" dirty="0"/>
                    </a:p>
                  </a:txBody>
                  <a:tcPr/>
                </a:tc>
                <a:tc>
                  <a:txBody>
                    <a:bodyPr/>
                    <a:lstStyle/>
                    <a:p>
                      <a:pPr lvl="0">
                        <a:buNone/>
                      </a:pPr>
                      <a:r>
                        <a:rPr lang="en-US" sz="1400" b="0" i="0" u="none" strike="noStrike" noProof="0" dirty="0">
                          <a:solidFill>
                            <a:schemeClr val="tx1"/>
                          </a:solidFill>
                          <a:latin typeface="Arial"/>
                        </a:rPr>
                        <a:t>14</a:t>
                      </a:r>
                      <a:endParaRPr lang="en-US" dirty="0"/>
                    </a:p>
                  </a:txBody>
                  <a:tcPr/>
                </a:tc>
                <a:tc>
                  <a:txBody>
                    <a:bodyPr/>
                    <a:lstStyle/>
                    <a:p>
                      <a:pPr lvl="0">
                        <a:buNone/>
                      </a:pPr>
                      <a:r>
                        <a:rPr lang="en-US" sz="1400" b="0" i="0" u="none" strike="noStrike" noProof="0" dirty="0">
                          <a:solidFill>
                            <a:schemeClr val="tx1"/>
                          </a:solidFill>
                          <a:latin typeface="Arial"/>
                        </a:rPr>
                        <a:t>14.28%</a:t>
                      </a:r>
                      <a:endParaRPr lang="en-US" dirty="0"/>
                    </a:p>
                  </a:txBody>
                  <a:tcPr/>
                </a:tc>
                <a:extLst>
                  <a:ext uri="{0D108BD9-81ED-4DB2-BD59-A6C34878D82A}">
                    <a16:rowId xmlns:a16="http://schemas.microsoft.com/office/drawing/2014/main" val="2879041143"/>
                  </a:ext>
                </a:extLst>
              </a:tr>
              <a:tr h="643672">
                <a:tc>
                  <a:txBody>
                    <a:bodyPr/>
                    <a:lstStyle/>
                    <a:p>
                      <a:pPr lvl="0">
                        <a:buNone/>
                      </a:pPr>
                      <a:r>
                        <a:rPr lang="en-US" sz="1400" b="0" i="0" u="none" strike="noStrike" noProof="0" dirty="0">
                          <a:solidFill>
                            <a:schemeClr val="tx1"/>
                          </a:solidFill>
                          <a:latin typeface="Arial"/>
                        </a:rPr>
                        <a:t>Mathematics and aggregation</a:t>
                      </a:r>
                      <a:endParaRPr lang="en-US" dirty="0"/>
                    </a:p>
                  </a:txBody>
                  <a:tcPr/>
                </a:tc>
                <a:tc>
                  <a:txBody>
                    <a:bodyPr/>
                    <a:lstStyle/>
                    <a:p>
                      <a:pPr lvl="0">
                        <a:buNone/>
                      </a:pPr>
                      <a:r>
                        <a:rPr lang="en-US" sz="1400" b="0" i="0" u="none" strike="noStrike" noProof="0" dirty="0">
                          <a:solidFill>
                            <a:schemeClr val="tx1"/>
                          </a:solidFill>
                        </a:rPr>
                        <a:t>15</a:t>
                      </a:r>
                      <a:endParaRPr lang="en-US" dirty="0"/>
                    </a:p>
                  </a:txBody>
                  <a:tcPr/>
                </a:tc>
                <a:tc>
                  <a:txBody>
                    <a:bodyPr/>
                    <a:lstStyle/>
                    <a:p>
                      <a:pPr lvl="0">
                        <a:buNone/>
                      </a:pPr>
                      <a:r>
                        <a:rPr lang="en-US" sz="1400" b="0" i="0" u="none" strike="noStrike" noProof="0" dirty="0">
                          <a:solidFill>
                            <a:schemeClr val="tx1"/>
                          </a:solidFill>
                          <a:latin typeface="Arial"/>
                        </a:rPr>
                        <a:t>20%</a:t>
                      </a:r>
                      <a:endParaRPr lang="en-US" dirty="0"/>
                    </a:p>
                  </a:txBody>
                  <a:tcPr/>
                </a:tc>
                <a:extLst>
                  <a:ext uri="{0D108BD9-81ED-4DB2-BD59-A6C34878D82A}">
                    <a16:rowId xmlns:a16="http://schemas.microsoft.com/office/drawing/2014/main" val="2291567126"/>
                  </a:ext>
                </a:extLst>
              </a:tr>
              <a:tr h="643672">
                <a:tc>
                  <a:txBody>
                    <a:bodyPr/>
                    <a:lstStyle/>
                    <a:p>
                      <a:pPr lvl="0">
                        <a:buNone/>
                      </a:pPr>
                      <a:r>
                        <a:rPr lang="en-US" sz="1400" b="0" i="0" u="none" strike="noStrike" noProof="0" dirty="0">
                          <a:solidFill>
                            <a:schemeClr val="tx1"/>
                          </a:solidFill>
                        </a:rPr>
                        <a:t>Connectivity between nodes- values</a:t>
                      </a:r>
                      <a:endParaRPr lang="en-US" dirty="0"/>
                    </a:p>
                  </a:txBody>
                  <a:tcPr/>
                </a:tc>
                <a:tc>
                  <a:txBody>
                    <a:bodyPr/>
                    <a:lstStyle/>
                    <a:p>
                      <a:pPr lvl="0">
                        <a:buNone/>
                      </a:pPr>
                      <a:r>
                        <a:rPr lang="en-US" sz="1400" b="0" i="0" u="none" strike="noStrike" noProof="0" dirty="0">
                          <a:solidFill>
                            <a:schemeClr val="tx1"/>
                          </a:solidFill>
                          <a:latin typeface="Arial"/>
                        </a:rPr>
                        <a:t>21</a:t>
                      </a:r>
                      <a:endParaRPr lang="en-US" dirty="0"/>
                    </a:p>
                  </a:txBody>
                  <a:tcPr/>
                </a:tc>
                <a:tc>
                  <a:txBody>
                    <a:bodyPr/>
                    <a:lstStyle/>
                    <a:p>
                      <a:pPr lvl="0">
                        <a:buNone/>
                      </a:pPr>
                      <a:r>
                        <a:rPr lang="en-US" sz="1400" b="0" i="0" u="none" strike="noStrike" noProof="0" dirty="0">
                          <a:solidFill>
                            <a:schemeClr val="tx1"/>
                          </a:solidFill>
                        </a:rPr>
                        <a:t>4.76%</a:t>
                      </a:r>
                      <a:endParaRPr lang="en-US" dirty="0"/>
                    </a:p>
                  </a:txBody>
                  <a:tcPr/>
                </a:tc>
                <a:extLst>
                  <a:ext uri="{0D108BD9-81ED-4DB2-BD59-A6C34878D82A}">
                    <a16:rowId xmlns:a16="http://schemas.microsoft.com/office/drawing/2014/main" val="4159693750"/>
                  </a:ext>
                </a:extLst>
              </a:tr>
              <a:tr h="643672">
                <a:tc>
                  <a:txBody>
                    <a:bodyPr/>
                    <a:lstStyle/>
                    <a:p>
                      <a:pPr lvl="0">
                        <a:buNone/>
                      </a:pPr>
                      <a:r>
                        <a:rPr lang="en-US" sz="1400" b="0" i="0" u="none" strike="noStrike" noProof="0" dirty="0">
                          <a:solidFill>
                            <a:schemeClr val="tx1"/>
                          </a:solidFill>
                        </a:rPr>
                        <a:t>Electrical Properties / Operational Values.</a:t>
                      </a:r>
                      <a:endParaRPr lang="en-US" dirty="0"/>
                    </a:p>
                  </a:txBody>
                  <a:tcPr/>
                </a:tc>
                <a:tc>
                  <a:txBody>
                    <a:bodyPr/>
                    <a:lstStyle/>
                    <a:p>
                      <a:pPr lvl="0">
                        <a:buNone/>
                      </a:pPr>
                      <a:r>
                        <a:rPr lang="en-US" sz="1400" b="0" i="0" u="none" strike="noStrike" noProof="0" dirty="0">
                          <a:solidFill>
                            <a:schemeClr val="tx1"/>
                          </a:solidFill>
                          <a:latin typeface="Arial"/>
                        </a:rPr>
                        <a:t>18</a:t>
                      </a:r>
                      <a:endParaRPr lang="en-US" dirty="0"/>
                    </a:p>
                  </a:txBody>
                  <a:tcPr/>
                </a:tc>
                <a:tc>
                  <a:txBody>
                    <a:bodyPr/>
                    <a:lstStyle/>
                    <a:p>
                      <a:pPr lvl="0">
                        <a:buNone/>
                      </a:pPr>
                      <a:r>
                        <a:rPr lang="en-US" sz="1400" b="0" i="0" u="none" strike="noStrike" noProof="0" dirty="0">
                          <a:solidFill>
                            <a:schemeClr val="tx1"/>
                          </a:solidFill>
                          <a:latin typeface="Arial"/>
                        </a:rPr>
                        <a:t>27,77</a:t>
                      </a:r>
                      <a:r>
                        <a:rPr lang="en-US" sz="1400" b="0" i="0" u="none" strike="noStrike" noProof="0" dirty="0">
                          <a:solidFill>
                            <a:schemeClr val="tx1"/>
                          </a:solidFill>
                        </a:rPr>
                        <a:t>%</a:t>
                      </a:r>
                      <a:endParaRPr lang="en-US" dirty="0"/>
                    </a:p>
                  </a:txBody>
                  <a:tcPr/>
                </a:tc>
                <a:extLst>
                  <a:ext uri="{0D108BD9-81ED-4DB2-BD59-A6C34878D82A}">
                    <a16:rowId xmlns:a16="http://schemas.microsoft.com/office/drawing/2014/main" val="752456672"/>
                  </a:ext>
                </a:extLst>
              </a:tr>
            </a:tbl>
          </a:graphicData>
        </a:graphic>
      </p:graphicFrame>
      <p:sp>
        <p:nvSpPr>
          <p:cNvPr id="5" name="TextBox 4">
            <a:extLst>
              <a:ext uri="{FF2B5EF4-FFF2-40B4-BE49-F238E27FC236}">
                <a16:creationId xmlns:a16="http://schemas.microsoft.com/office/drawing/2014/main" id="{E2293187-CAE8-3C08-5851-60CDAB3D89CA}"/>
              </a:ext>
            </a:extLst>
          </p:cNvPr>
          <p:cNvSpPr txBox="1"/>
          <p:nvPr/>
        </p:nvSpPr>
        <p:spPr>
          <a:xfrm>
            <a:off x="6732740" y="1912687"/>
            <a:ext cx="6096000" cy="303262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System achieved </a:t>
            </a:r>
            <a:r>
              <a:rPr kumimoji="0" lang="en-US" sz="1800" b="0" i="0" u="none" strike="noStrike" kern="1200" cap="none" spc="0" normalizeH="0" baseline="0" noProof="0">
                <a:ln>
                  <a:noFill/>
                </a:ln>
                <a:solidFill>
                  <a:prstClr val="black"/>
                </a:solidFill>
                <a:effectLst/>
                <a:uLnTx/>
                <a:uFillTx/>
                <a:latin typeface="Arial"/>
                <a:ea typeface="+mn-ea"/>
                <a:cs typeface="Arial"/>
              </a:rPr>
              <a:t>31.73% overall accuracy</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Success - 33</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Mismatch - 39</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Failed to extract data- 32</a:t>
            </a:r>
          </a:p>
          <a:p>
            <a:pPr marL="285750" marR="0" lvl="0" indent="-285750" algn="l" defTabSz="914400" rtl="0" eaLnBrk="1" fontAlgn="auto" latinLnBrk="0" hangingPunct="1">
              <a:lnSpc>
                <a:spcPct val="110000"/>
              </a:lnSpc>
              <a:spcBef>
                <a:spcPts val="0"/>
              </a:spcBef>
              <a:spcAft>
                <a:spcPts val="1200"/>
              </a:spcAft>
              <a:buClrTx/>
              <a:buSzTx/>
              <a:buFont typeface="Arial,Sans-Serif"/>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Arial"/>
              </a:rPr>
              <a:t>Major Struggle with Complex Logic</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p:txBody>
      </p:sp>
      <p:pic>
        <p:nvPicPr>
          <p:cNvPr id="1026" name="Picture 2" descr="LangChain | New Relic">
            <a:extLst>
              <a:ext uri="{FF2B5EF4-FFF2-40B4-BE49-F238E27FC236}">
                <a16:creationId xmlns:a16="http://schemas.microsoft.com/office/drawing/2014/main" id="{7C201CFE-42C2-4E34-7CDA-9106857F11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6667" y="4821738"/>
            <a:ext cx="1767766" cy="1767766"/>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92">
            <a:extLst>
              <a:ext uri="{FF2B5EF4-FFF2-40B4-BE49-F238E27FC236}">
                <a16:creationId xmlns:a16="http://schemas.microsoft.com/office/drawing/2014/main" id="{C9B7FBB4-03C2-4518-E930-747AADC12B30}"/>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12157" y="543016"/>
            <a:ext cx="810303" cy="332399"/>
          </a:xfrm>
          <a:prstGeom prst="rect">
            <a:avLst/>
          </a:prstGeom>
        </p:spPr>
      </p:pic>
    </p:spTree>
    <p:extLst>
      <p:ext uri="{BB962C8B-B14F-4D97-AF65-F5344CB8AC3E}">
        <p14:creationId xmlns:p14="http://schemas.microsoft.com/office/powerpoint/2010/main" val="39058596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A5E7-2640-3108-EBE6-5129785A303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B198EF8-61D8-9FBB-CF14-1743B22EEA1D}"/>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4CB79945-6DAD-30BF-0618-E8E347DEBDE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05073DCF-3FE4-E0D0-079D-D949907743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1F0E214D-4699-482F-C50A-1604BB33C778}"/>
              </a:ext>
            </a:extLst>
          </p:cNvPr>
          <p:cNvSpPr>
            <a:spLocks noGrp="1"/>
          </p:cNvSpPr>
          <p:nvPr>
            <p:ph type="title"/>
          </p:nvPr>
        </p:nvSpPr>
        <p:spPr>
          <a:xfrm>
            <a:off x="518318" y="365555"/>
            <a:ext cx="4276549" cy="1329595"/>
          </a:xfrm>
        </p:spPr>
        <p:txBody>
          <a:bodyPr/>
          <a:lstStyle/>
          <a:p>
            <a:r>
              <a:rPr lang="en-US">
                <a:latin typeface="Arial"/>
              </a:rPr>
              <a:t>Gridsense.ai -</a:t>
            </a:r>
            <a:r>
              <a:rPr lang="en-US">
                <a:latin typeface="Arial"/>
                <a:cs typeface="Arial"/>
              </a:rPr>
              <a:t> Validation</a:t>
            </a:r>
            <a:br>
              <a:rPr lang="en-US">
                <a:latin typeface="Arial"/>
                <a:cs typeface="Arial"/>
              </a:rPr>
            </a:br>
            <a:r>
              <a:rPr lang="en-US">
                <a:latin typeface="Arial"/>
                <a:cs typeface="Arial"/>
              </a:rPr>
              <a:t>(developed with </a:t>
            </a:r>
            <a:r>
              <a:rPr lang="en-US" err="1">
                <a:latin typeface="Arial"/>
                <a:cs typeface="Arial"/>
              </a:rPr>
              <a:t>LangGraph</a:t>
            </a:r>
            <a:r>
              <a:rPr lang="en-US">
                <a:latin typeface="Arial"/>
                <a:cs typeface="Arial"/>
              </a:rPr>
              <a:t>)</a:t>
            </a:r>
          </a:p>
          <a:p>
            <a:endParaRPr lang="en-US">
              <a:cs typeface="Arial"/>
            </a:endParaRP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A04C694C-C8AF-EE2F-BD95-370C8AC038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5474" y="171972"/>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3DD68B71-24AF-25F5-CB16-C7DF78151811}"/>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9B28E61D-AD9C-3F1F-6888-5097348F2B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graphicFrame>
        <p:nvGraphicFramePr>
          <p:cNvPr id="10" name="Table 9">
            <a:extLst>
              <a:ext uri="{FF2B5EF4-FFF2-40B4-BE49-F238E27FC236}">
                <a16:creationId xmlns:a16="http://schemas.microsoft.com/office/drawing/2014/main" id="{DEFFE340-4DEA-CD57-7C68-7044BBFECD21}"/>
              </a:ext>
            </a:extLst>
          </p:cNvPr>
          <p:cNvGraphicFramePr>
            <a:graphicFrameLocks noGrp="1"/>
          </p:cNvGraphicFramePr>
          <p:nvPr/>
        </p:nvGraphicFramePr>
        <p:xfrm>
          <a:off x="583169" y="1710171"/>
          <a:ext cx="5692437" cy="4008622"/>
        </p:xfrm>
        <a:graphic>
          <a:graphicData uri="http://schemas.openxmlformats.org/drawingml/2006/table">
            <a:tbl>
              <a:tblPr firstRow="1" bandRow="1">
                <a:tableStyleId>{5A111915-BE36-4E01-A7E5-04B1672EAD32}</a:tableStyleId>
              </a:tblPr>
              <a:tblGrid>
                <a:gridCol w="2951065">
                  <a:extLst>
                    <a:ext uri="{9D8B030D-6E8A-4147-A177-3AD203B41FA5}">
                      <a16:colId xmlns:a16="http://schemas.microsoft.com/office/drawing/2014/main" val="2484801987"/>
                    </a:ext>
                  </a:extLst>
                </a:gridCol>
                <a:gridCol w="1392215">
                  <a:extLst>
                    <a:ext uri="{9D8B030D-6E8A-4147-A177-3AD203B41FA5}">
                      <a16:colId xmlns:a16="http://schemas.microsoft.com/office/drawing/2014/main" val="320289783"/>
                    </a:ext>
                  </a:extLst>
                </a:gridCol>
                <a:gridCol w="1349157">
                  <a:extLst>
                    <a:ext uri="{9D8B030D-6E8A-4147-A177-3AD203B41FA5}">
                      <a16:colId xmlns:a16="http://schemas.microsoft.com/office/drawing/2014/main" val="3444069266"/>
                    </a:ext>
                  </a:extLst>
                </a:gridCol>
              </a:tblGrid>
              <a:tr h="313986">
                <a:tc>
                  <a:txBody>
                    <a:bodyPr/>
                    <a:lstStyle/>
                    <a:p>
                      <a:pPr lvl="0">
                        <a:buNone/>
                      </a:pPr>
                      <a:r>
                        <a:rPr lang="en-US" sz="1400" b="0" i="0" u="none" strike="noStrike" baseline="0" noProof="0" dirty="0">
                          <a:solidFill>
                            <a:srgbClr val="000000"/>
                          </a:solidFill>
                          <a:latin typeface="Arial"/>
                        </a:rPr>
                        <a:t>Feature</a:t>
                      </a:r>
                      <a:endParaRPr lang="en-US" b="0" dirty="0"/>
                    </a:p>
                  </a:txBody>
                  <a:tcPr/>
                </a:tc>
                <a:tc>
                  <a:txBody>
                    <a:bodyPr/>
                    <a:lstStyle/>
                    <a:p>
                      <a:pPr lvl="0">
                        <a:buNone/>
                      </a:pPr>
                      <a:r>
                        <a:rPr lang="en-US" sz="1400" b="0" i="0" u="none" strike="noStrike" baseline="0" noProof="0" dirty="0">
                          <a:solidFill>
                            <a:srgbClr val="000000"/>
                          </a:solidFill>
                          <a:latin typeface="Arial"/>
                        </a:rPr>
                        <a:t>Total Questions</a:t>
                      </a:r>
                      <a:endParaRPr lang="en-US" b="0" dirty="0"/>
                    </a:p>
                  </a:txBody>
                  <a:tcPr/>
                </a:tc>
                <a:tc>
                  <a:txBody>
                    <a:bodyPr/>
                    <a:lstStyle/>
                    <a:p>
                      <a:pPr lvl="0">
                        <a:buNone/>
                      </a:pPr>
                      <a:r>
                        <a:rPr lang="en-US" sz="1400" b="0" i="0" u="none" strike="noStrike" baseline="0" noProof="0" dirty="0">
                          <a:solidFill>
                            <a:srgbClr val="000000"/>
                          </a:solidFill>
                        </a:rPr>
                        <a:t>Accuracy</a:t>
                      </a:r>
                      <a:endParaRPr lang="en-US" dirty="0"/>
                    </a:p>
                  </a:txBody>
                  <a:tcPr/>
                </a:tc>
                <a:extLst>
                  <a:ext uri="{0D108BD9-81ED-4DB2-BD59-A6C34878D82A}">
                    <a16:rowId xmlns:a16="http://schemas.microsoft.com/office/drawing/2014/main" val="2480637116"/>
                  </a:ext>
                </a:extLst>
              </a:tr>
              <a:tr h="361083">
                <a:tc>
                  <a:txBody>
                    <a:bodyPr/>
                    <a:lstStyle/>
                    <a:p>
                      <a:pPr lvl="0">
                        <a:buNone/>
                      </a:pPr>
                      <a:r>
                        <a:rPr lang="en-US" sz="1400" b="0" i="0" u="none" strike="noStrike" noProof="0" dirty="0">
                          <a:solidFill>
                            <a:schemeClr val="tx1"/>
                          </a:solidFill>
                          <a:latin typeface="Arial"/>
                        </a:rPr>
                        <a:t>Counting</a:t>
                      </a:r>
                      <a:endParaRPr lang="en-US" dirty="0"/>
                    </a:p>
                  </a:txBody>
                  <a:tcPr/>
                </a:tc>
                <a:tc>
                  <a:txBody>
                    <a:bodyPr/>
                    <a:lstStyle/>
                    <a:p>
                      <a:pPr lvl="0">
                        <a:buNone/>
                      </a:pPr>
                      <a:r>
                        <a:rPr lang="en-US" sz="1400" b="0" i="0" u="none" strike="noStrike" noProof="0" dirty="0">
                          <a:solidFill>
                            <a:schemeClr val="tx1"/>
                          </a:solidFill>
                          <a:latin typeface="Arial"/>
                        </a:rPr>
                        <a:t>21</a:t>
                      </a:r>
                      <a:endParaRPr lang="en-US" dirty="0"/>
                    </a:p>
                  </a:txBody>
                  <a:tcPr/>
                </a:tc>
                <a:tc>
                  <a:txBody>
                    <a:bodyPr/>
                    <a:lstStyle/>
                    <a:p>
                      <a:pPr lvl="0">
                        <a:buNone/>
                      </a:pPr>
                      <a:r>
                        <a:rPr lang="en-US" sz="1400" b="0" i="0" u="none" strike="noStrike" noProof="0" dirty="0">
                          <a:solidFill>
                            <a:schemeClr val="tx1"/>
                          </a:solidFill>
                        </a:rPr>
                        <a:t>85.71%</a:t>
                      </a:r>
                      <a:endParaRPr lang="en-US" dirty="0"/>
                    </a:p>
                  </a:txBody>
                  <a:tcPr/>
                </a:tc>
                <a:extLst>
                  <a:ext uri="{0D108BD9-81ED-4DB2-BD59-A6C34878D82A}">
                    <a16:rowId xmlns:a16="http://schemas.microsoft.com/office/drawing/2014/main" val="2052628122"/>
                  </a:ext>
                </a:extLst>
              </a:tr>
              <a:tr h="554691">
                <a:tc>
                  <a:txBody>
                    <a:bodyPr/>
                    <a:lstStyle/>
                    <a:p>
                      <a:pPr lvl="0" algn="l">
                        <a:lnSpc>
                          <a:spcPct val="100000"/>
                        </a:lnSpc>
                        <a:spcBef>
                          <a:spcPts val="0"/>
                        </a:spcBef>
                        <a:spcAft>
                          <a:spcPts val="0"/>
                        </a:spcAft>
                        <a:buNone/>
                      </a:pPr>
                      <a:r>
                        <a:rPr lang="en-US" sz="1400" b="0" i="0" u="none" strike="noStrike" noProof="0" dirty="0">
                          <a:solidFill>
                            <a:schemeClr val="tx1"/>
                          </a:solidFill>
                        </a:rPr>
                        <a:t>Mathematics and aggregation</a:t>
                      </a:r>
                      <a:endParaRPr lang="en-US" dirty="0"/>
                    </a:p>
                    <a:p>
                      <a:pPr lvl="0">
                        <a:buNone/>
                      </a:pPr>
                      <a:endParaRPr lang="en-US" sz="1400" b="0" i="0" u="none" strike="noStrike" noProof="0" dirty="0">
                        <a:solidFill>
                          <a:schemeClr val="tx1"/>
                        </a:solidFill>
                        <a:latin typeface="Arial"/>
                      </a:endParaRPr>
                    </a:p>
                  </a:txBody>
                  <a:tcPr/>
                </a:tc>
                <a:tc>
                  <a:txBody>
                    <a:bodyPr/>
                    <a:lstStyle/>
                    <a:p>
                      <a:pPr lvl="0" algn="l">
                        <a:lnSpc>
                          <a:spcPct val="100000"/>
                        </a:lnSpc>
                        <a:spcBef>
                          <a:spcPts val="0"/>
                        </a:spcBef>
                        <a:spcAft>
                          <a:spcPts val="0"/>
                        </a:spcAft>
                        <a:buNone/>
                      </a:pPr>
                      <a:r>
                        <a:rPr lang="en-US" sz="1400" b="0" i="0" u="none" strike="noStrike" noProof="0" dirty="0">
                          <a:solidFill>
                            <a:schemeClr val="tx1"/>
                          </a:solidFill>
                          <a:latin typeface="Arial"/>
                        </a:rPr>
                        <a:t>15</a:t>
                      </a:r>
                      <a:endParaRPr lang="en-US" sz="1400" b="0" i="0" u="none" strike="noStrike" noProof="0" dirty="0">
                        <a:solidFill>
                          <a:srgbClr val="000000"/>
                        </a:solidFill>
                        <a:latin typeface="Arial"/>
                      </a:endParaRPr>
                    </a:p>
                    <a:p>
                      <a:pPr marL="0" lvl="0" indent="0">
                        <a:buNone/>
                      </a:pPr>
                      <a:endParaRPr lang="en-US" sz="1400" b="0" u="none" strike="noStrike" noProof="0">
                        <a:solidFill>
                          <a:schemeClr val="tx1"/>
                        </a:solidFill>
                      </a:endParaRPr>
                    </a:p>
                  </a:txBody>
                  <a:tcPr/>
                </a:tc>
                <a:tc>
                  <a:txBody>
                    <a:bodyPr/>
                    <a:lstStyle/>
                    <a:p>
                      <a:pPr marL="0" lvl="0" indent="0">
                        <a:buNone/>
                      </a:pPr>
                      <a:r>
                        <a:rPr lang="en-US" sz="1400" b="0" i="0" u="none" strike="noStrike" noProof="0" dirty="0">
                          <a:solidFill>
                            <a:schemeClr val="tx1"/>
                          </a:solidFill>
                          <a:latin typeface="Arial"/>
                        </a:rPr>
                        <a:t>73.33%</a:t>
                      </a:r>
                      <a:endParaRPr lang="en-US" sz="1400" b="0" u="none" strike="noStrike" noProof="0" dirty="0">
                        <a:solidFill>
                          <a:schemeClr val="tx1"/>
                        </a:solidFill>
                      </a:endParaRPr>
                    </a:p>
                  </a:txBody>
                  <a:tcPr/>
                </a:tc>
                <a:extLst>
                  <a:ext uri="{0D108BD9-81ED-4DB2-BD59-A6C34878D82A}">
                    <a16:rowId xmlns:a16="http://schemas.microsoft.com/office/drawing/2014/main" val="2690367699"/>
                  </a:ext>
                </a:extLst>
              </a:tr>
              <a:tr h="643672">
                <a:tc>
                  <a:txBody>
                    <a:bodyPr/>
                    <a:lstStyle/>
                    <a:p>
                      <a:pPr lvl="0">
                        <a:buNone/>
                      </a:pPr>
                      <a:r>
                        <a:rPr lang="en-US" sz="1400" b="0" i="0" u="none" strike="noStrike" noProof="0" dirty="0">
                          <a:solidFill>
                            <a:schemeClr val="tx1"/>
                          </a:solidFill>
                        </a:rPr>
                        <a:t>Connectivity between nodes- values</a:t>
                      </a:r>
                      <a:endParaRPr lang="en-US" dirty="0"/>
                    </a:p>
                  </a:txBody>
                  <a:tcPr/>
                </a:tc>
                <a:tc>
                  <a:txBody>
                    <a:bodyPr/>
                    <a:lstStyle/>
                    <a:p>
                      <a:pPr lvl="0">
                        <a:buNone/>
                      </a:pPr>
                      <a:r>
                        <a:rPr lang="en-US" sz="1400" b="0" i="0" u="none" strike="noStrike" noProof="0" dirty="0">
                          <a:solidFill>
                            <a:schemeClr val="tx1"/>
                          </a:solidFill>
                          <a:latin typeface="Arial"/>
                        </a:rPr>
                        <a:t>21</a:t>
                      </a:r>
                    </a:p>
                  </a:txBody>
                  <a:tcPr/>
                </a:tc>
                <a:tc>
                  <a:txBody>
                    <a:bodyPr/>
                    <a:lstStyle/>
                    <a:p>
                      <a:pPr lvl="0">
                        <a:buNone/>
                      </a:pPr>
                      <a:r>
                        <a:rPr lang="en-US" sz="1400" b="0" i="0" u="none" strike="noStrike" noProof="0" dirty="0">
                          <a:solidFill>
                            <a:schemeClr val="tx1"/>
                          </a:solidFill>
                          <a:latin typeface="Arial"/>
                        </a:rPr>
                        <a:t>42.85%</a:t>
                      </a:r>
                      <a:endParaRPr lang="en-US" dirty="0"/>
                    </a:p>
                  </a:txBody>
                  <a:tcPr/>
                </a:tc>
                <a:extLst>
                  <a:ext uri="{0D108BD9-81ED-4DB2-BD59-A6C34878D82A}">
                    <a16:rowId xmlns:a16="http://schemas.microsoft.com/office/drawing/2014/main" val="2879041143"/>
                  </a:ext>
                </a:extLst>
              </a:tr>
              <a:tr h="643672">
                <a:tc>
                  <a:txBody>
                    <a:bodyPr/>
                    <a:lstStyle/>
                    <a:p>
                      <a:pPr lvl="0">
                        <a:buNone/>
                      </a:pPr>
                      <a:r>
                        <a:rPr lang="en-US" sz="1400" b="0" i="0" u="none" strike="noStrike" noProof="0" dirty="0">
                          <a:solidFill>
                            <a:schemeClr val="tx1"/>
                          </a:solidFill>
                        </a:rPr>
                        <a:t>Topology &amp; Network Structure</a:t>
                      </a:r>
                      <a:endParaRPr lang="en-US" dirty="0"/>
                    </a:p>
                  </a:txBody>
                  <a:tcPr/>
                </a:tc>
                <a:tc>
                  <a:txBody>
                    <a:bodyPr/>
                    <a:lstStyle/>
                    <a:p>
                      <a:pPr lvl="0">
                        <a:buNone/>
                      </a:pPr>
                      <a:r>
                        <a:rPr lang="en-US" sz="1400" b="0" i="0" u="none" strike="noStrike" noProof="0" dirty="0">
                          <a:solidFill>
                            <a:schemeClr val="tx1"/>
                          </a:solidFill>
                        </a:rPr>
                        <a:t>14</a:t>
                      </a:r>
                      <a:endParaRPr lang="en-US" dirty="0"/>
                    </a:p>
                  </a:txBody>
                  <a:tcPr/>
                </a:tc>
                <a:tc>
                  <a:txBody>
                    <a:bodyPr/>
                    <a:lstStyle/>
                    <a:p>
                      <a:pPr lvl="0">
                        <a:buNone/>
                      </a:pPr>
                      <a:r>
                        <a:rPr lang="en-US" sz="1400" b="0" i="0" u="none" strike="noStrike" noProof="0" dirty="0">
                          <a:solidFill>
                            <a:schemeClr val="tx1"/>
                          </a:solidFill>
                        </a:rPr>
                        <a:t>71.14</a:t>
                      </a:r>
                      <a:r>
                        <a:rPr lang="en-US" sz="1400" b="0" i="0" u="none" strike="noStrike" noProof="0" dirty="0">
                          <a:solidFill>
                            <a:schemeClr val="tx1"/>
                          </a:solidFill>
                          <a:latin typeface="Arial"/>
                        </a:rPr>
                        <a:t>%</a:t>
                      </a:r>
                      <a:endParaRPr lang="en-US"/>
                    </a:p>
                  </a:txBody>
                  <a:tcPr/>
                </a:tc>
                <a:extLst>
                  <a:ext uri="{0D108BD9-81ED-4DB2-BD59-A6C34878D82A}">
                    <a16:rowId xmlns:a16="http://schemas.microsoft.com/office/drawing/2014/main" val="2291567126"/>
                  </a:ext>
                </a:extLst>
              </a:tr>
              <a:tr h="643672">
                <a:tc>
                  <a:txBody>
                    <a:bodyPr/>
                    <a:lstStyle/>
                    <a:p>
                      <a:pPr lvl="0">
                        <a:buNone/>
                      </a:pPr>
                      <a:r>
                        <a:rPr lang="en-US" sz="1400" b="0" i="0" u="none" strike="noStrike" noProof="0" dirty="0">
                          <a:solidFill>
                            <a:schemeClr val="tx1"/>
                          </a:solidFill>
                          <a:latin typeface="Arial"/>
                        </a:rPr>
                        <a:t>Electrical Properties / Operational Values.</a:t>
                      </a:r>
                      <a:endParaRPr lang="en-US" dirty="0"/>
                    </a:p>
                  </a:txBody>
                  <a:tcPr/>
                </a:tc>
                <a:tc>
                  <a:txBody>
                    <a:bodyPr/>
                    <a:lstStyle/>
                    <a:p>
                      <a:pPr lvl="0">
                        <a:buNone/>
                      </a:pPr>
                      <a:r>
                        <a:rPr lang="en-US" sz="1400" b="0" i="0" u="none" strike="noStrike" noProof="0" dirty="0">
                          <a:solidFill>
                            <a:schemeClr val="tx1"/>
                          </a:solidFill>
                          <a:latin typeface="Arial"/>
                        </a:rPr>
                        <a:t>18</a:t>
                      </a:r>
                    </a:p>
                  </a:txBody>
                  <a:tcPr/>
                </a:tc>
                <a:tc>
                  <a:txBody>
                    <a:bodyPr/>
                    <a:lstStyle/>
                    <a:p>
                      <a:pPr lvl="0">
                        <a:buNone/>
                      </a:pPr>
                      <a:r>
                        <a:rPr lang="en-US" sz="1400" b="0" i="0" u="none" strike="noStrike" noProof="0" dirty="0">
                          <a:solidFill>
                            <a:schemeClr val="tx1"/>
                          </a:solidFill>
                          <a:latin typeface="Arial"/>
                        </a:rPr>
                        <a:t>100.00</a:t>
                      </a:r>
                      <a:r>
                        <a:rPr lang="en-US" sz="1400" b="0" i="0" u="none" strike="noStrike" noProof="0" dirty="0">
                          <a:solidFill>
                            <a:schemeClr val="tx1"/>
                          </a:solidFill>
                        </a:rPr>
                        <a:t>%</a:t>
                      </a:r>
                      <a:endParaRPr lang="en-US"/>
                    </a:p>
                  </a:txBody>
                  <a:tcPr/>
                </a:tc>
                <a:extLst>
                  <a:ext uri="{0D108BD9-81ED-4DB2-BD59-A6C34878D82A}">
                    <a16:rowId xmlns:a16="http://schemas.microsoft.com/office/drawing/2014/main" val="4159693750"/>
                  </a:ext>
                </a:extLst>
              </a:tr>
              <a:tr h="643672">
                <a:tc>
                  <a:txBody>
                    <a:bodyPr/>
                    <a:lstStyle/>
                    <a:p>
                      <a:pPr lvl="0">
                        <a:buNone/>
                      </a:pPr>
                      <a:r>
                        <a:rPr lang="en-US" sz="1400" b="0" i="0" u="none" strike="noStrike" noProof="0" dirty="0">
                          <a:solidFill>
                            <a:schemeClr val="tx1"/>
                          </a:solidFill>
                          <a:latin typeface="Arial"/>
                        </a:rPr>
                        <a:t>Fault Analysis &amp; State Change Validation Set</a:t>
                      </a:r>
                      <a:endParaRPr lang="en-US" dirty="0"/>
                    </a:p>
                  </a:txBody>
                  <a:tcPr/>
                </a:tc>
                <a:tc>
                  <a:txBody>
                    <a:bodyPr/>
                    <a:lstStyle/>
                    <a:p>
                      <a:pPr lvl="0">
                        <a:buNone/>
                      </a:pPr>
                      <a:r>
                        <a:rPr lang="en-US" sz="1400" b="0" i="0" u="none" strike="noStrike" noProof="0" dirty="0">
                          <a:solidFill>
                            <a:schemeClr val="tx1"/>
                          </a:solidFill>
                          <a:latin typeface="Arial"/>
                        </a:rPr>
                        <a:t>15</a:t>
                      </a:r>
                    </a:p>
                    <a:p>
                      <a:pPr lvl="0">
                        <a:buNone/>
                      </a:pPr>
                      <a:endParaRPr lang="en-US" sz="1400" b="0" i="0" u="none" strike="noStrike" noProof="0">
                        <a:solidFill>
                          <a:schemeClr val="tx1"/>
                        </a:solidFill>
                        <a:latin typeface="Arial"/>
                      </a:endParaRPr>
                    </a:p>
                  </a:txBody>
                  <a:tcPr/>
                </a:tc>
                <a:tc>
                  <a:txBody>
                    <a:bodyPr/>
                    <a:lstStyle/>
                    <a:p>
                      <a:pPr lvl="0">
                        <a:buNone/>
                      </a:pPr>
                      <a:r>
                        <a:rPr lang="en-US" sz="1400" b="0" i="0" u="none" strike="noStrike" noProof="0" dirty="0">
                          <a:solidFill>
                            <a:schemeClr val="tx1"/>
                          </a:solidFill>
                          <a:latin typeface="Arial"/>
                        </a:rPr>
                        <a:t>60.00</a:t>
                      </a:r>
                      <a:r>
                        <a:rPr lang="en-US" sz="1400" b="0" i="0" u="none" strike="noStrike" noProof="0" dirty="0">
                          <a:solidFill>
                            <a:schemeClr val="tx1"/>
                          </a:solidFill>
                        </a:rPr>
                        <a:t>%</a:t>
                      </a:r>
                      <a:endParaRPr lang="en-US" dirty="0"/>
                    </a:p>
                  </a:txBody>
                  <a:tcPr/>
                </a:tc>
                <a:extLst>
                  <a:ext uri="{0D108BD9-81ED-4DB2-BD59-A6C34878D82A}">
                    <a16:rowId xmlns:a16="http://schemas.microsoft.com/office/drawing/2014/main" val="752456672"/>
                  </a:ext>
                </a:extLst>
              </a:tr>
            </a:tbl>
          </a:graphicData>
        </a:graphic>
      </p:graphicFrame>
      <p:sp>
        <p:nvSpPr>
          <p:cNvPr id="8" name="TextBox 7">
            <a:extLst>
              <a:ext uri="{FF2B5EF4-FFF2-40B4-BE49-F238E27FC236}">
                <a16:creationId xmlns:a16="http://schemas.microsoft.com/office/drawing/2014/main" id="{16F2C39D-117A-4979-1C5C-1FBA88CC1AB3}"/>
              </a:ext>
            </a:extLst>
          </p:cNvPr>
          <p:cNvSpPr txBox="1"/>
          <p:nvPr/>
        </p:nvSpPr>
        <p:spPr>
          <a:xfrm>
            <a:off x="6576165" y="1717109"/>
            <a:ext cx="4916466" cy="440530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System achieved </a:t>
            </a:r>
            <a:r>
              <a:rPr kumimoji="0" lang="en-US" sz="1800" b="0" i="0" u="none" strike="noStrike" kern="1200" cap="none" spc="0" normalizeH="0" baseline="0" noProof="0" dirty="0">
                <a:ln>
                  <a:noFill/>
                </a:ln>
                <a:solidFill>
                  <a:prstClr val="black"/>
                </a:solidFill>
                <a:effectLst/>
                <a:uLnTx/>
                <a:uFillTx/>
                <a:latin typeface="Arial"/>
                <a:ea typeface="+mn-lt"/>
                <a:cs typeface="Arial"/>
              </a:rPr>
              <a:t>71.15%</a:t>
            </a:r>
            <a:r>
              <a:rPr kumimoji="0" lang="en-US" sz="1800" b="0" i="0" u="none" strike="noStrike" kern="1200" cap="none" spc="0" normalizeH="0" baseline="0" noProof="0" dirty="0">
                <a:ln>
                  <a:noFill/>
                </a:ln>
                <a:solidFill>
                  <a:prstClr val="black"/>
                </a:solidFill>
                <a:effectLst/>
                <a:uLnTx/>
                <a:uFillTx/>
                <a:latin typeface="Arial"/>
                <a:ea typeface="+mn-ea"/>
                <a:cs typeface="Arial"/>
              </a:rPr>
              <a:t> overall accuracy</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Success - 74</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Mismatch - 20</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Failed to extract data- 10</a:t>
            </a:r>
          </a:p>
          <a:p>
            <a:pPr marL="285750" marR="0" lvl="0" indent="-285750" algn="l" defTabSz="914400" rtl="0" eaLnBrk="1" fontAlgn="auto" latinLnBrk="0" hangingPunct="1">
              <a:lnSpc>
                <a:spcPct val="110000"/>
              </a:lnSpc>
              <a:spcBef>
                <a:spcPts val="0"/>
              </a:spcBef>
              <a:spcAft>
                <a:spcPts val="1200"/>
              </a:spcAft>
              <a:buClrTx/>
              <a:buSzTx/>
              <a:buFont typeface="Arial,Sans-Serif"/>
              <a:buChar char="•"/>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Model showed improvements across almost all feature categories</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Arial,Sans-Serif"/>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a:rPr>
              <a:t>Topology, Connectivity,  Mathematics and Fault analysis remain the model's primary challenge</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endParaRPr kumimoji="0" lang="en-US" sz="1800" b="0" i="0" u="none" strike="noStrike" kern="1200" cap="none" spc="0" normalizeH="0" baseline="0" noProof="0">
              <a:ln>
                <a:noFill/>
              </a:ln>
              <a:solidFill>
                <a:prstClr val="black"/>
              </a:solidFill>
              <a:effectLst/>
              <a:uLnTx/>
              <a:uFillTx/>
              <a:latin typeface="Arial"/>
              <a:ea typeface="+mn-ea"/>
              <a:cs typeface="Arial"/>
            </a:endParaRPr>
          </a:p>
        </p:txBody>
      </p:sp>
      <p:pic>
        <p:nvPicPr>
          <p:cNvPr id="5" name="Picture 4" descr="A green bird and black text&#10;&#10;AI-generated content may be incorrect.">
            <a:extLst>
              <a:ext uri="{FF2B5EF4-FFF2-40B4-BE49-F238E27FC236}">
                <a16:creationId xmlns:a16="http://schemas.microsoft.com/office/drawing/2014/main" id="{CB0065A8-2950-F38F-349B-39F06CA1928A}"/>
              </a:ext>
            </a:extLst>
          </p:cNvPr>
          <p:cNvPicPr>
            <a:picLocks noChangeAspect="1"/>
          </p:cNvPicPr>
          <p:nvPr/>
        </p:nvPicPr>
        <p:blipFill>
          <a:blip r:embed="rId6"/>
          <a:stretch>
            <a:fillRect/>
          </a:stretch>
        </p:blipFill>
        <p:spPr>
          <a:xfrm>
            <a:off x="9449937" y="5155202"/>
            <a:ext cx="2618318" cy="1380774"/>
          </a:xfrm>
          <a:prstGeom prst="rect">
            <a:avLst/>
          </a:prstGeom>
        </p:spPr>
      </p:pic>
      <p:pic>
        <p:nvPicPr>
          <p:cNvPr id="6" name="Grafik 92">
            <a:extLst>
              <a:ext uri="{FF2B5EF4-FFF2-40B4-BE49-F238E27FC236}">
                <a16:creationId xmlns:a16="http://schemas.microsoft.com/office/drawing/2014/main" id="{58C90149-3B96-17C8-EDD6-29F4B1F2F80D}"/>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43471" y="505884"/>
            <a:ext cx="810303" cy="332399"/>
          </a:xfrm>
          <a:prstGeom prst="rect">
            <a:avLst/>
          </a:prstGeom>
        </p:spPr>
      </p:pic>
    </p:spTree>
    <p:extLst>
      <p:ext uri="{BB962C8B-B14F-4D97-AF65-F5344CB8AC3E}">
        <p14:creationId xmlns:p14="http://schemas.microsoft.com/office/powerpoint/2010/main" val="26729218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CDA1C-5A51-B232-535D-CFBCDA90CB3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9520277-79F5-447D-B038-6DC44A52179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E69FCB43-9407-A766-B133-5ED098057B3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A397B267-5582-588A-228C-3C5F0C7B30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BCBACB33-A245-4EB2-7E8D-CCCC296758A3}"/>
              </a:ext>
            </a:extLst>
          </p:cNvPr>
          <p:cNvSpPr>
            <a:spLocks noGrp="1"/>
          </p:cNvSpPr>
          <p:nvPr>
            <p:ph type="title"/>
          </p:nvPr>
        </p:nvSpPr>
        <p:spPr>
          <a:xfrm>
            <a:off x="518318" y="301185"/>
            <a:ext cx="4360830" cy="332399"/>
          </a:xfrm>
        </p:spPr>
        <p:txBody>
          <a:bodyPr/>
          <a:lstStyle/>
          <a:p>
            <a:r>
              <a:rPr lang="en-US" altLang="ko-KR" dirty="0">
                <a:ea typeface="+mj-lt"/>
                <a:cs typeface="+mj-lt"/>
              </a:rPr>
              <a:t>3</a:t>
            </a:r>
            <a:r>
              <a:rPr lang="ko-KR" altLang="en-US" dirty="0">
                <a:ea typeface="+mj-lt"/>
                <a:cs typeface="+mj-lt"/>
              </a:rPr>
              <a:t> </a:t>
            </a:r>
            <a:r>
              <a:rPr lang="en-US" altLang="ko-KR" dirty="0">
                <a:ea typeface="+mj-lt"/>
                <a:cs typeface="+mj-lt"/>
              </a:rPr>
              <a:t>buses example</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D4B64DF-9ED1-8AED-87F2-DBDCB02B34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5474" y="207438"/>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08CEED61-7E9B-07D1-CCD9-967DB51ADE55}"/>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5459FB7D-B55D-A2D8-7245-D547B846FE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6" name="Picture 5">
            <a:extLst>
              <a:ext uri="{FF2B5EF4-FFF2-40B4-BE49-F238E27FC236}">
                <a16:creationId xmlns:a16="http://schemas.microsoft.com/office/drawing/2014/main" id="{F64225B8-4BEA-7CFC-0E6B-A7897F79E6C2}"/>
              </a:ext>
            </a:extLst>
          </p:cNvPr>
          <p:cNvPicPr>
            <a:picLocks noChangeAspect="1"/>
          </p:cNvPicPr>
          <p:nvPr/>
        </p:nvPicPr>
        <p:blipFill>
          <a:blip r:embed="rId6"/>
          <a:stretch>
            <a:fillRect/>
          </a:stretch>
        </p:blipFill>
        <p:spPr>
          <a:xfrm>
            <a:off x="4741818" y="1477080"/>
            <a:ext cx="5578489" cy="4797752"/>
          </a:xfrm>
          <a:prstGeom prst="rect">
            <a:avLst/>
          </a:prstGeom>
        </p:spPr>
      </p:pic>
      <p:pic>
        <p:nvPicPr>
          <p:cNvPr id="1026" name="Picture 2">
            <a:extLst>
              <a:ext uri="{FF2B5EF4-FFF2-40B4-BE49-F238E27FC236}">
                <a16:creationId xmlns:a16="http://schemas.microsoft.com/office/drawing/2014/main" id="{3959B9C1-21B7-7665-75A7-66E6A6D0FB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663" y="1454330"/>
            <a:ext cx="2401631" cy="5403669"/>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92">
            <a:extLst>
              <a:ext uri="{FF2B5EF4-FFF2-40B4-BE49-F238E27FC236}">
                <a16:creationId xmlns:a16="http://schemas.microsoft.com/office/drawing/2014/main" id="{047D0122-703F-091D-6AFD-7989F6FE8F3E}"/>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11759" y="556733"/>
            <a:ext cx="810303" cy="332399"/>
          </a:xfrm>
          <a:prstGeom prst="rect">
            <a:avLst/>
          </a:prstGeom>
        </p:spPr>
      </p:pic>
    </p:spTree>
    <p:extLst>
      <p:ext uri="{BB962C8B-B14F-4D97-AF65-F5344CB8AC3E}">
        <p14:creationId xmlns:p14="http://schemas.microsoft.com/office/powerpoint/2010/main" val="8566367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7E707-1785-B9C1-D55A-2F0DE52F6F7C}"/>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A22EBA2-5D12-6DBC-DC36-CAED547C7FD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706E7B21-EF82-D1E9-F07C-78F8BA7CBD0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FF7CBB41-C715-27AA-C5DC-BCC89A9FF9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BCC65011-7AB8-5B64-4C01-EB3508B1CCD2}"/>
              </a:ext>
            </a:extLst>
          </p:cNvPr>
          <p:cNvSpPr>
            <a:spLocks noGrp="1"/>
          </p:cNvSpPr>
          <p:nvPr>
            <p:ph type="title"/>
          </p:nvPr>
        </p:nvSpPr>
        <p:spPr>
          <a:xfrm>
            <a:off x="518318" y="301185"/>
            <a:ext cx="4360830" cy="664797"/>
          </a:xfrm>
        </p:spPr>
        <p:txBody>
          <a:bodyPr/>
          <a:lstStyle/>
          <a:p>
            <a:r>
              <a:rPr lang="en-US" dirty="0">
                <a:ea typeface="+mj-lt"/>
                <a:cs typeface="+mj-lt"/>
              </a:rPr>
              <a:t>What can be queried from CGMES?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DB03C5AA-F07C-3BBA-8CF0-4D016965BE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E8967FDE-364F-6330-DD37-925D9C3B5EEB}"/>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87932F9B-D134-7F91-6E52-C1965AD3CA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7" name="TextBox 6">
            <a:extLst>
              <a:ext uri="{FF2B5EF4-FFF2-40B4-BE49-F238E27FC236}">
                <a16:creationId xmlns:a16="http://schemas.microsoft.com/office/drawing/2014/main" id="{3DDEC533-591D-679B-77FD-73B71E0AE0E2}"/>
              </a:ext>
            </a:extLst>
          </p:cNvPr>
          <p:cNvSpPr txBox="1"/>
          <p:nvPr/>
        </p:nvSpPr>
        <p:spPr>
          <a:xfrm>
            <a:off x="777921" y="1470378"/>
            <a:ext cx="11041039" cy="2949462"/>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There are different </a:t>
            </a:r>
            <a:r>
              <a:rPr kumimoji="0" lang="en-US" sz="1800" b="1" i="0" u="none" strike="noStrike" kern="1200" cap="none" spc="0" normalizeH="0" baseline="0" noProof="0" dirty="0">
                <a:ln>
                  <a:noFill/>
                </a:ln>
                <a:solidFill>
                  <a:prstClr val="black"/>
                </a:solidFill>
                <a:effectLst/>
                <a:uLnTx/>
                <a:uFillTx/>
                <a:latin typeface="Arial"/>
                <a:ea typeface="+mn-ea"/>
                <a:cs typeface="+mn-cs"/>
              </a:rPr>
              <a:t>breaker types</a:t>
            </a:r>
            <a:r>
              <a:rPr kumimoji="0" lang="en-US" sz="1800" b="0" i="0" u="none" strike="noStrike" kern="1200" cap="none" spc="0" normalizeH="0" baseline="0" noProof="0" dirty="0">
                <a:ln>
                  <a:noFill/>
                </a:ln>
                <a:solidFill>
                  <a:prstClr val="black"/>
                </a:solidFill>
                <a:effectLst/>
                <a:uLnTx/>
                <a:uFillTx/>
                <a:latin typeface="Arial"/>
                <a:ea typeface="+mn-ea"/>
                <a:cs typeface="+mn-cs"/>
              </a:rPr>
              <a:t> worth modeling explicitly.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Lines</a:t>
            </a:r>
            <a:r>
              <a:rPr kumimoji="0" lang="en-US" sz="1800" b="0" i="0" u="none" strike="noStrike" kern="1200" cap="none" spc="0" normalizeH="0" baseline="0" noProof="0" dirty="0">
                <a:ln>
                  <a:noFill/>
                </a:ln>
                <a:solidFill>
                  <a:prstClr val="black"/>
                </a:solidFill>
                <a:effectLst/>
                <a:uLnTx/>
                <a:uFillTx/>
                <a:latin typeface="Arial"/>
                <a:ea typeface="+mn-ea"/>
                <a:cs typeface="+mn-cs"/>
              </a:rPr>
              <a:t> can be switched on/off, so their </a:t>
            </a:r>
            <a:r>
              <a:rPr kumimoji="0" lang="en-US" sz="1800" b="1" i="0" u="none" strike="noStrike" kern="1200" cap="none" spc="0" normalizeH="0" baseline="0" noProof="0" dirty="0">
                <a:ln>
                  <a:noFill/>
                </a:ln>
                <a:solidFill>
                  <a:prstClr val="black"/>
                </a:solidFill>
                <a:effectLst/>
                <a:uLnTx/>
                <a:uFillTx/>
                <a:latin typeface="Arial"/>
                <a:ea typeface="+mn-ea"/>
                <a:cs typeface="+mn-cs"/>
              </a:rPr>
              <a:t>current status</a:t>
            </a:r>
            <a:r>
              <a:rPr kumimoji="0" lang="en-US" sz="1800" b="0" i="0" u="none" strike="noStrike" kern="1200" cap="none" spc="0" normalizeH="0" baseline="0" noProof="0" dirty="0">
                <a:ln>
                  <a:noFill/>
                </a:ln>
                <a:solidFill>
                  <a:prstClr val="black"/>
                </a:solidFill>
                <a:effectLst/>
                <a:uLnTx/>
                <a:uFillTx/>
                <a:latin typeface="Arial"/>
                <a:ea typeface="+mn-ea"/>
                <a:cs typeface="+mn-cs"/>
              </a:rPr>
              <a:t> should be </a:t>
            </a:r>
            <a:r>
              <a:rPr kumimoji="0" lang="en-US" sz="1800" b="0" i="0" u="none" strike="noStrike" kern="1200" cap="none" spc="0" normalizeH="0" baseline="0" noProof="0" dirty="0" err="1">
                <a:ln>
                  <a:noFill/>
                </a:ln>
                <a:solidFill>
                  <a:prstClr val="black"/>
                </a:solidFill>
                <a:effectLst/>
                <a:uLnTx/>
                <a:uFillTx/>
                <a:latin typeface="Arial"/>
                <a:ea typeface="+mn-ea"/>
                <a:cs typeface="+mn-cs"/>
              </a:rPr>
              <a:t>queryable</a:t>
            </a:r>
            <a:r>
              <a:rPr kumimoji="0" lang="en-US" sz="1800" b="0" i="0" u="none" strike="noStrike" kern="1200" cap="none" spc="0" normalizeH="0" baseline="0" noProof="0" dirty="0">
                <a:ln>
                  <a:noFill/>
                </a:ln>
                <a:solidFill>
                  <a:prstClr val="black"/>
                </a:solidFill>
                <a:effectLst/>
                <a:uLnTx/>
                <a:uFillTx/>
                <a:latin typeface="Arial"/>
                <a:ea typeface="+mn-ea"/>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Biggest gain: add </a:t>
            </a:r>
            <a:r>
              <a:rPr kumimoji="0" lang="en-US" sz="1800" b="1" i="0" u="none" strike="noStrike" kern="1200" cap="none" spc="0" normalizeH="0" baseline="0" noProof="0" dirty="0">
                <a:ln>
                  <a:noFill/>
                </a:ln>
                <a:solidFill>
                  <a:prstClr val="black"/>
                </a:solidFill>
                <a:effectLst/>
                <a:uLnTx/>
                <a:uFillTx/>
                <a:latin typeface="Arial"/>
                <a:ea typeface="+mn-ea"/>
                <a:cs typeface="+mn-cs"/>
              </a:rPr>
              <a:t>historical CIM snapshots</a:t>
            </a:r>
            <a:r>
              <a:rPr kumimoji="0" lang="en-US" sz="1800" b="0" i="0" u="none" strike="noStrike" kern="1200" cap="none" spc="0" normalizeH="0" baseline="0" noProof="0" dirty="0">
                <a:ln>
                  <a:noFill/>
                </a:ln>
                <a:solidFill>
                  <a:prstClr val="black"/>
                </a:solidFill>
                <a:effectLst/>
                <a:uLnTx/>
                <a:uFillTx/>
                <a:latin typeface="Arial"/>
                <a:ea typeface="+mn-ea"/>
                <a:cs typeface="+mn-cs"/>
              </a:rPr>
              <a:t> (not just the latest). Use Neo4j to find the </a:t>
            </a:r>
            <a:r>
              <a:rPr kumimoji="0" lang="en-US" sz="1800" b="1" i="0" u="none" strike="noStrike" kern="1200" cap="none" spc="0" normalizeH="0" baseline="0" noProof="0" dirty="0">
                <a:ln>
                  <a:noFill/>
                </a:ln>
                <a:solidFill>
                  <a:prstClr val="black"/>
                </a:solidFill>
                <a:effectLst/>
                <a:uLnTx/>
                <a:uFillTx/>
                <a:latin typeface="Arial"/>
                <a:ea typeface="+mn-ea"/>
                <a:cs typeface="+mn-cs"/>
              </a:rPr>
              <a:t>baseline/newest</a:t>
            </a:r>
            <a:r>
              <a:rPr kumimoji="0" lang="en-US" sz="1800" b="0" i="0" u="none" strike="noStrike" kern="1200" cap="none" spc="0" normalizeH="0" baseline="0" noProof="0" dirty="0">
                <a:ln>
                  <a:noFill/>
                </a:ln>
                <a:solidFill>
                  <a:prstClr val="black"/>
                </a:solidFill>
                <a:effectLst/>
                <a:uLnTx/>
                <a:uFillTx/>
                <a:latin typeface="Arial"/>
                <a:ea typeface="+mn-ea"/>
                <a:cs typeface="+mn-cs"/>
              </a:rPr>
              <a:t> file and align IDs; since CIM structure is stable, you can parse the </a:t>
            </a:r>
            <a:r>
              <a:rPr kumimoji="0" lang="en-US" sz="1800" b="1" i="0" u="none" strike="noStrike" kern="1200" cap="none" spc="0" normalizeH="0" baseline="0" noProof="0" dirty="0">
                <a:ln>
                  <a:noFill/>
                </a:ln>
                <a:solidFill>
                  <a:prstClr val="black"/>
                </a:solidFill>
                <a:effectLst/>
                <a:uLnTx/>
                <a:uFillTx/>
                <a:latin typeface="Arial"/>
                <a:ea typeface="+mn-ea"/>
                <a:cs typeface="+mn-cs"/>
              </a:rPr>
              <a:t>same values across snapshots</a:t>
            </a:r>
            <a:r>
              <a:rPr kumimoji="0" lang="en-US" sz="1800" b="0" i="0" u="none" strike="noStrike" kern="1200" cap="none" spc="0" normalizeH="0" baseline="0" noProof="0" dirty="0">
                <a:ln>
                  <a:noFill/>
                </a:ln>
                <a:solidFill>
                  <a:prstClr val="black"/>
                </a:solidFill>
                <a:effectLst/>
                <a:uLnTx/>
                <a:uFillTx/>
                <a:latin typeface="Arial"/>
                <a:ea typeface="+mn-ea"/>
                <a:cs typeface="+mn-cs"/>
              </a:rPr>
              <a:t> to build </a:t>
            </a:r>
            <a:r>
              <a:rPr kumimoji="0" lang="en-US" sz="1800" b="1" i="0" u="none" strike="noStrike" kern="1200" cap="none" spc="0" normalizeH="0" baseline="0" noProof="0" dirty="0">
                <a:ln>
                  <a:noFill/>
                </a:ln>
                <a:solidFill>
                  <a:prstClr val="black"/>
                </a:solidFill>
                <a:effectLst/>
                <a:uLnTx/>
                <a:uFillTx/>
                <a:latin typeface="Arial"/>
                <a:ea typeface="+mn-ea"/>
                <a:cs typeface="+mn-cs"/>
              </a:rPr>
              <a:t>time series</a:t>
            </a:r>
            <a:r>
              <a:rPr kumimoji="0" lang="en-US" sz="1800" b="0" i="0" u="none" strike="noStrike" kern="1200" cap="none" spc="0" normalizeH="0" baseline="0" noProof="0" dirty="0">
                <a:ln>
                  <a:noFill/>
                </a:ln>
                <a:solidFill>
                  <a:prstClr val="black"/>
                </a:solidFill>
                <a:effectLst/>
                <a:uLnTx/>
                <a:uFillTx/>
                <a:latin typeface="Arial"/>
                <a:ea typeface="+mn-ea"/>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With history, you can ask richer questions (e.g., </a:t>
            </a:r>
            <a:r>
              <a:rPr kumimoji="0" lang="en-US" sz="1800" b="1" i="0" u="none" strike="noStrike" kern="1200" cap="none" spc="0" normalizeH="0" baseline="0" noProof="0" dirty="0">
                <a:ln>
                  <a:noFill/>
                </a:ln>
                <a:solidFill>
                  <a:prstClr val="black"/>
                </a:solidFill>
                <a:effectLst/>
                <a:uLnTx/>
                <a:uFillTx/>
                <a:latin typeface="Arial"/>
                <a:ea typeface="+mn-ea"/>
                <a:cs typeface="+mn-cs"/>
              </a:rPr>
              <a:t>which transformer had the highest utilization over time</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1" i="0" u="none" strike="noStrike" kern="1200" cap="none" spc="0" normalizeH="0" baseline="0" noProof="0" dirty="0">
                <a:ln>
                  <a:noFill/>
                </a:ln>
                <a:solidFill>
                  <a:prstClr val="black"/>
                </a:solidFill>
                <a:effectLst/>
                <a:uLnTx/>
                <a:uFillTx/>
                <a:latin typeface="Arial"/>
                <a:ea typeface="+mn-ea"/>
                <a:cs typeface="+mn-cs"/>
              </a:rPr>
              <a:t>which switches/topologies are almost always in one state</a:t>
            </a:r>
            <a:r>
              <a:rPr kumimoji="0" lang="en-US" sz="1800" b="0" i="0" u="none" strike="noStrike" kern="1200" cap="none" spc="0" normalizeH="0" baseline="0" noProof="0" dirty="0">
                <a:ln>
                  <a:noFill/>
                </a:ln>
                <a:solidFill>
                  <a:prstClr val="black"/>
                </a:solidFill>
                <a:effectLst/>
                <a:uLnTx/>
                <a:uFillTx/>
                <a:latin typeface="Arial"/>
                <a:ea typeface="+mn-ea"/>
                <a:cs typeface="+mn-cs"/>
              </a:rPr>
              <a:t>), greatly expanding the query set.</a:t>
            </a:r>
          </a:p>
        </p:txBody>
      </p:sp>
    </p:spTree>
    <p:extLst>
      <p:ext uri="{BB962C8B-B14F-4D97-AF65-F5344CB8AC3E}">
        <p14:creationId xmlns:p14="http://schemas.microsoft.com/office/powerpoint/2010/main" val="11546389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05E7-2E52-CDEF-4868-7A66FAA0A17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1F0CA65-2A42-8A15-A37C-0933D4F7B51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47093422-229C-229F-BF20-B4976656A29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486A7A0-18AB-90EB-3DE2-6C8C793138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D79DD33-9067-78D1-AF7B-6254951F0227}"/>
              </a:ext>
            </a:extLst>
          </p:cNvPr>
          <p:cNvSpPr>
            <a:spLocks noGrp="1"/>
          </p:cNvSpPr>
          <p:nvPr>
            <p:ph type="title"/>
          </p:nvPr>
        </p:nvSpPr>
        <p:spPr/>
        <p:txBody>
          <a:bodyPr/>
          <a:lstStyle/>
          <a:p>
            <a:r>
              <a:rPr lang="en-US"/>
              <a:t>Advantages of Neo4j</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C320B80-5310-C580-567C-BA48AF119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7C9987D5-B933-BE77-63BC-ADE7853EE37D}"/>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C30801E3-D423-9999-CDB2-5F8FB25F97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9" name="Text Placeholder 7">
            <a:extLst>
              <a:ext uri="{FF2B5EF4-FFF2-40B4-BE49-F238E27FC236}">
                <a16:creationId xmlns:a16="http://schemas.microsoft.com/office/drawing/2014/main" id="{2FA66DC1-B1CB-E2EE-6A11-3871E229228E}"/>
              </a:ext>
            </a:extLst>
          </p:cNvPr>
          <p:cNvSpPr txBox="1">
            <a:spLocks/>
          </p:cNvSpPr>
          <p:nvPr/>
        </p:nvSpPr>
        <p:spPr>
          <a:xfrm>
            <a:off x="518317" y="687598"/>
            <a:ext cx="6844385" cy="249812"/>
          </a:xfrm>
          <a:prstGeom prst="rect">
            <a:avLst/>
          </a:prstGeom>
        </p:spPr>
        <p:txBody>
          <a:bodyPr vert="horz" wrap="square" lIns="0" tIns="0" rIns="360000" bIns="0" rtlCol="0" anchor="t" anchorCtr="0">
            <a:sp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rgbClr val="041E42"/>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041E42"/>
                </a:solidFill>
                <a:effectLst/>
                <a:uLnTx/>
                <a:uFillTx/>
                <a:latin typeface="Arial"/>
                <a:ea typeface="+mn-ea"/>
                <a:cs typeface="+mn-cs"/>
              </a:rPr>
              <a:t>Cypher + Neo4j</a:t>
            </a:r>
          </a:p>
        </p:txBody>
      </p:sp>
      <p:sp>
        <p:nvSpPr>
          <p:cNvPr id="7" name="TextBox 6">
            <a:extLst>
              <a:ext uri="{FF2B5EF4-FFF2-40B4-BE49-F238E27FC236}">
                <a16:creationId xmlns:a16="http://schemas.microsoft.com/office/drawing/2014/main" id="{1488D15A-E322-8492-FFFD-3DE130213ADB}"/>
              </a:ext>
            </a:extLst>
          </p:cNvPr>
          <p:cNvSpPr txBox="1"/>
          <p:nvPr/>
        </p:nvSpPr>
        <p:spPr>
          <a:xfrm>
            <a:off x="518317" y="1593445"/>
            <a:ext cx="11579225" cy="461145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CGMES is an exchange format(large XML), not a query engine. </a:t>
            </a:r>
            <a:r>
              <a:rPr kumimoji="0" lang="en-US" sz="1800" b="1" i="0" u="none" strike="noStrike" kern="1200" cap="none" spc="0" normalizeH="0" baseline="0" noProof="0" dirty="0">
                <a:ln>
                  <a:noFill/>
                </a:ln>
                <a:solidFill>
                  <a:srgbClr val="000000"/>
                </a:solidFill>
                <a:effectLst/>
                <a:uLnTx/>
                <a:uFillTx/>
                <a:latin typeface="Arial"/>
                <a:ea typeface="+mn-ea"/>
                <a:cs typeface="+mn-cs"/>
                <a:sym typeface="Wingdings" pitchFamily="2" charset="2"/>
              </a:rPr>
              <a:t> query engine like Neo4j required</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LLM-agent friendly:</a:t>
            </a:r>
            <a:r>
              <a:rPr kumimoji="0" lang="en-US" sz="1800" b="0" i="0" u="none" strike="noStrike" kern="1200" cap="none" spc="0" normalizeH="0" baseline="0" noProof="0" dirty="0">
                <a:ln>
                  <a:noFill/>
                </a:ln>
                <a:solidFill>
                  <a:srgbClr val="000000"/>
                </a:solidFill>
                <a:effectLst/>
                <a:uLnTx/>
                <a:uFillTx/>
                <a:latin typeface="Arial"/>
                <a:ea typeface="+mn-ea"/>
                <a:cs typeface="+mn-cs"/>
              </a:rPr>
              <a:t> Convert natural language into Cypher to safely specify scope/assumptions/constraints, while numerical results come from solver tools → prevents hallucinations.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CGMES history/version management:</a:t>
            </a:r>
            <a:r>
              <a:rPr kumimoji="0" lang="en-US" sz="1800" b="0" i="0" u="none" strike="noStrike" kern="1200" cap="none" spc="0" normalizeH="0" baseline="0" noProof="0" dirty="0">
                <a:ln>
                  <a:noFill/>
                </a:ln>
                <a:solidFill>
                  <a:srgbClr val="000000"/>
                </a:solidFill>
                <a:effectLst/>
                <a:uLnTx/>
                <a:uFillTx/>
                <a:latin typeface="Arial"/>
                <a:ea typeface="+mn-ea"/>
                <a:cs typeface="+mn-cs"/>
              </a:rPr>
              <a:t> Structure diffs across snapshots and asset state histories to enable cumulative what-if analysis, rollback, and reproducibility.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Subcase slicing:</a:t>
            </a:r>
            <a:r>
              <a:rPr kumimoji="0" lang="en-US" sz="1800" b="0" i="0" u="none" strike="noStrike" kern="1200" cap="none" spc="0" normalizeH="0" baseline="0" noProof="0" dirty="0">
                <a:ln>
                  <a:noFill/>
                </a:ln>
                <a:solidFill>
                  <a:srgbClr val="000000"/>
                </a:solidFill>
                <a:effectLst/>
                <a:uLnTx/>
                <a:uFillTx/>
                <a:latin typeface="Arial"/>
                <a:ea typeface="+mn-ea"/>
                <a:cs typeface="+mn-cs"/>
              </a:rPr>
              <a:t> Extract only the affected region in the graph and pass it to PF/OPF/contingency solvers → faster runs, better convergence, lower cost, and easier auditing.</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Exploration &amp; explainability:</a:t>
            </a:r>
            <a:r>
              <a:rPr kumimoji="0" lang="en-US" sz="1800" b="0" i="0" u="none" strike="noStrike" kern="1200" cap="none" spc="0" normalizeH="0" baseline="0" noProof="0" dirty="0">
                <a:ln>
                  <a:noFill/>
                </a:ln>
                <a:solidFill>
                  <a:srgbClr val="000000"/>
                </a:solidFill>
                <a:effectLst/>
                <a:uLnTx/>
                <a:uFillTx/>
                <a:latin typeface="Arial"/>
                <a:ea typeface="+mn-ea"/>
                <a:cs typeface="+mn-cs"/>
              </a:rPr>
              <a:t> Multi-hop path/impact/causal queries make it easy to provide evidence-backed answers to questions like “Why did this bus voltage drop?”</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Multi-source data fusion:</a:t>
            </a:r>
            <a:r>
              <a:rPr kumimoji="0" lang="en-US" sz="1800" b="0" i="0" u="none" strike="noStrike" kern="1200" cap="none" spc="0" normalizeH="0" baseline="0" noProof="0" dirty="0">
                <a:ln>
                  <a:noFill/>
                </a:ln>
                <a:solidFill>
                  <a:srgbClr val="000000"/>
                </a:solidFill>
                <a:effectLst/>
                <a:uLnTx/>
                <a:uFillTx/>
                <a:latin typeface="Arial"/>
                <a:ea typeface="+mn-ea"/>
                <a:cs typeface="+mn-cs"/>
              </a:rPr>
              <a:t> Unify CGMES + GIS + SCADA/AMI + asset/maintenance/weather in a single schema → richer operational context.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9092475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EEA03-BA8B-A419-5B93-1CFC3D0318C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E860CFD5-5C4D-A454-ACEE-7E306BEEB4F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D25324A6-EBA9-7E23-E7A9-A13E53EC96C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38F85F1-3C8E-0E27-7416-A2733A1A24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E1D4F399-E70C-4B10-0071-E6C80986D2E9}"/>
              </a:ext>
            </a:extLst>
          </p:cNvPr>
          <p:cNvSpPr>
            <a:spLocks noGrp="1"/>
          </p:cNvSpPr>
          <p:nvPr>
            <p:ph type="title"/>
          </p:nvPr>
        </p:nvSpPr>
        <p:spPr/>
        <p:txBody>
          <a:bodyPr/>
          <a:lstStyle/>
          <a:p>
            <a:r>
              <a:rPr lang="en-US"/>
              <a:t>MCP for </a:t>
            </a:r>
            <a:r>
              <a:rPr lang="en-US" err="1"/>
              <a:t>Pandapower</a:t>
            </a:r>
            <a:endParaRPr lang="de-DE" err="1"/>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84F4857-E669-2CBA-4CCA-4DA2B2C54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5118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32DDFE1F-69C4-46E3-C57D-3DEAC55C4810}"/>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745EC159-8C85-C84F-CB0C-983CC46511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6" name="Picture 5">
            <a:extLst>
              <a:ext uri="{FF2B5EF4-FFF2-40B4-BE49-F238E27FC236}">
                <a16:creationId xmlns:a16="http://schemas.microsoft.com/office/drawing/2014/main" id="{CC9EB066-62BF-6461-0084-2F6B995D16CB}"/>
              </a:ext>
            </a:extLst>
          </p:cNvPr>
          <p:cNvPicPr>
            <a:picLocks noChangeAspect="1"/>
          </p:cNvPicPr>
          <p:nvPr/>
        </p:nvPicPr>
        <p:blipFill>
          <a:blip r:embed="rId6"/>
          <a:stretch>
            <a:fillRect/>
          </a:stretch>
        </p:blipFill>
        <p:spPr>
          <a:xfrm>
            <a:off x="519727" y="1489165"/>
            <a:ext cx="11625268" cy="4660277"/>
          </a:xfrm>
          <a:prstGeom prst="rect">
            <a:avLst/>
          </a:prstGeom>
        </p:spPr>
      </p:pic>
      <p:sp>
        <p:nvSpPr>
          <p:cNvPr id="7" name="TextBox 6">
            <a:extLst>
              <a:ext uri="{FF2B5EF4-FFF2-40B4-BE49-F238E27FC236}">
                <a16:creationId xmlns:a16="http://schemas.microsoft.com/office/drawing/2014/main" id="{610639AA-9BD0-B3C2-E191-ECA2D7E7AAA4}"/>
              </a:ext>
            </a:extLst>
          </p:cNvPr>
          <p:cNvSpPr txBox="1"/>
          <p:nvPr/>
        </p:nvSpPr>
        <p:spPr>
          <a:xfrm>
            <a:off x="4071055" y="6152445"/>
            <a:ext cx="6096000" cy="28110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https://github.com/Power-Agent/PowerMCP</a:t>
            </a:r>
          </a:p>
        </p:txBody>
      </p:sp>
      <p:pic>
        <p:nvPicPr>
          <p:cNvPr id="5" name="Grafik 92">
            <a:extLst>
              <a:ext uri="{FF2B5EF4-FFF2-40B4-BE49-F238E27FC236}">
                <a16:creationId xmlns:a16="http://schemas.microsoft.com/office/drawing/2014/main" id="{8EB65EB9-7477-6FF9-E3FE-171CD16F9EBB}"/>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Tree>
    <p:extLst>
      <p:ext uri="{BB962C8B-B14F-4D97-AF65-F5344CB8AC3E}">
        <p14:creationId xmlns:p14="http://schemas.microsoft.com/office/powerpoint/2010/main" val="9893712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4AA82-9698-A575-2335-9DF8EB626C8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50037F7-A521-710F-F7AD-7C51DCED6DEA}"/>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067C1F43-E162-6F12-6B29-BB0AA6701B4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C1225907-F46C-D6B2-9DAC-9775C1A599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552B7819-CD10-A334-31E8-4E64F1BB2EDB}"/>
              </a:ext>
            </a:extLst>
          </p:cNvPr>
          <p:cNvSpPr>
            <a:spLocks noGrp="1"/>
          </p:cNvSpPr>
          <p:nvPr>
            <p:ph type="title"/>
          </p:nvPr>
        </p:nvSpPr>
        <p:spPr/>
        <p:txBody>
          <a:bodyPr/>
          <a:lstStyle/>
          <a:p>
            <a:r>
              <a:rPr lang="en-US" b="1"/>
              <a:t>PowerAgent</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863E433A-360D-3145-248D-3CE824AE9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450" y="25118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2F97B0BF-6294-A853-A959-FCE1E05B2CEE}"/>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44770321-02BC-4049-EEDE-98B7EB2EA7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5" name="Picture 4">
            <a:extLst>
              <a:ext uri="{FF2B5EF4-FFF2-40B4-BE49-F238E27FC236}">
                <a16:creationId xmlns:a16="http://schemas.microsoft.com/office/drawing/2014/main" id="{689DD661-F40B-400D-7EDA-3059393C26BD}"/>
              </a:ext>
            </a:extLst>
          </p:cNvPr>
          <p:cNvPicPr>
            <a:picLocks noChangeAspect="1"/>
          </p:cNvPicPr>
          <p:nvPr/>
        </p:nvPicPr>
        <p:blipFill>
          <a:blip r:embed="rId6"/>
          <a:stretch>
            <a:fillRect/>
          </a:stretch>
        </p:blipFill>
        <p:spPr>
          <a:xfrm>
            <a:off x="1426599" y="1390002"/>
            <a:ext cx="9338060" cy="5244663"/>
          </a:xfrm>
          <a:prstGeom prst="rect">
            <a:avLst/>
          </a:prstGeom>
        </p:spPr>
      </p:pic>
      <p:pic>
        <p:nvPicPr>
          <p:cNvPr id="1026" name="Picture 2" descr="Download DIgSILENT PowerFactory 2025 ...">
            <a:extLst>
              <a:ext uri="{FF2B5EF4-FFF2-40B4-BE49-F238E27FC236}">
                <a16:creationId xmlns:a16="http://schemas.microsoft.com/office/drawing/2014/main" id="{16BC0556-D72C-5F81-A56E-ABC70DBF83A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53088" y="2501461"/>
            <a:ext cx="611571" cy="611571"/>
          </a:xfrm>
          <a:prstGeom prst="rect">
            <a:avLst/>
          </a:prstGeom>
          <a:solidFill>
            <a:srgbClr val="E6F9AF"/>
          </a:solidFill>
          <a:ln w="57150">
            <a:solidFill>
              <a:srgbClr val="E6F9AF"/>
            </a:solidFill>
          </a:ln>
        </p:spPr>
      </p:pic>
      <p:pic>
        <p:nvPicPr>
          <p:cNvPr id="6" name="Grafik 92">
            <a:extLst>
              <a:ext uri="{FF2B5EF4-FFF2-40B4-BE49-F238E27FC236}">
                <a16:creationId xmlns:a16="http://schemas.microsoft.com/office/drawing/2014/main" id="{043948B6-55AA-32BD-5012-8E45F65C64BE}"/>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Tree>
    <p:extLst>
      <p:ext uri="{BB962C8B-B14F-4D97-AF65-F5344CB8AC3E}">
        <p14:creationId xmlns:p14="http://schemas.microsoft.com/office/powerpoint/2010/main" val="12497694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1550-CFA3-06DD-6AAE-A712B3A20E5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6154FFC-62B7-2273-7881-CBDC22014F5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0F09E5B2-389B-9D7A-9EC8-6631C9B3F06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EB86C96-FBBE-735B-5153-43C362C169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296580BA-0F0B-4F5F-A44E-B29FA45D503A}"/>
              </a:ext>
            </a:extLst>
          </p:cNvPr>
          <p:cNvSpPr>
            <a:spLocks noGrp="1"/>
          </p:cNvSpPr>
          <p:nvPr>
            <p:ph type="title"/>
          </p:nvPr>
        </p:nvSpPr>
        <p:spPr/>
        <p:txBody>
          <a:bodyPr/>
          <a:lstStyle/>
          <a:p>
            <a:r>
              <a:rPr lang="en-US" b="1" dirty="0"/>
              <a:t>TP5</a:t>
            </a:r>
            <a:r>
              <a:rPr lang="en-US" dirty="0"/>
              <a:t> milestone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EC98741-37CB-5681-F087-9FA7F0367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736" y="23449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379467CA-2F93-9A25-437E-60A2E772713B}"/>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8BF26EB6-3EA0-D33D-3C60-DBC7BBE091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15" name="Picture 2">
            <a:extLst>
              <a:ext uri="{FF2B5EF4-FFF2-40B4-BE49-F238E27FC236}">
                <a16:creationId xmlns:a16="http://schemas.microsoft.com/office/drawing/2014/main" id="{D28BFFB3-4F1F-7760-C16E-4F9976575E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845" y="6883159"/>
            <a:ext cx="11941868" cy="4629151"/>
          </a:xfrm>
          <a:prstGeom prst="rect">
            <a:avLst/>
          </a:prstGeom>
          <a:noFill/>
          <a:extLst>
            <a:ext uri="{909E8E84-426E-40DD-AFC4-6F175D3DCCD1}">
              <a14:hiddenFill xmlns:a14="http://schemas.microsoft.com/office/drawing/2010/main">
                <a:solidFill>
                  <a:srgbClr val="FFFFFF"/>
                </a:solidFill>
              </a14:hiddenFill>
            </a:ext>
          </a:extLst>
        </p:spPr>
      </p:pic>
      <p:pic>
        <p:nvPicPr>
          <p:cNvPr id="30" name="Grafik 92">
            <a:extLst>
              <a:ext uri="{FF2B5EF4-FFF2-40B4-BE49-F238E27FC236}">
                <a16:creationId xmlns:a16="http://schemas.microsoft.com/office/drawing/2014/main" id="{F78D0F12-06B6-9D8C-8A0B-DC97469ECBE0}"/>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
        <p:nvSpPr>
          <p:cNvPr id="7" name="TextBox 6">
            <a:extLst>
              <a:ext uri="{FF2B5EF4-FFF2-40B4-BE49-F238E27FC236}">
                <a16:creationId xmlns:a16="http://schemas.microsoft.com/office/drawing/2014/main" id="{5A0277CD-509B-AA9C-F65E-5DA989BC65C7}"/>
              </a:ext>
            </a:extLst>
          </p:cNvPr>
          <p:cNvSpPr txBox="1"/>
          <p:nvPr/>
        </p:nvSpPr>
        <p:spPr>
          <a:xfrm>
            <a:off x="515937" y="1371530"/>
            <a:ext cx="11160126"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5.1: Creation of a Knowledge Database for Heterogeneous Power Grid Data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Current power grid operations rely on fragmented data sources: network topology is in </a:t>
            </a:r>
            <a:r>
              <a:rPr kumimoji="0" lang="en-US" sz="1800" b="1" i="0" u="none" strike="noStrike" kern="1200" cap="none" spc="0" normalizeH="0" baseline="0" noProof="0" dirty="0">
                <a:ln>
                  <a:noFill/>
                </a:ln>
                <a:solidFill>
                  <a:prstClr val="black"/>
                </a:solidFill>
                <a:effectLst/>
                <a:uLnTx/>
                <a:uFillTx/>
                <a:latin typeface="Arial"/>
                <a:ea typeface="+mn-ea"/>
                <a:cs typeface="+mn-cs"/>
              </a:rPr>
              <a:t>GIS</a:t>
            </a:r>
            <a:r>
              <a:rPr kumimoji="0" lang="en-US" sz="1800" b="0" i="0" u="none" strike="noStrike" kern="1200" cap="none" spc="0" normalizeH="0" baseline="0" noProof="0" dirty="0">
                <a:ln>
                  <a:noFill/>
                </a:ln>
                <a:solidFill>
                  <a:prstClr val="black"/>
                </a:solidFill>
                <a:effectLst/>
                <a:uLnTx/>
                <a:uFillTx/>
                <a:latin typeface="Arial"/>
                <a:ea typeface="+mn-ea"/>
                <a:cs typeface="+mn-cs"/>
              </a:rPr>
              <a:t> (Geographic Information Systems), operational data in </a:t>
            </a:r>
            <a:r>
              <a:rPr kumimoji="0" lang="en-US" sz="1800" b="1" i="0" u="none" strike="noStrike" kern="1200" cap="none" spc="0" normalizeH="0" baseline="0" noProof="0" dirty="0">
                <a:ln>
                  <a:noFill/>
                </a:ln>
                <a:solidFill>
                  <a:prstClr val="black"/>
                </a:solidFill>
                <a:effectLst/>
                <a:uLnTx/>
                <a:uFillTx/>
                <a:latin typeface="Arial"/>
                <a:ea typeface="+mn-ea"/>
                <a:cs typeface="+mn-cs"/>
              </a:rPr>
              <a:t>SCADA</a:t>
            </a:r>
            <a:r>
              <a:rPr kumimoji="0" lang="en-US" sz="1800" b="0" i="0" u="none" strike="noStrike" kern="1200" cap="none" spc="0" normalizeH="0" baseline="0" noProof="0" dirty="0">
                <a:ln>
                  <a:noFill/>
                </a:ln>
                <a:solidFill>
                  <a:prstClr val="black"/>
                </a:solidFill>
                <a:effectLst/>
                <a:uLnTx/>
                <a:uFillTx/>
                <a:latin typeface="Arial"/>
                <a:ea typeface="+mn-ea"/>
                <a:cs typeface="+mn-cs"/>
              </a:rPr>
              <a:t>, and metering data in manufacturer-specific formats. The goal of this Work Package is to integrate these disparate sources into a </a:t>
            </a:r>
            <a:r>
              <a:rPr kumimoji="0" lang="en-US" sz="1800" b="1" i="0" u="none" strike="noStrike" kern="1200" cap="none" spc="0" normalizeH="0" baseline="0" noProof="0" dirty="0">
                <a:ln>
                  <a:noFill/>
                </a:ln>
                <a:solidFill>
                  <a:prstClr val="black"/>
                </a:solidFill>
                <a:effectLst/>
                <a:uLnTx/>
                <a:uFillTx/>
                <a:latin typeface="Arial"/>
                <a:ea typeface="+mn-ea"/>
                <a:cs typeface="+mn-cs"/>
              </a:rPr>
              <a:t>Graph Database</a:t>
            </a:r>
            <a:r>
              <a:rPr kumimoji="0" lang="en-US" sz="1800" b="0" i="0" u="none" strike="noStrike" kern="1200" cap="none" spc="0" normalizeH="0" baseline="0" noProof="0" dirty="0">
                <a:ln>
                  <a:noFill/>
                </a:ln>
                <a:solidFill>
                  <a:prstClr val="black"/>
                </a:solidFill>
                <a:effectLst/>
                <a:uLnTx/>
                <a:uFillTx/>
                <a:latin typeface="Arial"/>
                <a:ea typeface="+mn-ea"/>
                <a:cs typeface="+mn-cs"/>
              </a:rPr>
              <a:t> (Knowledge Graph) to enable deep analysis, real-time processing, and AI-supported troubleshooting.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2. Methodology &amp; Technologies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To achieve the integration and analysis goals, the following methods are being utilized: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Graph Database:</a:t>
            </a:r>
            <a:r>
              <a:rPr kumimoji="0" lang="en-US" sz="1800" b="0" i="0" u="none" strike="noStrike" kern="1200" cap="none" spc="0" normalizeH="0" baseline="0" noProof="0" dirty="0">
                <a:ln>
                  <a:noFill/>
                </a:ln>
                <a:solidFill>
                  <a:prstClr val="black"/>
                </a:solidFill>
                <a:effectLst/>
                <a:uLnTx/>
                <a:uFillTx/>
                <a:latin typeface="Arial"/>
                <a:ea typeface="+mn-ea"/>
                <a:cs typeface="+mn-cs"/>
              </a:rPr>
              <a:t> Storing data as nodes and edges to model complex relationships (superior to relational databases for this use case).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Knowledge Inference:</a:t>
            </a:r>
            <a:r>
              <a:rPr kumimoji="0" lang="en-US" sz="1800" b="0" i="0" u="none" strike="noStrike" kern="1200" cap="none" spc="0" normalizeH="0" baseline="0" noProof="0" dirty="0">
                <a:ln>
                  <a:noFill/>
                </a:ln>
                <a:solidFill>
                  <a:prstClr val="black"/>
                </a:solidFill>
                <a:effectLst/>
                <a:uLnTx/>
                <a:uFillTx/>
                <a:latin typeface="Arial"/>
                <a:ea typeface="+mn-ea"/>
                <a:cs typeface="+mn-cs"/>
              </a:rPr>
              <a:t> Using rule-based, ontology-based, and ML-based logic to fill data gaps.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AI &amp; NLP:</a:t>
            </a:r>
            <a:r>
              <a:rPr kumimoji="0" lang="en-US" sz="1800" b="0" i="0" u="none" strike="noStrike" kern="1200" cap="none" spc="0" normalizeH="0" baseline="0" noProof="0" dirty="0">
                <a:ln>
                  <a:noFill/>
                </a:ln>
                <a:solidFill>
                  <a:prstClr val="black"/>
                </a:solidFill>
                <a:effectLst/>
                <a:uLnTx/>
                <a:uFillTx/>
                <a:latin typeface="Arial"/>
                <a:ea typeface="+mn-ea"/>
                <a:cs typeface="+mn-cs"/>
              </a:rPr>
              <a:t> Utilizing Large Language Models (LLM) and Natural Language Processing for the user interface.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Gamification:</a:t>
            </a:r>
            <a:r>
              <a:rPr kumimoji="0" lang="en-US" sz="1800" b="0" i="0" u="none" strike="noStrike" kern="1200" cap="none" spc="0" normalizeH="0" baseline="0" noProof="0" dirty="0">
                <a:ln>
                  <a:noFill/>
                </a:ln>
                <a:solidFill>
                  <a:prstClr val="black"/>
                </a:solidFill>
                <a:effectLst/>
                <a:uLnTx/>
                <a:uFillTx/>
                <a:latin typeface="Arial"/>
                <a:ea typeface="+mn-ea"/>
                <a:cs typeface="+mn-cs"/>
              </a:rPr>
              <a:t> Applied within the methodology (context implies potential user engagement strategies).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graphicFrame>
        <p:nvGraphicFramePr>
          <p:cNvPr id="8" name="Table 7">
            <a:extLst>
              <a:ext uri="{FF2B5EF4-FFF2-40B4-BE49-F238E27FC236}">
                <a16:creationId xmlns:a16="http://schemas.microsoft.com/office/drawing/2014/main" id="{94B86EC5-9AD7-4144-C57D-A6070B550412}"/>
              </a:ext>
            </a:extLst>
          </p:cNvPr>
          <p:cNvGraphicFramePr>
            <a:graphicFrameLocks noGrp="1"/>
          </p:cNvGraphicFramePr>
          <p:nvPr/>
        </p:nvGraphicFramePr>
        <p:xfrm>
          <a:off x="646261" y="5716713"/>
          <a:ext cx="11156950" cy="640080"/>
        </p:xfrm>
        <a:graphic>
          <a:graphicData uri="http://schemas.openxmlformats.org/drawingml/2006/table">
            <a:tbl>
              <a:tblPr/>
              <a:tblGrid>
                <a:gridCol w="11156950">
                  <a:extLst>
                    <a:ext uri="{9D8B030D-6E8A-4147-A177-3AD203B41FA5}">
                      <a16:colId xmlns:a16="http://schemas.microsoft.com/office/drawing/2014/main" val="3296093069"/>
                    </a:ext>
                  </a:extLst>
                </a:gridCol>
              </a:tblGrid>
              <a:tr h="0">
                <a:tc>
                  <a:txBody>
                    <a:bodyPr/>
                    <a:lstStyle/>
                    <a:p>
                      <a:pPr algn="ctr"/>
                      <a:r>
                        <a:rPr lang="en-US" b="1" dirty="0">
                          <a:effectLst/>
                          <a:latin typeface="Google Sans Text"/>
                        </a:rPr>
                        <a:t>Develop a practical knowledge graph and LLM-based user interface for control center users by integrating heterogeneous grid data.</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9314784"/>
                  </a:ext>
                </a:extLst>
              </a:tr>
            </a:tbl>
          </a:graphicData>
        </a:graphic>
      </p:graphicFrame>
    </p:spTree>
    <p:extLst>
      <p:ext uri="{BB962C8B-B14F-4D97-AF65-F5344CB8AC3E}">
        <p14:creationId xmlns:p14="http://schemas.microsoft.com/office/powerpoint/2010/main" val="2163072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0627-3319-FAA8-AC1D-A8B741433BD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10E0567-761C-A932-3D5A-174570FC7DB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934B186F-D353-3186-2E07-7B0FFEE3ADC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220072C2-79B5-6409-BA8C-3EF4865EF0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329837B-4790-8F81-FC92-0D0DC8A575D8}"/>
              </a:ext>
            </a:extLst>
          </p:cNvPr>
          <p:cNvSpPr>
            <a:spLocks noGrp="1"/>
          </p:cNvSpPr>
          <p:nvPr>
            <p:ph type="title"/>
          </p:nvPr>
        </p:nvSpPr>
        <p:spPr/>
        <p:txBody>
          <a:bodyPr/>
          <a:lstStyle/>
          <a:p>
            <a:r>
              <a:rPr lang="en-US" b="1" dirty="0"/>
              <a:t>TP5</a:t>
            </a:r>
            <a:r>
              <a:rPr lang="en-US" dirty="0"/>
              <a:t> milestone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D3982657-7BAB-9898-218F-A7034FA9C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736" y="23449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D53F379-1284-C47A-ABD2-D1A62E0C4D5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DBA8AD9F-CBBE-F64F-4FD5-122ED9A4AB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15" name="Picture 2">
            <a:extLst>
              <a:ext uri="{FF2B5EF4-FFF2-40B4-BE49-F238E27FC236}">
                <a16:creationId xmlns:a16="http://schemas.microsoft.com/office/drawing/2014/main" id="{E8C68DB4-E625-0077-EFAE-91CABF6A6E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845" y="6883159"/>
            <a:ext cx="11941868" cy="4629151"/>
          </a:xfrm>
          <a:prstGeom prst="rect">
            <a:avLst/>
          </a:prstGeom>
          <a:noFill/>
          <a:extLst>
            <a:ext uri="{909E8E84-426E-40DD-AFC4-6F175D3DCCD1}">
              <a14:hiddenFill xmlns:a14="http://schemas.microsoft.com/office/drawing/2010/main">
                <a:solidFill>
                  <a:srgbClr val="FFFFFF"/>
                </a:solidFill>
              </a14:hiddenFill>
            </a:ext>
          </a:extLst>
        </p:spPr>
      </p:pic>
      <p:pic>
        <p:nvPicPr>
          <p:cNvPr id="30" name="Grafik 92">
            <a:extLst>
              <a:ext uri="{FF2B5EF4-FFF2-40B4-BE49-F238E27FC236}">
                <a16:creationId xmlns:a16="http://schemas.microsoft.com/office/drawing/2014/main" id="{71CAC046-ED45-404A-ED27-D1162513D892}"/>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graphicFrame>
        <p:nvGraphicFramePr>
          <p:cNvPr id="6" name="Table 5">
            <a:extLst>
              <a:ext uri="{FF2B5EF4-FFF2-40B4-BE49-F238E27FC236}">
                <a16:creationId xmlns:a16="http://schemas.microsoft.com/office/drawing/2014/main" id="{F1EA9D31-7CAA-0956-5BD3-F10EF376EEA5}"/>
              </a:ext>
            </a:extLst>
          </p:cNvPr>
          <p:cNvGraphicFramePr>
            <a:graphicFrameLocks noGrp="1"/>
          </p:cNvGraphicFramePr>
          <p:nvPr/>
        </p:nvGraphicFramePr>
        <p:xfrm>
          <a:off x="735929" y="2323687"/>
          <a:ext cx="11156950" cy="2560320"/>
        </p:xfrm>
        <a:graphic>
          <a:graphicData uri="http://schemas.openxmlformats.org/drawingml/2006/table">
            <a:tbl>
              <a:tblPr/>
              <a:tblGrid>
                <a:gridCol w="5578475">
                  <a:extLst>
                    <a:ext uri="{9D8B030D-6E8A-4147-A177-3AD203B41FA5}">
                      <a16:colId xmlns:a16="http://schemas.microsoft.com/office/drawing/2014/main" val="4031564878"/>
                    </a:ext>
                  </a:extLst>
                </a:gridCol>
                <a:gridCol w="5578475">
                  <a:extLst>
                    <a:ext uri="{9D8B030D-6E8A-4147-A177-3AD203B41FA5}">
                      <a16:colId xmlns:a16="http://schemas.microsoft.com/office/drawing/2014/main" val="3972619936"/>
                    </a:ext>
                  </a:extLst>
                </a:gridCol>
              </a:tblGrid>
              <a:tr h="0">
                <a:tc>
                  <a:txBody>
                    <a:bodyPr/>
                    <a:lstStyle/>
                    <a:p>
                      <a:r>
                        <a:rPr lang="en-US" b="1" dirty="0">
                          <a:effectLst/>
                          <a:latin typeface="Google Sans Text"/>
                        </a:rPr>
                        <a:t>Potential Risk</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US" b="1">
                          <a:effectLst/>
                          <a:latin typeface="Google Sans Text"/>
                        </a:rPr>
                        <a:t>Countermeasure</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02308575"/>
                  </a:ext>
                </a:extLst>
              </a:tr>
              <a:tr h="0">
                <a:tc>
                  <a:txBody>
                    <a:bodyPr/>
                    <a:lstStyle/>
                    <a:p>
                      <a:r>
                        <a:rPr lang="en-US" b="1">
                          <a:effectLst/>
                          <a:latin typeface="Google Sans Text"/>
                        </a:rPr>
                        <a:t>Data Unavailability:</a:t>
                      </a:r>
                      <a:r>
                        <a:rPr lang="en-US">
                          <a:effectLst/>
                          <a:latin typeface="Google Sans Text"/>
                        </a:rPr>
                        <a:t> Real data is not available sufficiently or in a timely manner.</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US" b="1">
                          <a:effectLst/>
                          <a:latin typeface="Google Sans Text"/>
                        </a:rPr>
                        <a:t>Synthetic Data:</a:t>
                      </a:r>
                      <a:r>
                        <a:rPr lang="en-US">
                          <a:effectLst/>
                          <a:latin typeface="Google Sans Text"/>
                        </a:rPr>
                        <a:t> Realistic data will be generated using expert knowledge, simulation, or data augmentation techniques.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45173918"/>
                  </a:ext>
                </a:extLst>
              </a:tr>
              <a:tr h="0">
                <a:tc>
                  <a:txBody>
                    <a:bodyPr/>
                    <a:lstStyle/>
                    <a:p>
                      <a:r>
                        <a:rPr lang="en-US" b="1">
                          <a:effectLst/>
                          <a:latin typeface="Google Sans Text"/>
                        </a:rPr>
                        <a:t>Regulatory Hurdles:</a:t>
                      </a:r>
                      <a:r>
                        <a:rPr lang="en-US">
                          <a:effectLst/>
                          <a:latin typeface="Google Sans Text"/>
                        </a:rPr>
                        <a:t> Data protection regulations causing delays.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US" i="1">
                          <a:effectLst/>
                          <a:latin typeface="Google Sans Text"/>
                        </a:rPr>
                        <a:t>[Addressed in prerequisites: Data protection aspects must be clarified and documented early]</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8808143"/>
                  </a:ext>
                </a:extLst>
              </a:tr>
              <a:tr h="0">
                <a:tc>
                  <a:txBody>
                    <a:bodyPr/>
                    <a:lstStyle/>
                    <a:p>
                      <a:r>
                        <a:rPr lang="en-US" b="1">
                          <a:effectLst/>
                          <a:latin typeface="Google Sans Text"/>
                        </a:rPr>
                        <a:t>Quality Issues:</a:t>
                      </a:r>
                      <a:r>
                        <a:rPr lang="en-US">
                          <a:effectLst/>
                          <a:latin typeface="Google Sans Text"/>
                        </a:rPr>
                        <a:t> Poor data quality requiring high coordination effort.</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r>
                        <a:rPr lang="en-US" i="1" dirty="0">
                          <a:effectLst/>
                          <a:latin typeface="Google Sans Text"/>
                        </a:rPr>
                        <a:t>[Addressed via Data Cleansing tasks allocated to FAU]</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6561360"/>
                  </a:ext>
                </a:extLst>
              </a:tr>
            </a:tbl>
          </a:graphicData>
        </a:graphic>
      </p:graphicFrame>
      <p:sp>
        <p:nvSpPr>
          <p:cNvPr id="9" name="TextBox 8">
            <a:extLst>
              <a:ext uri="{FF2B5EF4-FFF2-40B4-BE49-F238E27FC236}">
                <a16:creationId xmlns:a16="http://schemas.microsoft.com/office/drawing/2014/main" id="{D6177EBA-6ED3-0507-D71C-BA235A15D0C1}"/>
              </a:ext>
            </a:extLst>
          </p:cNvPr>
          <p:cNvSpPr txBox="1"/>
          <p:nvPr/>
        </p:nvSpPr>
        <p:spPr>
          <a:xfrm>
            <a:off x="666769" y="1471002"/>
            <a:ext cx="630653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Google Sans Text"/>
                <a:cs typeface="+mn-cs"/>
              </a:rPr>
              <a:t>4. Risk Management</a:t>
            </a:r>
            <a:endPar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Google Sans"/>
              <a:cs typeface="+mn-cs"/>
            </a:endParaRPr>
          </a:p>
        </p:txBody>
      </p:sp>
    </p:spTree>
    <p:extLst>
      <p:ext uri="{BB962C8B-B14F-4D97-AF65-F5344CB8AC3E}">
        <p14:creationId xmlns:p14="http://schemas.microsoft.com/office/powerpoint/2010/main" val="33110445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5B76E-B664-B711-EBF4-1FAB1BFA197C}"/>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B2C0CF7-E60C-4EFE-8B8E-4A72F09F44F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234A1F49-37B9-BBE7-2144-FC38F14C861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CFE9B3E3-4363-055B-5EBF-8BDC47B92F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35066F8E-EB0D-1677-91E3-DAD992A614A9}"/>
              </a:ext>
            </a:extLst>
          </p:cNvPr>
          <p:cNvSpPr>
            <a:spLocks noGrp="1"/>
          </p:cNvSpPr>
          <p:nvPr>
            <p:ph type="title"/>
          </p:nvPr>
        </p:nvSpPr>
        <p:spPr/>
        <p:txBody>
          <a:bodyPr/>
          <a:lstStyle/>
          <a:p>
            <a:r>
              <a:rPr lang="en-US" b="1" dirty="0"/>
              <a:t>TP5</a:t>
            </a:r>
            <a:r>
              <a:rPr lang="en-US" dirty="0"/>
              <a:t> milestone</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3772F703-4D79-130C-DDFE-8A2CD5610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4736" y="234493"/>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DE473FE-1263-BE28-E145-A84EF3F3370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272F34CB-14FB-B958-67EC-43CE72F2F4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15" name="Picture 2">
            <a:extLst>
              <a:ext uri="{FF2B5EF4-FFF2-40B4-BE49-F238E27FC236}">
                <a16:creationId xmlns:a16="http://schemas.microsoft.com/office/drawing/2014/main" id="{39CC99A4-80CA-F651-F67B-696DF77C5B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845" y="6883159"/>
            <a:ext cx="11941868" cy="4629151"/>
          </a:xfrm>
          <a:prstGeom prst="rect">
            <a:avLst/>
          </a:prstGeom>
          <a:noFill/>
          <a:extLst>
            <a:ext uri="{909E8E84-426E-40DD-AFC4-6F175D3DCCD1}">
              <a14:hiddenFill xmlns:a14="http://schemas.microsoft.com/office/drawing/2010/main">
                <a:solidFill>
                  <a:srgbClr val="FFFFFF"/>
                </a:solidFill>
              </a14:hiddenFill>
            </a:ext>
          </a:extLst>
        </p:spPr>
      </p:pic>
      <p:pic>
        <p:nvPicPr>
          <p:cNvPr id="30" name="Grafik 92">
            <a:extLst>
              <a:ext uri="{FF2B5EF4-FFF2-40B4-BE49-F238E27FC236}">
                <a16:creationId xmlns:a16="http://schemas.microsoft.com/office/drawing/2014/main" id="{FBF8EB6B-647E-19D7-D29F-D3C550D9828C}"/>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68150" y="595911"/>
            <a:ext cx="810303" cy="332399"/>
          </a:xfrm>
          <a:prstGeom prst="rect">
            <a:avLst/>
          </a:prstGeom>
        </p:spPr>
      </p:pic>
      <p:sp>
        <p:nvSpPr>
          <p:cNvPr id="7" name="Rectangle 1">
            <a:extLst>
              <a:ext uri="{FF2B5EF4-FFF2-40B4-BE49-F238E27FC236}">
                <a16:creationId xmlns:a16="http://schemas.microsoft.com/office/drawing/2014/main" id="{93F5F62B-BE9C-A3B9-9E3A-6EA833BB718E}"/>
              </a:ext>
            </a:extLst>
          </p:cNvPr>
          <p:cNvSpPr>
            <a:spLocks noChangeArrowheads="1"/>
          </p:cNvSpPr>
          <p:nvPr/>
        </p:nvSpPr>
        <p:spPr bwMode="auto">
          <a:xfrm>
            <a:off x="735929" y="2192268"/>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TextBox 7">
            <a:extLst>
              <a:ext uri="{FF2B5EF4-FFF2-40B4-BE49-F238E27FC236}">
                <a16:creationId xmlns:a16="http://schemas.microsoft.com/office/drawing/2014/main" id="{3AF89BA8-26CC-0FA2-8A71-2BE94F72792F}"/>
              </a:ext>
            </a:extLst>
          </p:cNvPr>
          <p:cNvSpPr txBox="1"/>
          <p:nvPr/>
        </p:nvSpPr>
        <p:spPr>
          <a:xfrm>
            <a:off x="518317" y="1629649"/>
            <a:ext cx="10963781"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5. Deliverables &amp; Milestones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Results: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Integrated and structured data with a defined ontology.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A networked knowledge graph enabling robust AI applications (e.g., troubleshooting).</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An intuitive User Interface (UI) powered by an LLM.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Primary Milestone (MS 5.1.1):</a:t>
            </a:r>
            <a:r>
              <a:rPr kumimoji="0" lang="en-US" sz="1800" b="0" i="0" u="none" strike="noStrike" kern="1200" cap="none" spc="0" normalizeH="0" baseline="0" noProof="0" dirty="0">
                <a:ln>
                  <a:noFill/>
                </a:ln>
                <a:solidFill>
                  <a:prstClr val="black"/>
                </a:solidFill>
                <a:effectLst/>
                <a:uLnTx/>
                <a:uFillTx/>
                <a:latin typeface="Arial"/>
                <a:ea typeface="+mn-ea"/>
                <a:cs typeface="+mn-cs"/>
              </a:rPr>
              <a:t> Graph database is implemented and ready for use.</a:t>
            </a:r>
          </a:p>
        </p:txBody>
      </p:sp>
    </p:spTree>
    <p:extLst>
      <p:ext uri="{BB962C8B-B14F-4D97-AF65-F5344CB8AC3E}">
        <p14:creationId xmlns:p14="http://schemas.microsoft.com/office/powerpoint/2010/main" val="39521556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41B3E-B16E-612E-0FCB-B1E5A6C8BF7D}"/>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9635A849-CF2E-C66A-621E-7CECB3B6F431}"/>
              </a:ext>
            </a:extLst>
          </p:cNvPr>
          <p:cNvSpPr>
            <a:spLocks noGrp="1"/>
          </p:cNvSpPr>
          <p:nvPr>
            <p:ph type="title"/>
          </p:nvPr>
        </p:nvSpPr>
        <p:spPr>
          <a:xfrm>
            <a:off x="518318" y="3152001"/>
            <a:ext cx="11157743" cy="553998"/>
          </a:xfrm>
        </p:spPr>
        <p:txBody>
          <a:bodyPr/>
          <a:lstStyle/>
          <a:p>
            <a:r>
              <a:rPr lang="en-US" b="1" dirty="0">
                <a:effectLst/>
              </a:rPr>
              <a:t>Next steps on reliability and scalability(MCP) </a:t>
            </a:r>
            <a:endParaRPr lang="de-DE" dirty="0"/>
          </a:p>
        </p:txBody>
      </p:sp>
      <p:sp>
        <p:nvSpPr>
          <p:cNvPr id="2" name="Datumsplatzhalter 1">
            <a:extLst>
              <a:ext uri="{FF2B5EF4-FFF2-40B4-BE49-F238E27FC236}">
                <a16:creationId xmlns:a16="http://schemas.microsoft.com/office/drawing/2014/main" id="{0548E8DE-02DB-AF67-8BDE-7192EC2AF9D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22E95-EE2D-4F19-BA8F-A725A705DEB9}" type="datetime4">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A44F8778-0B8A-0FE2-8DD7-A1714D14570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FFFFFF"/>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BA092412-7174-BD1E-5995-78FF5E99A1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8FD0049A-A224-802D-944B-98EEA7871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0387" y="463403"/>
            <a:ext cx="1583150" cy="2937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7A01797-A341-60F8-1ED5-2690ACB5280B}"/>
              </a:ext>
            </a:extLst>
          </p:cNvPr>
          <p:cNvPicPr>
            <a:picLocks noChangeAspect="1"/>
          </p:cNvPicPr>
          <p:nvPr/>
        </p:nvPicPr>
        <p:blipFill>
          <a:blip r:embed="rId4"/>
          <a:stretch>
            <a:fillRect/>
          </a:stretch>
        </p:blipFill>
        <p:spPr>
          <a:xfrm>
            <a:off x="6727357" y="408274"/>
            <a:ext cx="1583150" cy="309209"/>
          </a:xfrm>
          <a:prstGeom prst="rect">
            <a:avLst/>
          </a:prstGeom>
        </p:spPr>
      </p:pic>
      <p:pic>
        <p:nvPicPr>
          <p:cNvPr id="7" name="Picture 6" descr="A logo with blue text&#10;&#10;AI-generated content may be incorrect.">
            <a:extLst>
              <a:ext uri="{FF2B5EF4-FFF2-40B4-BE49-F238E27FC236}">
                <a16:creationId xmlns:a16="http://schemas.microsoft.com/office/drawing/2014/main" id="{E68FAEF6-1549-A01A-F50C-FF7C325B8A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2910" y="249855"/>
            <a:ext cx="1945490" cy="737665"/>
          </a:xfrm>
          <a:prstGeom prst="rect">
            <a:avLst/>
          </a:prstGeom>
        </p:spPr>
      </p:pic>
    </p:spTree>
    <p:extLst>
      <p:ext uri="{BB962C8B-B14F-4D97-AF65-F5344CB8AC3E}">
        <p14:creationId xmlns:p14="http://schemas.microsoft.com/office/powerpoint/2010/main" val="925871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E1A80-FF72-8212-85BB-7C8D80A80C6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11E6FBF-5CC2-36A6-CBBF-E42447B42FF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098E954A-0596-1074-C3A7-E3E49B15263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92E8D9E0-91E5-7460-8534-D10A49EE75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10DE6307-A9C8-3315-7670-EA2548B2A5BA}"/>
              </a:ext>
            </a:extLst>
          </p:cNvPr>
          <p:cNvSpPr>
            <a:spLocks noGrp="1"/>
          </p:cNvSpPr>
          <p:nvPr>
            <p:ph type="title"/>
          </p:nvPr>
        </p:nvSpPr>
        <p:spPr/>
        <p:txBody>
          <a:bodyPr/>
          <a:lstStyle/>
          <a:p>
            <a:r>
              <a:rPr lang="en-US" dirty="0"/>
              <a:t>Reason-Act-Reflect loop</a:t>
            </a:r>
            <a:endParaRPr lang="de-DE"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CCFE181F-385D-C6E6-A740-4E6C2B48DC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BDE23BE-67E3-46B9-C748-C53B134DEE44}"/>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047F8A61-6048-11C3-82C1-62DE1E3F26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ACC7EB5B-C771-1F60-D3A8-5C2A056B3AF7}"/>
              </a:ext>
            </a:extLst>
          </p:cNvPr>
          <p:cNvSpPr txBox="1"/>
          <p:nvPr/>
        </p:nvSpPr>
        <p:spPr>
          <a:xfrm>
            <a:off x="518317" y="1540172"/>
            <a:ext cx="7546785" cy="281718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Control pattern for LLM agents</a:t>
            </a:r>
          </a:p>
          <a:p>
            <a:pPr marL="342900" marR="0" lvl="0" indent="-342900" algn="l" defTabSz="914400" rtl="0" eaLnBrk="1" fontAlgn="auto" latinLnBrk="0" hangingPunct="1">
              <a:lnSpc>
                <a:spcPct val="110000"/>
              </a:lnSpc>
              <a:spcBef>
                <a:spcPts val="0"/>
              </a:spcBef>
              <a:spcAft>
                <a:spcPts val="120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Arial"/>
                <a:ea typeface="+mn-lt"/>
                <a:cs typeface="Arial"/>
              </a:rPr>
              <a:t>Reason</a:t>
            </a:r>
            <a:r>
              <a:rPr kumimoji="0" lang="en-US" sz="1800" b="0" i="0" u="none" strike="noStrike" kern="1200" cap="none" spc="0" normalizeH="0" baseline="0" noProof="0" dirty="0">
                <a:ln>
                  <a:noFill/>
                </a:ln>
                <a:solidFill>
                  <a:prstClr val="black"/>
                </a:solidFill>
                <a:effectLst/>
                <a:uLnTx/>
                <a:uFillTx/>
                <a:latin typeface="Arial"/>
                <a:ea typeface="+mn-lt"/>
                <a:cs typeface="Arial"/>
              </a:rPr>
              <a:t> – Plan the next step(s) using the goal and current context.</a:t>
            </a:r>
          </a:p>
          <a:p>
            <a:pPr marL="342900" marR="0" lvl="0" indent="-342900" algn="l" defTabSz="914400" rtl="0" eaLnBrk="1" fontAlgn="auto" latinLnBrk="0" hangingPunct="1">
              <a:lnSpc>
                <a:spcPct val="110000"/>
              </a:lnSpc>
              <a:spcBef>
                <a:spcPts val="0"/>
              </a:spcBef>
              <a:spcAft>
                <a:spcPts val="120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Arial"/>
                <a:ea typeface="+mn-lt"/>
                <a:cs typeface="Arial"/>
              </a:rPr>
              <a:t>Act</a:t>
            </a:r>
            <a:r>
              <a:rPr kumimoji="0" lang="en-US" sz="1800" b="0" i="0" u="none" strike="noStrike" kern="1200" cap="none" spc="0" normalizeH="0" baseline="0" noProof="0" dirty="0">
                <a:ln>
                  <a:noFill/>
                </a:ln>
                <a:solidFill>
                  <a:prstClr val="black"/>
                </a:solidFill>
                <a:effectLst/>
                <a:uLnTx/>
                <a:uFillTx/>
                <a:latin typeface="Arial"/>
                <a:ea typeface="+mn-lt"/>
                <a:cs typeface="Arial"/>
              </a:rPr>
              <a:t> – Call a </a:t>
            </a:r>
            <a:r>
              <a:rPr kumimoji="0" lang="en-US" sz="1800" b="1" i="0" u="none" strike="noStrike" kern="1200" cap="none" spc="0" normalizeH="0" baseline="0" noProof="0" dirty="0">
                <a:ln>
                  <a:noFill/>
                </a:ln>
                <a:solidFill>
                  <a:prstClr val="black"/>
                </a:solidFill>
                <a:effectLst/>
                <a:uLnTx/>
                <a:uFillTx/>
                <a:latin typeface="Arial"/>
                <a:ea typeface="+mn-lt"/>
                <a:cs typeface="Arial"/>
              </a:rPr>
              <a:t>trusted external tool or function</a:t>
            </a:r>
            <a:r>
              <a:rPr kumimoji="0" lang="en-US" sz="1800" b="0" i="0" u="none" strike="noStrike" kern="1200" cap="none" spc="0" normalizeH="0" baseline="0" noProof="0" dirty="0">
                <a:ln>
                  <a:noFill/>
                </a:ln>
                <a:solidFill>
                  <a:prstClr val="black"/>
                </a:solidFill>
                <a:effectLst/>
                <a:uLnTx/>
                <a:uFillTx/>
                <a:latin typeface="Arial"/>
                <a:ea typeface="+mn-lt"/>
                <a:cs typeface="Arial"/>
              </a:rPr>
              <a:t> with validated inputs.</a:t>
            </a:r>
          </a:p>
          <a:p>
            <a:pPr marL="342900" marR="0" lvl="0" indent="-342900" algn="l" defTabSz="914400" rtl="0" eaLnBrk="1" fontAlgn="auto" latinLnBrk="0" hangingPunct="1">
              <a:lnSpc>
                <a:spcPct val="110000"/>
              </a:lnSpc>
              <a:spcBef>
                <a:spcPts val="0"/>
              </a:spcBef>
              <a:spcAft>
                <a:spcPts val="120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Arial"/>
                <a:ea typeface="+mn-lt"/>
                <a:cs typeface="Arial"/>
              </a:rPr>
              <a:t>Reflect</a:t>
            </a:r>
            <a:r>
              <a:rPr kumimoji="0" lang="en-US" sz="1800" b="0" i="0" u="none" strike="noStrike" kern="1200" cap="none" spc="0" normalizeH="0" baseline="0" noProof="0" dirty="0">
                <a:ln>
                  <a:noFill/>
                </a:ln>
                <a:solidFill>
                  <a:prstClr val="black"/>
                </a:solidFill>
                <a:effectLst/>
                <a:uLnTx/>
                <a:uFillTx/>
                <a:latin typeface="Arial"/>
                <a:ea typeface="+mn-lt"/>
                <a:cs typeface="Arial"/>
              </a:rPr>
              <a:t> – Compare the tool’s result against the goal and constraints, detect inconsistencies, update the plan, and repeat until success (or escalate to a human).</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1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11" name="TextBox 10">
            <a:extLst>
              <a:ext uri="{FF2B5EF4-FFF2-40B4-BE49-F238E27FC236}">
                <a16:creationId xmlns:a16="http://schemas.microsoft.com/office/drawing/2014/main" id="{85FA8961-F57E-43EF-0111-12C54373D621}"/>
              </a:ext>
            </a:extLst>
          </p:cNvPr>
          <p:cNvSpPr txBox="1"/>
          <p:nvPr/>
        </p:nvSpPr>
        <p:spPr>
          <a:xfrm>
            <a:off x="516667" y="4608085"/>
            <a:ext cx="11062713" cy="147732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Why This Pattern Matters</a:t>
            </a:r>
            <a:endParaRPr kumimoji="0" lang="en-US" sz="1800" b="0" i="0" u="none" strike="noStrike" kern="1200" cap="none" spc="0" normalizeH="0" baseline="0" noProof="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lt"/>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 </a:t>
            </a:r>
            <a:r>
              <a:rPr kumimoji="0" lang="en-US" sz="1800" b="1" i="0" u="none" strike="noStrike" kern="1200" cap="none" spc="0" normalizeH="0" baseline="0" noProof="0">
                <a:ln>
                  <a:noFill/>
                </a:ln>
                <a:solidFill>
                  <a:prstClr val="black"/>
                </a:solidFill>
                <a:effectLst/>
                <a:uLnTx/>
                <a:uFillTx/>
                <a:latin typeface="Arial"/>
                <a:ea typeface="+mn-lt"/>
                <a:cs typeface="Arial"/>
              </a:rPr>
              <a:t>Prevents hallucinated numbers:</a:t>
            </a:r>
            <a:r>
              <a:rPr kumimoji="0" lang="en-US" sz="1800" b="0" i="0" u="none" strike="noStrike" kern="1200" cap="none" spc="0" normalizeH="0" baseline="0" noProof="0">
                <a:ln>
                  <a:noFill/>
                </a:ln>
                <a:solidFill>
                  <a:prstClr val="black"/>
                </a:solidFill>
                <a:effectLst/>
                <a:uLnTx/>
                <a:uFillTx/>
                <a:latin typeface="Arial"/>
                <a:ea typeface="+mn-lt"/>
                <a:cs typeface="Arial"/>
              </a:rPr>
              <a:t> Computation is off-loaded to verifiable tools.</a:t>
            </a: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 </a:t>
            </a:r>
            <a:r>
              <a:rPr kumimoji="0" lang="en-US" sz="1800" b="1" i="0" u="none" strike="noStrike" kern="1200" cap="none" spc="0" normalizeH="0" baseline="0" noProof="0">
                <a:ln>
                  <a:noFill/>
                </a:ln>
                <a:solidFill>
                  <a:prstClr val="black"/>
                </a:solidFill>
                <a:effectLst/>
                <a:uLnTx/>
                <a:uFillTx/>
                <a:latin typeface="Arial"/>
                <a:ea typeface="+mn-lt"/>
                <a:cs typeface="Arial"/>
              </a:rPr>
              <a:t>Catches errors early:</a:t>
            </a:r>
            <a:r>
              <a:rPr kumimoji="0" lang="en-US" sz="1800" b="0" i="0" u="none" strike="noStrike" kern="1200" cap="none" spc="0" normalizeH="0" baseline="0" noProof="0">
                <a:ln>
                  <a:noFill/>
                </a:ln>
                <a:solidFill>
                  <a:prstClr val="black"/>
                </a:solidFill>
                <a:effectLst/>
                <a:uLnTx/>
                <a:uFillTx/>
                <a:latin typeface="Arial"/>
                <a:ea typeface="+mn-lt"/>
                <a:cs typeface="Arial"/>
              </a:rPr>
              <a:t> Reflection stage validates expected vs actual outcomes.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 </a:t>
            </a:r>
            <a:r>
              <a:rPr kumimoji="0" lang="en-US" sz="1800" b="1" i="0" u="none" strike="noStrike" kern="1200" cap="none" spc="0" normalizeH="0" baseline="0" noProof="0">
                <a:ln>
                  <a:noFill/>
                </a:ln>
                <a:solidFill>
                  <a:prstClr val="black"/>
                </a:solidFill>
                <a:effectLst/>
                <a:uLnTx/>
                <a:uFillTx/>
                <a:latin typeface="Arial"/>
                <a:ea typeface="+mn-lt"/>
                <a:cs typeface="Arial"/>
              </a:rPr>
              <a:t>Enables iterative reasoning:</a:t>
            </a:r>
            <a:r>
              <a:rPr kumimoji="0" lang="en-US" sz="1800" b="0" i="0" u="none" strike="noStrike" kern="1200" cap="none" spc="0" normalizeH="0" baseline="0" noProof="0">
                <a:ln>
                  <a:noFill/>
                </a:ln>
                <a:solidFill>
                  <a:prstClr val="black"/>
                </a:solidFill>
                <a:effectLst/>
                <a:uLnTx/>
                <a:uFillTx/>
                <a:latin typeface="Arial"/>
                <a:ea typeface="+mn-lt"/>
                <a:cs typeface="Arial"/>
              </a:rPr>
              <a:t> Supports multi-step plans and adaptive corrections.</a:t>
            </a:r>
          </a:p>
        </p:txBody>
      </p:sp>
      <p:graphicFrame>
        <p:nvGraphicFramePr>
          <p:cNvPr id="5" name="Diagram 4">
            <a:extLst>
              <a:ext uri="{FF2B5EF4-FFF2-40B4-BE49-F238E27FC236}">
                <a16:creationId xmlns:a16="http://schemas.microsoft.com/office/drawing/2014/main" id="{5B16E5BD-24AC-F95C-CCFD-B20444931217}"/>
              </a:ext>
            </a:extLst>
          </p:cNvPr>
          <p:cNvGraphicFramePr/>
          <p:nvPr/>
        </p:nvGraphicFramePr>
        <p:xfrm>
          <a:off x="7993944" y="1536701"/>
          <a:ext cx="3922889" cy="295910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8300848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DE00-83AB-C823-1F29-34274AE1C88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AF9C75E-58D7-5150-D52D-29B21EA74737}"/>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A4B3D897-1884-E029-6474-7D4DA2BF2E9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756D446-96E3-0369-4CAB-47546784F64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0CE1B409-E0DF-F78D-62AA-5A85E16CADD4}"/>
              </a:ext>
            </a:extLst>
          </p:cNvPr>
          <p:cNvSpPr>
            <a:spLocks noGrp="1"/>
          </p:cNvSpPr>
          <p:nvPr>
            <p:ph type="title"/>
          </p:nvPr>
        </p:nvSpPr>
        <p:spPr>
          <a:xfrm>
            <a:off x="518318" y="301185"/>
            <a:ext cx="4360830" cy="664797"/>
          </a:xfrm>
        </p:spPr>
        <p:txBody>
          <a:bodyPr/>
          <a:lstStyle/>
          <a:p>
            <a:r>
              <a:rPr lang="en-US" dirty="0">
                <a:ea typeface="+mj-lt"/>
                <a:cs typeface="+mj-lt"/>
              </a:rPr>
              <a:t>Preventing Hallucination and Ensuring Trustworthy Actions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60848734-A8BF-CA54-9FC4-D367B0D12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E9801B9-8CBC-092F-D7ED-B58C1280F613}"/>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234E7119-546F-2C07-E45C-E8C3C27539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5B1CA84A-2D91-0234-45A3-CED5ECE88187}"/>
              </a:ext>
            </a:extLst>
          </p:cNvPr>
          <p:cNvSpPr txBox="1"/>
          <p:nvPr/>
        </p:nvSpPr>
        <p:spPr>
          <a:xfrm>
            <a:off x="518317" y="1448450"/>
            <a:ext cx="11421134" cy="526400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10000"/>
              </a:lnSpc>
              <a:spcBef>
                <a:spcPts val="0"/>
              </a:spcBef>
              <a:spcAft>
                <a:spcPts val="120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1️⃣ Verified Computation</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Domain agents </a:t>
            </a:r>
            <a:r>
              <a:rPr kumimoji="0" lang="en-US" sz="1800" b="1" i="0" u="none" strike="noStrike" kern="1200" cap="none" spc="0" normalizeH="0" baseline="0" noProof="0">
                <a:ln>
                  <a:noFill/>
                </a:ln>
                <a:solidFill>
                  <a:prstClr val="black"/>
                </a:solidFill>
                <a:effectLst/>
                <a:uLnTx/>
                <a:uFillTx/>
                <a:latin typeface="Arial"/>
                <a:ea typeface="+mn-lt"/>
                <a:cs typeface="Arial"/>
              </a:rPr>
              <a:t>invoke trusted library functions</a:t>
            </a:r>
            <a:r>
              <a:rPr kumimoji="0" lang="en-US" sz="1800" b="0" i="0" u="none" strike="noStrike" kern="1200" cap="none" spc="0" normalizeH="0" baseline="0" noProof="0">
                <a:ln>
                  <a:noFill/>
                </a:ln>
                <a:solidFill>
                  <a:prstClr val="black"/>
                </a:solidFill>
                <a:effectLst/>
                <a:uLnTx/>
                <a:uFillTx/>
                <a:latin typeface="Arial"/>
                <a:ea typeface="+mn-lt"/>
                <a:cs typeface="Arial"/>
              </a:rPr>
              <a:t> (not LLM-generated math).</a:t>
            </a:r>
            <a:br>
              <a:rPr kumimoji="0" lang="en-US" sz="1800" b="0" i="0" u="none" strike="noStrike" kern="1200" cap="none" spc="0" normalizeH="0" baseline="0" noProof="0">
                <a:ln>
                  <a:noFill/>
                </a:ln>
                <a:solidFill>
                  <a:prstClr val="black"/>
                </a:solidFill>
                <a:effectLst/>
                <a:uLnTx/>
                <a:uFillTx/>
                <a:latin typeface="Arial"/>
                <a:ea typeface="+mn-lt"/>
                <a:cs typeface="Arial"/>
              </a:rPr>
            </a:br>
            <a:r>
              <a:rPr kumimoji="0" lang="en-US" sz="1800" b="0" i="0" u="none" strike="noStrike" kern="1200" cap="none" spc="0" normalizeH="0" baseline="0" noProof="0">
                <a:ln>
                  <a:noFill/>
                </a:ln>
                <a:solidFill>
                  <a:prstClr val="black"/>
                </a:solidFill>
                <a:effectLst/>
                <a:uLnTx/>
                <a:uFillTx/>
                <a:latin typeface="Arial"/>
                <a:ea typeface="+mn-lt"/>
                <a:cs typeface="Arial"/>
              </a:rPr>
              <a:t> → e.g., </a:t>
            </a:r>
            <a:r>
              <a:rPr kumimoji="0" lang="en-US" sz="1800" b="0" i="1" u="none" strike="noStrike" kern="1200" cap="none" spc="0" normalizeH="0" baseline="0" noProof="0" err="1">
                <a:ln>
                  <a:noFill/>
                </a:ln>
                <a:solidFill>
                  <a:prstClr val="black"/>
                </a:solidFill>
                <a:effectLst/>
                <a:uLnTx/>
                <a:uFillTx/>
                <a:latin typeface="Arial"/>
                <a:ea typeface="+mn-lt"/>
                <a:cs typeface="Arial"/>
              </a:rPr>
              <a:t>PowerFactory</a:t>
            </a:r>
            <a:r>
              <a:rPr kumimoji="0" lang="en-US" sz="1800" b="0" i="1" u="none" strike="noStrike" kern="1200" cap="none" spc="0" normalizeH="0" baseline="0" noProof="0">
                <a:ln>
                  <a:noFill/>
                </a:ln>
                <a:solidFill>
                  <a:prstClr val="black"/>
                </a:solidFill>
                <a:effectLst/>
                <a:uLnTx/>
                <a:uFillTx/>
                <a:latin typeface="Arial"/>
                <a:ea typeface="+mn-lt"/>
                <a:cs typeface="Arial"/>
              </a:rPr>
              <a:t>, TP3 functions, </a:t>
            </a:r>
            <a:r>
              <a:rPr kumimoji="0" lang="en-US" sz="1800" b="0" i="1" u="none" strike="noStrike" kern="1200" cap="none" spc="0" normalizeH="0" baseline="0" noProof="0" err="1">
                <a:ln>
                  <a:noFill/>
                </a:ln>
                <a:solidFill>
                  <a:prstClr val="black"/>
                </a:solidFill>
                <a:effectLst/>
                <a:uLnTx/>
                <a:uFillTx/>
                <a:latin typeface="Arial"/>
                <a:ea typeface="+mn-lt"/>
                <a:cs typeface="Arial"/>
              </a:rPr>
              <a:t>PandaPower</a:t>
            </a:r>
            <a:r>
              <a:rPr kumimoji="0" lang="en-US" sz="1800" b="0" i="0" u="none" strike="noStrike" kern="1200" cap="none" spc="0" normalizeH="0" baseline="0" noProof="0">
                <a:ln>
                  <a:noFill/>
                </a:ln>
                <a:solidFill>
                  <a:prstClr val="black"/>
                </a:solidFill>
                <a:effectLst/>
                <a:uLnTx/>
                <a:uFillTx/>
                <a:latin typeface="Arial"/>
                <a:ea typeface="+mn-lt"/>
                <a:cs typeface="Arial"/>
              </a:rPr>
              <a:t> for power-flow and contingency analysis.</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Results come from </a:t>
            </a:r>
            <a:r>
              <a:rPr kumimoji="0" lang="en-US" sz="1800" b="1" i="0" u="none" strike="noStrike" kern="1200" cap="none" spc="0" normalizeH="0" baseline="0" noProof="0">
                <a:ln>
                  <a:noFill/>
                </a:ln>
                <a:solidFill>
                  <a:prstClr val="black"/>
                </a:solidFill>
                <a:effectLst/>
                <a:uLnTx/>
                <a:uFillTx/>
                <a:latin typeface="Arial"/>
                <a:ea typeface="+mn-lt"/>
                <a:cs typeface="Arial"/>
              </a:rPr>
              <a:t>real simulations or APIs</a:t>
            </a:r>
            <a:r>
              <a:rPr kumimoji="0" lang="en-US" sz="1800" b="0" i="0" u="none" strike="noStrike" kern="1200" cap="none" spc="0" normalizeH="0" baseline="0" noProof="0">
                <a:ln>
                  <a:noFill/>
                </a:ln>
                <a:solidFill>
                  <a:prstClr val="black"/>
                </a:solidFill>
                <a:effectLst/>
                <a:uLnTx/>
                <a:uFillTx/>
                <a:latin typeface="Arial"/>
                <a:ea typeface="+mn-lt"/>
                <a:cs typeface="Arial"/>
              </a:rPr>
              <a:t>, not fabricated estimates.</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This ensures </a:t>
            </a:r>
            <a:r>
              <a:rPr kumimoji="0" lang="en-US" sz="1800" b="1" i="0" u="none" strike="noStrike" kern="1200" cap="none" spc="0" normalizeH="0" baseline="0" noProof="0">
                <a:ln>
                  <a:noFill/>
                </a:ln>
                <a:solidFill>
                  <a:prstClr val="black"/>
                </a:solidFill>
                <a:effectLst/>
                <a:uLnTx/>
                <a:uFillTx/>
                <a:latin typeface="Arial"/>
                <a:ea typeface="+mn-lt"/>
                <a:cs typeface="Arial"/>
              </a:rPr>
              <a:t>numerical correctness and domain consistency</a:t>
            </a:r>
            <a:r>
              <a:rPr kumimoji="0" lang="en-US" sz="1800" b="0" i="0" u="none" strike="noStrike" kern="1200" cap="none" spc="0" normalizeH="0" baseline="0" noProof="0">
                <a:ln>
                  <a:noFill/>
                </a:ln>
                <a:solidFill>
                  <a:prstClr val="black"/>
                </a:solidFill>
                <a:effectLst/>
                <a:uLnTx/>
                <a:uFillTx/>
                <a:latin typeface="Arial"/>
                <a:ea typeface="+mn-lt"/>
                <a:cs typeface="Arial"/>
              </a:rPr>
              <a:t>.</a:t>
            </a:r>
            <a:endParaRPr kumimoji="0" lang="en-US" sz="1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10000"/>
              </a:lnSpc>
              <a:spcBef>
                <a:spcPts val="0"/>
              </a:spcBef>
              <a:spcAft>
                <a:spcPts val="120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2️⃣ How Hallucinations Can Still Occur</a:t>
            </a:r>
            <a:endParaRPr kumimoji="0" lang="en-US" sz="1800" b="0" i="0" u="none" strike="noStrike" kern="1200" cap="none" spc="0" normalizeH="0" baseline="0" noProof="0">
              <a:ln>
                <a:noFill/>
              </a:ln>
              <a:solidFill>
                <a:prstClr val="black"/>
              </a:solidFill>
              <a:effectLst/>
              <a:uLnTx/>
              <a:uFillTx/>
              <a:latin typeface="Arial"/>
              <a:ea typeface="+mn-ea"/>
              <a:cs typeface="+mn-cs"/>
            </a:endParaRP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1" i="0" u="none" strike="noStrike" kern="1200" cap="none" spc="0" normalizeH="0" baseline="0" noProof="0">
                <a:ln>
                  <a:noFill/>
                </a:ln>
                <a:solidFill>
                  <a:prstClr val="black"/>
                </a:solidFill>
                <a:effectLst/>
                <a:uLnTx/>
                <a:uFillTx/>
                <a:latin typeface="Arial"/>
                <a:ea typeface="+mn-lt"/>
                <a:cs typeface="Arial"/>
              </a:rPr>
              <a:t>Wrong function call:</a:t>
            </a:r>
            <a:r>
              <a:rPr kumimoji="0" lang="en-US" sz="1800" b="0" i="0" u="none" strike="noStrike" kern="1200" cap="none" spc="0" normalizeH="0" baseline="0" noProof="0">
                <a:ln>
                  <a:noFill/>
                </a:ln>
                <a:solidFill>
                  <a:prstClr val="black"/>
                </a:solidFill>
                <a:effectLst/>
                <a:uLnTx/>
                <a:uFillTx/>
                <a:latin typeface="Arial"/>
                <a:ea typeface="+mn-lt"/>
                <a:cs typeface="Arial"/>
              </a:rPr>
              <a:t> LLM may misinterpret the intent or choose the wrong API.</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1" i="0" u="none" strike="noStrike" kern="1200" cap="none" spc="0" normalizeH="0" baseline="0" noProof="0">
                <a:ln>
                  <a:noFill/>
                </a:ln>
                <a:solidFill>
                  <a:prstClr val="black"/>
                </a:solidFill>
                <a:effectLst/>
                <a:uLnTx/>
                <a:uFillTx/>
                <a:latin typeface="Arial"/>
                <a:ea typeface="+mn-lt"/>
                <a:cs typeface="Arial"/>
              </a:rPr>
              <a:t>Misread output:</a:t>
            </a:r>
            <a:r>
              <a:rPr kumimoji="0" lang="en-US" sz="1800" b="0" i="0" u="none" strike="noStrike" kern="1200" cap="none" spc="0" normalizeH="0" baseline="0" noProof="0">
                <a:ln>
                  <a:noFill/>
                </a:ln>
                <a:solidFill>
                  <a:prstClr val="black"/>
                </a:solidFill>
                <a:effectLst/>
                <a:uLnTx/>
                <a:uFillTx/>
                <a:latin typeface="Arial"/>
                <a:ea typeface="+mn-lt"/>
                <a:cs typeface="Arial"/>
              </a:rPr>
              <a:t> Incorrectly formatted or summarized results.</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1" i="0" u="none" strike="noStrike" kern="1200" cap="none" spc="0" normalizeH="0" baseline="0" noProof="0">
                <a:ln>
                  <a:noFill/>
                </a:ln>
                <a:solidFill>
                  <a:prstClr val="black"/>
                </a:solidFill>
                <a:effectLst/>
                <a:uLnTx/>
                <a:uFillTx/>
                <a:latin typeface="Arial"/>
                <a:ea typeface="+mn-lt"/>
                <a:cs typeface="Arial"/>
              </a:rPr>
              <a:t>Prevention strategies:</a:t>
            </a:r>
            <a:endParaRPr kumimoji="0" lang="en-US" sz="1800" b="0" i="0" u="none" strike="noStrike" kern="1200" cap="none" spc="0" normalizeH="0" baseline="0" noProof="0">
              <a:ln>
                <a:noFill/>
              </a:ln>
              <a:solidFill>
                <a:prstClr val="black"/>
              </a:solidFill>
              <a:effectLst/>
              <a:uLnTx/>
              <a:uFillTx/>
              <a:latin typeface="Arial"/>
              <a:ea typeface="+mn-lt"/>
              <a:cs typeface="Arial"/>
            </a:endParaRPr>
          </a:p>
          <a:p>
            <a:pPr marL="1200150" marR="0" lvl="2"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Enforce </a:t>
            </a:r>
            <a:r>
              <a:rPr kumimoji="0" lang="en-US" sz="1800" b="1" i="0" u="none" strike="noStrike" kern="1200" cap="none" spc="0" normalizeH="0" baseline="0" noProof="0">
                <a:ln>
                  <a:noFill/>
                </a:ln>
                <a:solidFill>
                  <a:prstClr val="black"/>
                </a:solidFill>
                <a:effectLst/>
                <a:uLnTx/>
                <a:uFillTx/>
                <a:latin typeface="Arial"/>
                <a:ea typeface="+mn-lt"/>
                <a:cs typeface="Arial"/>
              </a:rPr>
              <a:t>input/output schemas</a:t>
            </a:r>
            <a:r>
              <a:rPr kumimoji="0" lang="en-US" sz="1800" b="0" i="0" u="none" strike="noStrike" kern="1200" cap="none" spc="0" normalizeH="0" baseline="0" noProof="0">
                <a:ln>
                  <a:noFill/>
                </a:ln>
                <a:solidFill>
                  <a:prstClr val="black"/>
                </a:solidFill>
                <a:effectLst/>
                <a:uLnTx/>
                <a:uFillTx/>
                <a:latin typeface="Arial"/>
                <a:ea typeface="+mn-lt"/>
                <a:cs typeface="Arial"/>
              </a:rPr>
              <a:t> to validate function calls.</a:t>
            </a:r>
            <a:endParaRPr kumimoji="0" lang="en-US" sz="1800" b="1" i="0" u="none" strike="noStrike" kern="1200" cap="none" spc="0" normalizeH="0" baseline="0" noProof="0">
              <a:ln>
                <a:noFill/>
              </a:ln>
              <a:solidFill>
                <a:prstClr val="black"/>
              </a:solidFill>
              <a:effectLst/>
              <a:uLnTx/>
              <a:uFillTx/>
              <a:latin typeface="Arial"/>
              <a:ea typeface="+mn-lt"/>
              <a:cs typeface="Arial"/>
            </a:endParaRPr>
          </a:p>
          <a:p>
            <a:pPr marL="1200150" marR="0" lvl="2"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800" b="0" i="0" u="none" strike="noStrike" kern="1200" cap="none" spc="0" normalizeH="0" baseline="0" noProof="0">
                <a:ln>
                  <a:noFill/>
                </a:ln>
                <a:solidFill>
                  <a:prstClr val="black"/>
                </a:solidFill>
                <a:effectLst/>
                <a:uLnTx/>
                <a:uFillTx/>
                <a:latin typeface="Arial"/>
                <a:ea typeface="+mn-lt"/>
                <a:cs typeface="Arial"/>
              </a:rPr>
              <a:t>Use </a:t>
            </a:r>
            <a:r>
              <a:rPr kumimoji="0" lang="en-US" sz="1800" b="1" i="0" u="none" strike="noStrike" kern="1200" cap="none" spc="0" normalizeH="0" baseline="0" noProof="0">
                <a:ln>
                  <a:noFill/>
                </a:ln>
                <a:solidFill>
                  <a:prstClr val="black"/>
                </a:solidFill>
                <a:effectLst/>
                <a:uLnTx/>
                <a:uFillTx/>
                <a:latin typeface="Arial"/>
                <a:ea typeface="+mn-lt"/>
                <a:cs typeface="Arial"/>
              </a:rPr>
              <a:t>structured templates</a:t>
            </a:r>
            <a:r>
              <a:rPr kumimoji="0" lang="en-US" sz="1800" b="0" i="0" u="none" strike="noStrike" kern="1200" cap="none" spc="0" normalizeH="0" baseline="0" noProof="0">
                <a:ln>
                  <a:noFill/>
                </a:ln>
                <a:solidFill>
                  <a:prstClr val="black"/>
                </a:solidFill>
                <a:effectLst/>
                <a:uLnTx/>
                <a:uFillTx/>
                <a:latin typeface="Arial"/>
                <a:ea typeface="+mn-lt"/>
                <a:cs typeface="Arial"/>
              </a:rPr>
              <a:t> for controlled result summarization.</a:t>
            </a:r>
          </a:p>
          <a:p>
            <a:pPr marL="285750" marR="0" lvl="0" indent="-285750" algn="l" defTabSz="914400" rtl="0" eaLnBrk="1" fontAlgn="auto" latinLnBrk="0" hangingPunct="1">
              <a:lnSpc>
                <a:spcPct val="110000"/>
              </a:lnSpc>
              <a:spcBef>
                <a:spcPts val="0"/>
              </a:spcBef>
              <a:spcAft>
                <a:spcPts val="1200"/>
              </a:spcAft>
              <a:buClrTx/>
              <a:buSzTx/>
              <a:buFont typeface="Wingdings"/>
              <a:buChar char="§"/>
              <a:tabLst/>
              <a:defRPr/>
            </a:pPr>
            <a:endParaRPr kumimoji="0" lang="en-US" sz="1800" b="0" i="0" u="none" strike="noStrike" kern="1200" cap="none" spc="0" normalizeH="0" baseline="0" noProof="0">
              <a:ln>
                <a:noFill/>
              </a:ln>
              <a:solidFill>
                <a:prstClr val="black"/>
              </a:solidFill>
              <a:effectLst/>
              <a:uLnTx/>
              <a:uFillTx/>
              <a:latin typeface="Arial"/>
              <a:ea typeface="+mn-lt"/>
              <a:cs typeface="Arial"/>
            </a:endParaRPr>
          </a:p>
        </p:txBody>
      </p:sp>
    </p:spTree>
    <p:extLst>
      <p:ext uri="{BB962C8B-B14F-4D97-AF65-F5344CB8AC3E}">
        <p14:creationId xmlns:p14="http://schemas.microsoft.com/office/powerpoint/2010/main" val="15936602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E7BC2-24C4-CCE6-A107-FAFDE8569CF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A6CAD6B-690B-80DB-7338-E434AE3E19CF}"/>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06FF6335-3638-E916-46CE-3E4B08EB698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6C8FA336-6270-A057-5782-288A45C0F1C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46A77005-EBA8-7700-27AF-F70A34420346}"/>
              </a:ext>
            </a:extLst>
          </p:cNvPr>
          <p:cNvSpPr>
            <a:spLocks noGrp="1"/>
          </p:cNvSpPr>
          <p:nvPr>
            <p:ph type="title"/>
          </p:nvPr>
        </p:nvSpPr>
        <p:spPr>
          <a:xfrm>
            <a:off x="518318" y="231335"/>
            <a:ext cx="4360830" cy="997196"/>
          </a:xfrm>
        </p:spPr>
        <p:txBody>
          <a:bodyPr/>
          <a:lstStyle/>
          <a:p>
            <a:r>
              <a:rPr lang="en-US" dirty="0">
                <a:ea typeface="+mj-lt"/>
                <a:cs typeface="+mj-lt"/>
              </a:rPr>
              <a:t>Preventing Hallucination and Ensuring Trustworthy Actions (Cont.)</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CC16D93-D73F-D1E8-F994-AB8BC3B84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1E68666B-D8B1-8ABD-6158-8BB734BDC0EF}"/>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D483AB00-E347-DF12-3D1D-FBC0496D9F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E9E648C3-65DA-C24E-29B5-6885B139D8D6}"/>
              </a:ext>
            </a:extLst>
          </p:cNvPr>
          <p:cNvSpPr txBox="1"/>
          <p:nvPr/>
        </p:nvSpPr>
        <p:spPr>
          <a:xfrm>
            <a:off x="518317" y="1716561"/>
            <a:ext cx="11236984" cy="220778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10000"/>
              </a:lnSpc>
              <a:spcBef>
                <a:spcPts val="0"/>
              </a:spcBef>
              <a:spcAft>
                <a:spcPts val="12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3️⃣ Human-in-the-Loop Safeguard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For </a:t>
            </a:r>
            <a:r>
              <a:rPr kumimoji="0" lang="en-US" sz="1800" b="1" i="0" u="none" strike="noStrike" kern="1200" cap="none" spc="0" normalizeH="0" baseline="0" noProof="0" dirty="0">
                <a:ln>
                  <a:noFill/>
                </a:ln>
                <a:solidFill>
                  <a:prstClr val="black"/>
                </a:solidFill>
                <a:effectLst/>
                <a:uLnTx/>
                <a:uFillTx/>
                <a:latin typeface="Arial"/>
                <a:ea typeface="+mn-lt"/>
                <a:cs typeface="Arial"/>
              </a:rPr>
              <a:t>critical actions</a:t>
            </a:r>
            <a:r>
              <a:rPr kumimoji="0" lang="en-US" sz="1800" b="0" i="0" u="none" strike="noStrike" kern="1200" cap="none" spc="0" normalizeH="0" baseline="0" noProof="0" dirty="0">
                <a:ln>
                  <a:noFill/>
                </a:ln>
                <a:solidFill>
                  <a:prstClr val="black"/>
                </a:solidFill>
                <a:effectLst/>
                <a:uLnTx/>
                <a:uFillTx/>
                <a:latin typeface="Arial"/>
                <a:ea typeface="+mn-lt"/>
                <a:cs typeface="Arial"/>
              </a:rPr>
              <a:t> (e.g., switching, restoration), agent requires </a:t>
            </a:r>
            <a:r>
              <a:rPr kumimoji="0" lang="en-US" sz="1800" b="1" i="0" u="none" strike="noStrike" kern="1200" cap="none" spc="0" normalizeH="0" baseline="0" noProof="0" dirty="0">
                <a:ln>
                  <a:noFill/>
                </a:ln>
                <a:solidFill>
                  <a:prstClr val="black"/>
                </a:solidFill>
                <a:effectLst/>
                <a:uLnTx/>
                <a:uFillTx/>
                <a:latin typeface="Arial"/>
                <a:ea typeface="+mn-lt"/>
                <a:cs typeface="Arial"/>
              </a:rPr>
              <a:t>explicit human approval</a:t>
            </a:r>
            <a:r>
              <a:rPr kumimoji="0" lang="en-US" sz="1800" b="0" i="0" u="none" strike="noStrike" kern="1200" cap="none" spc="0" normalizeH="0" baseline="0" noProof="0" dirty="0">
                <a:ln>
                  <a:noFill/>
                </a:ln>
                <a:solidFill>
                  <a:prstClr val="black"/>
                </a:solidFill>
                <a:effectLst/>
                <a:uLnTx/>
                <a:uFillTx/>
                <a:latin typeface="Arial"/>
                <a:ea typeface="+mn-lt"/>
                <a:cs typeface="Arial"/>
              </a:rPr>
              <a:t>.</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The loop becomes: </a:t>
            </a:r>
            <a:r>
              <a:rPr kumimoji="0" lang="en-US" sz="1800" b="0" i="1" u="none" strike="noStrike" kern="1200" cap="none" spc="0" normalizeH="0" baseline="0" noProof="0" dirty="0">
                <a:ln>
                  <a:noFill/>
                </a:ln>
                <a:solidFill>
                  <a:prstClr val="black"/>
                </a:solidFill>
                <a:effectLst/>
                <a:uLnTx/>
                <a:uFillTx/>
                <a:latin typeface="Arial"/>
                <a:ea typeface="+mn-lt"/>
                <a:cs typeface="Arial"/>
              </a:rPr>
              <a:t>Reason → Act → Reflect → Approve/Revise → Act…</a:t>
            </a:r>
          </a:p>
          <a:p>
            <a:pPr marL="742950" marR="0" lvl="1"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Guarantees safety, accountability, and traceability in grid operations.</a:t>
            </a:r>
          </a:p>
          <a:p>
            <a:pPr marL="285750" marR="0" lvl="0" indent="-285750" algn="l" defTabSz="914400" rtl="0" eaLnBrk="1" fontAlgn="auto" latinLnBrk="0" hangingPunct="1">
              <a:lnSpc>
                <a:spcPct val="110000"/>
              </a:lnSpc>
              <a:spcBef>
                <a:spcPts val="0"/>
              </a:spcBef>
              <a:spcAft>
                <a:spcPts val="1200"/>
              </a:spcAft>
              <a:buClrTx/>
              <a:buSzTx/>
              <a:buFont typeface="Wingdings"/>
              <a:buChar char="§"/>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21468732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0980-09AC-56D2-8E4D-CEAC8F39055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7B8A37A-483B-3966-CE1C-1FC52D05CA7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F11AE763-86B4-5FAC-0684-5018152B840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48DFF9F8-6CA5-6FDD-1627-B431E61F51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77633EE9-CC22-0ED1-4BF2-611DB7F4DA9A}"/>
              </a:ext>
            </a:extLst>
          </p:cNvPr>
          <p:cNvSpPr>
            <a:spLocks noGrp="1"/>
          </p:cNvSpPr>
          <p:nvPr>
            <p:ph type="title"/>
          </p:nvPr>
        </p:nvSpPr>
        <p:spPr>
          <a:xfrm>
            <a:off x="518318" y="332935"/>
            <a:ext cx="4360830" cy="664797"/>
          </a:xfrm>
        </p:spPr>
        <p:txBody>
          <a:bodyPr/>
          <a:lstStyle/>
          <a:p>
            <a:r>
              <a:rPr lang="en-US" dirty="0">
                <a:cs typeface="Arial"/>
              </a:rPr>
              <a:t>Current Status and </a:t>
            </a:r>
            <a:br>
              <a:rPr lang="en-US" dirty="0">
                <a:cs typeface="Arial"/>
              </a:rPr>
            </a:br>
            <a:r>
              <a:rPr lang="en-US" dirty="0">
                <a:cs typeface="Arial"/>
              </a:rPr>
              <a:t>Future Goal</a:t>
            </a: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59837B59-C08D-F738-D88A-C8A2BAB53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9562D39-AE21-24EF-0F9D-731D065F19CE}"/>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069EE91D-E641-042B-C447-5671D9C4B8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5" name="Picture 4" descr="A diagram of a company&#10;&#10;AI-generated content may be incorrect.">
            <a:extLst>
              <a:ext uri="{FF2B5EF4-FFF2-40B4-BE49-F238E27FC236}">
                <a16:creationId xmlns:a16="http://schemas.microsoft.com/office/drawing/2014/main" id="{E6427CAE-8682-8968-F35C-F17227733DF8}"/>
              </a:ext>
            </a:extLst>
          </p:cNvPr>
          <p:cNvPicPr>
            <a:picLocks noChangeAspect="1"/>
          </p:cNvPicPr>
          <p:nvPr/>
        </p:nvPicPr>
        <p:blipFill>
          <a:blip r:embed="rId6"/>
          <a:stretch>
            <a:fillRect/>
          </a:stretch>
        </p:blipFill>
        <p:spPr>
          <a:xfrm>
            <a:off x="6357524" y="1309511"/>
            <a:ext cx="5227935" cy="5226050"/>
          </a:xfrm>
          <a:prstGeom prst="rect">
            <a:avLst/>
          </a:prstGeom>
        </p:spPr>
      </p:pic>
      <p:pic>
        <p:nvPicPr>
          <p:cNvPr id="6" name="Picture 5" descr="A diagram of a process&#10;&#10;AI-generated content may be incorrect.">
            <a:extLst>
              <a:ext uri="{FF2B5EF4-FFF2-40B4-BE49-F238E27FC236}">
                <a16:creationId xmlns:a16="http://schemas.microsoft.com/office/drawing/2014/main" id="{4DAA3CDE-9FFE-07F4-0ACE-76C28BD383C2}"/>
              </a:ext>
            </a:extLst>
          </p:cNvPr>
          <p:cNvPicPr>
            <a:picLocks noChangeAspect="1"/>
          </p:cNvPicPr>
          <p:nvPr/>
        </p:nvPicPr>
        <p:blipFill>
          <a:blip r:embed="rId7"/>
          <a:stretch>
            <a:fillRect/>
          </a:stretch>
        </p:blipFill>
        <p:spPr>
          <a:xfrm>
            <a:off x="822325" y="1712913"/>
            <a:ext cx="4305300" cy="4746625"/>
          </a:xfrm>
          <a:prstGeom prst="rect">
            <a:avLst/>
          </a:prstGeom>
        </p:spPr>
      </p:pic>
      <p:sp>
        <p:nvSpPr>
          <p:cNvPr id="9" name="Thought Bubble: Cloud 8">
            <a:extLst>
              <a:ext uri="{FF2B5EF4-FFF2-40B4-BE49-F238E27FC236}">
                <a16:creationId xmlns:a16="http://schemas.microsoft.com/office/drawing/2014/main" id="{6D87F035-6FC3-AB06-B272-F588A143D957}"/>
              </a:ext>
            </a:extLst>
          </p:cNvPr>
          <p:cNvSpPr/>
          <p:nvPr/>
        </p:nvSpPr>
        <p:spPr>
          <a:xfrm>
            <a:off x="568325" y="1481201"/>
            <a:ext cx="2413000" cy="841248"/>
          </a:xfrm>
          <a:prstGeom prst="cloud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lvl="0" indent="0" algn="ctr" defTabSz="914400" rtl="0" eaLnBrk="1" fontAlgn="auto" latinLnBrk="0" hangingPunct="1">
              <a:lnSpc>
                <a:spcPct val="110000"/>
              </a:lnSpc>
              <a:spcBef>
                <a:spcPts val="0"/>
              </a:spcBef>
              <a:spcAft>
                <a:spcPts val="120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We are here!</a:t>
            </a:r>
            <a:endParaRPr kumimoji="0" lang="en-US" sz="1600" b="0" i="0" u="none" strike="noStrike" kern="1200" cap="none" spc="0" normalizeH="0" baseline="0" noProof="0">
              <a:ln>
                <a:noFill/>
              </a:ln>
              <a:solidFill>
                <a:prstClr val="black"/>
              </a:solidFill>
              <a:effectLst/>
              <a:uLnTx/>
              <a:uFillTx/>
              <a:latin typeface="Arial"/>
              <a:ea typeface="+mn-ea"/>
              <a:cs typeface="+mn-cs"/>
            </a:endParaRPr>
          </a:p>
        </p:txBody>
      </p:sp>
      <p:pic>
        <p:nvPicPr>
          <p:cNvPr id="10" name="Graphic 9" descr="Confused face outline with solid fill">
            <a:extLst>
              <a:ext uri="{FF2B5EF4-FFF2-40B4-BE49-F238E27FC236}">
                <a16:creationId xmlns:a16="http://schemas.microsoft.com/office/drawing/2014/main" id="{0035BF35-FD23-9714-6FD5-6829D1AB31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1500" y="2324100"/>
            <a:ext cx="914400" cy="914400"/>
          </a:xfrm>
          <a:prstGeom prst="rect">
            <a:avLst/>
          </a:prstGeom>
        </p:spPr>
      </p:pic>
      <p:sp>
        <p:nvSpPr>
          <p:cNvPr id="11" name="Thought Bubble: Cloud 10">
            <a:extLst>
              <a:ext uri="{FF2B5EF4-FFF2-40B4-BE49-F238E27FC236}">
                <a16:creationId xmlns:a16="http://schemas.microsoft.com/office/drawing/2014/main" id="{9D270C96-E59E-47B7-C363-AAD6DC0DE342}"/>
              </a:ext>
            </a:extLst>
          </p:cNvPr>
          <p:cNvSpPr/>
          <p:nvPr/>
        </p:nvSpPr>
        <p:spPr>
          <a:xfrm>
            <a:off x="6245225" y="1379601"/>
            <a:ext cx="2489200" cy="999998"/>
          </a:xfrm>
          <a:prstGeom prst="cloudCallou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lvl="0" indent="0" algn="ctr" defTabSz="914400" rtl="0" eaLnBrk="1" fontAlgn="auto" latinLnBrk="0" hangingPunct="1">
              <a:lnSpc>
                <a:spcPct val="110000"/>
              </a:lnSpc>
              <a:spcBef>
                <a:spcPts val="0"/>
              </a:spcBef>
              <a:spcAft>
                <a:spcPts val="120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What we want to become!</a:t>
            </a:r>
            <a:endParaRPr kumimoji="0" lang="en-US" sz="1600" b="0" i="0" u="none" strike="noStrike" kern="1200" cap="none" spc="0" normalizeH="0" baseline="0" noProof="0">
              <a:ln>
                <a:noFill/>
              </a:ln>
              <a:solidFill>
                <a:prstClr val="black"/>
              </a:solidFill>
              <a:effectLst/>
              <a:uLnTx/>
              <a:uFillTx/>
              <a:latin typeface="Arial"/>
              <a:ea typeface="+mn-ea"/>
              <a:cs typeface="+mn-cs"/>
            </a:endParaRPr>
          </a:p>
        </p:txBody>
      </p:sp>
      <p:pic>
        <p:nvPicPr>
          <p:cNvPr id="14" name="Graphic 13" descr="Sunglasses face outline with solid fill">
            <a:extLst>
              <a:ext uri="{FF2B5EF4-FFF2-40B4-BE49-F238E27FC236}">
                <a16:creationId xmlns:a16="http://schemas.microsoft.com/office/drawing/2014/main" id="{E838AAFB-3CAE-CC2C-8B6C-E017E51170E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42050" y="2444750"/>
            <a:ext cx="914400" cy="914400"/>
          </a:xfrm>
          <a:prstGeom prst="rect">
            <a:avLst/>
          </a:prstGeom>
        </p:spPr>
      </p:pic>
    </p:spTree>
    <p:extLst>
      <p:ext uri="{BB962C8B-B14F-4D97-AF65-F5344CB8AC3E}">
        <p14:creationId xmlns:p14="http://schemas.microsoft.com/office/powerpoint/2010/main" val="31932338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90CA5-8841-1F04-9BA7-D04C5E0B28AE}"/>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A842C45-6667-7B24-FDF2-631C317C4D5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4754AF05-1D0A-F247-3B37-AC56296E725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CEF147B8-7A83-7FCF-B7DF-E6040F6BC4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643D9CA6-77D0-FD86-750E-639C9CB7FA12}"/>
              </a:ext>
            </a:extLst>
          </p:cNvPr>
          <p:cNvSpPr>
            <a:spLocks noGrp="1"/>
          </p:cNvSpPr>
          <p:nvPr>
            <p:ph type="title"/>
          </p:nvPr>
        </p:nvSpPr>
        <p:spPr/>
        <p:txBody>
          <a:bodyPr/>
          <a:lstStyle/>
          <a:p>
            <a:r>
              <a:rPr lang="en-US"/>
              <a:t>Orchestration strategies</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C5E0417-D4C9-15CD-A2B4-E34126166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A1FAB41-1891-9EC3-43BA-DE0B3F15B7C8}"/>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5D084724-09E1-53CF-4A4A-05E45EB65B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10" name="TextBox 9">
            <a:extLst>
              <a:ext uri="{FF2B5EF4-FFF2-40B4-BE49-F238E27FC236}">
                <a16:creationId xmlns:a16="http://schemas.microsoft.com/office/drawing/2014/main" id="{DFC6E286-060A-0BEB-4C77-1B0E5FC53AA3}"/>
              </a:ext>
            </a:extLst>
          </p:cNvPr>
          <p:cNvSpPr txBox="1"/>
          <p:nvPr/>
        </p:nvSpPr>
        <p:spPr>
          <a:xfrm>
            <a:off x="515055" y="1594555"/>
            <a:ext cx="5798253" cy="46817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a:buChar char="§"/>
              <a:tabLst/>
              <a:defRPr/>
            </a:pPr>
            <a:r>
              <a:rPr kumimoji="0" lang="en-US" sz="1600" b="1" i="0" u="none" strike="noStrike" kern="1200" cap="none" spc="0" normalizeH="0" baseline="0" noProof="0" dirty="0" err="1">
                <a:ln>
                  <a:noFill/>
                </a:ln>
                <a:solidFill>
                  <a:prstClr val="black"/>
                </a:solidFill>
                <a:effectLst/>
                <a:uLnTx/>
                <a:uFillTx/>
                <a:latin typeface="Arial"/>
                <a:ea typeface="+mn-lt"/>
                <a:cs typeface="Arial"/>
              </a:rPr>
              <a:t>LangGraph</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Excels in structured, multi-step reasoning with persistent memory</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Ideal for planning, diagnostics, and maintenance workflows.</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a:buChar char="§"/>
              <a:tabLst/>
              <a:defRPr/>
            </a:pPr>
            <a:r>
              <a:rPr kumimoji="0" lang="en-US" sz="1600" b="1" i="0" u="none" strike="noStrike" kern="1200" cap="none" spc="0" normalizeH="0" baseline="0" noProof="0" dirty="0" err="1">
                <a:ln>
                  <a:noFill/>
                </a:ln>
                <a:solidFill>
                  <a:prstClr val="black"/>
                </a:solidFill>
                <a:effectLst/>
                <a:uLnTx/>
                <a:uFillTx/>
                <a:latin typeface="Arial"/>
                <a:ea typeface="+mn-lt"/>
                <a:cs typeface="Arial"/>
              </a:rPr>
              <a:t>CrewAI</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Provides flexible, role-based orchestration</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Well-suited for real-time grid contingencies where agents act as dispatcher, coordinator, or field technician.</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285750" marR="0" lvl="0" indent="-285750" algn="l" defTabSz="914400" rtl="0" eaLnBrk="1" fontAlgn="auto" latinLnBrk="0" hangingPunct="1">
              <a:lnSpc>
                <a:spcPct val="100000"/>
              </a:lnSpc>
              <a:spcBef>
                <a:spcPts val="0"/>
              </a:spcBef>
              <a:spcAft>
                <a:spcPts val="0"/>
              </a:spcAft>
              <a:buClrTx/>
              <a:buSzTx/>
              <a:buFont typeface="Wingdings"/>
              <a:buChar char="§"/>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Semantic Kernel</a:t>
            </a:r>
            <a:endParaRPr kumimoji="0" lang="en-US" sz="1800" b="1"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Enables skill-based orchestration that blends LLM reasoning with deterministic functions and memory</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Ideal for multi-tool integration and enterprise-scale automation.</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Wingdings"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pic>
        <p:nvPicPr>
          <p:cNvPr id="11" name="Picture 10" descr="A green bird and black text&#10;&#10;AI-generated content may be incorrect.">
            <a:extLst>
              <a:ext uri="{FF2B5EF4-FFF2-40B4-BE49-F238E27FC236}">
                <a16:creationId xmlns:a16="http://schemas.microsoft.com/office/drawing/2014/main" id="{CE94BE3B-FE05-EBCA-E56E-7F5A39D207A1}"/>
              </a:ext>
            </a:extLst>
          </p:cNvPr>
          <p:cNvPicPr>
            <a:picLocks noChangeAspect="1"/>
          </p:cNvPicPr>
          <p:nvPr/>
        </p:nvPicPr>
        <p:blipFill>
          <a:blip r:embed="rId6"/>
          <a:stretch>
            <a:fillRect/>
          </a:stretch>
        </p:blipFill>
        <p:spPr>
          <a:xfrm>
            <a:off x="8431034" y="1419225"/>
            <a:ext cx="2618318" cy="1380774"/>
          </a:xfrm>
          <a:prstGeom prst="rect">
            <a:avLst/>
          </a:prstGeom>
        </p:spPr>
      </p:pic>
      <p:pic>
        <p:nvPicPr>
          <p:cNvPr id="12" name="Picture 11" descr="Introduction to CrewAI">
            <a:extLst>
              <a:ext uri="{FF2B5EF4-FFF2-40B4-BE49-F238E27FC236}">
                <a16:creationId xmlns:a16="http://schemas.microsoft.com/office/drawing/2014/main" id="{E2B96396-F7B7-E89F-0EEB-BBA19158240B}"/>
              </a:ext>
            </a:extLst>
          </p:cNvPr>
          <p:cNvPicPr>
            <a:picLocks noChangeAspect="1"/>
          </p:cNvPicPr>
          <p:nvPr/>
        </p:nvPicPr>
        <p:blipFill>
          <a:blip r:embed="rId7"/>
          <a:stretch>
            <a:fillRect/>
          </a:stretch>
        </p:blipFill>
        <p:spPr>
          <a:xfrm>
            <a:off x="6561313" y="3098447"/>
            <a:ext cx="2837040" cy="985662"/>
          </a:xfrm>
          <a:prstGeom prst="rect">
            <a:avLst/>
          </a:prstGeom>
        </p:spPr>
      </p:pic>
      <p:pic>
        <p:nvPicPr>
          <p:cNvPr id="13" name="Picture 12" descr="Semantic Kernel Roadmap H1 2025: Accelerating Agents, Processes, and  Integration | Semantic Kernel">
            <a:extLst>
              <a:ext uri="{FF2B5EF4-FFF2-40B4-BE49-F238E27FC236}">
                <a16:creationId xmlns:a16="http://schemas.microsoft.com/office/drawing/2014/main" id="{A9EC2685-D237-6C3F-3E20-CBA96BF5EF22}"/>
              </a:ext>
            </a:extLst>
          </p:cNvPr>
          <p:cNvPicPr>
            <a:picLocks noChangeAspect="1"/>
          </p:cNvPicPr>
          <p:nvPr/>
        </p:nvPicPr>
        <p:blipFill>
          <a:blip r:embed="rId8"/>
          <a:stretch>
            <a:fillRect/>
          </a:stretch>
        </p:blipFill>
        <p:spPr>
          <a:xfrm>
            <a:off x="9041518" y="3865739"/>
            <a:ext cx="2533297" cy="2096910"/>
          </a:xfrm>
          <a:prstGeom prst="rect">
            <a:avLst/>
          </a:prstGeom>
        </p:spPr>
      </p:pic>
    </p:spTree>
    <p:extLst>
      <p:ext uri="{BB962C8B-B14F-4D97-AF65-F5344CB8AC3E}">
        <p14:creationId xmlns:p14="http://schemas.microsoft.com/office/powerpoint/2010/main" val="20244066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181A-273E-B408-3942-641DBD2D7E2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AF318CE-0B97-D97D-25D7-929E7E37FCB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9E36618-F65D-951E-5BC2-5798862CEB6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1238E0D8-C209-BE30-C10C-9A6179A4393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082C7828-1E3A-1550-14E0-784324ED6009}"/>
              </a:ext>
            </a:extLst>
          </p:cNvPr>
          <p:cNvSpPr>
            <a:spLocks noGrp="1"/>
          </p:cNvSpPr>
          <p:nvPr>
            <p:ph type="title"/>
          </p:nvPr>
        </p:nvSpPr>
        <p:spPr>
          <a:xfrm>
            <a:off x="518318" y="301185"/>
            <a:ext cx="6844385" cy="664797"/>
          </a:xfrm>
        </p:spPr>
        <p:txBody>
          <a:bodyPr/>
          <a:lstStyle/>
          <a:p>
            <a:r>
              <a:rPr lang="en-US"/>
              <a:t>What is MCP</a:t>
            </a:r>
            <a:br>
              <a:rPr lang="en-US"/>
            </a:br>
            <a:r>
              <a:rPr lang="en-US"/>
              <a:t>(Model Context Protocol)</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EE915F3-00D5-F130-9C82-EC9CF15FA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0F2B7587-A963-2338-9A03-E0BB37C018A8}"/>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8882B161-5ACE-41B3-2A0D-8A472DE42E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7" name="TextBox 6">
            <a:extLst>
              <a:ext uri="{FF2B5EF4-FFF2-40B4-BE49-F238E27FC236}">
                <a16:creationId xmlns:a16="http://schemas.microsoft.com/office/drawing/2014/main" id="{0A9F0EFB-8434-65D6-0EC2-940ACC1A2862}"/>
              </a:ext>
            </a:extLst>
          </p:cNvPr>
          <p:cNvSpPr txBox="1"/>
          <p:nvPr/>
        </p:nvSpPr>
        <p:spPr>
          <a:xfrm>
            <a:off x="518318" y="1545661"/>
            <a:ext cx="6305004" cy="92333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Arial"/>
              </a:rPr>
              <a:t>MCP is like a </a:t>
            </a:r>
            <a:r>
              <a:rPr kumimoji="0" lang="en-US" sz="1800" b="1" i="0" u="none" strike="noStrike" kern="1200" cap="none" spc="0" normalizeH="0" baseline="0" noProof="0">
                <a:ln>
                  <a:noFill/>
                </a:ln>
                <a:solidFill>
                  <a:srgbClr val="000000"/>
                </a:solidFill>
                <a:effectLst/>
                <a:uLnTx/>
                <a:uFillTx/>
                <a:latin typeface="Arial"/>
                <a:ea typeface="+mn-ea"/>
                <a:cs typeface="Arial"/>
              </a:rPr>
              <a:t>universal translator</a:t>
            </a:r>
            <a:r>
              <a:rPr kumimoji="0" lang="en-US" sz="1800" b="0" i="0" u="none" strike="noStrike" kern="1200" cap="none" spc="0" normalizeH="0" baseline="0" noProof="0">
                <a:ln>
                  <a:noFill/>
                </a:ln>
                <a:solidFill>
                  <a:srgbClr val="000000"/>
                </a:solidFill>
                <a:effectLst/>
                <a:uLnTx/>
                <a:uFillTx/>
                <a:latin typeface="Arial"/>
                <a:ea typeface="+mn-ea"/>
                <a:cs typeface="Arial"/>
              </a:rPr>
              <a:t> that helps LLMs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Arial"/>
              </a:rPr>
              <a:t>talk to many external tools and data sources in a standard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Arial"/>
              </a:rPr>
              <a:t>way: making them more useful, flexible, and trustworthy.</a:t>
            </a:r>
          </a:p>
        </p:txBody>
      </p:sp>
      <p:pic>
        <p:nvPicPr>
          <p:cNvPr id="10" name="Picture 9">
            <a:extLst>
              <a:ext uri="{FF2B5EF4-FFF2-40B4-BE49-F238E27FC236}">
                <a16:creationId xmlns:a16="http://schemas.microsoft.com/office/drawing/2014/main" id="{2ACE01C7-6C71-DCAC-2075-15C376E4052C}"/>
              </a:ext>
            </a:extLst>
          </p:cNvPr>
          <p:cNvPicPr>
            <a:picLocks noChangeAspect="1"/>
          </p:cNvPicPr>
          <p:nvPr/>
        </p:nvPicPr>
        <p:blipFill>
          <a:blip r:embed="rId6"/>
          <a:stretch>
            <a:fillRect/>
          </a:stretch>
        </p:blipFill>
        <p:spPr>
          <a:xfrm>
            <a:off x="695767" y="2600138"/>
            <a:ext cx="4811304" cy="3690742"/>
          </a:xfrm>
          <a:prstGeom prst="rect">
            <a:avLst/>
          </a:prstGeom>
        </p:spPr>
      </p:pic>
      <p:pic>
        <p:nvPicPr>
          <p:cNvPr id="11" name="Picture 10">
            <a:extLst>
              <a:ext uri="{FF2B5EF4-FFF2-40B4-BE49-F238E27FC236}">
                <a16:creationId xmlns:a16="http://schemas.microsoft.com/office/drawing/2014/main" id="{AA0381E7-2111-91F2-EC04-3F701494C6E8}"/>
              </a:ext>
            </a:extLst>
          </p:cNvPr>
          <p:cNvPicPr>
            <a:picLocks noChangeAspect="1"/>
          </p:cNvPicPr>
          <p:nvPr/>
        </p:nvPicPr>
        <p:blipFill>
          <a:blip r:embed="rId7"/>
          <a:stretch>
            <a:fillRect/>
          </a:stretch>
        </p:blipFill>
        <p:spPr>
          <a:xfrm>
            <a:off x="5744794" y="2501521"/>
            <a:ext cx="6195627" cy="3972845"/>
          </a:xfrm>
          <a:prstGeom prst="rect">
            <a:avLst/>
          </a:prstGeom>
        </p:spPr>
      </p:pic>
      <p:sp>
        <p:nvSpPr>
          <p:cNvPr id="13" name="TextBox 12">
            <a:extLst>
              <a:ext uri="{FF2B5EF4-FFF2-40B4-BE49-F238E27FC236}">
                <a16:creationId xmlns:a16="http://schemas.microsoft.com/office/drawing/2014/main" id="{CCCA8A32-795A-E684-58E2-267F36DBEB30}"/>
              </a:ext>
            </a:extLst>
          </p:cNvPr>
          <p:cNvSpPr txBox="1"/>
          <p:nvPr/>
        </p:nvSpPr>
        <p:spPr>
          <a:xfrm>
            <a:off x="6051722" y="1438286"/>
            <a:ext cx="6305004" cy="9233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Helvetica" pitchFamily="2" charset="0"/>
                <a:ea typeface="+mn-ea"/>
                <a:cs typeface="+mn-cs"/>
              </a:rPr>
              <a:t>Some General Tutorial about MCP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00FF"/>
                </a:solidFill>
                <a:effectLst/>
                <a:uLnTx/>
                <a:uFillTx/>
                <a:latin typeface="Helvetica" pitchFamily="2" charset="0"/>
                <a:ea typeface="+mn-ea"/>
                <a:cs typeface="+mn-cs"/>
              </a:rPr>
              <a:t>modelcontextprotocol.io</a:t>
            </a:r>
            <a:endParaRPr kumimoji="0" lang="en-US" sz="1800" b="0" i="0" u="none" strike="noStrike" kern="1200" cap="none" spc="0" normalizeH="0" baseline="0" noProof="0" dirty="0">
              <a:ln>
                <a:noFill/>
              </a:ln>
              <a:solidFill>
                <a:srgbClr val="0000FF"/>
              </a:solidFill>
              <a:effectLst/>
              <a:uLnTx/>
              <a:uFillTx/>
              <a:latin typeface="Helvetica"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0000FF"/>
                </a:solidFill>
                <a:effectLst/>
                <a:uLnTx/>
                <a:uFillTx/>
                <a:latin typeface="Helvetica" pitchFamily="2" charset="0"/>
                <a:ea typeface="+mn-ea"/>
                <a:cs typeface="+mn-cs"/>
              </a:rPr>
              <a:t>huggingface.co</a:t>
            </a:r>
            <a:r>
              <a:rPr kumimoji="0" lang="en-US" sz="1800" b="0" i="0" u="none" strike="noStrike" kern="1200" cap="none" spc="0" normalizeH="0" baseline="0" noProof="0" dirty="0">
                <a:ln>
                  <a:noFill/>
                </a:ln>
                <a:solidFill>
                  <a:srgbClr val="0000FF"/>
                </a:solidFill>
                <a:effectLst/>
                <a:uLnTx/>
                <a:uFillTx/>
                <a:latin typeface="Helvetica" pitchFamily="2" charset="0"/>
                <a:ea typeface="+mn-ea"/>
                <a:cs typeface="+mn-cs"/>
              </a:rPr>
              <a:t>/learn/</a:t>
            </a:r>
            <a:r>
              <a:rPr kumimoji="0" lang="en-US" sz="1800" b="0" i="0" u="none" strike="noStrike" kern="1200" cap="none" spc="0" normalizeH="0" baseline="0" noProof="0" dirty="0" err="1">
                <a:ln>
                  <a:noFill/>
                </a:ln>
                <a:solidFill>
                  <a:srgbClr val="0000FF"/>
                </a:solidFill>
                <a:effectLst/>
                <a:uLnTx/>
                <a:uFillTx/>
                <a:latin typeface="Helvetica" pitchFamily="2" charset="0"/>
                <a:ea typeface="+mn-ea"/>
                <a:cs typeface="+mn-cs"/>
              </a:rPr>
              <a:t>mcp</a:t>
            </a:r>
            <a:r>
              <a:rPr kumimoji="0" lang="en-US" sz="1800" b="0" i="0" u="none" strike="noStrike" kern="1200" cap="none" spc="0" normalizeH="0" baseline="0" noProof="0" dirty="0">
                <a:ln>
                  <a:noFill/>
                </a:ln>
                <a:solidFill>
                  <a:srgbClr val="0000FF"/>
                </a:solidFill>
                <a:effectLst/>
                <a:uLnTx/>
                <a:uFillTx/>
                <a:latin typeface="Helvetica" pitchFamily="2" charset="0"/>
                <a:ea typeface="+mn-ea"/>
                <a:cs typeface="+mn-cs"/>
              </a:rPr>
              <a:t>-course</a:t>
            </a:r>
          </a:p>
        </p:txBody>
      </p:sp>
    </p:spTree>
    <p:extLst>
      <p:ext uri="{BB962C8B-B14F-4D97-AF65-F5344CB8AC3E}">
        <p14:creationId xmlns:p14="http://schemas.microsoft.com/office/powerpoint/2010/main" val="225132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1ED8E-F6DA-16D5-0245-FCED9D142BE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06CD326-3069-1238-09D3-B8FCE952215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EFDFBFB3-A32B-7C87-A21A-BE1C0313511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57B6ECD-B23B-3EF4-5ECA-6D2736F343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775BA3C2-54D4-8553-BC9C-50594A33F54F}"/>
              </a:ext>
            </a:extLst>
          </p:cNvPr>
          <p:cNvSpPr>
            <a:spLocks noGrp="1"/>
          </p:cNvSpPr>
          <p:nvPr>
            <p:ph type="title"/>
          </p:nvPr>
        </p:nvSpPr>
        <p:spPr/>
        <p:txBody>
          <a:bodyPr/>
          <a:lstStyle/>
          <a:p>
            <a:r>
              <a:rPr lang="en-US"/>
              <a:t>Grid Assist</a:t>
            </a:r>
            <a:r>
              <a:rPr lang="en-US" b="1"/>
              <a:t> </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079CB048-4346-37F5-C575-ABBE819BA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6036D06-A31A-E72D-FDB7-277299BE907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EEA7FED8-998E-B3FE-C4A9-7D0900B5AA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11" name="TextBox 10">
            <a:extLst>
              <a:ext uri="{FF2B5EF4-FFF2-40B4-BE49-F238E27FC236}">
                <a16:creationId xmlns:a16="http://schemas.microsoft.com/office/drawing/2014/main" id="{9271CCDE-D4AE-070A-52BE-7198627CF7E5}"/>
              </a:ext>
            </a:extLst>
          </p:cNvPr>
          <p:cNvSpPr txBox="1"/>
          <p:nvPr/>
        </p:nvSpPr>
        <p:spPr>
          <a:xfrm>
            <a:off x="518318" y="1286619"/>
            <a:ext cx="10667412" cy="550920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User Request → Grid Assist → Specialized Domain MCPs</a:t>
            </a: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1️⃣ </a:t>
            </a:r>
            <a:r>
              <a:rPr kumimoji="0" lang="en-US" sz="1600" b="1" i="0" u="none" strike="noStrike" kern="1200" cap="none" spc="0" normalizeH="0" baseline="0" noProof="0" dirty="0">
                <a:ln>
                  <a:noFill/>
                </a:ln>
                <a:solidFill>
                  <a:prstClr val="black"/>
                </a:solidFill>
                <a:effectLst/>
                <a:uLnTx/>
                <a:uFillTx/>
                <a:latin typeface="Arial"/>
                <a:ea typeface="+mn-lt"/>
                <a:cs typeface="Arial"/>
              </a:rPr>
              <a:t>TP5 LLM Agent (Reasoning Core)</a:t>
            </a:r>
            <a:endParaRPr kumimoji="0" lang="en-US" sz="1600" b="1"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Interprets</a:t>
            </a:r>
            <a:r>
              <a:rPr kumimoji="0" lang="en-US" sz="1600" b="0" i="0" u="none" strike="noStrike" kern="1200" cap="none" spc="0" normalizeH="0" baseline="0" noProof="0" dirty="0">
                <a:ln>
                  <a:noFill/>
                </a:ln>
                <a:solidFill>
                  <a:prstClr val="black"/>
                </a:solidFill>
                <a:effectLst/>
                <a:uLnTx/>
                <a:uFillTx/>
                <a:latin typeface="Arial"/>
                <a:ea typeface="+mn-lt"/>
                <a:cs typeface="Arial"/>
              </a:rPr>
              <a:t> the user request and </a:t>
            </a:r>
            <a:r>
              <a:rPr kumimoji="0" lang="en-US" sz="1600" b="1" i="0" u="none" strike="noStrike" kern="1200" cap="none" spc="0" normalizeH="0" baseline="0" noProof="0" dirty="0">
                <a:ln>
                  <a:noFill/>
                </a:ln>
                <a:solidFill>
                  <a:prstClr val="black"/>
                </a:solidFill>
                <a:effectLst/>
                <a:uLnTx/>
                <a:uFillTx/>
                <a:latin typeface="Arial"/>
                <a:ea typeface="+mn-lt"/>
                <a:cs typeface="Arial"/>
              </a:rPr>
              <a:t>formulates an execution plan</a:t>
            </a:r>
            <a:r>
              <a:rPr kumimoji="0" lang="en-US" sz="1600" b="0" i="0" u="none" strike="noStrike" kern="1200" cap="none" spc="0" normalizeH="0" baseline="0" noProof="0" dirty="0">
                <a:ln>
                  <a:noFill/>
                </a:ln>
                <a:solidFill>
                  <a:prstClr val="black"/>
                </a:solidFill>
                <a:effectLst/>
                <a:uLnTx/>
                <a:uFillTx/>
                <a:latin typeface="Arial"/>
                <a:ea typeface="+mn-lt"/>
                <a:cs typeface="Arial"/>
              </a:rPr>
              <a: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Routes tasks to the appropriate domain MCPs based on intent and context.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2️⃣ </a:t>
            </a:r>
            <a:r>
              <a:rPr kumimoji="0" lang="en-US" sz="1600" b="1" i="0" u="none" strike="noStrike" kern="1200" cap="none" spc="0" normalizeH="0" baseline="0" noProof="0" dirty="0">
                <a:ln>
                  <a:noFill/>
                </a:ln>
                <a:solidFill>
                  <a:prstClr val="black"/>
                </a:solidFill>
                <a:effectLst/>
                <a:uLnTx/>
                <a:uFillTx/>
                <a:latin typeface="Arial"/>
                <a:ea typeface="+mn-lt"/>
                <a:cs typeface="Arial"/>
              </a:rPr>
              <a:t>Neo4j / File MCP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Explores grid snapshots</a:t>
            </a:r>
            <a:r>
              <a:rPr kumimoji="0" lang="en-US" sz="1600" b="0" i="0" u="none" strike="noStrike" kern="1200" cap="none" spc="0" normalizeH="0" baseline="0" noProof="0" dirty="0">
                <a:ln>
                  <a:noFill/>
                </a:ln>
                <a:solidFill>
                  <a:prstClr val="black"/>
                </a:solidFill>
                <a:effectLst/>
                <a:uLnTx/>
                <a:uFillTx/>
                <a:latin typeface="Arial"/>
                <a:ea typeface="+mn-lt"/>
                <a:cs typeface="Arial"/>
              </a:rPr>
              <a:t>, topology, and </a:t>
            </a:r>
            <a:r>
              <a:rPr kumimoji="0" lang="en-US" sz="1600" b="1" i="0" u="none" strike="noStrike" kern="1200" cap="none" spc="0" normalizeH="0" baseline="0" noProof="0" dirty="0">
                <a:ln>
                  <a:noFill/>
                </a:ln>
                <a:solidFill>
                  <a:prstClr val="black"/>
                </a:solidFill>
                <a:effectLst/>
                <a:uLnTx/>
                <a:uFillTx/>
                <a:latin typeface="Arial"/>
                <a:ea typeface="+mn-lt"/>
                <a:cs typeface="Arial"/>
              </a:rPr>
              <a:t>affected regions</a:t>
            </a:r>
            <a:r>
              <a:rPr kumimoji="0" lang="en-US" sz="1600" b="0" i="0" u="none" strike="noStrike" kern="1200" cap="none" spc="0" normalizeH="0" baseline="0" noProof="0" dirty="0">
                <a:ln>
                  <a:noFill/>
                </a:ln>
                <a:solidFill>
                  <a:prstClr val="black"/>
                </a:solidFill>
                <a:effectLst/>
                <a:uLnTx/>
                <a:uFillTx/>
                <a:latin typeface="Arial"/>
                <a:ea typeface="+mn-lt"/>
                <a:cs typeface="Arial"/>
              </a:rPr>
              <a:t> from stored data.</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Provides structural and historical context to the reasoning loop.</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3️⃣ </a:t>
            </a:r>
            <a:r>
              <a:rPr kumimoji="0" lang="en-US" sz="1600" b="1" i="0" u="none" strike="noStrike" kern="1200" cap="none" spc="0" normalizeH="0" baseline="0" noProof="0" dirty="0">
                <a:ln>
                  <a:noFill/>
                </a:ln>
                <a:solidFill>
                  <a:prstClr val="black"/>
                </a:solidFill>
                <a:effectLst/>
                <a:uLnTx/>
                <a:uFillTx/>
                <a:latin typeface="Arial"/>
                <a:ea typeface="+mn-lt"/>
                <a:cs typeface="Arial"/>
              </a:rPr>
              <a:t>TP3 MCP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Executes power-flow</a:t>
            </a:r>
            <a:r>
              <a:rPr kumimoji="0" lang="en-US" sz="1600" b="0" i="0" u="none" strike="noStrike" kern="1200" cap="none" spc="0" normalizeH="0" baseline="0" noProof="0" dirty="0">
                <a:ln>
                  <a:noFill/>
                </a:ln>
                <a:solidFill>
                  <a:prstClr val="black"/>
                </a:solidFill>
                <a:effectLst/>
                <a:uLnTx/>
                <a:uFillTx/>
                <a:latin typeface="Arial"/>
                <a:ea typeface="+mn-lt"/>
                <a:cs typeface="Arial"/>
              </a:rPr>
              <a:t>, </a:t>
            </a:r>
            <a:r>
              <a:rPr kumimoji="0" lang="en-US" sz="1600" b="1" i="0" u="none" strike="noStrike" kern="1200" cap="none" spc="0" normalizeH="0" baseline="0" noProof="0" dirty="0">
                <a:ln>
                  <a:noFill/>
                </a:ln>
                <a:solidFill>
                  <a:prstClr val="black"/>
                </a:solidFill>
                <a:effectLst/>
                <a:uLnTx/>
                <a:uFillTx/>
                <a:latin typeface="Arial"/>
                <a:ea typeface="+mn-lt"/>
                <a:cs typeface="Arial"/>
              </a:rPr>
              <a:t>contingency</a:t>
            </a:r>
            <a:r>
              <a:rPr kumimoji="0" lang="en-US" sz="1600" b="0" i="0" u="none" strike="noStrike" kern="1200" cap="none" spc="0" normalizeH="0" baseline="0" noProof="0" dirty="0">
                <a:ln>
                  <a:noFill/>
                </a:ln>
                <a:solidFill>
                  <a:prstClr val="black"/>
                </a:solidFill>
                <a:effectLst/>
                <a:uLnTx/>
                <a:uFillTx/>
                <a:latin typeface="Arial"/>
                <a:ea typeface="+mn-lt"/>
                <a:cs typeface="Arial"/>
              </a:rPr>
              <a:t>, </a:t>
            </a:r>
            <a:r>
              <a:rPr kumimoji="0" lang="en-US" sz="1600" b="1" i="0" u="none" strike="noStrike" kern="1200" cap="none" spc="0" normalizeH="0" baseline="0" noProof="0" dirty="0">
                <a:ln>
                  <a:noFill/>
                </a:ln>
                <a:solidFill>
                  <a:prstClr val="black"/>
                </a:solidFill>
                <a:effectLst/>
                <a:uLnTx/>
                <a:uFillTx/>
                <a:latin typeface="Arial"/>
                <a:ea typeface="+mn-lt"/>
                <a:cs typeface="Arial"/>
              </a:rPr>
              <a:t>congestion-relief</a:t>
            </a:r>
            <a:r>
              <a:rPr kumimoji="0" lang="en-US" sz="1600" b="0" i="0" u="none" strike="noStrike" kern="1200" cap="none" spc="0" normalizeH="0" baseline="0" noProof="0" dirty="0">
                <a:ln>
                  <a:noFill/>
                </a:ln>
                <a:solidFill>
                  <a:prstClr val="black"/>
                </a:solidFill>
                <a:effectLst/>
                <a:uLnTx/>
                <a:uFillTx/>
                <a:latin typeface="Arial"/>
                <a:ea typeface="+mn-lt"/>
                <a:cs typeface="Arial"/>
              </a:rPr>
              <a:t>, and </a:t>
            </a:r>
            <a:r>
              <a:rPr kumimoji="0" lang="en-US" sz="1600" b="1" i="0" u="none" strike="noStrike" kern="1200" cap="none" spc="0" normalizeH="0" baseline="0" noProof="0" dirty="0">
                <a:ln>
                  <a:noFill/>
                </a:ln>
                <a:solidFill>
                  <a:prstClr val="black"/>
                </a:solidFill>
                <a:effectLst/>
                <a:uLnTx/>
                <a:uFillTx/>
                <a:latin typeface="Arial"/>
                <a:ea typeface="+mn-lt"/>
                <a:cs typeface="Arial"/>
              </a:rPr>
              <a:t>restoration</a:t>
            </a:r>
            <a:r>
              <a:rPr kumimoji="0" lang="en-US" sz="1600" b="0" i="0" u="none" strike="noStrike" kern="1200" cap="none" spc="0" normalizeH="0" baseline="0" noProof="0" dirty="0">
                <a:ln>
                  <a:noFill/>
                </a:ln>
                <a:solidFill>
                  <a:prstClr val="black"/>
                </a:solidFill>
                <a:effectLst/>
                <a:uLnTx/>
                <a:uFillTx/>
                <a:latin typeface="Arial"/>
                <a:ea typeface="+mn-lt"/>
                <a:cs typeface="Arial"/>
              </a:rPr>
              <a:t> analyses.</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Returns validated numerical results and stability indicators.</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4️⃣ </a:t>
            </a:r>
            <a:r>
              <a:rPr kumimoji="0" lang="en-US" sz="1600" b="1" i="0" u="none" strike="noStrike" kern="1200" cap="none" spc="0" normalizeH="0" baseline="0" noProof="0" dirty="0">
                <a:ln>
                  <a:noFill/>
                </a:ln>
                <a:solidFill>
                  <a:prstClr val="black"/>
                </a:solidFill>
                <a:effectLst/>
                <a:uLnTx/>
                <a:uFillTx/>
                <a:latin typeface="Arial"/>
                <a:ea typeface="+mn-lt"/>
                <a:cs typeface="Arial"/>
              </a:rPr>
              <a:t>OPAL-RT MCP </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Performs real-time simulation or dry-run</a:t>
            </a:r>
            <a:r>
              <a:rPr kumimoji="0" lang="en-US" sz="1600" b="0" i="0" u="none" strike="noStrike" kern="1200" cap="none" spc="0" normalizeH="0" baseline="0" noProof="0" dirty="0">
                <a:ln>
                  <a:noFill/>
                </a:ln>
                <a:solidFill>
                  <a:prstClr val="black"/>
                </a:solidFill>
                <a:effectLst/>
                <a:uLnTx/>
                <a:uFillTx/>
                <a:latin typeface="Arial"/>
                <a:ea typeface="+mn-lt"/>
                <a:cs typeface="Arial"/>
              </a:rPr>
              <a:t> tests of the proposed restoration plan.</a:t>
            </a:r>
            <a:endParaRPr kumimoji="0" lang="en-US" sz="18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Enables safety-checked deployment in cyber-physical environments.</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5️⃣ </a:t>
            </a:r>
            <a:r>
              <a:rPr kumimoji="0" lang="en-US" sz="1600" b="1" i="0" u="none" strike="noStrike" kern="1200" cap="none" spc="0" normalizeH="0" baseline="0" noProof="0" dirty="0">
                <a:ln>
                  <a:noFill/>
                </a:ln>
                <a:solidFill>
                  <a:prstClr val="black"/>
                </a:solidFill>
                <a:effectLst/>
                <a:uLnTx/>
                <a:uFillTx/>
                <a:latin typeface="Arial"/>
                <a:ea typeface="+mn-lt"/>
                <a:cs typeface="Arial"/>
              </a:rPr>
              <a:t>Summary &amp; Approval Step</a:t>
            </a:r>
            <a:endParaRPr kumimoji="0" lang="en-US" sz="1600" b="0" i="0" u="none" strike="noStrike" kern="1200" cap="none" spc="0" normalizeH="0" baseline="0" noProof="0" dirty="0">
              <a:ln>
                <a:noFill/>
              </a:ln>
              <a:solidFill>
                <a:prstClr val="black"/>
              </a:solidFill>
              <a:effectLst/>
              <a:uLnTx/>
              <a:uFillTx/>
              <a:latin typeface="Arial"/>
              <a:ea typeface="+mn-lt"/>
              <a:cs typeface="Arial"/>
            </a:endParaRP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1" i="0" u="none" strike="noStrike" kern="1200" cap="none" spc="0" normalizeH="0" baseline="0" noProof="0" dirty="0">
                <a:ln>
                  <a:noFill/>
                </a:ln>
                <a:solidFill>
                  <a:prstClr val="black"/>
                </a:solidFill>
                <a:effectLst/>
                <a:uLnTx/>
                <a:uFillTx/>
                <a:latin typeface="Arial"/>
                <a:ea typeface="+mn-lt"/>
                <a:cs typeface="Arial"/>
              </a:rPr>
              <a:t>Aggregates results, evidence</a:t>
            </a:r>
            <a:r>
              <a:rPr kumimoji="0" lang="en-US" sz="1600" b="0" i="0" u="none" strike="noStrike" kern="1200" cap="none" spc="0" normalizeH="0" baseline="0" noProof="0" dirty="0">
                <a:ln>
                  <a:noFill/>
                </a:ln>
                <a:solidFill>
                  <a:prstClr val="black"/>
                </a:solidFill>
                <a:effectLst/>
                <a:uLnTx/>
                <a:uFillTx/>
                <a:latin typeface="Arial"/>
                <a:ea typeface="+mn-lt"/>
                <a:cs typeface="Arial"/>
              </a:rPr>
              <a:t>, and </a:t>
            </a:r>
            <a:r>
              <a:rPr kumimoji="0" lang="en-US" sz="1600" b="1" i="0" u="none" strike="noStrike" kern="1200" cap="none" spc="0" normalizeH="0" baseline="0" noProof="0" dirty="0">
                <a:ln>
                  <a:noFill/>
                </a:ln>
                <a:solidFill>
                  <a:prstClr val="black"/>
                </a:solidFill>
                <a:effectLst/>
                <a:uLnTx/>
                <a:uFillTx/>
                <a:latin typeface="Arial"/>
                <a:ea typeface="+mn-lt"/>
                <a:cs typeface="Arial"/>
              </a:rPr>
              <a:t>snapshot references (IDs, file paths)</a:t>
            </a:r>
            <a:r>
              <a:rPr kumimoji="0" lang="en-US" sz="1600" b="0" i="0" u="none" strike="noStrike" kern="1200" cap="none" spc="0" normalizeH="0" baseline="0" noProof="0" dirty="0">
                <a:ln>
                  <a:noFill/>
                </a:ln>
                <a:solidFill>
                  <a:prstClr val="black"/>
                </a:solidFill>
                <a:effectLst/>
                <a:uLnTx/>
                <a:uFillTx/>
                <a:latin typeface="Arial"/>
                <a:ea typeface="+mn-lt"/>
                <a:cs typeface="Arial"/>
              </a:rPr>
              <a:t>.</a:t>
            </a:r>
          </a:p>
          <a:p>
            <a:pPr marL="742950" marR="0" lvl="1" indent="-285750" algn="l" defTabSz="914400" rtl="0" eaLnBrk="1" fontAlgn="auto" latinLnBrk="0" hangingPunct="1">
              <a:lnSpc>
                <a:spcPct val="100000"/>
              </a:lnSpc>
              <a:spcBef>
                <a:spcPts val="0"/>
              </a:spcBef>
              <a:spcAft>
                <a:spcPts val="0"/>
              </a:spcAft>
              <a:buClrTx/>
              <a:buSzTx/>
              <a:buFont typeface="Courier New"/>
              <a:buChar char="o"/>
              <a:tabLst/>
              <a:defRPr/>
            </a:pPr>
            <a:r>
              <a:rPr kumimoji="0" lang="en-US" sz="1600" b="0" i="0" u="none" strike="noStrike" kern="1200" cap="none" spc="0" normalizeH="0" baseline="0" noProof="0" dirty="0">
                <a:ln>
                  <a:noFill/>
                </a:ln>
                <a:solidFill>
                  <a:prstClr val="black"/>
                </a:solidFill>
                <a:effectLst/>
                <a:uLnTx/>
                <a:uFillTx/>
                <a:latin typeface="Arial"/>
                <a:ea typeface="+mn-lt"/>
                <a:cs typeface="Arial"/>
              </a:rPr>
              <a:t>Prepares a structured summary for </a:t>
            </a:r>
            <a:r>
              <a:rPr kumimoji="0" lang="en-US" sz="1600" b="1" i="0" u="none" strike="noStrike" kern="1200" cap="none" spc="0" normalizeH="0" baseline="0" noProof="0" dirty="0">
                <a:ln>
                  <a:noFill/>
                </a:ln>
                <a:solidFill>
                  <a:prstClr val="black"/>
                </a:solidFill>
                <a:effectLst/>
                <a:uLnTx/>
                <a:uFillTx/>
                <a:latin typeface="Arial"/>
                <a:ea typeface="+mn-lt"/>
                <a:cs typeface="Arial"/>
              </a:rPr>
              <a:t>human approval or revision</a:t>
            </a:r>
            <a:r>
              <a:rPr kumimoji="0" lang="en-US" sz="1600" b="0" i="0" u="none" strike="noStrike" kern="1200" cap="none" spc="0" normalizeH="0" baseline="0" noProof="0" dirty="0">
                <a:ln>
                  <a:noFill/>
                </a:ln>
                <a:solidFill>
                  <a:prstClr val="black"/>
                </a:solidFill>
                <a:effectLst/>
                <a:uLnTx/>
                <a:uFillTx/>
                <a:latin typeface="Arial"/>
                <a:ea typeface="+mn-lt"/>
                <a:cs typeface="Arial"/>
              </a:rPr>
              <a:t> before final action.</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793592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3BA6E-B029-A240-AC0F-4C9BFF786ED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698A20AD-3744-38DB-55C2-E5621DC45028}"/>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BA712A95-6AF9-6ED9-1DAE-0150B123490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127D510-DD20-24FD-CD82-560CEFDD0D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CAA53CFF-37CA-C2F2-D1BF-909BE0175F43}"/>
              </a:ext>
            </a:extLst>
          </p:cNvPr>
          <p:cNvSpPr>
            <a:spLocks noGrp="1"/>
          </p:cNvSpPr>
          <p:nvPr>
            <p:ph type="title"/>
          </p:nvPr>
        </p:nvSpPr>
        <p:spPr/>
        <p:txBody>
          <a:bodyPr/>
          <a:lstStyle/>
          <a:p>
            <a:r>
              <a:rPr lang="en-US"/>
              <a:t>Grid Assist</a:t>
            </a:r>
            <a:r>
              <a:rPr lang="en-US" b="1"/>
              <a:t> </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9E1FCC19-300D-F319-E642-307CF3A1D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10F56DE-6F93-BE96-C987-E2E64C1DF94B}"/>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26BBDA60-8818-7399-0E32-90AF3D676A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DFA3EE15-8B06-CE19-4ADB-A7F1334B4E0F}"/>
              </a:ext>
            </a:extLst>
          </p:cNvPr>
          <p:cNvSpPr txBox="1"/>
          <p:nvPr/>
        </p:nvSpPr>
        <p:spPr>
          <a:xfrm>
            <a:off x="498863" y="1553952"/>
            <a:ext cx="11490163" cy="294946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a:ea typeface="+mn-ea"/>
                <a:cs typeface="+mn-cs"/>
              </a:rPr>
              <a:t>TP3 (Automated congestion management &amp; restoration AI)</a:t>
            </a:r>
            <a:r>
              <a:rPr kumimoji="0" lang="en-US" sz="1800" b="0" i="0" u="none" strike="noStrike" kern="1200" cap="none" spc="0" normalizeH="0" baseline="0" noProof="0">
                <a:ln>
                  <a:noFill/>
                </a:ln>
                <a:solidFill>
                  <a:prstClr val="black"/>
                </a:solidFill>
                <a:effectLst/>
                <a:uLnTx/>
                <a:uFillTx/>
                <a:latin typeface="Arial"/>
                <a:ea typeface="+mn-ea"/>
                <a:cs typeface="+mn-cs"/>
              </a:rPr>
              <a:t> </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Expose TP3 modules (physics-informed NN for congestion, RL restoration sequences) as </a:t>
            </a:r>
            <a:r>
              <a:rPr kumimoji="0" lang="en-US" sz="1800" b="1" i="0" u="none" strike="noStrike" kern="1200" cap="none" spc="0" normalizeH="0" baseline="0" noProof="0">
                <a:ln>
                  <a:noFill/>
                </a:ln>
                <a:solidFill>
                  <a:prstClr val="black"/>
                </a:solidFill>
                <a:effectLst/>
                <a:uLnTx/>
                <a:uFillTx/>
                <a:latin typeface="Arial"/>
                <a:ea typeface="+mn-ea"/>
                <a:cs typeface="+mn-cs"/>
              </a:rPr>
              <a:t>MCP server “tools”</a:t>
            </a:r>
            <a:r>
              <a:rPr kumimoji="0" lang="en-US" sz="1800" b="0" i="0" u="none" strike="noStrike" kern="1200" cap="none" spc="0" normalizeH="0" baseline="0" noProof="0">
                <a:ln>
                  <a:noFill/>
                </a:ln>
                <a:solidFill>
                  <a:prstClr val="black"/>
                </a:solidFill>
                <a:effectLst/>
                <a:uLnTx/>
                <a:uFillTx/>
                <a:latin typeface="Arial"/>
                <a:ea typeface="+mn-ea"/>
                <a:cs typeface="+mn-cs"/>
              </a:rPr>
              <a:t>, so the LLM/agent can safely call: </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Functions like tp3.loadflow / tp3.congestion_suggest / tp3.restore_plan / tp3.contingency_run</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Numerical results come from solvers (power flow/OPF/contingency) → </a:t>
            </a:r>
            <a:r>
              <a:rPr kumimoji="0" lang="en-US" sz="1800" b="1" i="0" u="none" strike="noStrike" kern="1200" cap="none" spc="0" normalizeH="0" baseline="0" noProof="0">
                <a:ln>
                  <a:noFill/>
                </a:ln>
                <a:solidFill>
                  <a:prstClr val="black"/>
                </a:solidFill>
                <a:effectLst/>
                <a:uLnTx/>
                <a:uFillTx/>
                <a:latin typeface="Arial"/>
                <a:ea typeface="+mn-ea"/>
                <a:cs typeface="+mn-cs"/>
              </a:rPr>
              <a:t>prevents hallucinations</a:t>
            </a:r>
            <a:endParaRPr kumimoji="0" lang="en-US" sz="1800" b="0" i="0" u="none" strike="noStrike" kern="1200" cap="none" spc="0" normalizeH="0" baseline="0" noProof="0">
              <a:ln>
                <a:noFill/>
              </a:ln>
              <a:solidFill>
                <a:prstClr val="black"/>
              </a:solidFill>
              <a:effectLst/>
              <a:uLnTx/>
              <a:uFillTx/>
              <a:latin typeface="Arial"/>
              <a:ea typeface="+mn-ea"/>
              <a:cs typeface="+mn-cs"/>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With a corresponding MCP server on the OPAL-RT side (e.g., HYPERSIM/</a:t>
            </a:r>
            <a:r>
              <a:rPr kumimoji="0" lang="en-US" sz="1800" b="0" i="0" u="none" strike="noStrike" kern="1200" cap="none" spc="0" normalizeH="0" baseline="0" noProof="0" err="1">
                <a:ln>
                  <a:noFill/>
                </a:ln>
                <a:solidFill>
                  <a:prstClr val="black"/>
                </a:solidFill>
                <a:effectLst/>
                <a:uLnTx/>
                <a:uFillTx/>
                <a:latin typeface="Arial"/>
                <a:ea typeface="+mn-ea"/>
                <a:cs typeface="+mn-cs"/>
              </a:rPr>
              <a:t>ePHASORSIM</a:t>
            </a:r>
            <a:r>
              <a:rPr kumimoji="0" lang="en-US" sz="1800" b="0" i="0" u="none" strike="noStrike" kern="1200" cap="none" spc="0" normalizeH="0" baseline="0" noProof="0">
                <a:ln>
                  <a:noFill/>
                </a:ln>
                <a:solidFill>
                  <a:prstClr val="black"/>
                </a:solidFill>
                <a:effectLst/>
                <a:uLnTx/>
                <a:uFillTx/>
                <a:latin typeface="Arial"/>
                <a:ea typeface="+mn-ea"/>
                <a:cs typeface="+mn-cs"/>
              </a:rPr>
              <a:t> API wrapper) and </a:t>
            </a:r>
            <a:r>
              <a:rPr kumimoji="0" lang="en-US" sz="1800" b="1" i="0" u="none" strike="noStrike" kern="1200" cap="none" spc="0" normalizeH="0" baseline="0" noProof="0">
                <a:ln>
                  <a:noFill/>
                </a:ln>
                <a:solidFill>
                  <a:prstClr val="black"/>
                </a:solidFill>
                <a:effectLst/>
                <a:uLnTx/>
                <a:uFillTx/>
                <a:latin typeface="Arial"/>
                <a:ea typeface="+mn-ea"/>
                <a:cs typeface="+mn-cs"/>
              </a:rPr>
              <a:t>bidirectional integration</a:t>
            </a:r>
            <a:r>
              <a:rPr kumimoji="0" lang="en-US" sz="1800" b="0" i="0" u="none" strike="noStrike" kern="1200" cap="none" spc="0" normalizeH="0" baseline="0" noProof="0">
                <a:ln>
                  <a:noFill/>
                </a:ln>
                <a:solidFill>
                  <a:prstClr val="black"/>
                </a:solidFill>
                <a:effectLst/>
                <a:uLnTx/>
                <a:uFillTx/>
                <a:latin typeface="Arial"/>
                <a:ea typeface="+mn-ea"/>
                <a:cs typeface="+mn-cs"/>
              </a:rPr>
              <a:t>, TP3 policies can be validated </a:t>
            </a:r>
            <a:r>
              <a:rPr kumimoji="0" lang="en-US" sz="1800" b="1" i="0" u="none" strike="noStrike" kern="1200" cap="none" spc="0" normalizeH="0" baseline="0" noProof="0">
                <a:ln>
                  <a:noFill/>
                </a:ln>
                <a:solidFill>
                  <a:prstClr val="black"/>
                </a:solidFill>
                <a:effectLst/>
                <a:uLnTx/>
                <a:uFillTx/>
                <a:latin typeface="Arial"/>
                <a:ea typeface="+mn-ea"/>
                <a:cs typeface="+mn-cs"/>
              </a:rPr>
              <a:t>in closed loop on a real-time model</a:t>
            </a:r>
            <a:r>
              <a:rPr kumimoji="0" lang="en-US" sz="1800" b="0" i="0" u="none" strike="noStrike" kern="1200" cap="none" spc="0" normalizeH="0" baseline="0" noProof="0">
                <a:ln>
                  <a:noFill/>
                </a:ln>
                <a:solidFill>
                  <a:prstClr val="black"/>
                </a:solidFill>
                <a:effectLst/>
                <a:uLnTx/>
                <a:uFillTx/>
                <a:latin typeface="Arial"/>
                <a:ea typeface="+mn-ea"/>
                <a:cs typeface="+mn-cs"/>
              </a:rPr>
              <a:t>.</a:t>
            </a:r>
          </a:p>
        </p:txBody>
      </p:sp>
      <p:sp>
        <p:nvSpPr>
          <p:cNvPr id="10" name="TextBox 9">
            <a:extLst>
              <a:ext uri="{FF2B5EF4-FFF2-40B4-BE49-F238E27FC236}">
                <a16:creationId xmlns:a16="http://schemas.microsoft.com/office/drawing/2014/main" id="{A6DC7C2E-F3EC-72E6-837E-DDE7FD3B0058}"/>
              </a:ext>
            </a:extLst>
          </p:cNvPr>
          <p:cNvSpPr txBox="1"/>
          <p:nvPr/>
        </p:nvSpPr>
        <p:spPr>
          <a:xfrm>
            <a:off x="1044198" y="4638952"/>
            <a:ext cx="11062457"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 a </a:t>
            </a:r>
            <a:r>
              <a:rPr kumimoji="0" lang="en-US" sz="1200" b="1" i="0" u="none" strike="noStrike" kern="1200" cap="none" spc="0" normalizeH="0" baseline="0" noProof="0">
                <a:ln>
                  <a:noFill/>
                </a:ln>
                <a:solidFill>
                  <a:srgbClr val="000000"/>
                </a:solidFill>
                <a:effectLst/>
                <a:uLnTx/>
                <a:uFillTx/>
                <a:latin typeface="Arial"/>
                <a:ea typeface="+mn-ea"/>
                <a:cs typeface="+mn-cs"/>
              </a:rPr>
              <a:t>control path</a:t>
            </a:r>
            <a:r>
              <a:rPr kumimoji="0" lang="en-US" sz="1200" b="0" i="0" u="none" strike="noStrike" kern="1200" cap="none" spc="0" normalizeH="0" baseline="0" noProof="0">
                <a:ln>
                  <a:noFill/>
                </a:ln>
                <a:solidFill>
                  <a:srgbClr val="000000"/>
                </a:solidFill>
                <a:effectLst/>
                <a:uLnTx/>
                <a:uFillTx/>
                <a:latin typeface="Arial"/>
                <a:ea typeface="+mn-ea"/>
                <a:cs typeface="+mn-cs"/>
              </a:rPr>
              <a:t>, where </a:t>
            </a:r>
            <a:r>
              <a:rPr kumimoji="0" lang="en-US" sz="1200" b="1" i="0" u="none" strike="noStrike" kern="1200" cap="none" spc="0" normalizeH="0" baseline="0" noProof="0">
                <a:ln>
                  <a:noFill/>
                </a:ln>
                <a:solidFill>
                  <a:srgbClr val="000000"/>
                </a:solidFill>
                <a:effectLst/>
                <a:uLnTx/>
                <a:uFillTx/>
                <a:latin typeface="Arial"/>
                <a:ea typeface="+mn-ea"/>
                <a:cs typeface="+mn-cs"/>
              </a:rPr>
              <a:t>TP3 applies its computed policy or actions to the OPAL-RT system</a:t>
            </a:r>
            <a:r>
              <a:rPr kumimoji="0" lang="en-US" sz="1200" b="0" i="0" u="none" strike="noStrike" kern="1200" cap="none" spc="0" normalizeH="0" baseline="0" noProof="0">
                <a:ln>
                  <a:noFill/>
                </a:ln>
                <a:solidFill>
                  <a:srgbClr val="000000"/>
                </a:solidFill>
                <a:effectLst/>
                <a:uLnTx/>
                <a:uFillTx/>
                <a:latin typeface="Arial"/>
                <a:ea typeface="+mn-ea"/>
                <a:cs typeface="+mn-cs"/>
              </a:rPr>
              <a:t>, and</a:t>
            </a:r>
            <a:br>
              <a:rPr kumimoji="0" lang="en-US" sz="1200" b="0" i="0" u="none" strike="noStrike" kern="1200" cap="none" spc="0" normalizeH="0" baseline="0" noProof="0">
                <a:ln>
                  <a:noFill/>
                </a:ln>
                <a:solidFill>
                  <a:srgbClr val="000000"/>
                </a:solidFill>
                <a:effectLst/>
                <a:uLnTx/>
                <a:uFillTx/>
                <a:latin typeface="Arial"/>
                <a:ea typeface="+mn-ea"/>
                <a:cs typeface="+mn-cs"/>
              </a:rPr>
            </a:br>
            <a:r>
              <a:rPr kumimoji="0" lang="en-US" sz="1200" b="0" i="0" u="none" strike="noStrike" kern="1200" cap="none" spc="0" normalizeH="0" baseline="0" noProof="0">
                <a:ln>
                  <a:noFill/>
                </a:ln>
                <a:solidFill>
                  <a:srgbClr val="000000"/>
                </a:solidFill>
                <a:effectLst/>
                <a:uLnTx/>
                <a:uFillTx/>
                <a:latin typeface="Arial"/>
                <a:ea typeface="+mn-ea"/>
                <a:cs typeface="+mn-cs"/>
              </a:rPr>
              <a:t>(2) an </a:t>
            </a:r>
            <a:r>
              <a:rPr kumimoji="0" lang="en-US" sz="1200" b="1" i="0" u="none" strike="noStrike" kern="1200" cap="none" spc="0" normalizeH="0" baseline="0" noProof="0">
                <a:ln>
                  <a:noFill/>
                </a:ln>
                <a:solidFill>
                  <a:srgbClr val="000000"/>
                </a:solidFill>
                <a:effectLst/>
                <a:uLnTx/>
                <a:uFillTx/>
                <a:latin typeface="Arial"/>
                <a:ea typeface="+mn-ea"/>
                <a:cs typeface="+mn-cs"/>
              </a:rPr>
              <a:t>observation path</a:t>
            </a:r>
            <a:r>
              <a:rPr kumimoji="0" lang="en-US" sz="1200" b="0" i="0" u="none" strike="noStrike" kern="1200" cap="none" spc="0" normalizeH="0" baseline="0" noProof="0">
                <a:ln>
                  <a:noFill/>
                </a:ln>
                <a:solidFill>
                  <a:srgbClr val="000000"/>
                </a:solidFill>
                <a:effectLst/>
                <a:uLnTx/>
                <a:uFillTx/>
                <a:latin typeface="Arial"/>
                <a:ea typeface="+mn-ea"/>
                <a:cs typeface="+mn-cs"/>
              </a:rPr>
              <a:t>, where </a:t>
            </a:r>
            <a:r>
              <a:rPr kumimoji="0" lang="en-US" sz="1200" b="1" i="0" u="none" strike="noStrike" kern="1200" cap="none" spc="0" normalizeH="0" baseline="0" noProof="0">
                <a:ln>
                  <a:noFill/>
                </a:ln>
                <a:solidFill>
                  <a:srgbClr val="000000"/>
                </a:solidFill>
                <a:effectLst/>
                <a:uLnTx/>
                <a:uFillTx/>
                <a:latin typeface="Arial"/>
                <a:ea typeface="+mn-ea"/>
                <a:cs typeface="+mn-cs"/>
              </a:rPr>
              <a:t>OPAL-RT streams real-time states and results back to TP3</a:t>
            </a:r>
            <a:r>
              <a:rPr kumimoji="0" lang="en-US" sz="1200" b="0" i="0" u="none" strike="noStrike" kern="1200" cap="none" spc="0" normalizeH="0" baseline="0" noProof="0">
                <a:ln>
                  <a:noFill/>
                </a:ln>
                <a:solidFill>
                  <a:srgbClr val="000000"/>
                </a:solidFill>
                <a:effectLst/>
                <a:uLnTx/>
                <a:uFillTx/>
                <a:latin typeface="Arial"/>
                <a:ea typeface="+mn-ea"/>
                <a:cs typeface="+mn-cs"/>
              </a:rPr>
              <a:t>,</a:t>
            </a:r>
            <a:br>
              <a:rPr kumimoji="0" lang="en-US" sz="1200" b="0" i="0" u="none" strike="noStrike" kern="1200" cap="none" spc="0" normalizeH="0" baseline="0" noProof="0">
                <a:ln>
                  <a:noFill/>
                </a:ln>
                <a:solidFill>
                  <a:srgbClr val="000000"/>
                </a:solidFill>
                <a:effectLst/>
                <a:uLnTx/>
                <a:uFillTx/>
                <a:latin typeface="Arial"/>
                <a:ea typeface="+mn-ea"/>
                <a:cs typeface="+mn-cs"/>
              </a:rPr>
            </a:br>
            <a:r>
              <a:rPr kumimoji="0" lang="en-US" sz="1200" b="0" i="0" u="none" strike="noStrike" kern="1200" cap="none" spc="0" normalizeH="0" baseline="0" noProof="0">
                <a:ln>
                  <a:noFill/>
                </a:ln>
                <a:solidFill>
                  <a:srgbClr val="000000"/>
                </a:solidFill>
                <a:effectLst/>
                <a:uLnTx/>
                <a:uFillTx/>
                <a:latin typeface="Arial"/>
                <a:ea typeface="+mn-ea"/>
                <a:cs typeface="+mn-cs"/>
              </a:rPr>
              <a:t>are both active at the same time — enabling a </a:t>
            </a:r>
            <a:r>
              <a:rPr kumimoji="0" lang="en-US" sz="1200" b="1" i="0" u="none" strike="noStrike" kern="1200" cap="none" spc="0" normalizeH="0" baseline="0" noProof="0">
                <a:ln>
                  <a:noFill/>
                </a:ln>
                <a:solidFill>
                  <a:srgbClr val="000000"/>
                </a:solidFill>
                <a:effectLst/>
                <a:uLnTx/>
                <a:uFillTx/>
                <a:latin typeface="Arial"/>
                <a:ea typeface="+mn-ea"/>
                <a:cs typeface="+mn-cs"/>
              </a:rPr>
              <a:t>closed feedback loop</a:t>
            </a:r>
            <a:r>
              <a:rPr kumimoji="0" lang="en-US" sz="1200" b="0" i="0" u="none" strike="noStrike" kern="1200" cap="none" spc="0" normalizeH="0" baseline="0" noProof="0">
                <a:ln>
                  <a:noFill/>
                </a:ln>
                <a:solidFill>
                  <a:srgbClr val="000000"/>
                </a:solidFill>
                <a:effectLst/>
                <a:uLnTx/>
                <a:uFillTx/>
                <a:latin typeface="Arial"/>
                <a:ea typeface="+mn-ea"/>
                <a:cs typeface="+mn-cs"/>
              </a:rPr>
              <a:t> of </a:t>
            </a:r>
            <a:r>
              <a:rPr kumimoji="0" lang="en-US" sz="1200" b="0" i="1" u="none" strike="noStrike" kern="1200" cap="none" spc="0" normalizeH="0" baseline="0" noProof="0">
                <a:ln>
                  <a:noFill/>
                </a:ln>
                <a:solidFill>
                  <a:srgbClr val="000000"/>
                </a:solidFill>
                <a:effectLst/>
                <a:uLnTx/>
                <a:uFillTx/>
                <a:latin typeface="Arial"/>
                <a:ea typeface="+mn-ea"/>
                <a:cs typeface="+mn-cs"/>
              </a:rPr>
              <a:t>policy proposal → application → observation → validation and refinement</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Whether tp3.loadflow operates on CGMES XML files or on Neo4j-based subcases, it generates actions and predictions through offline computation.</a:t>
            </a:r>
            <a:br>
              <a:rPr kumimoji="0" lang="en-US" sz="1200" b="0" i="0" u="none" strike="noStrike" kern="1200" cap="none" spc="0" normalizeH="0" baseline="0" noProof="0">
                <a:ln>
                  <a:noFill/>
                </a:ln>
                <a:solidFill>
                  <a:srgbClr val="000000"/>
                </a:solidFill>
                <a:effectLst/>
                <a:uLnTx/>
                <a:uFillTx/>
                <a:latin typeface="Arial"/>
                <a:ea typeface="+mn-ea"/>
                <a:cs typeface="+mn-cs"/>
              </a:rPr>
            </a:br>
            <a:r>
              <a:rPr kumimoji="0" lang="en-US" sz="1200" b="0" i="0" u="none" strike="noStrike" kern="1200" cap="none" spc="0" normalizeH="0" baseline="0" noProof="0">
                <a:ln>
                  <a:noFill/>
                </a:ln>
                <a:solidFill>
                  <a:srgbClr val="000000"/>
                </a:solidFill>
                <a:effectLst/>
                <a:uLnTx/>
                <a:uFillTx/>
                <a:latin typeface="Arial"/>
                <a:ea typeface="+mn-ea"/>
                <a:cs typeface="+mn-cs"/>
              </a:rPr>
              <a:t>The </a:t>
            </a:r>
            <a:r>
              <a:rPr kumimoji="0" lang="en-US" sz="1200" b="1" i="0" u="none" strike="noStrike" kern="1200" cap="none" spc="0" normalizeH="0" baseline="0" noProof="0">
                <a:ln>
                  <a:noFill/>
                </a:ln>
                <a:solidFill>
                  <a:srgbClr val="000000"/>
                </a:solidFill>
                <a:effectLst/>
                <a:uLnTx/>
                <a:uFillTx/>
                <a:latin typeface="Arial"/>
                <a:ea typeface="+mn-ea"/>
                <a:cs typeface="+mn-cs"/>
              </a:rPr>
              <a:t>OPAL-RT MCP server</a:t>
            </a:r>
            <a:r>
              <a:rPr kumimoji="0" lang="en-US" sz="1200" b="0" i="0" u="none" strike="noStrike" kern="1200" cap="none" spc="0" normalizeH="0" baseline="0" noProof="0">
                <a:ln>
                  <a:noFill/>
                </a:ln>
                <a:solidFill>
                  <a:srgbClr val="000000"/>
                </a:solidFill>
                <a:effectLst/>
                <a:uLnTx/>
                <a:uFillTx/>
                <a:latin typeface="Arial"/>
                <a:ea typeface="+mn-ea"/>
                <a:cs typeface="+mn-cs"/>
              </a:rPr>
              <a:t> then applies and executes those actions on the </a:t>
            </a:r>
            <a:r>
              <a:rPr kumimoji="0" lang="en-US" sz="1200" b="1" i="0" u="none" strike="noStrike" kern="1200" cap="none" spc="0" normalizeH="0" baseline="0" noProof="0">
                <a:ln>
                  <a:noFill/>
                </a:ln>
                <a:solidFill>
                  <a:srgbClr val="000000"/>
                </a:solidFill>
                <a:effectLst/>
                <a:uLnTx/>
                <a:uFillTx/>
                <a:latin typeface="Arial"/>
                <a:ea typeface="+mn-ea"/>
                <a:cs typeface="+mn-cs"/>
              </a:rPr>
              <a:t>real-time model</a:t>
            </a:r>
            <a:r>
              <a:rPr kumimoji="0" lang="en-US" sz="1200" b="0" i="0" u="none" strike="noStrike" kern="1200" cap="none" spc="0" normalizeH="0" baseline="0" noProof="0">
                <a:ln>
                  <a:noFill/>
                </a:ln>
                <a:solidFill>
                  <a:srgbClr val="000000"/>
                </a:solidFill>
                <a:effectLst/>
                <a:uLnTx/>
                <a:uFillTx/>
                <a:latin typeface="Arial"/>
                <a:ea typeface="+mn-ea"/>
                <a:cs typeface="+mn-cs"/>
              </a:rPr>
              <a:t>, streams back the live results, and TP3 uses this feedback to </a:t>
            </a:r>
            <a:r>
              <a:rPr kumimoji="0" lang="en-US" sz="1200" b="1" i="0" u="none" strike="noStrike" kern="1200" cap="none" spc="0" normalizeH="0" baseline="0" noProof="0">
                <a:ln>
                  <a:noFill/>
                </a:ln>
                <a:solidFill>
                  <a:srgbClr val="000000"/>
                </a:solidFill>
                <a:effectLst/>
                <a:uLnTx/>
                <a:uFillTx/>
                <a:latin typeface="Arial"/>
                <a:ea typeface="+mn-ea"/>
                <a:cs typeface="+mn-cs"/>
              </a:rPr>
              <a:t>confirm or adjust its policy</a:t>
            </a:r>
            <a:r>
              <a:rPr kumimoji="0" lang="en-US" sz="1200" b="0" i="0" u="none" strike="noStrike" kern="1200" cap="none" spc="0" normalizeH="0" baseline="0" noProof="0">
                <a:ln>
                  <a:noFill/>
                </a:ln>
                <a:solidFill>
                  <a:srgbClr val="00000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The key point is to share </a:t>
            </a:r>
            <a:r>
              <a:rPr kumimoji="0" lang="en-US" sz="1200" b="1" i="0" u="none" strike="noStrike" kern="1200" cap="none" spc="0" normalizeH="0" baseline="0" noProof="0">
                <a:ln>
                  <a:noFill/>
                </a:ln>
                <a:solidFill>
                  <a:srgbClr val="000000"/>
                </a:solidFill>
                <a:effectLst/>
                <a:uLnTx/>
                <a:uFillTx/>
                <a:latin typeface="Arial"/>
                <a:ea typeface="+mn-ea"/>
                <a:cs typeface="+mn-cs"/>
              </a:rPr>
              <a:t>common asset/switch/equipment IDs and schema definitions</a:t>
            </a:r>
            <a:r>
              <a:rPr kumimoji="0" lang="en-US" sz="1200" b="0" i="0" u="none" strike="noStrike" kern="1200" cap="none" spc="0" normalizeH="0" baseline="0" noProof="0">
                <a:ln>
                  <a:noFill/>
                </a:ln>
                <a:solidFill>
                  <a:srgbClr val="000000"/>
                </a:solidFill>
                <a:effectLst/>
                <a:uLnTx/>
                <a:uFillTx/>
                <a:latin typeface="Arial"/>
                <a:ea typeface="+mn-ea"/>
                <a:cs typeface="+mn-cs"/>
              </a:rPr>
              <a:t> so that the </a:t>
            </a:r>
            <a:r>
              <a:rPr kumimoji="0" lang="en-US" sz="1200" b="1" i="0" u="none" strike="noStrike" kern="1200" cap="none" spc="0" normalizeH="0" baseline="0" noProof="0">
                <a:ln>
                  <a:noFill/>
                </a:ln>
                <a:solidFill>
                  <a:srgbClr val="000000"/>
                </a:solidFill>
                <a:effectLst/>
                <a:uLnTx/>
                <a:uFillTx/>
                <a:latin typeface="Arial"/>
                <a:ea typeface="+mn-ea"/>
                <a:cs typeface="+mn-cs"/>
              </a:rPr>
              <a:t>offline (subcase) and real-time (full model)</a:t>
            </a:r>
            <a:r>
              <a:rPr kumimoji="0" lang="en-US" sz="1200" b="0" i="0" u="none" strike="noStrike" kern="1200" cap="none" spc="0" normalizeH="0" baseline="0" noProof="0">
                <a:ln>
                  <a:noFill/>
                </a:ln>
                <a:solidFill>
                  <a:srgbClr val="000000"/>
                </a:solidFill>
                <a:effectLst/>
                <a:uLnTx/>
                <a:uFillTx/>
                <a:latin typeface="Arial"/>
                <a:ea typeface="+mn-ea"/>
                <a:cs typeface="+mn-cs"/>
              </a:rPr>
              <a:t> environments remain consistent and interoperable.</a:t>
            </a:r>
          </a:p>
        </p:txBody>
      </p:sp>
    </p:spTree>
    <p:extLst>
      <p:ext uri="{BB962C8B-B14F-4D97-AF65-F5344CB8AC3E}">
        <p14:creationId xmlns:p14="http://schemas.microsoft.com/office/powerpoint/2010/main" val="3776545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82C1-02E3-A349-9A9B-C1541433580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13B5C35-CD1E-CF84-B3D3-6B16A32BE806}"/>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C55F7E7A-4A9D-321D-AF6A-6F062249038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883612C2-AEFE-E045-94B9-1F27220607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B9B0665-F20B-7F23-3841-448BDE397773}"/>
              </a:ext>
            </a:extLst>
          </p:cNvPr>
          <p:cNvSpPr>
            <a:spLocks noGrp="1"/>
          </p:cNvSpPr>
          <p:nvPr>
            <p:ph type="title"/>
          </p:nvPr>
        </p:nvSpPr>
        <p:spPr/>
        <p:txBody>
          <a:bodyPr/>
          <a:lstStyle/>
          <a:p>
            <a:r>
              <a:rPr lang="en-US"/>
              <a:t>Grid Assist</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31CE1B17-DB34-1F4B-8425-D1F531CC0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064873FD-AAE7-92AD-107B-09B7BBD4C2BB}"/>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6B7AEB4F-9D25-CF30-1017-5D4561FB8D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AD57017B-81BD-FD95-8691-DDD41FE4BEA6}"/>
              </a:ext>
            </a:extLst>
          </p:cNvPr>
          <p:cNvSpPr txBox="1"/>
          <p:nvPr/>
        </p:nvSpPr>
        <p:spPr>
          <a:xfrm>
            <a:off x="498863" y="1553952"/>
            <a:ext cx="11490163" cy="378045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a:ea typeface="+mn-ea"/>
                <a:cs typeface="+mn-cs"/>
              </a:rPr>
              <a:t>TP5 (</a:t>
            </a:r>
            <a:r>
              <a:rPr kumimoji="0" lang="en-US" sz="1800" b="1" i="0" u="none" strike="noStrike" kern="1200" cap="none" spc="0" normalizeH="0" baseline="0" noProof="0" err="1">
                <a:ln>
                  <a:noFill/>
                </a:ln>
                <a:solidFill>
                  <a:prstClr val="black"/>
                </a:solidFill>
                <a:effectLst/>
                <a:uLnTx/>
                <a:uFillTx/>
                <a:latin typeface="Arial"/>
                <a:ea typeface="+mn-ea"/>
                <a:cs typeface="+mn-cs"/>
              </a:rPr>
              <a:t>GridAssist</a:t>
            </a:r>
            <a:r>
              <a:rPr kumimoji="0" lang="en-US" sz="1800" b="1" i="0" u="none" strike="noStrike" kern="1200" cap="none" spc="0" normalizeH="0" baseline="0" noProof="0">
                <a:ln>
                  <a:noFill/>
                </a:ln>
                <a:solidFill>
                  <a:prstClr val="black"/>
                </a:solidFill>
                <a:effectLst/>
                <a:uLnTx/>
                <a:uFillTx/>
                <a:latin typeface="Arial"/>
                <a:ea typeface="+mn-ea"/>
                <a:cs typeface="+mn-cs"/>
              </a:rPr>
              <a:t> LLM/agent)</a:t>
            </a:r>
            <a:r>
              <a:rPr kumimoji="0" lang="en-US" sz="1800" b="0" i="0" u="none" strike="noStrike" kern="1200" cap="none" spc="0" normalizeH="0" baseline="0" noProof="0">
                <a:ln>
                  <a:noFill/>
                </a:ln>
                <a:solidFill>
                  <a:prstClr val="black"/>
                </a:solidFill>
                <a:effectLst/>
                <a:uLnTx/>
                <a:uFillTx/>
                <a:latin typeface="Arial"/>
                <a:ea typeface="+mn-ea"/>
                <a:cs typeface="+mn-cs"/>
              </a:rPr>
              <a:t> </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TP5 LLM agent can:</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Arial"/>
                <a:ea typeface="+mn-ea"/>
                <a:cs typeface="+mn-cs"/>
              </a:rPr>
              <a:t>Programmatically operate modeling environments</a:t>
            </a:r>
            <a:r>
              <a:rPr kumimoji="0" lang="en-US" sz="1800" b="0" i="0" u="none" strike="noStrike" kern="1200" cap="none" spc="0" normalizeH="0" baseline="0" noProof="0">
                <a:ln>
                  <a:noFill/>
                </a:ln>
                <a:solidFill>
                  <a:prstClr val="black"/>
                </a:solidFill>
                <a:effectLst/>
                <a:uLnTx/>
                <a:uFillTx/>
                <a:latin typeface="Arial"/>
                <a:ea typeface="+mn-ea"/>
                <a:cs typeface="+mn-cs"/>
              </a:rPr>
              <a:t> (MATLAB/Simulink/HYPERSIM: open/edit params/run),</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Explore data sources such as </a:t>
            </a:r>
            <a:r>
              <a:rPr kumimoji="0" lang="en-US" sz="1800" b="1" i="0" u="none" strike="noStrike" kern="1200" cap="none" spc="0" normalizeH="0" baseline="0" noProof="0">
                <a:ln>
                  <a:noFill/>
                </a:ln>
                <a:solidFill>
                  <a:prstClr val="black"/>
                </a:solidFill>
                <a:effectLst/>
                <a:uLnTx/>
                <a:uFillTx/>
                <a:latin typeface="Arial"/>
                <a:ea typeface="+mn-ea"/>
                <a:cs typeface="+mn-cs"/>
              </a:rPr>
              <a:t>Neo4j/CGMES/files</a:t>
            </a:r>
            <a:r>
              <a:rPr kumimoji="0" lang="en-US" sz="1800" b="0" i="0" u="none" strike="noStrike" kern="1200" cap="none" spc="0" normalizeH="0" baseline="0" noProof="0">
                <a:ln>
                  <a:noFill/>
                </a:ln>
                <a:solidFill>
                  <a:prstClr val="black"/>
                </a:solidFill>
                <a:effectLst/>
                <a:uLnTx/>
                <a:uFillTx/>
                <a:latin typeface="Arial"/>
                <a:ea typeface="+mn-ea"/>
                <a:cs typeface="+mn-cs"/>
              </a:rPr>
              <a:t>, and</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Arial"/>
                <a:ea typeface="+mn-ea"/>
                <a:cs typeface="+mn-cs"/>
              </a:rPr>
              <a:t>Call solver tools → collect results/summarize/link evidence</a:t>
            </a:r>
            <a:r>
              <a:rPr kumimoji="0" lang="en-US" sz="1800" b="0" i="0" u="none" strike="noStrike" kern="1200" cap="none" spc="0" normalizeH="0" baseline="0" noProof="0">
                <a:ln>
                  <a:noFill/>
                </a:ln>
                <a:solidFill>
                  <a:prstClr val="black"/>
                </a:solidFill>
                <a:effectLst/>
                <a:uLnTx/>
                <a:uFillTx/>
                <a:latin typeface="Arial"/>
                <a:ea typeface="+mn-ea"/>
                <a:cs typeface="+mn-cs"/>
              </a:rPr>
              <a:t>,</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orchestrating all this into </a:t>
            </a:r>
            <a:r>
              <a:rPr kumimoji="0" lang="en-US" sz="1800" b="1" i="0" u="none" strike="noStrike" kern="1200" cap="none" spc="0" normalizeH="0" baseline="0" noProof="0">
                <a:ln>
                  <a:noFill/>
                </a:ln>
                <a:solidFill>
                  <a:prstClr val="black"/>
                </a:solidFill>
                <a:effectLst/>
                <a:uLnTx/>
                <a:uFillTx/>
                <a:latin typeface="Arial"/>
                <a:ea typeface="+mn-ea"/>
                <a:cs typeface="+mn-cs"/>
              </a:rPr>
              <a:t>one workflow</a:t>
            </a:r>
            <a:r>
              <a:rPr kumimoji="0" lang="en-US" sz="1800" b="0" i="0" u="none" strike="noStrike" kern="1200" cap="none" spc="0" normalizeH="0" baseline="0" noProof="0">
                <a:ln>
                  <a:noFill/>
                </a:ln>
                <a:solidFill>
                  <a:prstClr val="black"/>
                </a:solidFill>
                <a:effectLst/>
                <a:uLnTx/>
                <a:uFillTx/>
                <a:latin typeface="Arial"/>
                <a:ea typeface="+mn-ea"/>
                <a:cs typeface="+mn-cs"/>
              </a:rPr>
              <a:t>.</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TP5’s “natural language → grid analysis &amp; simulation → evidence-based report” pipeline becomes robust under the </a:t>
            </a:r>
            <a:r>
              <a:rPr kumimoji="0" lang="en-US" sz="1800" b="1" i="0" u="none" strike="noStrike" kern="1200" cap="none" spc="0" normalizeH="0" baseline="0" noProof="0">
                <a:ln>
                  <a:noFill/>
                </a:ln>
                <a:solidFill>
                  <a:prstClr val="black"/>
                </a:solidFill>
                <a:effectLst/>
                <a:uLnTx/>
                <a:uFillTx/>
                <a:latin typeface="Arial"/>
                <a:ea typeface="+mn-ea"/>
                <a:cs typeface="+mn-cs"/>
              </a:rPr>
              <a:t>MCP standard</a:t>
            </a:r>
            <a:r>
              <a:rPr kumimoji="0" lang="en-US" sz="1800" b="0" i="0" u="none" strike="noStrike" kern="1200" cap="none" spc="0" normalizeH="0" baseline="0" noProof="0">
                <a:ln>
                  <a:noFill/>
                </a:ln>
                <a:solidFill>
                  <a:prstClr val="black"/>
                </a:solidFill>
                <a:effectLst/>
                <a:uLnTx/>
                <a:uFillTx/>
                <a:latin typeface="Arial"/>
                <a:ea typeface="+mn-ea"/>
                <a:cs typeface="+mn-cs"/>
              </a:rPr>
              <a:t>.</a:t>
            </a:r>
          </a:p>
        </p:txBody>
      </p:sp>
    </p:spTree>
    <p:extLst>
      <p:ext uri="{BB962C8B-B14F-4D97-AF65-F5344CB8AC3E}">
        <p14:creationId xmlns:p14="http://schemas.microsoft.com/office/powerpoint/2010/main" val="30190190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39488-BAAA-C20A-FC45-DBDE7D59149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4507ED5-1556-6EDD-4D4C-CB3269E7892D}"/>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A4828836-1EB8-D731-38B5-CA8956AAC30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2C9E6A82-D6C0-7A97-5671-C6CAE98D3C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044DECDD-29BA-E028-956F-EDAB40E9080C}"/>
              </a:ext>
            </a:extLst>
          </p:cNvPr>
          <p:cNvSpPr>
            <a:spLocks noGrp="1"/>
          </p:cNvSpPr>
          <p:nvPr>
            <p:ph type="title"/>
          </p:nvPr>
        </p:nvSpPr>
        <p:spPr/>
        <p:txBody>
          <a:bodyPr/>
          <a:lstStyle/>
          <a:p>
            <a:r>
              <a:rPr lang="en-US"/>
              <a:t>Grid Assist</a:t>
            </a:r>
            <a:endParaRPr lang="de-DE"/>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12D1454-D6CB-871A-C4A4-C79F82A17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CD7F04ED-4054-0FDE-8BD3-BC7253B33ACF}"/>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F7E1A5E0-9F82-440B-5DA4-BC2C061F23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55567FB5-E79F-44F2-C21C-D4F94949638F}"/>
              </a:ext>
            </a:extLst>
          </p:cNvPr>
          <p:cNvSpPr txBox="1"/>
          <p:nvPr/>
        </p:nvSpPr>
        <p:spPr>
          <a:xfrm>
            <a:off x="498863" y="1553952"/>
            <a:ext cx="11490163" cy="253396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a:ea typeface="+mn-ea"/>
                <a:cs typeface="+mn-cs"/>
              </a:rPr>
              <a:t>TP6 (OPAL-RT real-time validation/field replication)</a:t>
            </a:r>
            <a:r>
              <a:rPr kumimoji="0" lang="en-US" sz="1800" b="0" i="0" u="none" strike="noStrike" kern="1200" cap="none" spc="0" normalizeH="0" baseline="0" noProof="0">
                <a:ln>
                  <a:noFill/>
                </a:ln>
                <a:solidFill>
                  <a:prstClr val="black"/>
                </a:solidFill>
                <a:effectLst/>
                <a:uLnTx/>
                <a:uFillTx/>
                <a:latin typeface="Arial"/>
                <a:ea typeface="+mn-ea"/>
                <a:cs typeface="+mn-cs"/>
              </a:rPr>
              <a:t> </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Once the </a:t>
            </a:r>
            <a:r>
              <a:rPr kumimoji="0" lang="en-US" sz="1800" b="1" i="0" u="none" strike="noStrike" kern="1200" cap="none" spc="0" normalizeH="0" baseline="0" noProof="0">
                <a:ln>
                  <a:noFill/>
                </a:ln>
                <a:solidFill>
                  <a:prstClr val="black"/>
                </a:solidFill>
                <a:effectLst/>
                <a:uLnTx/>
                <a:uFillTx/>
                <a:latin typeface="Arial"/>
                <a:ea typeface="+mn-ea"/>
                <a:cs typeface="+mn-cs"/>
              </a:rPr>
              <a:t>OPAL-RT MCP server</a:t>
            </a:r>
            <a:r>
              <a:rPr kumimoji="0" lang="en-US" sz="1800" b="0" i="0" u="none" strike="noStrike" kern="1200" cap="none" spc="0" normalizeH="0" baseline="0" noProof="0">
                <a:ln>
                  <a:noFill/>
                </a:ln>
                <a:solidFill>
                  <a:prstClr val="black"/>
                </a:solidFill>
                <a:effectLst/>
                <a:uLnTx/>
                <a:uFillTx/>
                <a:latin typeface="Arial"/>
                <a:ea typeface="+mn-ea"/>
                <a:cs typeface="+mn-cs"/>
              </a:rPr>
              <a:t> exists: </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CGMES snapshot → (converter) → </a:t>
            </a:r>
            <a:r>
              <a:rPr kumimoji="0" lang="en-US" sz="1800" b="1" i="0" u="none" strike="noStrike" kern="1200" cap="none" spc="0" normalizeH="0" baseline="0" noProof="0">
                <a:ln>
                  <a:noFill/>
                </a:ln>
                <a:solidFill>
                  <a:prstClr val="black"/>
                </a:solidFill>
                <a:effectLst/>
                <a:uLnTx/>
                <a:uFillTx/>
                <a:latin typeface="Arial"/>
                <a:ea typeface="+mn-ea"/>
                <a:cs typeface="+mn-cs"/>
              </a:rPr>
              <a:t>load as an OPAL-RT real-time model</a:t>
            </a:r>
            <a:endParaRPr kumimoji="0" lang="en-US" sz="1800" b="0" i="0" u="none" strike="noStrike" kern="1200" cap="none" spc="0" normalizeH="0" baseline="0" noProof="0">
              <a:ln>
                <a:noFill/>
              </a:ln>
              <a:solidFill>
                <a:prstClr val="black"/>
              </a:solidFill>
              <a:effectLst/>
              <a:uLnTx/>
              <a:uFillTx/>
              <a:latin typeface="Arial"/>
              <a:ea typeface="+mn-ea"/>
              <a:cs typeface="+mn-cs"/>
            </a:endParaRP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Inject scenarios (faults/switching/load ramps) &amp; stream live KPIs</a:t>
            </a:r>
          </a:p>
          <a:p>
            <a:pPr marL="1143000" marR="0" lvl="2" indent="-2286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Run </a:t>
            </a:r>
            <a:r>
              <a:rPr kumimoji="0" lang="en-US" sz="1800" b="1" i="0" u="none" strike="noStrike" kern="1200" cap="none" spc="0" normalizeH="0" baseline="0" noProof="0">
                <a:ln>
                  <a:noFill/>
                </a:ln>
                <a:solidFill>
                  <a:prstClr val="black"/>
                </a:solidFill>
                <a:effectLst/>
                <a:uLnTx/>
                <a:uFillTx/>
                <a:latin typeface="Arial"/>
                <a:ea typeface="+mn-ea"/>
                <a:cs typeface="+mn-cs"/>
              </a:rPr>
              <a:t>closed-loop HIL/CIL tests</a:t>
            </a:r>
            <a:r>
              <a:rPr kumimoji="0" lang="en-US" sz="1800" b="0" i="0" u="none" strike="noStrike" kern="1200" cap="none" spc="0" normalizeH="0" baseline="0" noProof="0">
                <a:ln>
                  <a:noFill/>
                </a:ln>
                <a:solidFill>
                  <a:prstClr val="black"/>
                </a:solidFill>
                <a:effectLst/>
                <a:uLnTx/>
                <a:uFillTx/>
                <a:latin typeface="Arial"/>
                <a:ea typeface="+mn-ea"/>
                <a:cs typeface="+mn-cs"/>
              </a:rPr>
              <a:t> including relays/controllers—</a:t>
            </a:r>
            <a:r>
              <a:rPr kumimoji="0" lang="en-US" sz="1800" b="1" i="0" u="none" strike="noStrike" kern="1200" cap="none" spc="0" normalizeH="0" baseline="0" noProof="0">
                <a:ln>
                  <a:noFill/>
                </a:ln>
                <a:solidFill>
                  <a:prstClr val="black"/>
                </a:solidFill>
                <a:effectLst/>
                <a:uLnTx/>
                <a:uFillTx/>
                <a:latin typeface="Arial"/>
                <a:ea typeface="+mn-ea"/>
                <a:cs typeface="+mn-cs"/>
              </a:rPr>
              <a:t>automated by the agent</a:t>
            </a:r>
            <a:endParaRPr kumimoji="0" lang="en-US" sz="1800" b="0" i="0" u="none" strike="noStrike" kern="1200" cap="none" spc="0" normalizeH="0" baseline="0" noProof="0">
              <a:ln>
                <a:noFill/>
              </a:ln>
              <a:solidFill>
                <a:prstClr val="black"/>
              </a:solidFill>
              <a:effectLst/>
              <a:uLnTx/>
              <a:uFillTx/>
              <a:latin typeface="Arial"/>
              <a:ea typeface="+mn-ea"/>
              <a:cs typeface="+mn-cs"/>
            </a:endParaRP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This matches TP6’s goal of </a:t>
            </a:r>
            <a:r>
              <a:rPr kumimoji="0" lang="en-US" sz="1800" b="1" i="0" u="none" strike="noStrike" kern="1200" cap="none" spc="0" normalizeH="0" baseline="0" noProof="0">
                <a:ln>
                  <a:noFill/>
                </a:ln>
                <a:solidFill>
                  <a:prstClr val="black"/>
                </a:solidFill>
                <a:effectLst/>
                <a:uLnTx/>
                <a:uFillTx/>
                <a:latin typeface="Arial"/>
                <a:ea typeface="+mn-ea"/>
                <a:cs typeface="+mn-cs"/>
              </a:rPr>
              <a:t>vendor-agnostic, standards-based validation</a:t>
            </a:r>
            <a:r>
              <a:rPr kumimoji="0" lang="en-US" sz="1800" b="0" i="0" u="none" strike="noStrike" kern="1200" cap="none" spc="0" normalizeH="0" baseline="0" noProof="0">
                <a:ln>
                  <a:noFill/>
                </a:ln>
                <a:solidFill>
                  <a:prstClr val="black"/>
                </a:solidFill>
                <a:effectLst/>
                <a:uLnTx/>
                <a:uFillTx/>
                <a:latin typeface="Arial"/>
                <a:ea typeface="+mn-ea"/>
                <a:cs typeface="+mn-cs"/>
              </a:rPr>
              <a:t>.</a:t>
            </a:r>
          </a:p>
        </p:txBody>
      </p:sp>
    </p:spTree>
    <p:extLst>
      <p:ext uri="{BB962C8B-B14F-4D97-AF65-F5344CB8AC3E}">
        <p14:creationId xmlns:p14="http://schemas.microsoft.com/office/powerpoint/2010/main" val="42947390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22110-1A51-F36F-CDC6-900138AA160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785DCD7A-A3FF-E477-583C-E4248815CF03}"/>
              </a:ext>
            </a:extLst>
          </p:cNvPr>
          <p:cNvSpPr>
            <a:spLocks noGrp="1"/>
          </p:cNvSpPr>
          <p:nvPr>
            <p:ph type="title"/>
          </p:nvPr>
        </p:nvSpPr>
        <p:spPr>
          <a:xfrm>
            <a:off x="518318" y="2598004"/>
            <a:ext cx="11157743" cy="1661993"/>
          </a:xfrm>
        </p:spPr>
        <p:txBody>
          <a:bodyPr/>
          <a:lstStyle/>
          <a:p>
            <a:r>
              <a:rPr lang="en-US" b="1"/>
              <a:t>Literature and building blocks for agentic AI (</a:t>
            </a:r>
            <a:r>
              <a:rPr lang="en-US" b="1" err="1"/>
              <a:t>PowerAgent</a:t>
            </a:r>
            <a:r>
              <a:rPr lang="en-US" b="1"/>
              <a:t>, </a:t>
            </a:r>
            <a:r>
              <a:rPr lang="en-US" b="1" err="1"/>
              <a:t>GridMind</a:t>
            </a:r>
            <a:r>
              <a:rPr lang="en-US" b="1"/>
              <a:t>) (10 min) — Ragav, Changhun, All</a:t>
            </a:r>
            <a:endParaRPr lang="de-DE"/>
          </a:p>
        </p:txBody>
      </p:sp>
      <p:sp>
        <p:nvSpPr>
          <p:cNvPr id="2" name="Datumsplatzhalter 1">
            <a:extLst>
              <a:ext uri="{FF2B5EF4-FFF2-40B4-BE49-F238E27FC236}">
                <a16:creationId xmlns:a16="http://schemas.microsoft.com/office/drawing/2014/main" id="{58CEF8E5-E3E4-E60A-5EFD-597AE76A4ECE}"/>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22E95-EE2D-4F19-BA8F-A725A705DEB9}" type="datetime4">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66C86469-49B3-19AE-7979-2382A894E96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FFFFFF"/>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1BBE075D-2416-EBB5-52F5-E3B8FE65C4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2A132B67-8F8D-9A3C-D103-CF2E5246A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0387" y="463403"/>
            <a:ext cx="1583150" cy="2937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5FDAC2E-097A-D9EC-4207-94971F992B03}"/>
              </a:ext>
            </a:extLst>
          </p:cNvPr>
          <p:cNvPicPr>
            <a:picLocks noChangeAspect="1"/>
          </p:cNvPicPr>
          <p:nvPr/>
        </p:nvPicPr>
        <p:blipFill>
          <a:blip r:embed="rId4"/>
          <a:stretch>
            <a:fillRect/>
          </a:stretch>
        </p:blipFill>
        <p:spPr>
          <a:xfrm>
            <a:off x="6727357" y="408274"/>
            <a:ext cx="1583150" cy="309209"/>
          </a:xfrm>
          <a:prstGeom prst="rect">
            <a:avLst/>
          </a:prstGeom>
        </p:spPr>
      </p:pic>
      <p:pic>
        <p:nvPicPr>
          <p:cNvPr id="7" name="Picture 6" descr="A logo with blue text&#10;&#10;AI-generated content may be incorrect.">
            <a:extLst>
              <a:ext uri="{FF2B5EF4-FFF2-40B4-BE49-F238E27FC236}">
                <a16:creationId xmlns:a16="http://schemas.microsoft.com/office/drawing/2014/main" id="{C9ADD455-FFB3-1AF0-4962-EF1894991D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2910" y="249855"/>
            <a:ext cx="1945490" cy="737665"/>
          </a:xfrm>
          <a:prstGeom prst="rect">
            <a:avLst/>
          </a:prstGeom>
        </p:spPr>
      </p:pic>
    </p:spTree>
    <p:extLst>
      <p:ext uri="{BB962C8B-B14F-4D97-AF65-F5344CB8AC3E}">
        <p14:creationId xmlns:p14="http://schemas.microsoft.com/office/powerpoint/2010/main" val="18462639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5585-D738-6390-F210-F37B5FA7BD3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923C8A5-6ECE-9D39-8B3C-440493CD9880}"/>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3AA9625D-1614-E853-8256-ACE3C078D23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982F784A-1981-8085-9C1D-1D85217240F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A1BB9600-EE72-5535-0180-11D42F844B48}"/>
              </a:ext>
            </a:extLst>
          </p:cNvPr>
          <p:cNvSpPr>
            <a:spLocks noGrp="1"/>
          </p:cNvSpPr>
          <p:nvPr>
            <p:ph type="title"/>
          </p:nvPr>
        </p:nvSpPr>
        <p:spPr/>
        <p:txBody>
          <a:bodyPr/>
          <a:lstStyle/>
          <a:p>
            <a:r>
              <a:rPr lang="en-US">
                <a:cs typeface="Arial"/>
              </a:rPr>
              <a:t>Agentic AI </a:t>
            </a: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2E4A31F7-3D2D-F363-56C0-F5324E5EA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1CA83A5-586A-79D2-18C1-BDDC0C2B4887}"/>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CA5B55E8-A27D-7441-7534-828CAB3CF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7" name="TextBox 6">
            <a:extLst>
              <a:ext uri="{FF2B5EF4-FFF2-40B4-BE49-F238E27FC236}">
                <a16:creationId xmlns:a16="http://schemas.microsoft.com/office/drawing/2014/main" id="{FF999EAA-E3FC-6B38-2A5E-487693B84876}"/>
              </a:ext>
            </a:extLst>
          </p:cNvPr>
          <p:cNvSpPr txBox="1"/>
          <p:nvPr/>
        </p:nvSpPr>
        <p:spPr>
          <a:xfrm>
            <a:off x="521918" y="1403959"/>
            <a:ext cx="9989506" cy="194873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10000"/>
              </a:lnSpc>
              <a:spcBef>
                <a:spcPts val="0"/>
              </a:spcBef>
              <a:spcAft>
                <a:spcPts val="1200"/>
              </a:spcAft>
              <a:buClrTx/>
              <a:buSzTx/>
              <a:buFont typeface="Arial,Sans-Serif"/>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Agentic AI – Plan, Reason, Act, Coordinate tools and Maintain context​</a:t>
            </a:r>
          </a:p>
          <a:p>
            <a:pPr marL="742950" marR="0" lvl="1" indent="-285750" algn="l" defTabSz="914400" rtl="0" eaLnBrk="1" fontAlgn="auto" latinLnBrk="0" hangingPunct="1">
              <a:lnSpc>
                <a:spcPct val="110000"/>
              </a:lnSpc>
              <a:spcBef>
                <a:spcPts val="0"/>
              </a:spcBef>
              <a:spcAft>
                <a:spcPts val="1200"/>
              </a:spcAft>
              <a:buClrTx/>
              <a:buSzTx/>
              <a:buFont typeface="Courier New,monospace"/>
              <a:buChar char="o"/>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Why in power grid domain? ​</a:t>
            </a:r>
          </a:p>
          <a:p>
            <a:pPr marL="1200150" marR="0" lvl="2" indent="-285750" algn="l" defTabSz="914400" rtl="0" eaLnBrk="1" fontAlgn="auto" latinLnBrk="0" hangingPunct="1">
              <a:lnSpc>
                <a:spcPct val="110000"/>
              </a:lnSpc>
              <a:spcBef>
                <a:spcPts val="0"/>
              </a:spcBef>
              <a:spcAft>
                <a:spcPts val="1200"/>
              </a:spcAft>
              <a:buClrTx/>
              <a:buSzTx/>
              <a:buFont typeface="Wingdings,Sans-Serif"/>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Rising complexity​</a:t>
            </a:r>
          </a:p>
          <a:p>
            <a:pPr marL="1200150" marR="0" lvl="2" indent="-285750" algn="l" defTabSz="914400" rtl="0" eaLnBrk="1" fontAlgn="auto" latinLnBrk="0" hangingPunct="1">
              <a:lnSpc>
                <a:spcPct val="110000"/>
              </a:lnSpc>
              <a:spcBef>
                <a:spcPts val="0"/>
              </a:spcBef>
              <a:spcAft>
                <a:spcPts val="1200"/>
              </a:spcAft>
              <a:buClrTx/>
              <a:buSzTx/>
              <a:buFont typeface="Wingdings,Sans-Serif"/>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Many Traditional workflows​</a:t>
            </a:r>
          </a:p>
          <a:p>
            <a:pPr marL="1200150" marR="0" lvl="2" indent="-285750" algn="l" defTabSz="914400" rtl="0" eaLnBrk="1" fontAlgn="auto" latinLnBrk="0" hangingPunct="1">
              <a:lnSpc>
                <a:spcPct val="110000"/>
              </a:lnSpc>
              <a:spcBef>
                <a:spcPts val="0"/>
              </a:spcBef>
              <a:spcAft>
                <a:spcPts val="1200"/>
              </a:spcAft>
              <a:buClrTx/>
              <a:buSzTx/>
              <a:buFont typeface="Wingdings,Sans-Serif"/>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Requirement of Interactive analyses</a:t>
            </a:r>
          </a:p>
        </p:txBody>
      </p:sp>
      <p:sp>
        <p:nvSpPr>
          <p:cNvPr id="10" name="TextBox 8">
            <a:extLst>
              <a:ext uri="{FF2B5EF4-FFF2-40B4-BE49-F238E27FC236}">
                <a16:creationId xmlns:a16="http://schemas.microsoft.com/office/drawing/2014/main" id="{E468BF6B-9695-BF71-57B9-932AF921A961}"/>
              </a:ext>
            </a:extLst>
          </p:cNvPr>
          <p:cNvSpPr txBox="1"/>
          <p:nvPr/>
        </p:nvSpPr>
        <p:spPr>
          <a:xfrm>
            <a:off x="523284" y="3689959"/>
            <a:ext cx="9206878" cy="2219582"/>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10000"/>
              </a:lnSpc>
              <a:spcBef>
                <a:spcPts val="0"/>
              </a:spcBef>
              <a:spcAft>
                <a:spcPts val="1200"/>
              </a:spcAft>
              <a:buClrTx/>
              <a:buSzTx/>
              <a:buFont typeface="Arial,Sans-Serif"/>
              <a:buChar char="•"/>
              <a:tabLst/>
              <a:defRPr/>
            </a:pPr>
            <a:r>
              <a:rPr kumimoji="0" lang="en-US" sz="1600" b="0" i="0" u="none" strike="noStrike" kern="1200" cap="none" spc="0" normalizeH="0" baseline="0" noProof="0" err="1">
                <a:ln>
                  <a:noFill/>
                </a:ln>
                <a:solidFill>
                  <a:prstClr val="black"/>
                </a:solidFill>
                <a:effectLst/>
                <a:uLnTx/>
                <a:uFillTx/>
                <a:latin typeface="Arial"/>
                <a:ea typeface="+mn-ea"/>
                <a:cs typeface="Arial"/>
              </a:rPr>
              <a:t>GridMind</a:t>
            </a:r>
            <a:r>
              <a:rPr kumimoji="0" lang="en-US" sz="1600" b="0" i="0" u="none" strike="noStrike" kern="1200" cap="none" spc="0" normalizeH="0" baseline="0" noProof="0">
                <a:ln>
                  <a:noFill/>
                </a:ln>
                <a:solidFill>
                  <a:prstClr val="black"/>
                </a:solidFill>
                <a:effectLst/>
                <a:uLnTx/>
                <a:uFillTx/>
                <a:latin typeface="Arial"/>
                <a:ea typeface="+mn-ea"/>
                <a:cs typeface="Arial"/>
              </a:rPr>
              <a:t> - ​Multi-Agent AI System for Power system analysis</a:t>
            </a:r>
          </a:p>
          <a:p>
            <a:pPr marL="742950" marR="0" lvl="1" indent="-285750" algn="l" defTabSz="914400" rtl="0" eaLnBrk="1" fontAlgn="auto" latinLnBrk="0" hangingPunct="1">
              <a:lnSpc>
                <a:spcPct val="110000"/>
              </a:lnSpc>
              <a:spcBef>
                <a:spcPts val="0"/>
              </a:spcBef>
              <a:spcAft>
                <a:spcPts val="1200"/>
              </a:spcAft>
              <a:buClrTx/>
              <a:buSzTx/>
              <a:buFont typeface="Courier New,monospace"/>
              <a:buChar char="o"/>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Goal - Integrate</a:t>
            </a:r>
            <a:r>
              <a:rPr kumimoji="0" lang="en-US" sz="1600" b="0" i="0" u="none" strike="noStrike" kern="1200" cap="none" spc="0" normalizeH="0" baseline="0" noProof="0">
                <a:ln>
                  <a:noFill/>
                </a:ln>
                <a:solidFill>
                  <a:prstClr val="black"/>
                </a:solidFill>
                <a:effectLst/>
                <a:uLnTx/>
                <a:uFillTx/>
                <a:latin typeface="Arial"/>
                <a:ea typeface="+mn-lt"/>
                <a:cs typeface="Arial"/>
              </a:rPr>
              <a:t> LLMs with high-fidelity, deterministic engineering solver</a:t>
            </a:r>
          </a:p>
          <a:p>
            <a:pPr marL="742950" marR="0" lvl="1" indent="-285750" algn="l" defTabSz="914400" rtl="0" eaLnBrk="1" fontAlgn="auto" latinLnBrk="0" hangingPunct="1">
              <a:lnSpc>
                <a:spcPct val="110000"/>
              </a:lnSpc>
              <a:spcBef>
                <a:spcPts val="0"/>
              </a:spcBef>
              <a:spcAft>
                <a:spcPts val="1200"/>
              </a:spcAft>
              <a:buClrTx/>
              <a:buSzTx/>
              <a:buFont typeface="Courier New,monospace"/>
              <a:buChar char="o"/>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System Architecture -</a:t>
            </a:r>
            <a:r>
              <a:rPr kumimoji="0" lang="en-US" sz="1600" b="0" i="0" u="none" strike="noStrike" kern="1200" cap="none" spc="0" normalizeH="0" baseline="0" noProof="0">
                <a:ln>
                  <a:noFill/>
                </a:ln>
                <a:solidFill>
                  <a:prstClr val="black"/>
                </a:solidFill>
                <a:effectLst/>
                <a:uLnTx/>
                <a:uFillTx/>
                <a:latin typeface="Arial"/>
                <a:ea typeface="+mn-lt"/>
                <a:cs typeface="Arial"/>
              </a:rPr>
              <a:t> Multi-Agent Orchestration using specialized agents ( ACOPF, Contingency Analysis, coordinator) to break down and execute complex workflows.</a:t>
            </a:r>
          </a:p>
          <a:p>
            <a:pPr marL="742950" marR="0" lvl="1" indent="-285750" algn="l" defTabSz="914400" rtl="0" eaLnBrk="1" fontAlgn="auto" latinLnBrk="0" hangingPunct="1">
              <a:lnSpc>
                <a:spcPct val="110000"/>
              </a:lnSpc>
              <a:spcBef>
                <a:spcPts val="0"/>
              </a:spcBef>
              <a:spcAft>
                <a:spcPts val="1200"/>
              </a:spcAft>
              <a:buClrTx/>
              <a:buSzTx/>
              <a:buFont typeface="Courier New,monospace"/>
              <a:buChar char="o"/>
              <a:tabLst/>
              <a:defRPr/>
            </a:pPr>
            <a:r>
              <a:rPr kumimoji="0" lang="en-US" sz="1600" b="0" i="0" u="none" strike="noStrike" kern="1200" cap="none" spc="0" normalizeH="0" baseline="0" noProof="0">
                <a:ln>
                  <a:noFill/>
                </a:ln>
                <a:solidFill>
                  <a:prstClr val="black"/>
                </a:solidFill>
                <a:effectLst/>
                <a:uLnTx/>
                <a:uFillTx/>
                <a:latin typeface="Arial"/>
                <a:ea typeface="+mn-lt"/>
                <a:cs typeface="Arial"/>
              </a:rPr>
              <a:t>Key Innovation - Conversational scientific computing </a:t>
            </a:r>
          </a:p>
          <a:p>
            <a:pPr marL="742950" marR="0" lvl="1" indent="-285750" algn="l" defTabSz="914400" rtl="0" eaLnBrk="1" fontAlgn="auto" latinLnBrk="0" hangingPunct="1">
              <a:lnSpc>
                <a:spcPct val="110000"/>
              </a:lnSpc>
              <a:spcBef>
                <a:spcPts val="0"/>
              </a:spcBef>
              <a:spcAft>
                <a:spcPts val="1200"/>
              </a:spcAft>
              <a:buClrTx/>
              <a:buSzTx/>
              <a:buFont typeface="Courier New,monospace"/>
              <a:buChar char="o"/>
              <a:tabLst/>
              <a:defRPr/>
            </a:pPr>
            <a:r>
              <a:rPr kumimoji="0" lang="en-US" sz="1600" b="0" i="0" u="none" strike="noStrike" kern="1200" cap="none" spc="0" normalizeH="0" baseline="0" noProof="0">
                <a:ln>
                  <a:noFill/>
                </a:ln>
                <a:solidFill>
                  <a:prstClr val="black"/>
                </a:solidFill>
                <a:effectLst/>
                <a:uLnTx/>
                <a:uFillTx/>
                <a:latin typeface="Arial"/>
                <a:ea typeface="+mn-lt"/>
                <a:cs typeface="Arial"/>
              </a:rPr>
              <a:t>Core value - Mitigate hallucination</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pic>
        <p:nvPicPr>
          <p:cNvPr id="5" name="Picture 4">
            <a:extLst>
              <a:ext uri="{FF2B5EF4-FFF2-40B4-BE49-F238E27FC236}">
                <a16:creationId xmlns:a16="http://schemas.microsoft.com/office/drawing/2014/main" id="{7D6DAA36-02BF-7787-79ED-F607B121A25C}"/>
              </a:ext>
            </a:extLst>
          </p:cNvPr>
          <p:cNvPicPr>
            <a:picLocks noChangeAspect="1"/>
          </p:cNvPicPr>
          <p:nvPr/>
        </p:nvPicPr>
        <p:blipFill>
          <a:blip r:embed="rId6"/>
          <a:stretch>
            <a:fillRect/>
          </a:stretch>
        </p:blipFill>
        <p:spPr>
          <a:xfrm>
            <a:off x="8189685" y="1712005"/>
            <a:ext cx="3886200" cy="1438275"/>
          </a:xfrm>
          <a:prstGeom prst="rect">
            <a:avLst/>
          </a:prstGeom>
        </p:spPr>
      </p:pic>
      <p:pic>
        <p:nvPicPr>
          <p:cNvPr id="6" name="Picture 5" descr="A diagram of a planner&#10;&#10;AI-generated content may be incorrect.">
            <a:extLst>
              <a:ext uri="{FF2B5EF4-FFF2-40B4-BE49-F238E27FC236}">
                <a16:creationId xmlns:a16="http://schemas.microsoft.com/office/drawing/2014/main" id="{B32B6CA5-6E7A-7E63-714C-2C74E55B1DDE}"/>
              </a:ext>
            </a:extLst>
          </p:cNvPr>
          <p:cNvPicPr>
            <a:picLocks noChangeAspect="1"/>
          </p:cNvPicPr>
          <p:nvPr/>
        </p:nvPicPr>
        <p:blipFill>
          <a:blip r:embed="rId7"/>
          <a:stretch>
            <a:fillRect/>
          </a:stretch>
        </p:blipFill>
        <p:spPr>
          <a:xfrm>
            <a:off x="9500054" y="4018870"/>
            <a:ext cx="2571750" cy="1704975"/>
          </a:xfrm>
          <a:prstGeom prst="rect">
            <a:avLst/>
          </a:prstGeom>
        </p:spPr>
      </p:pic>
      <p:sp>
        <p:nvSpPr>
          <p:cNvPr id="8" name="TextBox 7">
            <a:extLst>
              <a:ext uri="{FF2B5EF4-FFF2-40B4-BE49-F238E27FC236}">
                <a16:creationId xmlns:a16="http://schemas.microsoft.com/office/drawing/2014/main" id="{0788E7B3-70F7-3B6E-E99C-67DB783DBE14}"/>
              </a:ext>
            </a:extLst>
          </p:cNvPr>
          <p:cNvSpPr txBox="1"/>
          <p:nvPr/>
        </p:nvSpPr>
        <p:spPr>
          <a:xfrm>
            <a:off x="6241143" y="6259286"/>
            <a:ext cx="6096000" cy="37112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Arial"/>
                <a:ea typeface="+mn-ea"/>
                <a:cs typeface="+mn-cs"/>
              </a:rPr>
              <a:t>Source:</a:t>
            </a:r>
            <a:r>
              <a:rPr kumimoji="0" lang="en-US" sz="800" b="0" i="0" u="none" strike="noStrike" kern="1200" cap="none" spc="0" normalizeH="0" baseline="0" noProof="0">
                <a:ln>
                  <a:noFill/>
                </a:ln>
                <a:solidFill>
                  <a:prstClr val="black"/>
                </a:solidFill>
                <a:effectLst/>
                <a:uLnTx/>
                <a:uFillTx/>
                <a:latin typeface="Arial"/>
                <a:ea typeface="+mn-ea"/>
                <a:cs typeface="+mn-cs"/>
              </a:rPr>
              <a:t> </a:t>
            </a:r>
            <a:r>
              <a:rPr kumimoji="0" lang="en-US" sz="800" b="0" i="1" u="none" strike="noStrike" kern="1200" cap="none" spc="0" normalizeH="0" baseline="0" noProof="0" err="1">
                <a:ln>
                  <a:noFill/>
                </a:ln>
                <a:solidFill>
                  <a:prstClr val="black"/>
                </a:solidFill>
                <a:effectLst/>
                <a:uLnTx/>
                <a:uFillTx/>
                <a:latin typeface="Arial"/>
                <a:ea typeface="+mn-ea"/>
                <a:cs typeface="+mn-cs"/>
              </a:rPr>
              <a:t>GridMind</a:t>
            </a:r>
            <a:r>
              <a:rPr kumimoji="0" lang="en-US" sz="800" b="0" i="1" u="none" strike="noStrike" kern="1200" cap="none" spc="0" normalizeH="0" baseline="0" noProof="0">
                <a:ln>
                  <a:noFill/>
                </a:ln>
                <a:solidFill>
                  <a:prstClr val="black"/>
                </a:solidFill>
                <a:effectLst/>
                <a:uLnTx/>
                <a:uFillTx/>
                <a:latin typeface="Arial"/>
                <a:ea typeface="+mn-ea"/>
                <a:cs typeface="+mn-cs"/>
              </a:rPr>
              <a:t>: LLMs-Powered Agents for Power System Analysis and Operations</a:t>
            </a:r>
            <a:r>
              <a:rPr kumimoji="0" lang="en-US" sz="800" b="0" i="0" u="none" strike="noStrike" kern="1200" cap="none" spc="0" normalizeH="0" baseline="0" noProof="0">
                <a:ln>
                  <a:noFill/>
                </a:ln>
                <a:solidFill>
                  <a:prstClr val="black"/>
                </a:solidFill>
                <a:effectLst/>
                <a:uLnTx/>
                <a:uFillTx/>
                <a:latin typeface="Arial"/>
                <a:ea typeface="+mn-ea"/>
                <a:cs typeface="+mn-cs"/>
              </a:rPr>
              <a:t> — Jin, H., Kim, K., &amp; Kwon, J. (2025). arXiv:2509.02494v1</a:t>
            </a:r>
            <a:endParaRPr kumimoji="0" lang="en-US" sz="8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a:pPr>
            <a:endParaRPr kumimoji="0" lang="en-US" sz="8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22809301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6E2694-EB55-2552-283B-AE7B6D2790CA}"/>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2C6F2-BFE9-4DA1-8335-8212BBEBDEDB}"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ooter Placeholder 2">
            <a:extLst>
              <a:ext uri="{FF2B5EF4-FFF2-40B4-BE49-F238E27FC236}">
                <a16:creationId xmlns:a16="http://schemas.microsoft.com/office/drawing/2014/main" id="{A46ECAD3-9A81-87AD-119A-AAF6E1CB85B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Slide Number Placeholder 3">
            <a:extLst>
              <a:ext uri="{FF2B5EF4-FFF2-40B4-BE49-F238E27FC236}">
                <a16:creationId xmlns:a16="http://schemas.microsoft.com/office/drawing/2014/main" id="{851AC851-F116-920F-0E49-B30AA620D2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3" name="TextBox 5">
            <a:extLst>
              <a:ext uri="{FF2B5EF4-FFF2-40B4-BE49-F238E27FC236}">
                <a16:creationId xmlns:a16="http://schemas.microsoft.com/office/drawing/2014/main" id="{01DC5156-5055-7714-D988-F3A9DEA1E65A}"/>
              </a:ext>
            </a:extLst>
          </p:cNvPr>
          <p:cNvSpPr txBox="1"/>
          <p:nvPr/>
        </p:nvSpPr>
        <p:spPr>
          <a:xfrm>
            <a:off x="511000" y="764174"/>
            <a:ext cx="5952017" cy="4343240"/>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endParaRPr kumimoji="0" lang="en-US" sz="1600" b="0" i="0" u="none" strike="noStrike" kern="1200" cap="none" spc="0" normalizeH="0" baseline="0" noProof="0">
              <a:ln>
                <a:noFill/>
              </a:ln>
              <a:solidFill>
                <a:prstClr val="black"/>
              </a:solidFill>
              <a:effectLst/>
              <a:uLnTx/>
              <a:uFillTx/>
              <a:latin typeface="Arial"/>
              <a:ea typeface="+mn-ea"/>
              <a:cs typeface="Arial"/>
            </a:endParaRPr>
          </a:p>
          <a:p>
            <a:pPr marL="1200150" marR="0" lvl="2" indent="-285750" algn="l" defTabSz="914400" rtl="0" eaLnBrk="1" fontAlgn="auto" latinLnBrk="0" hangingPunct="1">
              <a:lnSpc>
                <a:spcPct val="110000"/>
              </a:lnSpc>
              <a:spcBef>
                <a:spcPts val="0"/>
              </a:spcBef>
              <a:spcAft>
                <a:spcPts val="1200"/>
              </a:spcAft>
              <a:buClrTx/>
              <a:buSzTx/>
              <a:buFont typeface="Wingdings"/>
              <a:buChar char="§"/>
              <a:tabLst/>
              <a:defRPr/>
            </a:pPr>
            <a:endParaRPr kumimoji="0" lang="en-US" sz="16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Agentic intelligence in power systems</a:t>
            </a:r>
          </a:p>
          <a:p>
            <a:pPr marL="742950" marR="0" lvl="1" indent="-285750" algn="l" defTabSz="914400" rtl="0" eaLnBrk="1" fontAlgn="auto" latinLnBrk="0" hangingPunct="1">
              <a:lnSpc>
                <a:spcPct val="110000"/>
              </a:lnSpc>
              <a:spcBef>
                <a:spcPts val="0"/>
              </a:spcBef>
              <a:spcAft>
                <a:spcPts val="1200"/>
              </a:spcAft>
              <a:buClrTx/>
              <a:buSzTx/>
              <a:buFont typeface="Courier New"/>
              <a:buChar char="o"/>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Key blocks</a:t>
            </a:r>
          </a:p>
          <a:p>
            <a:pPr marL="1200150" marR="0" lvl="2"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600" b="0" i="0" u="none" strike="noStrike" kern="1200" cap="none" spc="0" normalizeH="0" baseline="0" noProof="0" err="1">
                <a:ln>
                  <a:noFill/>
                </a:ln>
                <a:solidFill>
                  <a:prstClr val="black"/>
                </a:solidFill>
                <a:effectLst/>
                <a:uLnTx/>
                <a:uFillTx/>
                <a:latin typeface="Arial"/>
                <a:ea typeface="+mn-ea"/>
                <a:cs typeface="Arial"/>
              </a:rPr>
              <a:t>PowerFM</a:t>
            </a:r>
            <a:r>
              <a:rPr kumimoji="0" lang="en-US" sz="1600" b="0" i="0" u="none" strike="noStrike" kern="1200" cap="none" spc="0" normalizeH="0" baseline="0" noProof="0">
                <a:ln>
                  <a:noFill/>
                </a:ln>
                <a:solidFill>
                  <a:prstClr val="black"/>
                </a:solidFill>
                <a:effectLst/>
                <a:uLnTx/>
                <a:uFillTx/>
                <a:latin typeface="Arial"/>
                <a:ea typeface="+mn-ea"/>
                <a:cs typeface="Arial"/>
              </a:rPr>
              <a:t> - Fine-tuned LLM for power systems task</a:t>
            </a:r>
          </a:p>
          <a:p>
            <a:pPr marL="1200150" marR="0" lvl="2"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600" b="0" i="0" u="none" strike="noStrike" kern="1200" cap="none" spc="0" normalizeH="0" baseline="0" noProof="0" err="1">
                <a:ln>
                  <a:noFill/>
                </a:ln>
                <a:solidFill>
                  <a:prstClr val="black"/>
                </a:solidFill>
                <a:effectLst/>
                <a:uLnTx/>
                <a:uFillTx/>
                <a:latin typeface="Arial"/>
                <a:ea typeface="+mn-ea"/>
                <a:cs typeface="Arial"/>
              </a:rPr>
              <a:t>PowerMCP</a:t>
            </a:r>
            <a:r>
              <a:rPr kumimoji="0" lang="en-US" sz="1600" b="0" i="0" u="none" strike="noStrike" kern="1200" cap="none" spc="0" normalizeH="0" baseline="0" noProof="0">
                <a:ln>
                  <a:noFill/>
                </a:ln>
                <a:solidFill>
                  <a:prstClr val="black"/>
                </a:solidFill>
                <a:effectLst/>
                <a:uLnTx/>
                <a:uFillTx/>
                <a:latin typeface="Arial"/>
                <a:ea typeface="+mn-ea"/>
                <a:cs typeface="Arial"/>
              </a:rPr>
              <a:t> - Allowing the model to interact with domain tools</a:t>
            </a:r>
          </a:p>
          <a:p>
            <a:pPr marL="1200150" marR="0" lvl="2" indent="-285750" algn="l" defTabSz="914400" rtl="0" eaLnBrk="1" fontAlgn="auto" latinLnBrk="0" hangingPunct="1">
              <a:lnSpc>
                <a:spcPct val="110000"/>
              </a:lnSpc>
              <a:spcBef>
                <a:spcPts val="0"/>
              </a:spcBef>
              <a:spcAft>
                <a:spcPts val="1200"/>
              </a:spcAft>
              <a:buClrTx/>
              <a:buSzTx/>
              <a:buFont typeface="Wingdings"/>
              <a:buChar char="§"/>
              <a:tabLst/>
              <a:defRPr/>
            </a:pPr>
            <a:r>
              <a:rPr kumimoji="0" lang="en-US" sz="1600" b="0" i="0" u="none" strike="noStrike" kern="1200" cap="none" spc="0" normalizeH="0" baseline="0" noProof="0" err="1">
                <a:ln>
                  <a:noFill/>
                </a:ln>
                <a:solidFill>
                  <a:prstClr val="black"/>
                </a:solidFill>
                <a:effectLst/>
                <a:uLnTx/>
                <a:uFillTx/>
                <a:latin typeface="Arial"/>
                <a:ea typeface="+mn-ea"/>
                <a:cs typeface="Arial"/>
              </a:rPr>
              <a:t>PowerWF</a:t>
            </a:r>
            <a:r>
              <a:rPr kumimoji="0" lang="en-US" sz="1600" b="0" i="0" u="none" strike="noStrike" kern="1200" cap="none" spc="0" normalizeH="0" baseline="0" noProof="0">
                <a:ln>
                  <a:noFill/>
                </a:ln>
                <a:solidFill>
                  <a:prstClr val="black"/>
                </a:solidFill>
                <a:effectLst/>
                <a:uLnTx/>
                <a:uFillTx/>
                <a:latin typeface="Arial"/>
                <a:ea typeface="+mn-ea"/>
                <a:cs typeface="Arial"/>
              </a:rPr>
              <a:t> – Modular agentic workflows, Multi agent</a:t>
            </a:r>
          </a:p>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r>
              <a:rPr kumimoji="0" lang="en-US" sz="1600" b="0" i="0" u="none" strike="noStrike" kern="1200" cap="none" spc="0" normalizeH="0" baseline="0" noProof="0">
                <a:ln>
                  <a:noFill/>
                </a:ln>
                <a:solidFill>
                  <a:prstClr val="black"/>
                </a:solidFill>
                <a:effectLst/>
                <a:uLnTx/>
                <a:uFillTx/>
                <a:latin typeface="Arial"/>
                <a:ea typeface="+mn-ea"/>
                <a:cs typeface="Arial"/>
              </a:rPr>
              <a:t>Demo – Integration of </a:t>
            </a:r>
            <a:r>
              <a:rPr kumimoji="0" lang="en-US" sz="1600" b="0" i="0" u="none" strike="noStrike" kern="1200" cap="none" spc="0" normalizeH="0" baseline="0" noProof="0" err="1">
                <a:ln>
                  <a:noFill/>
                </a:ln>
                <a:solidFill>
                  <a:prstClr val="black"/>
                </a:solidFill>
                <a:effectLst/>
                <a:uLnTx/>
                <a:uFillTx/>
                <a:latin typeface="Arial"/>
                <a:ea typeface="+mn-ea"/>
                <a:cs typeface="Arial"/>
              </a:rPr>
              <a:t>PowerMCP</a:t>
            </a:r>
            <a:r>
              <a:rPr kumimoji="0" lang="en-US" sz="1600" b="0" i="0" u="none" strike="noStrike" kern="1200" cap="none" spc="0" normalizeH="0" baseline="0" noProof="0">
                <a:ln>
                  <a:noFill/>
                </a:ln>
                <a:solidFill>
                  <a:prstClr val="black"/>
                </a:solidFill>
                <a:effectLst/>
                <a:uLnTx/>
                <a:uFillTx/>
                <a:latin typeface="Arial"/>
                <a:ea typeface="+mn-ea"/>
                <a:cs typeface="Arial"/>
              </a:rPr>
              <a:t> with Claude</a:t>
            </a:r>
          </a:p>
          <a:p>
            <a:pPr marL="1200150" marR="0" lvl="2" indent="-285750" algn="l" defTabSz="914400" rtl="0" eaLnBrk="1" fontAlgn="auto" latinLnBrk="0" hangingPunct="1">
              <a:lnSpc>
                <a:spcPct val="110000"/>
              </a:lnSpc>
              <a:spcBef>
                <a:spcPts val="0"/>
              </a:spcBef>
              <a:spcAft>
                <a:spcPts val="1200"/>
              </a:spcAft>
              <a:buClrTx/>
              <a:buSzTx/>
              <a:buFont typeface="Wingdings"/>
              <a:buChar char="§"/>
              <a:tabLst/>
              <a:defRPr/>
            </a:pPr>
            <a:endParaRPr kumimoji="0" lang="en-US" sz="1600" b="0" i="0" u="none" strike="noStrike" kern="1200" cap="none" spc="0" normalizeH="0" baseline="0" noProof="0">
              <a:ln>
                <a:noFill/>
              </a:ln>
              <a:solidFill>
                <a:prstClr val="black"/>
              </a:solidFill>
              <a:effectLst/>
              <a:uLnTx/>
              <a:uFillTx/>
              <a:latin typeface="Arial"/>
              <a:ea typeface="+mn-ea"/>
              <a:cs typeface="Arial"/>
            </a:endParaRPr>
          </a:p>
          <a:p>
            <a:pPr marL="285750" marR="0" lvl="0" indent="-285750" algn="l" defTabSz="914400" rtl="0" eaLnBrk="1" fontAlgn="auto" latinLnBrk="0" hangingPunct="1">
              <a:lnSpc>
                <a:spcPct val="110000"/>
              </a:lnSpc>
              <a:spcBef>
                <a:spcPts val="0"/>
              </a:spcBef>
              <a:spcAft>
                <a:spcPts val="1200"/>
              </a:spcAft>
              <a:buClrTx/>
              <a:buSzTx/>
              <a:buFont typeface="Arial"/>
              <a:buChar char="•"/>
              <a:tabLst/>
              <a:defRPr/>
            </a:pPr>
            <a:endParaRPr kumimoji="0" lang="en-US" sz="1600" b="0" i="0" u="none" strike="noStrike" kern="1200" cap="none" spc="0" normalizeH="0" baseline="0" noProof="0">
              <a:ln>
                <a:noFill/>
              </a:ln>
              <a:solidFill>
                <a:prstClr val="black"/>
              </a:solidFill>
              <a:effectLst/>
              <a:uLnTx/>
              <a:uFillTx/>
              <a:latin typeface="Arial"/>
              <a:ea typeface="+mn-ea"/>
              <a:cs typeface="Arial"/>
            </a:endParaRPr>
          </a:p>
        </p:txBody>
      </p:sp>
      <p:sp>
        <p:nvSpPr>
          <p:cNvPr id="35" name="Titel 26">
            <a:extLst>
              <a:ext uri="{FF2B5EF4-FFF2-40B4-BE49-F238E27FC236}">
                <a16:creationId xmlns:a16="http://schemas.microsoft.com/office/drawing/2014/main" id="{A339A3D8-AC1B-7733-AAAB-88FB77A3DE5A}"/>
              </a:ext>
            </a:extLst>
          </p:cNvPr>
          <p:cNvSpPr>
            <a:spLocks noGrp="1"/>
          </p:cNvSpPr>
          <p:nvPr>
            <p:ph type="title"/>
          </p:nvPr>
        </p:nvSpPr>
        <p:spPr>
          <a:xfrm>
            <a:off x="518318" y="301185"/>
            <a:ext cx="6844385" cy="332399"/>
          </a:xfrm>
        </p:spPr>
        <p:txBody>
          <a:bodyPr/>
          <a:lstStyle/>
          <a:p>
            <a:r>
              <a:rPr lang="en-US">
                <a:cs typeface="Arial"/>
              </a:rPr>
              <a:t>PowerAgent </a:t>
            </a:r>
            <a:endParaRPr lang="en-US"/>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A7410DD5-7A01-9D69-E6CE-5C7E1300A3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8A6A6D0-5405-7A6E-494E-4185A89BDE4E}"/>
              </a:ext>
            </a:extLst>
          </p:cNvPr>
          <p:cNvPicPr>
            <a:picLocks noChangeAspect="1"/>
          </p:cNvPicPr>
          <p:nvPr/>
        </p:nvPicPr>
        <p:blipFill>
          <a:blip r:embed="rId3"/>
          <a:stretch>
            <a:fillRect/>
          </a:stretch>
        </p:blipFill>
        <p:spPr>
          <a:xfrm>
            <a:off x="7850254" y="383634"/>
            <a:ext cx="1279737" cy="249949"/>
          </a:xfrm>
          <a:prstGeom prst="rect">
            <a:avLst/>
          </a:prstGeom>
        </p:spPr>
      </p:pic>
      <p:pic>
        <p:nvPicPr>
          <p:cNvPr id="7" name="Picture 6" descr="A logo with blue text&#10;&#10;AI-generated content may be incorrect.">
            <a:extLst>
              <a:ext uri="{FF2B5EF4-FFF2-40B4-BE49-F238E27FC236}">
                <a16:creationId xmlns:a16="http://schemas.microsoft.com/office/drawing/2014/main" id="{55EE2BD3-96D1-7B80-143A-F20459AD1D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F6707D6-0147-D9CA-FECB-0FC33FFA786E}"/>
              </a:ext>
            </a:extLst>
          </p:cNvPr>
          <p:cNvPicPr>
            <a:picLocks noChangeAspect="1"/>
          </p:cNvPicPr>
          <p:nvPr/>
        </p:nvPicPr>
        <p:blipFill>
          <a:blip r:embed="rId5"/>
          <a:stretch>
            <a:fillRect/>
          </a:stretch>
        </p:blipFill>
        <p:spPr>
          <a:xfrm>
            <a:off x="6486745" y="3038475"/>
            <a:ext cx="5705035" cy="3276600"/>
          </a:xfrm>
          <a:prstGeom prst="rect">
            <a:avLst/>
          </a:prstGeom>
        </p:spPr>
      </p:pic>
    </p:spTree>
    <p:extLst>
      <p:ext uri="{BB962C8B-B14F-4D97-AF65-F5344CB8AC3E}">
        <p14:creationId xmlns:p14="http://schemas.microsoft.com/office/powerpoint/2010/main" val="11490179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4FC5-2580-7093-D50F-17204AE22F55}"/>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28E6AE62-89F2-C708-74D8-2F38FB307EE5}"/>
              </a:ext>
            </a:extLst>
          </p:cNvPr>
          <p:cNvSpPr>
            <a:spLocks noGrp="1"/>
          </p:cNvSpPr>
          <p:nvPr>
            <p:ph type="title"/>
          </p:nvPr>
        </p:nvSpPr>
        <p:spPr>
          <a:xfrm>
            <a:off x="518318" y="2598004"/>
            <a:ext cx="11157743" cy="1661993"/>
          </a:xfrm>
        </p:spPr>
        <p:txBody>
          <a:bodyPr/>
          <a:lstStyle/>
          <a:p>
            <a:r>
              <a:rPr lang="en-US" b="1" dirty="0">
                <a:effectLst/>
              </a:rPr>
              <a:t>Data roadmap (beyond CGMES to include GIS/SCADA/AMI/Bendor data sources) (5 min) — EES, All</a:t>
            </a:r>
            <a:endParaRPr lang="de-DE" dirty="0"/>
          </a:p>
        </p:txBody>
      </p:sp>
      <p:sp>
        <p:nvSpPr>
          <p:cNvPr id="2" name="Datumsplatzhalter 1">
            <a:extLst>
              <a:ext uri="{FF2B5EF4-FFF2-40B4-BE49-F238E27FC236}">
                <a16:creationId xmlns:a16="http://schemas.microsoft.com/office/drawing/2014/main" id="{8DD72B18-4943-F38B-626C-03598068781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622E95-EE2D-4F19-BA8F-A725A705DEB9}" type="datetime4">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94170347-8DE4-A87B-C2A0-5A20CDB7933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FFFFFF"/>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FB178975-0698-8DCD-AFB3-93E9CD96D9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de-DE" sz="800" b="0" i="0" u="none" strike="noStrike" kern="1200" cap="none" spc="0" normalizeH="0" baseline="0" noProof="0">
              <a:ln>
                <a:noFill/>
              </a:ln>
              <a:solidFill>
                <a:srgbClr val="FFFFFF"/>
              </a:solidFill>
              <a:effectLst/>
              <a:uLnTx/>
              <a:uFillTx/>
              <a:latin typeface="Arial"/>
              <a:ea typeface="+mn-ea"/>
              <a:cs typeface="+mn-cs"/>
            </a:endParaRPr>
          </a:p>
        </p:txBody>
      </p:sp>
      <p:pic>
        <p:nvPicPr>
          <p:cNvPr id="5" name="Picture 4" descr="OPAL-RT and SCALABLE Network Technologies Provide Real-time Cyber-Physical  Solution to New York Power Authority - OPAL-RT">
            <a:extLst>
              <a:ext uri="{FF2B5EF4-FFF2-40B4-BE49-F238E27FC236}">
                <a16:creationId xmlns:a16="http://schemas.microsoft.com/office/drawing/2014/main" id="{5F090106-BBA9-E4D2-62B5-FE762B82B6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0387" y="463403"/>
            <a:ext cx="1583150" cy="2937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ED65F31-149D-C756-A873-C205A625D40A}"/>
              </a:ext>
            </a:extLst>
          </p:cNvPr>
          <p:cNvPicPr>
            <a:picLocks noChangeAspect="1"/>
          </p:cNvPicPr>
          <p:nvPr/>
        </p:nvPicPr>
        <p:blipFill>
          <a:blip r:embed="rId4"/>
          <a:stretch>
            <a:fillRect/>
          </a:stretch>
        </p:blipFill>
        <p:spPr>
          <a:xfrm>
            <a:off x="6727357" y="408274"/>
            <a:ext cx="1583150" cy="309209"/>
          </a:xfrm>
          <a:prstGeom prst="rect">
            <a:avLst/>
          </a:prstGeom>
        </p:spPr>
      </p:pic>
      <p:pic>
        <p:nvPicPr>
          <p:cNvPr id="7" name="Picture 6" descr="A logo with blue text&#10;&#10;AI-generated content may be incorrect.">
            <a:extLst>
              <a:ext uri="{FF2B5EF4-FFF2-40B4-BE49-F238E27FC236}">
                <a16:creationId xmlns:a16="http://schemas.microsoft.com/office/drawing/2014/main" id="{F930408E-CFC6-811A-9579-69E47D5E35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2910" y="249855"/>
            <a:ext cx="1945490" cy="737665"/>
          </a:xfrm>
          <a:prstGeom prst="rect">
            <a:avLst/>
          </a:prstGeom>
        </p:spPr>
      </p:pic>
    </p:spTree>
    <p:extLst>
      <p:ext uri="{BB962C8B-B14F-4D97-AF65-F5344CB8AC3E}">
        <p14:creationId xmlns:p14="http://schemas.microsoft.com/office/powerpoint/2010/main" val="9058778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B70D-BE25-5E95-9FA2-4AB972F2EAF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B2FEFD1-279D-715D-B71C-19CBCBF72A0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846FC92E-442C-05AD-BA17-61CAEFC0D38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F6AB5398-8853-120C-E25F-C0A238C1006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B8A82C0A-0B1B-0618-E292-D4CB3DDFE2D2}"/>
              </a:ext>
            </a:extLst>
          </p:cNvPr>
          <p:cNvSpPr>
            <a:spLocks noGrp="1"/>
          </p:cNvSpPr>
          <p:nvPr>
            <p:ph type="title"/>
          </p:nvPr>
        </p:nvSpPr>
        <p:spPr/>
        <p:txBody>
          <a:bodyPr/>
          <a:lstStyle/>
          <a:p>
            <a:r>
              <a:rPr lang="en-US" dirty="0" err="1">
                <a:cs typeface="Arial"/>
              </a:rPr>
              <a:t>UtilityTwin</a:t>
            </a:r>
            <a:r>
              <a:rPr lang="en-US" dirty="0">
                <a:cs typeface="Arial"/>
              </a:rPr>
              <a:t> case</a:t>
            </a: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68F519F8-6478-74B2-7EA1-6C42C7EAE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BAEF9857-ABC6-608F-579F-01E509764375}"/>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4F296468-FE5C-A5E3-809F-0A05674EDF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grpSp>
        <p:nvGrpSpPr>
          <p:cNvPr id="5" name="Gruppieren 1">
            <a:extLst>
              <a:ext uri="{FF2B5EF4-FFF2-40B4-BE49-F238E27FC236}">
                <a16:creationId xmlns:a16="http://schemas.microsoft.com/office/drawing/2014/main" id="{CC9D1ACF-62EB-10DD-92FA-C4064ADB7D9C}"/>
              </a:ext>
            </a:extLst>
          </p:cNvPr>
          <p:cNvGrpSpPr/>
          <p:nvPr/>
        </p:nvGrpSpPr>
        <p:grpSpPr>
          <a:xfrm>
            <a:off x="590766" y="1826047"/>
            <a:ext cx="5172474" cy="4564712"/>
            <a:chOff x="754193" y="1638300"/>
            <a:chExt cx="5172474" cy="4564712"/>
          </a:xfrm>
        </p:grpSpPr>
        <p:grpSp>
          <p:nvGrpSpPr>
            <p:cNvPr id="6" name="Gruppieren 5">
              <a:extLst>
                <a:ext uri="{FF2B5EF4-FFF2-40B4-BE49-F238E27FC236}">
                  <a16:creationId xmlns:a16="http://schemas.microsoft.com/office/drawing/2014/main" id="{29753D2F-5E58-89A1-F419-AF9B559A2BCF}"/>
                </a:ext>
              </a:extLst>
            </p:cNvPr>
            <p:cNvGrpSpPr/>
            <p:nvPr/>
          </p:nvGrpSpPr>
          <p:grpSpPr>
            <a:xfrm>
              <a:off x="1150307" y="3576270"/>
              <a:ext cx="4406180" cy="2626742"/>
              <a:chOff x="2988508" y="23118033"/>
              <a:chExt cx="11305902" cy="5950225"/>
            </a:xfrm>
          </p:grpSpPr>
          <p:grpSp>
            <p:nvGrpSpPr>
              <p:cNvPr id="30" name="Gruppieren 30">
                <a:extLst>
                  <a:ext uri="{FF2B5EF4-FFF2-40B4-BE49-F238E27FC236}">
                    <a16:creationId xmlns:a16="http://schemas.microsoft.com/office/drawing/2014/main" id="{1D51EF7C-84D1-30D2-21DD-5129C46943E5}"/>
                  </a:ext>
                </a:extLst>
              </p:cNvPr>
              <p:cNvGrpSpPr/>
              <p:nvPr/>
            </p:nvGrpSpPr>
            <p:grpSpPr>
              <a:xfrm>
                <a:off x="4210685" y="24417324"/>
                <a:ext cx="8637630" cy="4650934"/>
                <a:chOff x="3932650" y="23462965"/>
                <a:chExt cx="9556123" cy="5621349"/>
              </a:xfrm>
            </p:grpSpPr>
            <p:grpSp>
              <p:nvGrpSpPr>
                <p:cNvPr id="57" name="Gruppieren 164">
                  <a:extLst>
                    <a:ext uri="{FF2B5EF4-FFF2-40B4-BE49-F238E27FC236}">
                      <a16:creationId xmlns:a16="http://schemas.microsoft.com/office/drawing/2014/main" id="{A5C093B7-1B96-3423-1784-CACB145B9429}"/>
                    </a:ext>
                  </a:extLst>
                </p:cNvPr>
                <p:cNvGrpSpPr/>
                <p:nvPr/>
              </p:nvGrpSpPr>
              <p:grpSpPr>
                <a:xfrm>
                  <a:off x="7537640" y="26622782"/>
                  <a:ext cx="2520280" cy="2461532"/>
                  <a:chOff x="7537640" y="26622782"/>
                  <a:chExt cx="2520280" cy="2461532"/>
                </a:xfrm>
              </p:grpSpPr>
              <p:sp>
                <p:nvSpPr>
                  <p:cNvPr id="93" name="Textfeld 200">
                    <a:extLst>
                      <a:ext uri="{FF2B5EF4-FFF2-40B4-BE49-F238E27FC236}">
                        <a16:creationId xmlns:a16="http://schemas.microsoft.com/office/drawing/2014/main" id="{54462EB8-3FB1-894C-1A84-31FE28003F7A}"/>
                      </a:ext>
                    </a:extLst>
                  </p:cNvPr>
                  <p:cNvSpPr txBox="1"/>
                  <p:nvPr/>
                </p:nvSpPr>
                <p:spPr>
                  <a:xfrm>
                    <a:off x="7537640" y="28498599"/>
                    <a:ext cx="2520280"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Utility Twin</a:t>
                    </a:r>
                  </a:p>
                </p:txBody>
              </p:sp>
              <p:pic>
                <p:nvPicPr>
                  <p:cNvPr id="94" name="Content Placeholder 3">
                    <a:extLst>
                      <a:ext uri="{FF2B5EF4-FFF2-40B4-BE49-F238E27FC236}">
                        <a16:creationId xmlns:a16="http://schemas.microsoft.com/office/drawing/2014/main" id="{F6381C57-B694-747C-A871-E5EA753492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90972" y="26622782"/>
                    <a:ext cx="2074616" cy="1702075"/>
                  </a:xfrm>
                  <a:prstGeom prst="rect">
                    <a:avLst/>
                  </a:prstGeom>
                </p:spPr>
              </p:pic>
            </p:grpSp>
            <p:grpSp>
              <p:nvGrpSpPr>
                <p:cNvPr id="58" name="Gruppieren 165">
                  <a:extLst>
                    <a:ext uri="{FF2B5EF4-FFF2-40B4-BE49-F238E27FC236}">
                      <a16:creationId xmlns:a16="http://schemas.microsoft.com/office/drawing/2014/main" id="{9DD209E0-10FC-83C4-3CF0-CB4D51284178}"/>
                    </a:ext>
                  </a:extLst>
                </p:cNvPr>
                <p:cNvGrpSpPr/>
                <p:nvPr/>
              </p:nvGrpSpPr>
              <p:grpSpPr>
                <a:xfrm>
                  <a:off x="6725594" y="23462965"/>
                  <a:ext cx="1439506" cy="1715342"/>
                  <a:chOff x="7886732" y="23185552"/>
                  <a:chExt cx="1439506" cy="1715342"/>
                </a:xfrm>
              </p:grpSpPr>
              <p:pic>
                <p:nvPicPr>
                  <p:cNvPr id="91" name="Grafik 198">
                    <a:extLst>
                      <a:ext uri="{FF2B5EF4-FFF2-40B4-BE49-F238E27FC236}">
                        <a16:creationId xmlns:a16="http://schemas.microsoft.com/office/drawing/2014/main" id="{A2CDDC46-C386-01C5-FCE2-D181AB5FA9F3}"/>
                      </a:ext>
                    </a:extLst>
                  </p:cNvPr>
                  <p:cNvPicPr>
                    <a:picLocks noChangeAspect="1"/>
                  </p:cNvPicPr>
                  <p:nvPr/>
                </p:nvPicPr>
                <p:blipFill>
                  <a:blip r:embed="rId7"/>
                  <a:stretch>
                    <a:fillRect/>
                  </a:stretch>
                </p:blipFill>
                <p:spPr>
                  <a:xfrm>
                    <a:off x="8040945" y="23771268"/>
                    <a:ext cx="1131081" cy="1129626"/>
                  </a:xfrm>
                  <a:prstGeom prst="rect">
                    <a:avLst/>
                  </a:prstGeom>
                </p:spPr>
              </p:pic>
              <p:sp>
                <p:nvSpPr>
                  <p:cNvPr id="92" name="Textfeld 199">
                    <a:extLst>
                      <a:ext uri="{FF2B5EF4-FFF2-40B4-BE49-F238E27FC236}">
                        <a16:creationId xmlns:a16="http://schemas.microsoft.com/office/drawing/2014/main" id="{AA113AB6-CD6F-CCB1-8999-FF006F8D5831}"/>
                      </a:ext>
                    </a:extLst>
                  </p:cNvPr>
                  <p:cNvSpPr txBox="1"/>
                  <p:nvPr/>
                </p:nvSpPr>
                <p:spPr>
                  <a:xfrm>
                    <a:off x="7886732" y="23185552"/>
                    <a:ext cx="143950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Network</a:t>
                    </a:r>
                  </a:p>
                </p:txBody>
              </p:sp>
            </p:grpSp>
            <p:grpSp>
              <p:nvGrpSpPr>
                <p:cNvPr id="59" name="Gruppieren 166">
                  <a:extLst>
                    <a:ext uri="{FF2B5EF4-FFF2-40B4-BE49-F238E27FC236}">
                      <a16:creationId xmlns:a16="http://schemas.microsoft.com/office/drawing/2014/main" id="{CD91A946-61FC-D7E7-C5B0-A25745502749}"/>
                    </a:ext>
                  </a:extLst>
                </p:cNvPr>
                <p:cNvGrpSpPr/>
                <p:nvPr/>
              </p:nvGrpSpPr>
              <p:grpSpPr>
                <a:xfrm>
                  <a:off x="11087242" y="24788638"/>
                  <a:ext cx="1439506" cy="1513194"/>
                  <a:chOff x="10891985" y="23623516"/>
                  <a:chExt cx="1439506" cy="1513194"/>
                </a:xfrm>
              </p:grpSpPr>
              <p:sp>
                <p:nvSpPr>
                  <p:cNvPr id="89" name="Textfeld 196">
                    <a:extLst>
                      <a:ext uri="{FF2B5EF4-FFF2-40B4-BE49-F238E27FC236}">
                        <a16:creationId xmlns:a16="http://schemas.microsoft.com/office/drawing/2014/main" id="{23EB0D8D-11FD-D661-37F8-21085DD85F88}"/>
                      </a:ext>
                    </a:extLst>
                  </p:cNvPr>
                  <p:cNvSpPr txBox="1"/>
                  <p:nvPr/>
                </p:nvSpPr>
                <p:spPr>
                  <a:xfrm>
                    <a:off x="10891985" y="23623516"/>
                    <a:ext cx="143950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err="1">
                        <a:ln>
                          <a:noFill/>
                        </a:ln>
                        <a:solidFill>
                          <a:srgbClr val="003864"/>
                        </a:solidFill>
                        <a:effectLst/>
                        <a:uLnTx/>
                        <a:uFillTx/>
                        <a:latin typeface="Helvetica" panose="020B0604020202020204" pitchFamily="34" charset="0"/>
                        <a:ea typeface="+mn-ea"/>
                        <a:cs typeface="Helvetica" panose="020B0604020202020204" pitchFamily="34" charset="0"/>
                      </a:rPr>
                      <a:t>Cadastre</a:t>
                    </a:r>
                    <a:endPar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endParaRPr>
                  </a:p>
                </p:txBody>
              </p:sp>
              <p:pic>
                <p:nvPicPr>
                  <p:cNvPr id="90" name="Grafik 197">
                    <a:extLst>
                      <a:ext uri="{FF2B5EF4-FFF2-40B4-BE49-F238E27FC236}">
                        <a16:creationId xmlns:a16="http://schemas.microsoft.com/office/drawing/2014/main" id="{D9BC2E38-A116-9F10-328B-1D12AA7A7F27}"/>
                      </a:ext>
                    </a:extLst>
                  </p:cNvPr>
                  <p:cNvPicPr>
                    <a:picLocks noChangeAspect="1"/>
                  </p:cNvPicPr>
                  <p:nvPr/>
                </p:nvPicPr>
                <p:blipFill>
                  <a:blip r:embed="rId8"/>
                  <a:stretch>
                    <a:fillRect/>
                  </a:stretch>
                </p:blipFill>
                <p:spPr>
                  <a:xfrm>
                    <a:off x="11171280" y="24203633"/>
                    <a:ext cx="933077" cy="933077"/>
                  </a:xfrm>
                  <a:prstGeom prst="rect">
                    <a:avLst/>
                  </a:prstGeom>
                </p:spPr>
              </p:pic>
            </p:grpSp>
            <p:grpSp>
              <p:nvGrpSpPr>
                <p:cNvPr id="60" name="Gruppieren 167">
                  <a:extLst>
                    <a:ext uri="{FF2B5EF4-FFF2-40B4-BE49-F238E27FC236}">
                      <a16:creationId xmlns:a16="http://schemas.microsoft.com/office/drawing/2014/main" id="{A36D5CED-A8A2-6F70-469E-0947962FBA84}"/>
                    </a:ext>
                  </a:extLst>
                </p:cNvPr>
                <p:cNvGrpSpPr/>
                <p:nvPr/>
              </p:nvGrpSpPr>
              <p:grpSpPr>
                <a:xfrm>
                  <a:off x="4739119" y="24788638"/>
                  <a:ext cx="1074306" cy="1339204"/>
                  <a:chOff x="4797634" y="23670596"/>
                  <a:chExt cx="1074306" cy="1339204"/>
                </a:xfrm>
              </p:grpSpPr>
              <p:sp>
                <p:nvSpPr>
                  <p:cNvPr id="87" name="Textfeld 194">
                    <a:extLst>
                      <a:ext uri="{FF2B5EF4-FFF2-40B4-BE49-F238E27FC236}">
                        <a16:creationId xmlns:a16="http://schemas.microsoft.com/office/drawing/2014/main" id="{F911DF7E-C441-582A-DE88-62B2D3DB229A}"/>
                      </a:ext>
                    </a:extLst>
                  </p:cNvPr>
                  <p:cNvSpPr txBox="1"/>
                  <p:nvPr/>
                </p:nvSpPr>
                <p:spPr>
                  <a:xfrm>
                    <a:off x="4797634" y="23670596"/>
                    <a:ext cx="107430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Meter</a:t>
                    </a:r>
                  </a:p>
                </p:txBody>
              </p:sp>
              <p:pic>
                <p:nvPicPr>
                  <p:cNvPr id="88" name="Grafik 195">
                    <a:extLst>
                      <a:ext uri="{FF2B5EF4-FFF2-40B4-BE49-F238E27FC236}">
                        <a16:creationId xmlns:a16="http://schemas.microsoft.com/office/drawing/2014/main" id="{E599B5F0-67F1-9CBC-52AC-B140259E4CD4}"/>
                      </a:ext>
                    </a:extLst>
                  </p:cNvPr>
                  <p:cNvPicPr>
                    <a:picLocks noChangeAspect="1"/>
                  </p:cNvPicPr>
                  <p:nvPr/>
                </p:nvPicPr>
                <p:blipFill>
                  <a:blip r:embed="rId9"/>
                  <a:stretch>
                    <a:fillRect/>
                  </a:stretch>
                </p:blipFill>
                <p:spPr>
                  <a:xfrm>
                    <a:off x="5046430" y="24203633"/>
                    <a:ext cx="757797" cy="806167"/>
                  </a:xfrm>
                  <a:prstGeom prst="rect">
                    <a:avLst/>
                  </a:prstGeom>
                </p:spPr>
              </p:pic>
            </p:grpSp>
            <p:grpSp>
              <p:nvGrpSpPr>
                <p:cNvPr id="61" name="Gruppieren 168">
                  <a:extLst>
                    <a:ext uri="{FF2B5EF4-FFF2-40B4-BE49-F238E27FC236}">
                      <a16:creationId xmlns:a16="http://schemas.microsoft.com/office/drawing/2014/main" id="{4B477F6C-9742-41C5-A7AD-1107CC4E1571}"/>
                    </a:ext>
                  </a:extLst>
                </p:cNvPr>
                <p:cNvGrpSpPr/>
                <p:nvPr/>
              </p:nvGrpSpPr>
              <p:grpSpPr>
                <a:xfrm>
                  <a:off x="3932650" y="26856516"/>
                  <a:ext cx="1759346" cy="1350633"/>
                  <a:chOff x="3015395" y="26077101"/>
                  <a:chExt cx="1759346" cy="1350633"/>
                </a:xfrm>
              </p:grpSpPr>
              <p:sp>
                <p:nvSpPr>
                  <p:cNvPr id="85" name="Textfeld 192">
                    <a:extLst>
                      <a:ext uri="{FF2B5EF4-FFF2-40B4-BE49-F238E27FC236}">
                        <a16:creationId xmlns:a16="http://schemas.microsoft.com/office/drawing/2014/main" id="{DC36F5FD-8893-9EA3-354D-F93F008F9A7D}"/>
                      </a:ext>
                    </a:extLst>
                  </p:cNvPr>
                  <p:cNvSpPr txBox="1"/>
                  <p:nvPr/>
                </p:nvSpPr>
                <p:spPr>
                  <a:xfrm>
                    <a:off x="3015395" y="26077101"/>
                    <a:ext cx="175934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Consumer</a:t>
                    </a:r>
                  </a:p>
                </p:txBody>
              </p:sp>
              <p:pic>
                <p:nvPicPr>
                  <p:cNvPr id="86" name="Grafik 193">
                    <a:extLst>
                      <a:ext uri="{FF2B5EF4-FFF2-40B4-BE49-F238E27FC236}">
                        <a16:creationId xmlns:a16="http://schemas.microsoft.com/office/drawing/2014/main" id="{3414455F-C4AC-1929-F33F-04C4687A6B23}"/>
                      </a:ext>
                    </a:extLst>
                  </p:cNvPr>
                  <p:cNvPicPr>
                    <a:picLocks noChangeAspect="1"/>
                  </p:cNvPicPr>
                  <p:nvPr/>
                </p:nvPicPr>
                <p:blipFill>
                  <a:blip r:embed="rId10"/>
                  <a:stretch>
                    <a:fillRect/>
                  </a:stretch>
                </p:blipFill>
                <p:spPr>
                  <a:xfrm>
                    <a:off x="3428232" y="26494063"/>
                    <a:ext cx="933671" cy="933671"/>
                  </a:xfrm>
                  <a:prstGeom prst="rect">
                    <a:avLst/>
                  </a:prstGeom>
                </p:spPr>
              </p:pic>
            </p:grpSp>
            <p:grpSp>
              <p:nvGrpSpPr>
                <p:cNvPr id="62" name="Gruppieren 169">
                  <a:extLst>
                    <a:ext uri="{FF2B5EF4-FFF2-40B4-BE49-F238E27FC236}">
                      <a16:creationId xmlns:a16="http://schemas.microsoft.com/office/drawing/2014/main" id="{B6522221-46B7-1037-0977-ED7D697013A2}"/>
                    </a:ext>
                  </a:extLst>
                </p:cNvPr>
                <p:cNvGrpSpPr/>
                <p:nvPr/>
              </p:nvGrpSpPr>
              <p:grpSpPr>
                <a:xfrm>
                  <a:off x="12049267" y="26859651"/>
                  <a:ext cx="1439506" cy="1352832"/>
                  <a:chOff x="12375165" y="26069262"/>
                  <a:chExt cx="1439506" cy="1352832"/>
                </a:xfrm>
              </p:grpSpPr>
              <p:sp>
                <p:nvSpPr>
                  <p:cNvPr id="83" name="Textfeld 190">
                    <a:extLst>
                      <a:ext uri="{FF2B5EF4-FFF2-40B4-BE49-F238E27FC236}">
                        <a16:creationId xmlns:a16="http://schemas.microsoft.com/office/drawing/2014/main" id="{F68E3445-AC6C-A8BD-373B-C75D61A7892A}"/>
                      </a:ext>
                    </a:extLst>
                  </p:cNvPr>
                  <p:cNvSpPr txBox="1"/>
                  <p:nvPr/>
                </p:nvSpPr>
                <p:spPr>
                  <a:xfrm>
                    <a:off x="12375165" y="26069262"/>
                    <a:ext cx="143950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Weather</a:t>
                    </a:r>
                  </a:p>
                </p:txBody>
              </p:sp>
              <p:pic>
                <p:nvPicPr>
                  <p:cNvPr id="84" name="Grafik 191">
                    <a:extLst>
                      <a:ext uri="{FF2B5EF4-FFF2-40B4-BE49-F238E27FC236}">
                        <a16:creationId xmlns:a16="http://schemas.microsoft.com/office/drawing/2014/main" id="{EE52C3DB-060E-291A-3208-40763A828E05}"/>
                      </a:ext>
                    </a:extLst>
                  </p:cNvPr>
                  <p:cNvPicPr>
                    <a:picLocks noChangeAspect="1"/>
                  </p:cNvPicPr>
                  <p:nvPr/>
                </p:nvPicPr>
                <p:blipFill rotWithShape="1">
                  <a:blip r:embed="rId11"/>
                  <a:srcRect l="9676" t="28847" r="15786" b="20153"/>
                  <a:stretch/>
                </p:blipFill>
                <p:spPr>
                  <a:xfrm>
                    <a:off x="12410842" y="26485990"/>
                    <a:ext cx="1368152" cy="936104"/>
                  </a:xfrm>
                  <a:prstGeom prst="rect">
                    <a:avLst/>
                  </a:prstGeom>
                </p:spPr>
              </p:pic>
            </p:grpSp>
            <p:grpSp>
              <p:nvGrpSpPr>
                <p:cNvPr id="63" name="Gruppieren 170">
                  <a:extLst>
                    <a:ext uri="{FF2B5EF4-FFF2-40B4-BE49-F238E27FC236}">
                      <a16:creationId xmlns:a16="http://schemas.microsoft.com/office/drawing/2014/main" id="{227F0D8A-2083-7DC3-70CF-6E91837453A7}"/>
                    </a:ext>
                  </a:extLst>
                </p:cNvPr>
                <p:cNvGrpSpPr/>
                <p:nvPr/>
              </p:nvGrpSpPr>
              <p:grpSpPr>
                <a:xfrm>
                  <a:off x="9174559" y="23492494"/>
                  <a:ext cx="1439506" cy="1636337"/>
                  <a:chOff x="9269676" y="23293180"/>
                  <a:chExt cx="1439506" cy="1636337"/>
                </a:xfrm>
              </p:grpSpPr>
              <p:sp>
                <p:nvSpPr>
                  <p:cNvPr id="72" name="Textfeld 179">
                    <a:extLst>
                      <a:ext uri="{FF2B5EF4-FFF2-40B4-BE49-F238E27FC236}">
                        <a16:creationId xmlns:a16="http://schemas.microsoft.com/office/drawing/2014/main" id="{F50611E6-BEA8-9522-952A-B2F296624077}"/>
                      </a:ext>
                    </a:extLst>
                  </p:cNvPr>
                  <p:cNvSpPr txBox="1"/>
                  <p:nvPr/>
                </p:nvSpPr>
                <p:spPr>
                  <a:xfrm>
                    <a:off x="9269676" y="23293180"/>
                    <a:ext cx="1439506" cy="585715"/>
                  </a:xfrm>
                  <a:prstGeom prst="rect">
                    <a:avLst/>
                  </a:prstGeom>
                </p:spPr>
                <p:txBody>
                  <a:bodyPr wrap="none" rtlCol="0" anchor="t" anchorCtr="0">
                    <a:normAutofit fontScale="77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SCADA</a:t>
                    </a:r>
                  </a:p>
                </p:txBody>
              </p:sp>
              <p:grpSp>
                <p:nvGrpSpPr>
                  <p:cNvPr id="73" name="Gruppieren 180">
                    <a:extLst>
                      <a:ext uri="{FF2B5EF4-FFF2-40B4-BE49-F238E27FC236}">
                        <a16:creationId xmlns:a16="http://schemas.microsoft.com/office/drawing/2014/main" id="{A2B361EA-499A-BE18-FEE4-8B4AF2553B14}"/>
                      </a:ext>
                    </a:extLst>
                  </p:cNvPr>
                  <p:cNvGrpSpPr/>
                  <p:nvPr/>
                </p:nvGrpSpPr>
                <p:grpSpPr>
                  <a:xfrm>
                    <a:off x="9413530" y="23853514"/>
                    <a:ext cx="1044299" cy="1076003"/>
                    <a:chOff x="9413530" y="23853514"/>
                    <a:chExt cx="1044299" cy="1076003"/>
                  </a:xfrm>
                </p:grpSpPr>
                <p:cxnSp>
                  <p:nvCxnSpPr>
                    <p:cNvPr id="74" name="Gerader Verbinder 181">
                      <a:extLst>
                        <a:ext uri="{FF2B5EF4-FFF2-40B4-BE49-F238E27FC236}">
                          <a16:creationId xmlns:a16="http://schemas.microsoft.com/office/drawing/2014/main" id="{7B0470B8-39E1-FD67-10EF-B845F99E30FA}"/>
                        </a:ext>
                      </a:extLst>
                    </p:cNvPr>
                    <p:cNvCxnSpPr/>
                    <p:nvPr/>
                  </p:nvCxnSpPr>
                  <p:spPr>
                    <a:xfrm flipV="1">
                      <a:off x="9708953" y="24385921"/>
                      <a:ext cx="0" cy="10380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75" name="Gruppieren 182">
                      <a:extLst>
                        <a:ext uri="{FF2B5EF4-FFF2-40B4-BE49-F238E27FC236}">
                          <a16:creationId xmlns:a16="http://schemas.microsoft.com/office/drawing/2014/main" id="{C662C9D5-609B-644E-9475-64623C11BA1B}"/>
                        </a:ext>
                      </a:extLst>
                    </p:cNvPr>
                    <p:cNvGrpSpPr/>
                    <p:nvPr/>
                  </p:nvGrpSpPr>
                  <p:grpSpPr>
                    <a:xfrm>
                      <a:off x="9413530" y="23853514"/>
                      <a:ext cx="1044299" cy="1076003"/>
                      <a:chOff x="9413530" y="23853514"/>
                      <a:chExt cx="1044299" cy="1076003"/>
                    </a:xfrm>
                  </p:grpSpPr>
                  <p:pic>
                    <p:nvPicPr>
                      <p:cNvPr id="76" name="Grafik 183">
                        <a:extLst>
                          <a:ext uri="{FF2B5EF4-FFF2-40B4-BE49-F238E27FC236}">
                            <a16:creationId xmlns:a16="http://schemas.microsoft.com/office/drawing/2014/main" id="{2577D89B-6774-AF6E-4DF7-31AF4B5AB061}"/>
                          </a:ext>
                        </a:extLst>
                      </p:cNvPr>
                      <p:cNvPicPr>
                        <a:picLocks noChangeAspect="1"/>
                      </p:cNvPicPr>
                      <p:nvPr/>
                    </p:nvPicPr>
                    <p:blipFill>
                      <a:blip r:embed="rId12"/>
                      <a:stretch>
                        <a:fillRect/>
                      </a:stretch>
                    </p:blipFill>
                    <p:spPr>
                      <a:xfrm>
                        <a:off x="10017524" y="23853514"/>
                        <a:ext cx="440305" cy="440305"/>
                      </a:xfrm>
                      <a:prstGeom prst="rect">
                        <a:avLst/>
                      </a:prstGeom>
                    </p:spPr>
                  </p:pic>
                  <p:pic>
                    <p:nvPicPr>
                      <p:cNvPr id="77" name="Grafik 184">
                        <a:extLst>
                          <a:ext uri="{FF2B5EF4-FFF2-40B4-BE49-F238E27FC236}">
                            <a16:creationId xmlns:a16="http://schemas.microsoft.com/office/drawing/2014/main" id="{E8048E91-3990-21FE-36EB-360786DFFA28}"/>
                          </a:ext>
                        </a:extLst>
                      </p:cNvPr>
                      <p:cNvPicPr>
                        <a:picLocks noChangeAspect="1"/>
                      </p:cNvPicPr>
                      <p:nvPr/>
                    </p:nvPicPr>
                    <p:blipFill>
                      <a:blip r:embed="rId13"/>
                      <a:stretch>
                        <a:fillRect/>
                      </a:stretch>
                    </p:blipFill>
                    <p:spPr>
                      <a:xfrm>
                        <a:off x="9413530" y="23856383"/>
                        <a:ext cx="590846" cy="590846"/>
                      </a:xfrm>
                      <a:prstGeom prst="rect">
                        <a:avLst/>
                      </a:prstGeom>
                    </p:spPr>
                  </p:pic>
                  <p:pic>
                    <p:nvPicPr>
                      <p:cNvPr id="78" name="Grafik 185">
                        <a:extLst>
                          <a:ext uri="{FF2B5EF4-FFF2-40B4-BE49-F238E27FC236}">
                            <a16:creationId xmlns:a16="http://schemas.microsoft.com/office/drawing/2014/main" id="{0258F60F-8B95-1D3F-0A71-C71916E47D38}"/>
                          </a:ext>
                        </a:extLst>
                      </p:cNvPr>
                      <p:cNvPicPr>
                        <a:picLocks noChangeAspect="1"/>
                      </p:cNvPicPr>
                      <p:nvPr/>
                    </p:nvPicPr>
                    <p:blipFill>
                      <a:blip r:embed="rId14"/>
                      <a:stretch>
                        <a:fillRect/>
                      </a:stretch>
                    </p:blipFill>
                    <p:spPr>
                      <a:xfrm>
                        <a:off x="10004376" y="24489726"/>
                        <a:ext cx="439791" cy="439791"/>
                      </a:xfrm>
                      <a:prstGeom prst="rect">
                        <a:avLst/>
                      </a:prstGeom>
                    </p:spPr>
                  </p:pic>
                  <p:pic>
                    <p:nvPicPr>
                      <p:cNvPr id="79" name="Grafik 186">
                        <a:extLst>
                          <a:ext uri="{FF2B5EF4-FFF2-40B4-BE49-F238E27FC236}">
                            <a16:creationId xmlns:a16="http://schemas.microsoft.com/office/drawing/2014/main" id="{C7721879-B76E-D70C-65B0-49DBAFCFE124}"/>
                          </a:ext>
                        </a:extLst>
                      </p:cNvPr>
                      <p:cNvPicPr>
                        <a:picLocks noChangeAspect="1"/>
                      </p:cNvPicPr>
                      <p:nvPr/>
                    </p:nvPicPr>
                    <p:blipFill>
                      <a:blip r:embed="rId15"/>
                      <a:stretch>
                        <a:fillRect/>
                      </a:stretch>
                    </p:blipFill>
                    <p:spPr>
                      <a:xfrm>
                        <a:off x="9554998" y="24512897"/>
                        <a:ext cx="311352" cy="382362"/>
                      </a:xfrm>
                      <a:prstGeom prst="rect">
                        <a:avLst/>
                      </a:prstGeom>
                    </p:spPr>
                  </p:pic>
                  <p:cxnSp>
                    <p:nvCxnSpPr>
                      <p:cNvPr id="80" name="Gerader Verbinder 187">
                        <a:extLst>
                          <a:ext uri="{FF2B5EF4-FFF2-40B4-BE49-F238E27FC236}">
                            <a16:creationId xmlns:a16="http://schemas.microsoft.com/office/drawing/2014/main" id="{293EC78C-5D16-A4FE-2136-29EC68C2387E}"/>
                          </a:ext>
                        </a:extLst>
                      </p:cNvPr>
                      <p:cNvCxnSpPr/>
                      <p:nvPr/>
                    </p:nvCxnSpPr>
                    <p:spPr>
                      <a:xfrm flipV="1">
                        <a:off x="10235037" y="24247563"/>
                        <a:ext cx="1" cy="27671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Gerader Verbinder 188">
                        <a:extLst>
                          <a:ext uri="{FF2B5EF4-FFF2-40B4-BE49-F238E27FC236}">
                            <a16:creationId xmlns:a16="http://schemas.microsoft.com/office/drawing/2014/main" id="{DAFCA775-E658-6990-C6C2-CBA0DCD034F7}"/>
                          </a:ext>
                        </a:extLst>
                      </p:cNvPr>
                      <p:cNvCxnSpPr/>
                      <p:nvPr/>
                    </p:nvCxnSpPr>
                    <p:spPr>
                      <a:xfrm flipH="1">
                        <a:off x="9866350" y="24385920"/>
                        <a:ext cx="368687"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Gerader Verbinder 189">
                        <a:extLst>
                          <a:ext uri="{FF2B5EF4-FFF2-40B4-BE49-F238E27FC236}">
                            <a16:creationId xmlns:a16="http://schemas.microsoft.com/office/drawing/2014/main" id="{2212B622-71C8-9A5D-8DEC-1CDC369A73AA}"/>
                          </a:ext>
                        </a:extLst>
                      </p:cNvPr>
                      <p:cNvCxnSpPr/>
                      <p:nvPr/>
                    </p:nvCxnSpPr>
                    <p:spPr>
                      <a:xfrm flipV="1">
                        <a:off x="9866350" y="24295870"/>
                        <a:ext cx="0" cy="9271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grpSp>
            <p:grpSp>
              <p:nvGrpSpPr>
                <p:cNvPr id="64" name="Gruppieren 171">
                  <a:extLst>
                    <a:ext uri="{FF2B5EF4-FFF2-40B4-BE49-F238E27FC236}">
                      <a16:creationId xmlns:a16="http://schemas.microsoft.com/office/drawing/2014/main" id="{89DCD3DC-C559-2621-F16A-2B92686C4C00}"/>
                    </a:ext>
                  </a:extLst>
                </p:cNvPr>
                <p:cNvGrpSpPr/>
                <p:nvPr/>
              </p:nvGrpSpPr>
              <p:grpSpPr>
                <a:xfrm>
                  <a:off x="6499886" y="25472205"/>
                  <a:ext cx="4327488" cy="2268761"/>
                  <a:chOff x="6499886" y="25472205"/>
                  <a:chExt cx="4327488" cy="2268761"/>
                </a:xfrm>
              </p:grpSpPr>
              <p:cxnSp>
                <p:nvCxnSpPr>
                  <p:cNvPr id="65" name="Gerader Verbinder 172">
                    <a:extLst>
                      <a:ext uri="{FF2B5EF4-FFF2-40B4-BE49-F238E27FC236}">
                        <a16:creationId xmlns:a16="http://schemas.microsoft.com/office/drawing/2014/main" id="{B5809E38-BB67-96CC-C7D3-EAB1595B1CE4}"/>
                      </a:ext>
                    </a:extLst>
                  </p:cNvPr>
                  <p:cNvCxnSpPr/>
                  <p:nvPr/>
                </p:nvCxnSpPr>
                <p:spPr>
                  <a:xfrm flipV="1">
                    <a:off x="6499886" y="27572858"/>
                    <a:ext cx="908342" cy="1445"/>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Gerader Verbinder 173">
                    <a:extLst>
                      <a:ext uri="{FF2B5EF4-FFF2-40B4-BE49-F238E27FC236}">
                        <a16:creationId xmlns:a16="http://schemas.microsoft.com/office/drawing/2014/main" id="{7D28C929-E770-75D7-F9A9-FDA29D4F2A1D}"/>
                      </a:ext>
                    </a:extLst>
                  </p:cNvPr>
                  <p:cNvCxnSpPr/>
                  <p:nvPr/>
                </p:nvCxnSpPr>
                <p:spPr>
                  <a:xfrm>
                    <a:off x="6676757" y="26537504"/>
                    <a:ext cx="877225" cy="483445"/>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Gerader Verbinder 174">
                    <a:extLst>
                      <a:ext uri="{FF2B5EF4-FFF2-40B4-BE49-F238E27FC236}">
                        <a16:creationId xmlns:a16="http://schemas.microsoft.com/office/drawing/2014/main" id="{0A72A74A-7C0B-BECA-77F8-CAE52DF7C147}"/>
                      </a:ext>
                    </a:extLst>
                  </p:cNvPr>
                  <p:cNvCxnSpPr/>
                  <p:nvPr/>
                </p:nvCxnSpPr>
                <p:spPr>
                  <a:xfrm>
                    <a:off x="7853459" y="25524181"/>
                    <a:ext cx="314857" cy="924570"/>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Gerader Verbinder 175">
                    <a:extLst>
                      <a:ext uri="{FF2B5EF4-FFF2-40B4-BE49-F238E27FC236}">
                        <a16:creationId xmlns:a16="http://schemas.microsoft.com/office/drawing/2014/main" id="{642A9E25-0866-0BA9-1A82-47890D915438}"/>
                      </a:ext>
                    </a:extLst>
                  </p:cNvPr>
                  <p:cNvCxnSpPr/>
                  <p:nvPr/>
                </p:nvCxnSpPr>
                <p:spPr>
                  <a:xfrm flipH="1">
                    <a:off x="9800974" y="26513184"/>
                    <a:ext cx="846927" cy="571631"/>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Gerader Verbinder 176">
                    <a:extLst>
                      <a:ext uri="{FF2B5EF4-FFF2-40B4-BE49-F238E27FC236}">
                        <a16:creationId xmlns:a16="http://schemas.microsoft.com/office/drawing/2014/main" id="{08B41991-0A83-B500-D673-3596D51A1C1D}"/>
                      </a:ext>
                    </a:extLst>
                  </p:cNvPr>
                  <p:cNvCxnSpPr/>
                  <p:nvPr/>
                </p:nvCxnSpPr>
                <p:spPr>
                  <a:xfrm flipH="1">
                    <a:off x="9901324" y="27572858"/>
                    <a:ext cx="926050" cy="0"/>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Gerader Verbinder 177">
                    <a:extLst>
                      <a:ext uri="{FF2B5EF4-FFF2-40B4-BE49-F238E27FC236}">
                        <a16:creationId xmlns:a16="http://schemas.microsoft.com/office/drawing/2014/main" id="{62D2C157-2739-91DE-0E17-C2EF809A0F86}"/>
                      </a:ext>
                    </a:extLst>
                  </p:cNvPr>
                  <p:cNvCxnSpPr/>
                  <p:nvPr/>
                </p:nvCxnSpPr>
                <p:spPr>
                  <a:xfrm flipH="1">
                    <a:off x="9160468" y="25472205"/>
                    <a:ext cx="253567" cy="985268"/>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1" name="Grafik 178">
                    <a:extLst>
                      <a:ext uri="{FF2B5EF4-FFF2-40B4-BE49-F238E27FC236}">
                        <a16:creationId xmlns:a16="http://schemas.microsoft.com/office/drawing/2014/main" id="{7B80993F-85C3-063D-BC4E-C935B4E5A606}"/>
                      </a:ext>
                    </a:extLst>
                  </p:cNvPr>
                  <p:cNvPicPr>
                    <a:picLocks noChangeAspect="1"/>
                  </p:cNvPicPr>
                  <p:nvPr/>
                </p:nvPicPr>
                <p:blipFill rotWithShape="1">
                  <a:blip r:embed="rId16"/>
                  <a:srcRect l="7621" t="7502" r="7675" b="45689"/>
                  <a:stretch/>
                </p:blipFill>
                <p:spPr>
                  <a:xfrm>
                    <a:off x="7291115" y="26228798"/>
                    <a:ext cx="2736304" cy="1512168"/>
                  </a:xfrm>
                  <a:prstGeom prst="rect">
                    <a:avLst/>
                  </a:prstGeom>
                </p:spPr>
              </p:pic>
            </p:grpSp>
          </p:grpSp>
          <p:pic>
            <p:nvPicPr>
              <p:cNvPr id="31" name="Grafik 31">
                <a:extLst>
                  <a:ext uri="{FF2B5EF4-FFF2-40B4-BE49-F238E27FC236}">
                    <a16:creationId xmlns:a16="http://schemas.microsoft.com/office/drawing/2014/main" id="{05B72272-6349-B217-A00D-C4F1A81AE408}"/>
                  </a:ext>
                </a:extLst>
              </p:cNvPr>
              <p:cNvPicPr>
                <a:picLocks noChangeAspect="1"/>
              </p:cNvPicPr>
              <p:nvPr/>
            </p:nvPicPr>
            <p:blipFill>
              <a:blip r:embed="rId17"/>
              <a:stretch>
                <a:fillRect/>
              </a:stretch>
            </p:blipFill>
            <p:spPr>
              <a:xfrm>
                <a:off x="13724377" y="27626151"/>
                <a:ext cx="570033" cy="570033"/>
              </a:xfrm>
              <a:prstGeom prst="rect">
                <a:avLst/>
              </a:prstGeom>
            </p:spPr>
          </p:pic>
          <p:pic>
            <p:nvPicPr>
              <p:cNvPr id="32" name="Grafik 32">
                <a:extLst>
                  <a:ext uri="{FF2B5EF4-FFF2-40B4-BE49-F238E27FC236}">
                    <a16:creationId xmlns:a16="http://schemas.microsoft.com/office/drawing/2014/main" id="{56AE1251-E652-2972-CE26-71CE2F3103B9}"/>
                  </a:ext>
                </a:extLst>
              </p:cNvPr>
              <p:cNvPicPr>
                <a:picLocks noChangeAspect="1"/>
              </p:cNvPicPr>
              <p:nvPr/>
            </p:nvPicPr>
            <p:blipFill>
              <a:blip r:embed="rId18"/>
              <a:stretch>
                <a:fillRect/>
              </a:stretch>
            </p:blipFill>
            <p:spPr>
              <a:xfrm>
                <a:off x="13037168" y="24910878"/>
                <a:ext cx="566192" cy="566192"/>
              </a:xfrm>
              <a:prstGeom prst="rect">
                <a:avLst/>
              </a:prstGeom>
            </p:spPr>
          </p:pic>
          <p:cxnSp>
            <p:nvCxnSpPr>
              <p:cNvPr id="33" name="Gerader Verbinder 33">
                <a:extLst>
                  <a:ext uri="{FF2B5EF4-FFF2-40B4-BE49-F238E27FC236}">
                    <a16:creationId xmlns:a16="http://schemas.microsoft.com/office/drawing/2014/main" id="{3EC0D1ED-2C80-C4FF-DB78-8A87F6DCA92D}"/>
                  </a:ext>
                </a:extLst>
              </p:cNvPr>
              <p:cNvCxnSpPr/>
              <p:nvPr/>
            </p:nvCxnSpPr>
            <p:spPr>
              <a:xfrm flipH="1">
                <a:off x="12467881" y="25353067"/>
                <a:ext cx="472438" cy="315149"/>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Gerader Verbinder 34">
                <a:extLst>
                  <a:ext uri="{FF2B5EF4-FFF2-40B4-BE49-F238E27FC236}">
                    <a16:creationId xmlns:a16="http://schemas.microsoft.com/office/drawing/2014/main" id="{2BE09361-5771-00C5-7B3C-D29406EDB9B5}"/>
                  </a:ext>
                </a:extLst>
              </p:cNvPr>
              <p:cNvCxnSpPr/>
              <p:nvPr/>
            </p:nvCxnSpPr>
            <p:spPr>
              <a:xfrm flipH="1">
                <a:off x="13150817" y="27836861"/>
                <a:ext cx="477002"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5" name="Grafik 35">
                <a:extLst>
                  <a:ext uri="{FF2B5EF4-FFF2-40B4-BE49-F238E27FC236}">
                    <a16:creationId xmlns:a16="http://schemas.microsoft.com/office/drawing/2014/main" id="{617B5EAD-D8C5-5AB5-E7B0-893FF997F9AD}"/>
                  </a:ext>
                </a:extLst>
              </p:cNvPr>
              <p:cNvPicPr>
                <a:picLocks noChangeAspect="1"/>
              </p:cNvPicPr>
              <p:nvPr/>
            </p:nvPicPr>
            <p:blipFill>
              <a:blip r:embed="rId19"/>
              <a:stretch>
                <a:fillRect/>
              </a:stretch>
            </p:blipFill>
            <p:spPr>
              <a:xfrm>
                <a:off x="2988508" y="27539904"/>
                <a:ext cx="687024" cy="687024"/>
              </a:xfrm>
              <a:prstGeom prst="rect">
                <a:avLst/>
              </a:prstGeom>
            </p:spPr>
          </p:pic>
          <p:cxnSp>
            <p:nvCxnSpPr>
              <p:cNvPr id="36" name="Gerader Verbinder 36">
                <a:extLst>
                  <a:ext uri="{FF2B5EF4-FFF2-40B4-BE49-F238E27FC236}">
                    <a16:creationId xmlns:a16="http://schemas.microsoft.com/office/drawing/2014/main" id="{BF56C32E-5FAF-8169-2165-BFC34F0670CB}"/>
                  </a:ext>
                </a:extLst>
              </p:cNvPr>
              <p:cNvCxnSpPr/>
              <p:nvPr/>
            </p:nvCxnSpPr>
            <p:spPr>
              <a:xfrm flipH="1">
                <a:off x="3675532" y="27836861"/>
                <a:ext cx="477002" cy="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7" name="Grafik 37">
                <a:extLst>
                  <a:ext uri="{FF2B5EF4-FFF2-40B4-BE49-F238E27FC236}">
                    <a16:creationId xmlns:a16="http://schemas.microsoft.com/office/drawing/2014/main" id="{3A9CDF80-153E-37B4-26F8-D0A4E18FB8CD}"/>
                  </a:ext>
                </a:extLst>
              </p:cNvPr>
              <p:cNvPicPr>
                <a:picLocks noChangeAspect="1"/>
              </p:cNvPicPr>
              <p:nvPr/>
            </p:nvPicPr>
            <p:blipFill>
              <a:blip r:embed="rId20"/>
              <a:stretch>
                <a:fillRect/>
              </a:stretch>
            </p:blipFill>
            <p:spPr>
              <a:xfrm>
                <a:off x="3247732" y="24674708"/>
                <a:ext cx="980301" cy="980301"/>
              </a:xfrm>
              <a:prstGeom prst="rect">
                <a:avLst/>
              </a:prstGeom>
            </p:spPr>
          </p:pic>
          <p:cxnSp>
            <p:nvCxnSpPr>
              <p:cNvPr id="38" name="Gerader Verbinder 38">
                <a:extLst>
                  <a:ext uri="{FF2B5EF4-FFF2-40B4-BE49-F238E27FC236}">
                    <a16:creationId xmlns:a16="http://schemas.microsoft.com/office/drawing/2014/main" id="{19450CD9-EEA3-81A4-A9C3-BFBFC232C033}"/>
                  </a:ext>
                </a:extLst>
              </p:cNvPr>
              <p:cNvCxnSpPr/>
              <p:nvPr/>
            </p:nvCxnSpPr>
            <p:spPr>
              <a:xfrm>
                <a:off x="4327984" y="25390379"/>
                <a:ext cx="511920" cy="279144"/>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9" name="Gruppieren 39">
                <a:extLst>
                  <a:ext uri="{FF2B5EF4-FFF2-40B4-BE49-F238E27FC236}">
                    <a16:creationId xmlns:a16="http://schemas.microsoft.com/office/drawing/2014/main" id="{34B6F73E-F666-468E-A97B-765328A5D0B4}"/>
                  </a:ext>
                </a:extLst>
              </p:cNvPr>
              <p:cNvGrpSpPr/>
              <p:nvPr/>
            </p:nvGrpSpPr>
            <p:grpSpPr>
              <a:xfrm>
                <a:off x="6269918" y="23148650"/>
                <a:ext cx="629583" cy="599828"/>
                <a:chOff x="6321630" y="23215332"/>
                <a:chExt cx="629583" cy="599828"/>
              </a:xfrm>
            </p:grpSpPr>
            <p:pic>
              <p:nvPicPr>
                <p:cNvPr id="47" name="Grafik 47">
                  <a:extLst>
                    <a:ext uri="{FF2B5EF4-FFF2-40B4-BE49-F238E27FC236}">
                      <a16:creationId xmlns:a16="http://schemas.microsoft.com/office/drawing/2014/main" id="{BC67C0A0-829C-1CC0-63F9-7DBFF9AC170A}"/>
                    </a:ext>
                  </a:extLst>
                </p:cNvPr>
                <p:cNvPicPr>
                  <a:picLocks noChangeAspect="1"/>
                </p:cNvPicPr>
                <p:nvPr/>
              </p:nvPicPr>
              <p:blipFill>
                <a:blip r:embed="rId21"/>
                <a:stretch>
                  <a:fillRect/>
                </a:stretch>
              </p:blipFill>
              <p:spPr>
                <a:xfrm>
                  <a:off x="6321630" y="23215332"/>
                  <a:ext cx="413553" cy="599828"/>
                </a:xfrm>
                <a:prstGeom prst="rect">
                  <a:avLst/>
                </a:prstGeom>
              </p:spPr>
            </p:pic>
            <p:grpSp>
              <p:nvGrpSpPr>
                <p:cNvPr id="48" name="Gruppieren 48">
                  <a:extLst>
                    <a:ext uri="{FF2B5EF4-FFF2-40B4-BE49-F238E27FC236}">
                      <a16:creationId xmlns:a16="http://schemas.microsoft.com/office/drawing/2014/main" id="{073ED5B4-DA34-FA60-905B-5B63894A5DFF}"/>
                    </a:ext>
                  </a:extLst>
                </p:cNvPr>
                <p:cNvGrpSpPr/>
                <p:nvPr/>
              </p:nvGrpSpPr>
              <p:grpSpPr>
                <a:xfrm>
                  <a:off x="6689562" y="23384718"/>
                  <a:ext cx="261651" cy="398183"/>
                  <a:chOff x="6941687" y="23354246"/>
                  <a:chExt cx="261651" cy="398183"/>
                </a:xfrm>
              </p:grpSpPr>
              <p:cxnSp>
                <p:nvCxnSpPr>
                  <p:cNvPr id="49" name="Gerader Verbinder 49">
                    <a:extLst>
                      <a:ext uri="{FF2B5EF4-FFF2-40B4-BE49-F238E27FC236}">
                        <a16:creationId xmlns:a16="http://schemas.microsoft.com/office/drawing/2014/main" id="{9B88D62A-310E-7436-7BC3-DED4CEFA60CA}"/>
                      </a:ext>
                    </a:extLst>
                  </p:cNvPr>
                  <p:cNvCxnSpPr/>
                  <p:nvPr/>
                </p:nvCxnSpPr>
                <p:spPr>
                  <a:xfrm>
                    <a:off x="6941687" y="23557897"/>
                    <a:ext cx="140228" cy="0"/>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0" name="Gerader Verbinder 50">
                    <a:extLst>
                      <a:ext uri="{FF2B5EF4-FFF2-40B4-BE49-F238E27FC236}">
                        <a16:creationId xmlns:a16="http://schemas.microsoft.com/office/drawing/2014/main" id="{3DB3E1FE-FA3E-60EB-213D-81B9559733BB}"/>
                      </a:ext>
                    </a:extLst>
                  </p:cNvPr>
                  <p:cNvCxnSpPr/>
                  <p:nvPr/>
                </p:nvCxnSpPr>
                <p:spPr>
                  <a:xfrm flipV="1">
                    <a:off x="7075091" y="23372130"/>
                    <a:ext cx="1932" cy="362016"/>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1" name="Gerader Verbinder 51">
                    <a:extLst>
                      <a:ext uri="{FF2B5EF4-FFF2-40B4-BE49-F238E27FC236}">
                        <a16:creationId xmlns:a16="http://schemas.microsoft.com/office/drawing/2014/main" id="{B0161A47-103D-8D8E-A39D-2BD2A0D49D2B}"/>
                      </a:ext>
                    </a:extLst>
                  </p:cNvPr>
                  <p:cNvCxnSpPr/>
                  <p:nvPr/>
                </p:nvCxnSpPr>
                <p:spPr>
                  <a:xfrm flipV="1">
                    <a:off x="7075091" y="23377536"/>
                    <a:ext cx="78363" cy="1"/>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2" name="Gerader Verbinder 52">
                    <a:extLst>
                      <a:ext uri="{FF2B5EF4-FFF2-40B4-BE49-F238E27FC236}">
                        <a16:creationId xmlns:a16="http://schemas.microsoft.com/office/drawing/2014/main" id="{0E72A06D-94FD-7918-5219-8241B4D76C3C}"/>
                      </a:ext>
                    </a:extLst>
                  </p:cNvPr>
                  <p:cNvCxnSpPr/>
                  <p:nvPr/>
                </p:nvCxnSpPr>
                <p:spPr>
                  <a:xfrm flipV="1">
                    <a:off x="7077218" y="23557451"/>
                    <a:ext cx="78363" cy="1"/>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3" name="Gerader Verbinder 53">
                    <a:extLst>
                      <a:ext uri="{FF2B5EF4-FFF2-40B4-BE49-F238E27FC236}">
                        <a16:creationId xmlns:a16="http://schemas.microsoft.com/office/drawing/2014/main" id="{90960158-653B-07EE-E655-47B336CBADD8}"/>
                      </a:ext>
                    </a:extLst>
                  </p:cNvPr>
                  <p:cNvCxnSpPr/>
                  <p:nvPr/>
                </p:nvCxnSpPr>
                <p:spPr>
                  <a:xfrm flipV="1">
                    <a:off x="7075091" y="23729570"/>
                    <a:ext cx="78363" cy="1"/>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sp>
                <p:nvSpPr>
                  <p:cNvPr id="54" name="Ellipse 54">
                    <a:extLst>
                      <a:ext uri="{FF2B5EF4-FFF2-40B4-BE49-F238E27FC236}">
                        <a16:creationId xmlns:a16="http://schemas.microsoft.com/office/drawing/2014/main" id="{AD486ABD-966E-22AC-5D0A-B1F73669F196}"/>
                      </a:ext>
                    </a:extLst>
                  </p:cNvPr>
                  <p:cNvSpPr/>
                  <p:nvPr/>
                </p:nvSpPr>
                <p:spPr>
                  <a:xfrm>
                    <a:off x="7153454" y="23354246"/>
                    <a:ext cx="45719" cy="45719"/>
                  </a:xfrm>
                  <a:prstGeom prst="ellipse">
                    <a:avLst/>
                  </a:prstGeom>
                  <a:ln w="6350"/>
                </p:spPr>
                <p:style>
                  <a:lnRef idx="2">
                    <a:schemeClr val="accent4"/>
                  </a:lnRef>
                  <a:fillRef idx="1">
                    <a:schemeClr val="lt1"/>
                  </a:fillRef>
                  <a:effectRef idx="0">
                    <a:schemeClr val="accent4"/>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sp>
                <p:nvSpPr>
                  <p:cNvPr id="55" name="Ellipse 56">
                    <a:extLst>
                      <a:ext uri="{FF2B5EF4-FFF2-40B4-BE49-F238E27FC236}">
                        <a16:creationId xmlns:a16="http://schemas.microsoft.com/office/drawing/2014/main" id="{489581DE-2FB1-3A35-59AD-8EB926BC48D0}"/>
                      </a:ext>
                    </a:extLst>
                  </p:cNvPr>
                  <p:cNvSpPr/>
                  <p:nvPr/>
                </p:nvSpPr>
                <p:spPr>
                  <a:xfrm>
                    <a:off x="7157619" y="23530909"/>
                    <a:ext cx="45719" cy="45719"/>
                  </a:xfrm>
                  <a:prstGeom prst="ellipse">
                    <a:avLst/>
                  </a:prstGeom>
                  <a:ln w="6350"/>
                </p:spPr>
                <p:style>
                  <a:lnRef idx="2">
                    <a:schemeClr val="accent4"/>
                  </a:lnRef>
                  <a:fillRef idx="1">
                    <a:schemeClr val="lt1"/>
                  </a:fillRef>
                  <a:effectRef idx="0">
                    <a:schemeClr val="accent4"/>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sp>
                <p:nvSpPr>
                  <p:cNvPr id="56" name="Ellipse 163">
                    <a:extLst>
                      <a:ext uri="{FF2B5EF4-FFF2-40B4-BE49-F238E27FC236}">
                        <a16:creationId xmlns:a16="http://schemas.microsoft.com/office/drawing/2014/main" id="{6405C221-6961-FCB1-1D77-C277616BBCBD}"/>
                      </a:ext>
                    </a:extLst>
                  </p:cNvPr>
                  <p:cNvSpPr/>
                  <p:nvPr/>
                </p:nvSpPr>
                <p:spPr>
                  <a:xfrm>
                    <a:off x="7153454" y="23706710"/>
                    <a:ext cx="45719" cy="45719"/>
                  </a:xfrm>
                  <a:prstGeom prst="ellipse">
                    <a:avLst/>
                  </a:prstGeom>
                  <a:ln w="6350"/>
                </p:spPr>
                <p:style>
                  <a:lnRef idx="2">
                    <a:schemeClr val="accent4"/>
                  </a:lnRef>
                  <a:fillRef idx="1">
                    <a:schemeClr val="lt1"/>
                  </a:fillRef>
                  <a:effectRef idx="0">
                    <a:schemeClr val="accent4"/>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grpSp>
          </p:grpSp>
          <p:cxnSp>
            <p:nvCxnSpPr>
              <p:cNvPr id="40" name="Gerader Verbinder 40">
                <a:extLst>
                  <a:ext uri="{FF2B5EF4-FFF2-40B4-BE49-F238E27FC236}">
                    <a16:creationId xmlns:a16="http://schemas.microsoft.com/office/drawing/2014/main" id="{EEDFF47F-CF8E-AFB5-44FC-090D81152431}"/>
                  </a:ext>
                </a:extLst>
              </p:cNvPr>
              <p:cNvCxnSpPr/>
              <p:nvPr/>
            </p:nvCxnSpPr>
            <p:spPr>
              <a:xfrm>
                <a:off x="6838730" y="23836560"/>
                <a:ext cx="203867" cy="559348"/>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1" name="Gruppieren 41">
                <a:extLst>
                  <a:ext uri="{FF2B5EF4-FFF2-40B4-BE49-F238E27FC236}">
                    <a16:creationId xmlns:a16="http://schemas.microsoft.com/office/drawing/2014/main" id="{A2A10CF4-539F-4D9F-0DA1-B7E660FD966D}"/>
                  </a:ext>
                </a:extLst>
              </p:cNvPr>
              <p:cNvGrpSpPr/>
              <p:nvPr/>
            </p:nvGrpSpPr>
            <p:grpSpPr>
              <a:xfrm>
                <a:off x="9345827" y="23118033"/>
                <a:ext cx="1246640" cy="686547"/>
                <a:chOff x="9853884" y="23305076"/>
                <a:chExt cx="1011873" cy="494254"/>
              </a:xfrm>
            </p:grpSpPr>
            <p:pic>
              <p:nvPicPr>
                <p:cNvPr id="43" name="Grafik 43">
                  <a:extLst>
                    <a:ext uri="{FF2B5EF4-FFF2-40B4-BE49-F238E27FC236}">
                      <a16:creationId xmlns:a16="http://schemas.microsoft.com/office/drawing/2014/main" id="{4AC1893E-CEFA-2DD5-1EB1-0A44F9EBE095}"/>
                    </a:ext>
                  </a:extLst>
                </p:cNvPr>
                <p:cNvPicPr>
                  <a:picLocks noChangeAspect="1"/>
                </p:cNvPicPr>
                <p:nvPr/>
              </p:nvPicPr>
              <p:blipFill>
                <a:blip r:embed="rId17"/>
                <a:stretch>
                  <a:fillRect/>
                </a:stretch>
              </p:blipFill>
              <p:spPr>
                <a:xfrm>
                  <a:off x="9853884" y="23327118"/>
                  <a:ext cx="345503" cy="450170"/>
                </a:xfrm>
                <a:prstGeom prst="rect">
                  <a:avLst/>
                </a:prstGeom>
              </p:spPr>
            </p:pic>
            <p:grpSp>
              <p:nvGrpSpPr>
                <p:cNvPr id="44" name="Gruppieren 44">
                  <a:extLst>
                    <a:ext uri="{FF2B5EF4-FFF2-40B4-BE49-F238E27FC236}">
                      <a16:creationId xmlns:a16="http://schemas.microsoft.com/office/drawing/2014/main" id="{C0BE69C8-CCF6-C288-8288-40744DA051E1}"/>
                    </a:ext>
                  </a:extLst>
                </p:cNvPr>
                <p:cNvGrpSpPr/>
                <p:nvPr/>
              </p:nvGrpSpPr>
              <p:grpSpPr>
                <a:xfrm>
                  <a:off x="10201904" y="23305076"/>
                  <a:ext cx="663853" cy="494254"/>
                  <a:chOff x="10464178" y="23309133"/>
                  <a:chExt cx="534619" cy="407152"/>
                </a:xfrm>
              </p:grpSpPr>
              <p:pic>
                <p:nvPicPr>
                  <p:cNvPr id="45" name="Grafik 45">
                    <a:extLst>
                      <a:ext uri="{FF2B5EF4-FFF2-40B4-BE49-F238E27FC236}">
                        <a16:creationId xmlns:a16="http://schemas.microsoft.com/office/drawing/2014/main" id="{464311E2-63EB-DBEB-07F0-7C79508AE118}"/>
                      </a:ext>
                    </a:extLst>
                  </p:cNvPr>
                  <p:cNvPicPr>
                    <a:picLocks noChangeAspect="1"/>
                  </p:cNvPicPr>
                  <p:nvPr/>
                </p:nvPicPr>
                <p:blipFill>
                  <a:blip r:embed="rId22"/>
                  <a:stretch>
                    <a:fillRect/>
                  </a:stretch>
                </p:blipFill>
                <p:spPr>
                  <a:xfrm>
                    <a:off x="10464178" y="23309133"/>
                    <a:ext cx="407152" cy="407152"/>
                  </a:xfrm>
                  <a:prstGeom prst="rect">
                    <a:avLst/>
                  </a:prstGeom>
                </p:spPr>
              </p:pic>
              <p:pic>
                <p:nvPicPr>
                  <p:cNvPr id="46" name="Grafik 46">
                    <a:extLst>
                      <a:ext uri="{FF2B5EF4-FFF2-40B4-BE49-F238E27FC236}">
                        <a16:creationId xmlns:a16="http://schemas.microsoft.com/office/drawing/2014/main" id="{A4337C5E-B384-CDC6-BE03-49B583A544A6}"/>
                      </a:ext>
                    </a:extLst>
                  </p:cNvPr>
                  <p:cNvPicPr>
                    <a:picLocks noChangeAspect="1"/>
                  </p:cNvPicPr>
                  <p:nvPr/>
                </p:nvPicPr>
                <p:blipFill>
                  <a:blip r:embed="rId21"/>
                  <a:stretch>
                    <a:fillRect/>
                  </a:stretch>
                </p:blipFill>
                <p:spPr>
                  <a:xfrm>
                    <a:off x="10906857" y="23448564"/>
                    <a:ext cx="91940" cy="133353"/>
                  </a:xfrm>
                  <a:prstGeom prst="rect">
                    <a:avLst/>
                  </a:prstGeom>
                </p:spPr>
              </p:pic>
            </p:grpSp>
          </p:grpSp>
          <p:cxnSp>
            <p:nvCxnSpPr>
              <p:cNvPr id="42" name="Gerader Verbinder 42">
                <a:extLst>
                  <a:ext uri="{FF2B5EF4-FFF2-40B4-BE49-F238E27FC236}">
                    <a16:creationId xmlns:a16="http://schemas.microsoft.com/office/drawing/2014/main" id="{3A847DA8-F8BB-7760-F44D-A0580A5A1DED}"/>
                  </a:ext>
                </a:extLst>
              </p:cNvPr>
              <p:cNvCxnSpPr/>
              <p:nvPr/>
            </p:nvCxnSpPr>
            <p:spPr>
              <a:xfrm flipH="1">
                <a:off x="9549607" y="23893782"/>
                <a:ext cx="140738" cy="542365"/>
              </a:xfrm>
              <a:prstGeom prst="line">
                <a:avLst/>
              </a:prstGeom>
              <a:ln w="38100">
                <a:solidFill>
                  <a:srgbClr val="0038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8" name="Gerader Verbinder 11">
              <a:extLst>
                <a:ext uri="{FF2B5EF4-FFF2-40B4-BE49-F238E27FC236}">
                  <a16:creationId xmlns:a16="http://schemas.microsoft.com/office/drawing/2014/main" id="{35B75202-1805-94F5-A939-66F93006E957}"/>
                </a:ext>
              </a:extLst>
            </p:cNvPr>
            <p:cNvCxnSpPr/>
            <p:nvPr/>
          </p:nvCxnSpPr>
          <p:spPr>
            <a:xfrm flipV="1">
              <a:off x="785014" y="2182470"/>
              <a:ext cx="4202" cy="1783709"/>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r Verbinder 12">
              <a:extLst>
                <a:ext uri="{FF2B5EF4-FFF2-40B4-BE49-F238E27FC236}">
                  <a16:creationId xmlns:a16="http://schemas.microsoft.com/office/drawing/2014/main" id="{143B19EA-A8D7-77F6-253E-737CBC96D07B}"/>
                </a:ext>
              </a:extLst>
            </p:cNvPr>
            <p:cNvCxnSpPr/>
            <p:nvPr/>
          </p:nvCxnSpPr>
          <p:spPr>
            <a:xfrm flipH="1" flipV="1">
              <a:off x="2377633" y="1638300"/>
              <a:ext cx="4344" cy="1663407"/>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Gerader Verbinder 13">
              <a:extLst>
                <a:ext uri="{FF2B5EF4-FFF2-40B4-BE49-F238E27FC236}">
                  <a16:creationId xmlns:a16="http://schemas.microsoft.com/office/drawing/2014/main" id="{560F9CC2-F8F5-2E93-C82F-1DB316DE6C62}"/>
                </a:ext>
              </a:extLst>
            </p:cNvPr>
            <p:cNvCxnSpPr/>
            <p:nvPr/>
          </p:nvCxnSpPr>
          <p:spPr>
            <a:xfrm>
              <a:off x="782633" y="3958355"/>
              <a:ext cx="493290" cy="37562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lipse 14">
              <a:extLst>
                <a:ext uri="{FF2B5EF4-FFF2-40B4-BE49-F238E27FC236}">
                  <a16:creationId xmlns:a16="http://schemas.microsoft.com/office/drawing/2014/main" id="{DF409103-344F-BDB2-61FF-770C30CB127F}"/>
                </a:ext>
              </a:extLst>
            </p:cNvPr>
            <p:cNvSpPr/>
            <p:nvPr/>
          </p:nvSpPr>
          <p:spPr>
            <a:xfrm>
              <a:off x="754193" y="2332558"/>
              <a:ext cx="61642" cy="69230"/>
            </a:xfrm>
            <a:prstGeom prst="ellipse">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cxnSp>
          <p:nvCxnSpPr>
            <p:cNvPr id="13" name="Gerader Verbinder 15">
              <a:extLst>
                <a:ext uri="{FF2B5EF4-FFF2-40B4-BE49-F238E27FC236}">
                  <a16:creationId xmlns:a16="http://schemas.microsoft.com/office/drawing/2014/main" id="{6A2E7A72-0E66-C9C1-6425-11516F971268}"/>
                </a:ext>
              </a:extLst>
            </p:cNvPr>
            <p:cNvCxnSpPr/>
            <p:nvPr/>
          </p:nvCxnSpPr>
          <p:spPr>
            <a:xfrm>
              <a:off x="2381975" y="3296950"/>
              <a:ext cx="79452" cy="246926"/>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Gerader Verbinder 16">
              <a:extLst>
                <a:ext uri="{FF2B5EF4-FFF2-40B4-BE49-F238E27FC236}">
                  <a16:creationId xmlns:a16="http://schemas.microsoft.com/office/drawing/2014/main" id="{E7839410-3E1A-CA0B-69D2-EC14EA61D9EA}"/>
                </a:ext>
              </a:extLst>
            </p:cNvPr>
            <p:cNvCxnSpPr/>
            <p:nvPr/>
          </p:nvCxnSpPr>
          <p:spPr>
            <a:xfrm flipH="1" flipV="1">
              <a:off x="3762173" y="2181943"/>
              <a:ext cx="660" cy="1349619"/>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5" name="Textfeld 19">
              <a:extLst>
                <a:ext uri="{FF2B5EF4-FFF2-40B4-BE49-F238E27FC236}">
                  <a16:creationId xmlns:a16="http://schemas.microsoft.com/office/drawing/2014/main" id="{C65A190B-E47D-5E9C-5DC5-F813C4AD16F3}"/>
                </a:ext>
              </a:extLst>
            </p:cNvPr>
            <p:cNvSpPr txBox="1"/>
            <p:nvPr/>
          </p:nvSpPr>
          <p:spPr>
            <a:xfrm>
              <a:off x="3812916" y="2251283"/>
              <a:ext cx="1753219" cy="459113"/>
            </a:xfrm>
            <a:prstGeom prst="rect">
              <a:avLst/>
            </a:prstGeom>
          </p:spPr>
          <p:txBody>
            <a:bodyPr wrap="none" rtlCol="0" anchor="t" anchorCtr="0">
              <a:normAutofit fontScale="92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SCADA</a:t>
              </a:r>
            </a:p>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Operational data of network</a:t>
              </a:r>
            </a:p>
          </p:txBody>
        </p:sp>
        <p:sp>
          <p:nvSpPr>
            <p:cNvPr id="16" name="Ellipse 20">
              <a:extLst>
                <a:ext uri="{FF2B5EF4-FFF2-40B4-BE49-F238E27FC236}">
                  <a16:creationId xmlns:a16="http://schemas.microsoft.com/office/drawing/2014/main" id="{AE9B81C5-8830-B4B1-05A2-51FA26CDA7A3}"/>
                </a:ext>
              </a:extLst>
            </p:cNvPr>
            <p:cNvSpPr/>
            <p:nvPr/>
          </p:nvSpPr>
          <p:spPr>
            <a:xfrm>
              <a:off x="2346689" y="1782618"/>
              <a:ext cx="61642" cy="69230"/>
            </a:xfrm>
            <a:prstGeom prst="ellipse">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sp>
          <p:nvSpPr>
            <p:cNvPr id="20" name="Ellipse 21">
              <a:extLst>
                <a:ext uri="{FF2B5EF4-FFF2-40B4-BE49-F238E27FC236}">
                  <a16:creationId xmlns:a16="http://schemas.microsoft.com/office/drawing/2014/main" id="{224E907C-F203-6386-9F4D-1C158BCB5192}"/>
                </a:ext>
              </a:extLst>
            </p:cNvPr>
            <p:cNvSpPr/>
            <p:nvPr/>
          </p:nvSpPr>
          <p:spPr>
            <a:xfrm>
              <a:off x="3733721" y="2322068"/>
              <a:ext cx="61642" cy="69230"/>
            </a:xfrm>
            <a:prstGeom prst="ellipse">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cxnSp>
          <p:nvCxnSpPr>
            <p:cNvPr id="21" name="Gerader Verbinder 22">
              <a:extLst>
                <a:ext uri="{FF2B5EF4-FFF2-40B4-BE49-F238E27FC236}">
                  <a16:creationId xmlns:a16="http://schemas.microsoft.com/office/drawing/2014/main" id="{86117677-9E48-52E5-8557-974D7B242595}"/>
                </a:ext>
              </a:extLst>
            </p:cNvPr>
            <p:cNvCxnSpPr/>
            <p:nvPr/>
          </p:nvCxnSpPr>
          <p:spPr>
            <a:xfrm flipH="1" flipV="1">
              <a:off x="5548965" y="2828925"/>
              <a:ext cx="4913" cy="1340519"/>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Ellipse 23">
              <a:extLst>
                <a:ext uri="{FF2B5EF4-FFF2-40B4-BE49-F238E27FC236}">
                  <a16:creationId xmlns:a16="http://schemas.microsoft.com/office/drawing/2014/main" id="{E11D9D09-4015-B7EF-FAD4-C9881793D868}"/>
                </a:ext>
              </a:extLst>
            </p:cNvPr>
            <p:cNvSpPr/>
            <p:nvPr/>
          </p:nvSpPr>
          <p:spPr>
            <a:xfrm>
              <a:off x="5523057" y="2980871"/>
              <a:ext cx="61642" cy="69230"/>
            </a:xfrm>
            <a:prstGeom prst="ellipse">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tIns="180000" rtlCol="0" anchor="t"/>
            <a:lstStyle/>
            <a:p>
              <a:pPr marL="457200" marR="0" lvl="0" indent="-45720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3865"/>
                </a:solidFill>
                <a:effectLst/>
                <a:uLnTx/>
                <a:uFillTx/>
                <a:latin typeface="Helvetica" panose="020B0604020202020204" pitchFamily="34" charset="0"/>
                <a:ea typeface="+mn-ea"/>
                <a:cs typeface="Helvetica" panose="020B0604020202020204" pitchFamily="34" charset="0"/>
              </a:endParaRPr>
            </a:p>
          </p:txBody>
        </p:sp>
        <p:cxnSp>
          <p:nvCxnSpPr>
            <p:cNvPr id="23" name="Gerader Verbinder 24">
              <a:extLst>
                <a:ext uri="{FF2B5EF4-FFF2-40B4-BE49-F238E27FC236}">
                  <a16:creationId xmlns:a16="http://schemas.microsoft.com/office/drawing/2014/main" id="{7A817234-AB25-DE25-4A46-0D3A37CD058F}"/>
                </a:ext>
              </a:extLst>
            </p:cNvPr>
            <p:cNvCxnSpPr/>
            <p:nvPr/>
          </p:nvCxnSpPr>
          <p:spPr>
            <a:xfrm flipH="1">
              <a:off x="5324375" y="4160629"/>
              <a:ext cx="230540" cy="17915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feld 25">
              <a:extLst>
                <a:ext uri="{FF2B5EF4-FFF2-40B4-BE49-F238E27FC236}">
                  <a16:creationId xmlns:a16="http://schemas.microsoft.com/office/drawing/2014/main" id="{DEBAA447-90DB-C9AF-7DAC-3578EB62E554}"/>
                </a:ext>
              </a:extLst>
            </p:cNvPr>
            <p:cNvSpPr txBox="1"/>
            <p:nvPr/>
          </p:nvSpPr>
          <p:spPr>
            <a:xfrm>
              <a:off x="3741326" y="2888270"/>
              <a:ext cx="1753219" cy="459113"/>
            </a:xfrm>
            <a:prstGeom prst="rect">
              <a:avLst/>
            </a:prstGeom>
          </p:spPr>
          <p:txBody>
            <a:bodyPr wrap="none" rtlCol="0" anchor="t" anchorCtr="0">
              <a:normAutofit fontScale="92500" lnSpcReduction="20000"/>
            </a:bodyPr>
            <a:lstStyle/>
            <a:p>
              <a:pPr marL="0" marR="0" lvl="0" indent="0" algn="r" defTabSz="4173538"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err="1">
                  <a:ln>
                    <a:noFill/>
                  </a:ln>
                  <a:solidFill>
                    <a:srgbClr val="003864"/>
                  </a:solidFill>
                  <a:effectLst/>
                  <a:uLnTx/>
                  <a:uFillTx/>
                  <a:latin typeface="Helvetica" panose="020B0604020202020204" pitchFamily="34" charset="0"/>
                  <a:ea typeface="+mn-ea"/>
                  <a:cs typeface="Helvetica" panose="020B0604020202020204" pitchFamily="34" charset="0"/>
                </a:rPr>
                <a:t>Cadastre</a:t>
              </a:r>
              <a:r>
                <a:rPr kumimoji="0" lang="en-US" sz="1200" b="1"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 Data</a:t>
              </a:r>
            </a:p>
            <a:p>
              <a:pPr marL="0" marR="0" lvl="0" indent="0" algn="r"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Property and land data</a:t>
              </a:r>
            </a:p>
          </p:txBody>
        </p:sp>
        <p:sp>
          <p:nvSpPr>
            <p:cNvPr id="25" name="Rechteck 26">
              <a:extLst>
                <a:ext uri="{FF2B5EF4-FFF2-40B4-BE49-F238E27FC236}">
                  <a16:creationId xmlns:a16="http://schemas.microsoft.com/office/drawing/2014/main" id="{1A559355-638F-7994-F288-16934241EC53}"/>
                </a:ext>
              </a:extLst>
            </p:cNvPr>
            <p:cNvSpPr/>
            <p:nvPr/>
          </p:nvSpPr>
          <p:spPr>
            <a:xfrm>
              <a:off x="820774" y="3044361"/>
              <a:ext cx="1291985" cy="411985"/>
            </a:xfrm>
            <a:prstGeom prst="rect">
              <a:avLst/>
            </a:prstGeom>
          </p:spPr>
          <p:txBody>
            <a:bodyPr wrap="square">
              <a:sp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err="1">
                  <a:ln>
                    <a:noFill/>
                  </a:ln>
                  <a:solidFill>
                    <a:prstClr val="black"/>
                  </a:solidFill>
                  <a:effectLst/>
                  <a:uLnTx/>
                  <a:uFillTx/>
                  <a:latin typeface="Arial"/>
                  <a:ea typeface="+mn-ea"/>
                  <a:cs typeface="+mn-cs"/>
                </a:rPr>
                <a:t>Elasticsearch</a:t>
              </a:r>
              <a:endParaRPr kumimoji="0" lang="fr-FR" sz="1200" b="0" i="0" u="none" strike="noStrike" kern="1200" cap="none" spc="0" normalizeH="0" baseline="0" noProof="0" dirty="0">
                <a:ln>
                  <a:noFill/>
                </a:ln>
                <a:solidFill>
                  <a:prstClr val="black"/>
                </a:solidFill>
                <a:effectLst/>
                <a:uLnTx/>
                <a:uFillTx/>
                <a:latin typeface="Arial"/>
                <a:ea typeface="+mn-ea"/>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black"/>
                  </a:solidFill>
                  <a:effectLst/>
                  <a:uLnTx/>
                  <a:uFillTx/>
                  <a:latin typeface="Arial"/>
                  <a:ea typeface="+mn-ea"/>
                  <a:cs typeface="+mn-cs"/>
                </a:rPr>
                <a:t>5 </a:t>
              </a:r>
              <a:r>
                <a:rPr kumimoji="0" lang="fr-FR" sz="1200" b="0" i="0" u="none" strike="noStrike" kern="1200" cap="none" spc="0" normalizeH="0" baseline="0" noProof="0" dirty="0" err="1">
                  <a:ln>
                    <a:noFill/>
                  </a:ln>
                  <a:solidFill>
                    <a:prstClr val="black"/>
                  </a:solidFill>
                  <a:effectLst/>
                  <a:uLnTx/>
                  <a:uFillTx/>
                  <a:latin typeface="Arial"/>
                  <a:ea typeface="+mn-ea"/>
                  <a:cs typeface="+mn-cs"/>
                </a:rPr>
                <a:t>years</a:t>
              </a:r>
              <a:endParaRPr kumimoji="0" lang="fr-FR"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Rechteck 27">
              <a:extLst>
                <a:ext uri="{FF2B5EF4-FFF2-40B4-BE49-F238E27FC236}">
                  <a16:creationId xmlns:a16="http://schemas.microsoft.com/office/drawing/2014/main" id="{4FECE54E-E328-8A4B-D44C-A1207C4CEB70}"/>
                </a:ext>
              </a:extLst>
            </p:cNvPr>
            <p:cNvSpPr/>
            <p:nvPr/>
          </p:nvSpPr>
          <p:spPr>
            <a:xfrm>
              <a:off x="2449815" y="2138140"/>
              <a:ext cx="1107706" cy="1384995"/>
            </a:xfrm>
            <a:prstGeom prst="rect">
              <a:avLst/>
            </a:prstGeom>
          </p:spPr>
          <p:txBody>
            <a:bodyPr wrap="square">
              <a:sp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err="1">
                  <a:ln>
                    <a:noFill/>
                  </a:ln>
                  <a:solidFill>
                    <a:prstClr val="black"/>
                  </a:solidFill>
                  <a:effectLst/>
                  <a:uLnTx/>
                  <a:uFillTx/>
                  <a:latin typeface="Arial"/>
                  <a:ea typeface="+mn-ea"/>
                  <a:cs typeface="+mn-cs"/>
                </a:rPr>
                <a:t>Nodes</a:t>
              </a:r>
              <a:endParaRPr kumimoji="0" lang="fr-FR" sz="1200" b="0" i="0" u="none" strike="noStrike" kern="1200" cap="none" spc="0" normalizeH="0" baseline="0" noProof="0" dirty="0">
                <a:ln>
                  <a:noFill/>
                </a:ln>
                <a:solidFill>
                  <a:prstClr val="black"/>
                </a:solidFill>
                <a:effectLst/>
                <a:uLnTx/>
                <a:uFillTx/>
                <a:latin typeface="Arial"/>
                <a:ea typeface="+mn-ea"/>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black"/>
                  </a:solidFill>
                  <a:effectLst/>
                  <a:uLnTx/>
                  <a:uFillTx/>
                  <a:latin typeface="Arial"/>
                  <a:ea typeface="+mn-ea"/>
                  <a:cs typeface="+mn-cs"/>
                </a:rPr>
                <a:t>Pipes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err="1">
                  <a:ln>
                    <a:noFill/>
                  </a:ln>
                  <a:solidFill>
                    <a:prstClr val="black"/>
                  </a:solidFill>
                  <a:effectLst/>
                  <a:uLnTx/>
                  <a:uFillTx/>
                  <a:latin typeface="Arial"/>
                  <a:ea typeface="+mn-ea"/>
                  <a:cs typeface="+mn-cs"/>
                </a:rPr>
                <a:t>Pumps</a:t>
              </a:r>
              <a:endParaRPr kumimoji="0" lang="fr-FR" sz="1200" b="0" i="0" u="none" strike="noStrike" kern="1200" cap="none" spc="0" normalizeH="0" baseline="0" noProof="0" dirty="0">
                <a:ln>
                  <a:noFill/>
                </a:ln>
                <a:solidFill>
                  <a:prstClr val="black"/>
                </a:solidFill>
                <a:effectLst/>
                <a:uLnTx/>
                <a:uFillTx/>
                <a:latin typeface="Arial"/>
                <a:ea typeface="+mn-ea"/>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black"/>
                  </a:solidFill>
                  <a:effectLst/>
                  <a:uLnTx/>
                  <a:uFillTx/>
                  <a:latin typeface="Arial"/>
                  <a:ea typeface="+mn-ea"/>
                  <a:cs typeface="+mn-cs"/>
                </a:rPr>
                <a:t>Valves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black"/>
                  </a:solidFill>
                  <a:effectLst/>
                  <a:uLnTx/>
                  <a:uFillTx/>
                  <a:latin typeface="Arial"/>
                  <a:ea typeface="+mn-ea"/>
                  <a:cs typeface="+mn-cs"/>
                </a:rPr>
                <a:t>Hydrants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err="1">
                  <a:ln>
                    <a:noFill/>
                  </a:ln>
                  <a:solidFill>
                    <a:prstClr val="black"/>
                  </a:solidFill>
                  <a:effectLst/>
                  <a:uLnTx/>
                  <a:uFillTx/>
                  <a:latin typeface="Arial"/>
                  <a:ea typeface="+mn-ea"/>
                  <a:cs typeface="+mn-cs"/>
                </a:rPr>
                <a:t>Reservoirs</a:t>
              </a:r>
              <a:endParaRPr kumimoji="0" lang="fr-FR" sz="1200" b="0" i="0" u="none" strike="noStrike" kern="1200" cap="none" spc="0" normalizeH="0" baseline="0" noProof="0" dirty="0">
                <a:ln>
                  <a:noFill/>
                </a:ln>
                <a:solidFill>
                  <a:prstClr val="black"/>
                </a:solidFill>
                <a:effectLst/>
                <a:uLnTx/>
                <a:uFillTx/>
                <a:latin typeface="Arial"/>
                <a:ea typeface="+mn-ea"/>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1200" cap="none" spc="0" normalizeH="0" baseline="0" noProof="0" dirty="0">
                  <a:ln>
                    <a:noFill/>
                  </a:ln>
                  <a:solidFill>
                    <a:prstClr val="black"/>
                  </a:solidFill>
                  <a:effectLst/>
                  <a:uLnTx/>
                  <a:uFillTx/>
                  <a:latin typeface="Arial"/>
                  <a:ea typeface="+mn-ea"/>
                  <a:cs typeface="+mn-cs"/>
                </a:rPr>
                <a:t>…</a:t>
              </a:r>
            </a:p>
          </p:txBody>
        </p:sp>
        <p:sp>
          <p:nvSpPr>
            <p:cNvPr id="28" name="Textfeld 28">
              <a:extLst>
                <a:ext uri="{FF2B5EF4-FFF2-40B4-BE49-F238E27FC236}">
                  <a16:creationId xmlns:a16="http://schemas.microsoft.com/office/drawing/2014/main" id="{8D9B6BA4-4137-75FB-B6CB-25032FF959E1}"/>
                </a:ext>
              </a:extLst>
            </p:cNvPr>
            <p:cNvSpPr txBox="1"/>
            <p:nvPr/>
          </p:nvSpPr>
          <p:spPr>
            <a:xfrm>
              <a:off x="2426447" y="1697381"/>
              <a:ext cx="3500220" cy="459113"/>
            </a:xfrm>
            <a:prstGeom prst="rect">
              <a:avLst/>
            </a:prstGeom>
          </p:spPr>
          <p:txBody>
            <a:bodyPr wrap="none" rtlCol="0" anchor="t" anchorCtr="0">
              <a:normAutofit fontScale="92500" lnSpcReduction="20000"/>
            </a:bodyPr>
            <a:lstStyle/>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GIS Data – Network Topology:</a:t>
              </a:r>
            </a:p>
            <a:p>
              <a:pPr marL="0" marR="0" lvl="0" indent="0" algn="l" defTabSz="4173538"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Geospatial data of the </a:t>
              </a:r>
              <a:r>
                <a:rPr kumimoji="0" lang="en-US" sz="1200" b="0" i="0" u="none" strike="noStrike" kern="1200" cap="none" spc="0" normalizeH="0" baseline="0" noProof="0" dirty="0" err="1">
                  <a:ln>
                    <a:noFill/>
                  </a:ln>
                  <a:solidFill>
                    <a:srgbClr val="003864"/>
                  </a:solidFill>
                  <a:effectLst/>
                  <a:uLnTx/>
                  <a:uFillTx/>
                  <a:latin typeface="Helvetica" panose="020B0604020202020204" pitchFamily="34" charset="0"/>
                  <a:ea typeface="+mn-ea"/>
                  <a:cs typeface="Helvetica" panose="020B0604020202020204" pitchFamily="34" charset="0"/>
                </a:rPr>
                <a:t>Bronderslev</a:t>
              </a: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 network.</a:t>
              </a:r>
            </a:p>
          </p:txBody>
        </p:sp>
        <p:sp>
          <p:nvSpPr>
            <p:cNvPr id="29" name="Textfeld 29">
              <a:extLst>
                <a:ext uri="{FF2B5EF4-FFF2-40B4-BE49-F238E27FC236}">
                  <a16:creationId xmlns:a16="http://schemas.microsoft.com/office/drawing/2014/main" id="{134FDE70-A60D-0B7A-628F-51C019618A96}"/>
                </a:ext>
              </a:extLst>
            </p:cNvPr>
            <p:cNvSpPr txBox="1"/>
            <p:nvPr/>
          </p:nvSpPr>
          <p:spPr>
            <a:xfrm>
              <a:off x="806769" y="2234175"/>
              <a:ext cx="149141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Meter Data</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3864"/>
                  </a:solidFill>
                  <a:effectLst/>
                  <a:uLnTx/>
                  <a:uFillTx/>
                  <a:latin typeface="Helvetica" panose="020B0604020202020204" pitchFamily="34" charset="0"/>
                  <a:ea typeface="+mn-ea"/>
                  <a:cs typeface="Helvetica" panose="020B0604020202020204" pitchFamily="34" charset="0"/>
                </a:rPr>
                <a:t>Consumption, operational attributes</a:t>
              </a:r>
            </a:p>
          </p:txBody>
        </p:sp>
      </p:grpSp>
      <p:grpSp>
        <p:nvGrpSpPr>
          <p:cNvPr id="95" name="Gruppieren 135">
            <a:extLst>
              <a:ext uri="{FF2B5EF4-FFF2-40B4-BE49-F238E27FC236}">
                <a16:creationId xmlns:a16="http://schemas.microsoft.com/office/drawing/2014/main" id="{A72B5907-58FF-DED2-DF7F-7839797DDCAF}"/>
              </a:ext>
            </a:extLst>
          </p:cNvPr>
          <p:cNvGrpSpPr/>
          <p:nvPr/>
        </p:nvGrpSpPr>
        <p:grpSpPr>
          <a:xfrm>
            <a:off x="6798380" y="1431342"/>
            <a:ext cx="4587005" cy="4974767"/>
            <a:chOff x="6630077" y="1267441"/>
            <a:chExt cx="5127866" cy="5438471"/>
          </a:xfrm>
        </p:grpSpPr>
        <p:grpSp>
          <p:nvGrpSpPr>
            <p:cNvPr id="96" name="Gruppieren 136">
              <a:extLst>
                <a:ext uri="{FF2B5EF4-FFF2-40B4-BE49-F238E27FC236}">
                  <a16:creationId xmlns:a16="http://schemas.microsoft.com/office/drawing/2014/main" id="{F7F37F3D-3F4F-C447-BA1B-DCB85CD6E087}"/>
                </a:ext>
              </a:extLst>
            </p:cNvPr>
            <p:cNvGrpSpPr/>
            <p:nvPr/>
          </p:nvGrpSpPr>
          <p:grpSpPr>
            <a:xfrm>
              <a:off x="8397239" y="1267441"/>
              <a:ext cx="1310966" cy="769441"/>
              <a:chOff x="11180885" y="1234187"/>
              <a:chExt cx="1429198" cy="881927"/>
            </a:xfrm>
          </p:grpSpPr>
          <p:sp>
            <p:nvSpPr>
              <p:cNvPr id="121" name="Ellipse 161">
                <a:extLst>
                  <a:ext uri="{FF2B5EF4-FFF2-40B4-BE49-F238E27FC236}">
                    <a16:creationId xmlns:a16="http://schemas.microsoft.com/office/drawing/2014/main" id="{2FFB7871-748F-0337-B17C-279FC8BD49F9}"/>
                  </a:ext>
                </a:extLst>
              </p:cNvPr>
              <p:cNvSpPr/>
              <p:nvPr/>
            </p:nvSpPr>
            <p:spPr>
              <a:xfrm>
                <a:off x="11180885" y="1324226"/>
                <a:ext cx="457200" cy="43963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22" name="Textfeld 162">
                <a:extLst>
                  <a:ext uri="{FF2B5EF4-FFF2-40B4-BE49-F238E27FC236}">
                    <a16:creationId xmlns:a16="http://schemas.microsoft.com/office/drawing/2014/main" id="{DB4C1D94-84F7-25C7-D385-9FCF160054AB}"/>
                  </a:ext>
                </a:extLst>
              </p:cNvPr>
              <p:cNvSpPr txBox="1"/>
              <p:nvPr/>
            </p:nvSpPr>
            <p:spPr>
              <a:xfrm>
                <a:off x="11638082" y="1234187"/>
                <a:ext cx="972001" cy="8819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Source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Location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Quality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97" name="Gruppieren 137">
              <a:extLst>
                <a:ext uri="{FF2B5EF4-FFF2-40B4-BE49-F238E27FC236}">
                  <a16:creationId xmlns:a16="http://schemas.microsoft.com/office/drawing/2014/main" id="{DF6B6E9E-1FC2-484F-1E59-4F09A8BD2920}"/>
                </a:ext>
              </a:extLst>
            </p:cNvPr>
            <p:cNvGrpSpPr/>
            <p:nvPr/>
          </p:nvGrpSpPr>
          <p:grpSpPr>
            <a:xfrm>
              <a:off x="6630077" y="2397613"/>
              <a:ext cx="1671028" cy="1419523"/>
              <a:chOff x="10158626" y="2735644"/>
              <a:chExt cx="1821734" cy="1627045"/>
            </a:xfrm>
          </p:grpSpPr>
          <p:sp>
            <p:nvSpPr>
              <p:cNvPr id="119" name="Ellipse 159">
                <a:extLst>
                  <a:ext uri="{FF2B5EF4-FFF2-40B4-BE49-F238E27FC236}">
                    <a16:creationId xmlns:a16="http://schemas.microsoft.com/office/drawing/2014/main" id="{685FB7D7-9B54-F911-71C1-BC46F4EFEC1D}"/>
                  </a:ext>
                </a:extLst>
              </p:cNvPr>
              <p:cNvSpPr/>
              <p:nvPr/>
            </p:nvSpPr>
            <p:spPr>
              <a:xfrm>
                <a:off x="10480671" y="2735644"/>
                <a:ext cx="457200" cy="439638"/>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20" name="Textfeld 160">
                <a:extLst>
                  <a:ext uri="{FF2B5EF4-FFF2-40B4-BE49-F238E27FC236}">
                    <a16:creationId xmlns:a16="http://schemas.microsoft.com/office/drawing/2014/main" id="{AD51A518-15D8-CE6F-8130-6818F28BDE6A}"/>
                  </a:ext>
                </a:extLst>
              </p:cNvPr>
              <p:cNvSpPr txBox="1"/>
              <p:nvPr/>
            </p:nvSpPr>
            <p:spPr>
              <a:xfrm>
                <a:off x="10158626" y="3215371"/>
                <a:ext cx="1821734" cy="1147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Processing/Pump station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Operators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98" name="Gruppieren 138">
              <a:extLst>
                <a:ext uri="{FF2B5EF4-FFF2-40B4-BE49-F238E27FC236}">
                  <a16:creationId xmlns:a16="http://schemas.microsoft.com/office/drawing/2014/main" id="{F848E4A6-AF3D-A939-740C-A64436FEDE24}"/>
                </a:ext>
              </a:extLst>
            </p:cNvPr>
            <p:cNvGrpSpPr/>
            <p:nvPr/>
          </p:nvGrpSpPr>
          <p:grpSpPr>
            <a:xfrm>
              <a:off x="8397235" y="2595352"/>
              <a:ext cx="1188111" cy="1126074"/>
              <a:chOff x="8461529" y="478950"/>
              <a:chExt cx="1295264" cy="1290697"/>
            </a:xfrm>
          </p:grpSpPr>
          <p:sp>
            <p:nvSpPr>
              <p:cNvPr id="117" name="Ellipse 157">
                <a:extLst>
                  <a:ext uri="{FF2B5EF4-FFF2-40B4-BE49-F238E27FC236}">
                    <a16:creationId xmlns:a16="http://schemas.microsoft.com/office/drawing/2014/main" id="{9A985AC5-A484-474F-F26C-A3DF2E1345A2}"/>
                  </a:ext>
                </a:extLst>
              </p:cNvPr>
              <p:cNvSpPr/>
              <p:nvPr/>
            </p:nvSpPr>
            <p:spPr>
              <a:xfrm>
                <a:off x="8461529" y="1330009"/>
                <a:ext cx="457200" cy="439638"/>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8" name="Textfeld 158">
                <a:extLst>
                  <a:ext uri="{FF2B5EF4-FFF2-40B4-BE49-F238E27FC236}">
                    <a16:creationId xmlns:a16="http://schemas.microsoft.com/office/drawing/2014/main" id="{706B1C6F-3D66-362E-77A5-EA944BD2CA09}"/>
                  </a:ext>
                </a:extLst>
              </p:cNvPr>
              <p:cNvSpPr txBox="1"/>
              <p:nvPr/>
            </p:nvSpPr>
            <p:spPr>
              <a:xfrm>
                <a:off x="8845958" y="478950"/>
                <a:ext cx="910835" cy="88192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Reservoir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Head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Altitude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99" name="Gruppieren 139">
              <a:extLst>
                <a:ext uri="{FF2B5EF4-FFF2-40B4-BE49-F238E27FC236}">
                  <a16:creationId xmlns:a16="http://schemas.microsoft.com/office/drawing/2014/main" id="{F9F20EE7-8A29-6B94-0B8B-32DA4D7BAC82}"/>
                </a:ext>
              </a:extLst>
            </p:cNvPr>
            <p:cNvGrpSpPr/>
            <p:nvPr/>
          </p:nvGrpSpPr>
          <p:grpSpPr>
            <a:xfrm>
              <a:off x="7580801" y="5639821"/>
              <a:ext cx="936820" cy="1066091"/>
              <a:chOff x="9918355" y="5556117"/>
              <a:chExt cx="1021310" cy="1221945"/>
            </a:xfrm>
          </p:grpSpPr>
          <p:sp>
            <p:nvSpPr>
              <p:cNvPr id="115" name="Ellipse 155">
                <a:extLst>
                  <a:ext uri="{FF2B5EF4-FFF2-40B4-BE49-F238E27FC236}">
                    <a16:creationId xmlns:a16="http://schemas.microsoft.com/office/drawing/2014/main" id="{DCA16A82-8984-2B9A-2F26-AFDEC620F970}"/>
                  </a:ext>
                </a:extLst>
              </p:cNvPr>
              <p:cNvSpPr/>
              <p:nvPr/>
            </p:nvSpPr>
            <p:spPr>
              <a:xfrm>
                <a:off x="10482465" y="5556117"/>
                <a:ext cx="457200" cy="4396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6" name="Textfeld 156">
                <a:extLst>
                  <a:ext uri="{FF2B5EF4-FFF2-40B4-BE49-F238E27FC236}">
                    <a16:creationId xmlns:a16="http://schemas.microsoft.com/office/drawing/2014/main" id="{0DB7DD43-B451-1758-130F-0DB51505CC18}"/>
                  </a:ext>
                </a:extLst>
              </p:cNvPr>
              <p:cNvSpPr txBox="1"/>
              <p:nvPr/>
            </p:nvSpPr>
            <p:spPr>
              <a:xfrm>
                <a:off x="9918355" y="5842854"/>
                <a:ext cx="890071" cy="9352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Fault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Type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Cost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100" name="Gruppieren 140">
              <a:extLst>
                <a:ext uri="{FF2B5EF4-FFF2-40B4-BE49-F238E27FC236}">
                  <a16:creationId xmlns:a16="http://schemas.microsoft.com/office/drawing/2014/main" id="{B2DF81F9-57D0-9B3B-0B3F-C6EC8F5A578B}"/>
                </a:ext>
              </a:extLst>
            </p:cNvPr>
            <p:cNvGrpSpPr/>
            <p:nvPr/>
          </p:nvGrpSpPr>
          <p:grpSpPr>
            <a:xfrm>
              <a:off x="6905290" y="3971590"/>
              <a:ext cx="1687730" cy="778060"/>
              <a:chOff x="10480671" y="3903937"/>
              <a:chExt cx="1839942" cy="891806"/>
            </a:xfrm>
          </p:grpSpPr>
          <p:sp>
            <p:nvSpPr>
              <p:cNvPr id="113" name="Ellipse 153">
                <a:extLst>
                  <a:ext uri="{FF2B5EF4-FFF2-40B4-BE49-F238E27FC236}">
                    <a16:creationId xmlns:a16="http://schemas.microsoft.com/office/drawing/2014/main" id="{296693A6-E842-0357-DB5D-A941CE074967}"/>
                  </a:ext>
                </a:extLst>
              </p:cNvPr>
              <p:cNvSpPr/>
              <p:nvPr/>
            </p:nvSpPr>
            <p:spPr>
              <a:xfrm>
                <a:off x="10480671" y="4356105"/>
                <a:ext cx="457200" cy="43963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4" name="Textfeld 154">
                <a:extLst>
                  <a:ext uri="{FF2B5EF4-FFF2-40B4-BE49-F238E27FC236}">
                    <a16:creationId xmlns:a16="http://schemas.microsoft.com/office/drawing/2014/main" id="{5DE3B337-DAB4-687F-FB11-BB0D8EAEFBC1}"/>
                  </a:ext>
                </a:extLst>
              </p:cNvPr>
              <p:cNvSpPr txBox="1"/>
              <p:nvPr/>
            </p:nvSpPr>
            <p:spPr>
              <a:xfrm>
                <a:off x="10924365" y="3903937"/>
                <a:ext cx="1396248" cy="88192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Utility Employee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Expertise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prstClr val="black"/>
                    </a:solidFill>
                    <a:effectLst/>
                    <a:uLnTx/>
                    <a:uFillTx/>
                    <a:latin typeface="Arial"/>
                    <a:ea typeface="+mn-ea"/>
                    <a:cs typeface="+mn-cs"/>
                  </a:rPr>
                  <a:t>Equipments</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101" name="Gruppieren 141">
              <a:extLst>
                <a:ext uri="{FF2B5EF4-FFF2-40B4-BE49-F238E27FC236}">
                  <a16:creationId xmlns:a16="http://schemas.microsoft.com/office/drawing/2014/main" id="{62556807-4FF2-BE6C-CC73-796F14F6B6C1}"/>
                </a:ext>
              </a:extLst>
            </p:cNvPr>
            <p:cNvGrpSpPr/>
            <p:nvPr/>
          </p:nvGrpSpPr>
          <p:grpSpPr>
            <a:xfrm>
              <a:off x="9916577" y="4200110"/>
              <a:ext cx="1841366" cy="1797778"/>
              <a:chOff x="6673102" y="3105778"/>
              <a:chExt cx="2007434" cy="2060599"/>
            </a:xfrm>
          </p:grpSpPr>
          <p:sp>
            <p:nvSpPr>
              <p:cNvPr id="110" name="Ellipse 150">
                <a:extLst>
                  <a:ext uri="{FF2B5EF4-FFF2-40B4-BE49-F238E27FC236}">
                    <a16:creationId xmlns:a16="http://schemas.microsoft.com/office/drawing/2014/main" id="{8350C637-A912-F443-1F10-E435B2F6BC13}"/>
                  </a:ext>
                </a:extLst>
              </p:cNvPr>
              <p:cNvSpPr/>
              <p:nvPr/>
            </p:nvSpPr>
            <p:spPr>
              <a:xfrm>
                <a:off x="7080170" y="3105778"/>
                <a:ext cx="457200" cy="43963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1" name="Ellipse 151">
                <a:extLst>
                  <a:ext uri="{FF2B5EF4-FFF2-40B4-BE49-F238E27FC236}">
                    <a16:creationId xmlns:a16="http://schemas.microsoft.com/office/drawing/2014/main" id="{E9127457-2BE5-A96D-9EEA-E608BC387A80}"/>
                  </a:ext>
                </a:extLst>
              </p:cNvPr>
              <p:cNvSpPr/>
              <p:nvPr/>
            </p:nvSpPr>
            <p:spPr>
              <a:xfrm>
                <a:off x="6673102" y="3637083"/>
                <a:ext cx="457200" cy="439638"/>
              </a:xfrm>
              <a:prstGeom prst="ellipse">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Arial"/>
                  <a:ea typeface="+mn-ea"/>
                  <a:cs typeface="+mn-cs"/>
                </a:endParaRPr>
              </a:p>
            </p:txBody>
          </p:sp>
          <p:sp>
            <p:nvSpPr>
              <p:cNvPr id="112" name="Textfeld 152">
                <a:extLst>
                  <a:ext uri="{FF2B5EF4-FFF2-40B4-BE49-F238E27FC236}">
                    <a16:creationId xmlns:a16="http://schemas.microsoft.com/office/drawing/2014/main" id="{1B12EBC8-6E3D-FEB8-BCF6-49E02D4AB422}"/>
                  </a:ext>
                </a:extLst>
              </p:cNvPr>
              <p:cNvSpPr txBox="1"/>
              <p:nvPr/>
            </p:nvSpPr>
            <p:spPr>
              <a:xfrm>
                <a:off x="7184138" y="3623765"/>
                <a:ext cx="1496398" cy="15426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a:ea typeface="+mn-ea"/>
                    <a:cs typeface="+mn-cs"/>
                  </a:rPr>
                  <a:t>Meters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Type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Values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Consumer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Faults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Replacements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Arial"/>
                    <a:ea typeface="+mn-ea"/>
                    <a:cs typeface="+mn-cs"/>
                  </a:rPr>
                  <a: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grpSp>
        <p:cxnSp>
          <p:nvCxnSpPr>
            <p:cNvPr id="102" name="Gekrümmter Verbinder 16">
              <a:extLst>
                <a:ext uri="{FF2B5EF4-FFF2-40B4-BE49-F238E27FC236}">
                  <a16:creationId xmlns:a16="http://schemas.microsoft.com/office/drawing/2014/main" id="{4290F754-324C-9E59-0359-917AA001C352}"/>
                </a:ext>
              </a:extLst>
            </p:cNvPr>
            <p:cNvCxnSpPr>
              <a:stCxn id="121" idx="2"/>
              <a:endCxn id="119" idx="0"/>
            </p:cNvCxnSpPr>
            <p:nvPr/>
          </p:nvCxnSpPr>
          <p:spPr>
            <a:xfrm rot="10800000" flipV="1">
              <a:off x="7135174" y="1537777"/>
              <a:ext cx="1262063" cy="859834"/>
            </a:xfrm>
            <a:prstGeom prst="curvedConnector2">
              <a:avLst/>
            </a:prstGeom>
            <a:ln w="76200">
              <a:solidFill>
                <a:schemeClr val="accent1">
                  <a:shade val="95000"/>
                  <a:satMod val="105000"/>
                  <a:alpha val="50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3" name="Gekrümmter Verbinder 17">
              <a:extLst>
                <a:ext uri="{FF2B5EF4-FFF2-40B4-BE49-F238E27FC236}">
                  <a16:creationId xmlns:a16="http://schemas.microsoft.com/office/drawing/2014/main" id="{880E05FC-BB21-5B90-A693-3EE6E2595F13}"/>
                </a:ext>
              </a:extLst>
            </p:cNvPr>
            <p:cNvCxnSpPr>
              <a:stCxn id="119" idx="6"/>
              <a:endCxn id="117" idx="0"/>
            </p:cNvCxnSpPr>
            <p:nvPr/>
          </p:nvCxnSpPr>
          <p:spPr>
            <a:xfrm>
              <a:off x="7344861" y="2589394"/>
              <a:ext cx="1262063" cy="748468"/>
            </a:xfrm>
            <a:prstGeom prst="curvedConnector2">
              <a:avLst/>
            </a:prstGeom>
            <a:ln w="76200">
              <a:solidFill>
                <a:schemeClr val="accent1">
                  <a:shade val="95000"/>
                  <a:satMod val="105000"/>
                  <a:alpha val="49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4" name="Gekrümmter Verbinder 18">
              <a:extLst>
                <a:ext uri="{FF2B5EF4-FFF2-40B4-BE49-F238E27FC236}">
                  <a16:creationId xmlns:a16="http://schemas.microsoft.com/office/drawing/2014/main" id="{DAA3CBC4-740B-83E8-C919-EEE5A7639A96}"/>
                </a:ext>
              </a:extLst>
            </p:cNvPr>
            <p:cNvCxnSpPr>
              <a:stCxn id="117" idx="6"/>
              <a:endCxn id="110" idx="0"/>
            </p:cNvCxnSpPr>
            <p:nvPr/>
          </p:nvCxnSpPr>
          <p:spPr>
            <a:xfrm>
              <a:off x="8816613" y="3529644"/>
              <a:ext cx="1683045" cy="670466"/>
            </a:xfrm>
            <a:prstGeom prst="curvedConnector2">
              <a:avLst/>
            </a:prstGeom>
            <a:ln w="57150">
              <a:solidFill>
                <a:schemeClr val="accent4">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5" name="Gekrümmter Verbinder 19">
              <a:extLst>
                <a:ext uri="{FF2B5EF4-FFF2-40B4-BE49-F238E27FC236}">
                  <a16:creationId xmlns:a16="http://schemas.microsoft.com/office/drawing/2014/main" id="{57CCF2C6-9935-FFC6-EB61-8E286F2024BC}"/>
                </a:ext>
              </a:extLst>
            </p:cNvPr>
            <p:cNvCxnSpPr>
              <a:endCxn id="111" idx="0"/>
            </p:cNvCxnSpPr>
            <p:nvPr/>
          </p:nvCxnSpPr>
          <p:spPr>
            <a:xfrm>
              <a:off x="8874719" y="3529644"/>
              <a:ext cx="1251547" cy="1134006"/>
            </a:xfrm>
            <a:prstGeom prst="curvedConnector2">
              <a:avLst/>
            </a:prstGeom>
            <a:ln w="57150">
              <a:solidFill>
                <a:schemeClr val="accent4">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6" name="Gekrümmter Verbinder 20">
              <a:extLst>
                <a:ext uri="{FF2B5EF4-FFF2-40B4-BE49-F238E27FC236}">
                  <a16:creationId xmlns:a16="http://schemas.microsoft.com/office/drawing/2014/main" id="{AA05DA7C-6FA0-9C65-E423-7C6469DD5342}"/>
                </a:ext>
              </a:extLst>
            </p:cNvPr>
            <p:cNvCxnSpPr>
              <a:endCxn id="111" idx="4"/>
            </p:cNvCxnSpPr>
            <p:nvPr/>
          </p:nvCxnSpPr>
          <p:spPr>
            <a:xfrm flipV="1">
              <a:off x="8560619" y="5047214"/>
              <a:ext cx="1565647" cy="835418"/>
            </a:xfrm>
            <a:prstGeom prst="curvedConnector2">
              <a:avLst/>
            </a:prstGeom>
            <a:ln w="57150">
              <a:solidFill>
                <a:schemeClr val="accent2">
                  <a:lumMod val="75000"/>
                  <a:alpha val="50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7" name="Gekrümmter Verbinder 21">
              <a:extLst>
                <a:ext uri="{FF2B5EF4-FFF2-40B4-BE49-F238E27FC236}">
                  <a16:creationId xmlns:a16="http://schemas.microsoft.com/office/drawing/2014/main" id="{C5C28347-0E5E-8357-2F94-79034FC4D512}"/>
                </a:ext>
              </a:extLst>
            </p:cNvPr>
            <p:cNvCxnSpPr>
              <a:stCxn id="113" idx="4"/>
              <a:endCxn id="111" idx="3"/>
            </p:cNvCxnSpPr>
            <p:nvPr/>
          </p:nvCxnSpPr>
          <p:spPr>
            <a:xfrm rot="16200000" flipH="1">
              <a:off x="8425790" y="3438839"/>
              <a:ext cx="241392" cy="2863014"/>
            </a:xfrm>
            <a:prstGeom prst="curvedConnector3">
              <a:avLst>
                <a:gd name="adj1" fmla="val 216220"/>
              </a:avLst>
            </a:prstGeom>
            <a:ln w="57150">
              <a:solidFill>
                <a:schemeClr val="accent6">
                  <a:alpha val="50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08" name="Gerade Verbindung mit Pfeil 148">
              <a:extLst>
                <a:ext uri="{FF2B5EF4-FFF2-40B4-BE49-F238E27FC236}">
                  <a16:creationId xmlns:a16="http://schemas.microsoft.com/office/drawing/2014/main" id="{CC86592D-E642-42DD-CD5C-8E25A3F9E7BF}"/>
                </a:ext>
              </a:extLst>
            </p:cNvPr>
            <p:cNvCxnSpPr/>
            <p:nvPr/>
          </p:nvCxnSpPr>
          <p:spPr>
            <a:xfrm>
              <a:off x="10616518" y="1798252"/>
              <a:ext cx="0" cy="1323396"/>
            </a:xfrm>
            <a:prstGeom prst="straightConnector1">
              <a:avLst/>
            </a:prstGeom>
            <a:ln w="57150">
              <a:solidFill>
                <a:schemeClr val="tx2">
                  <a:lumMod val="60000"/>
                  <a:lumOff val="40000"/>
                </a:schemeClr>
              </a:solidFill>
              <a:tailEnd type="triangle"/>
            </a:ln>
          </p:spPr>
          <p:style>
            <a:lnRef idx="1">
              <a:schemeClr val="dk1"/>
            </a:lnRef>
            <a:fillRef idx="0">
              <a:schemeClr val="dk1"/>
            </a:fillRef>
            <a:effectRef idx="0">
              <a:schemeClr val="dk1"/>
            </a:effectRef>
            <a:fontRef idx="minor">
              <a:schemeClr val="tx1"/>
            </a:fontRef>
          </p:style>
        </p:cxnSp>
        <p:sp>
          <p:nvSpPr>
            <p:cNvPr id="109" name="Textfeld 149">
              <a:extLst>
                <a:ext uri="{FF2B5EF4-FFF2-40B4-BE49-F238E27FC236}">
                  <a16:creationId xmlns:a16="http://schemas.microsoft.com/office/drawing/2014/main" id="{F1847A4B-47CD-91E4-A467-DE04DB242E3C}"/>
                </a:ext>
              </a:extLst>
            </p:cNvPr>
            <p:cNvSpPr txBox="1"/>
            <p:nvPr/>
          </p:nvSpPr>
          <p:spPr>
            <a:xfrm>
              <a:off x="10679864" y="1795839"/>
              <a:ext cx="671979" cy="954107"/>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a:ea typeface="+mn-ea"/>
                  <a:cs typeface="+mn-cs"/>
                </a:rPr>
                <a:t>Pipe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Type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Size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Fault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rial"/>
                  <a:ea typeface="+mn-ea"/>
                  <a:cs typeface="+mn-cs"/>
                </a:rPr>
                <a:t>…</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grpSp>
      <p:pic>
        <p:nvPicPr>
          <p:cNvPr id="123" name="Picture 122">
            <a:extLst>
              <a:ext uri="{FF2B5EF4-FFF2-40B4-BE49-F238E27FC236}">
                <a16:creationId xmlns:a16="http://schemas.microsoft.com/office/drawing/2014/main" id="{1EE5F08F-ECD0-520B-7FF8-DF7BFD80E259}"/>
              </a:ext>
            </a:extLst>
          </p:cNvPr>
          <p:cNvPicPr>
            <a:picLocks noChangeAspect="1"/>
          </p:cNvPicPr>
          <p:nvPr/>
        </p:nvPicPr>
        <p:blipFill>
          <a:blip r:embed="rId23"/>
          <a:stretch>
            <a:fillRect/>
          </a:stretch>
        </p:blipFill>
        <p:spPr>
          <a:xfrm>
            <a:off x="3687081" y="298104"/>
            <a:ext cx="1076567" cy="527475"/>
          </a:xfrm>
          <a:prstGeom prst="rect">
            <a:avLst/>
          </a:prstGeom>
        </p:spPr>
      </p:pic>
    </p:spTree>
    <p:extLst>
      <p:ext uri="{BB962C8B-B14F-4D97-AF65-F5344CB8AC3E}">
        <p14:creationId xmlns:p14="http://schemas.microsoft.com/office/powerpoint/2010/main" val="8119016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D3663-9C44-FA22-19EB-13AD7CF5219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875BC53-CF03-6B82-155C-F216F5516DD3}"/>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DAF061D1-985C-C255-3F89-96ED9650DF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07E4F505-067F-B9D9-A370-C3030E1143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F77F522B-C85D-B463-BA30-A28EF9C6A8CD}"/>
              </a:ext>
            </a:extLst>
          </p:cNvPr>
          <p:cNvSpPr>
            <a:spLocks noGrp="1"/>
          </p:cNvSpPr>
          <p:nvPr>
            <p:ph type="title"/>
          </p:nvPr>
        </p:nvSpPr>
        <p:spPr/>
        <p:txBody>
          <a:bodyPr/>
          <a:lstStyle/>
          <a:p>
            <a:r>
              <a:rPr lang="en-US" dirty="0" err="1">
                <a:cs typeface="Arial"/>
              </a:rPr>
              <a:t>UtilityTwin</a:t>
            </a:r>
            <a:r>
              <a:rPr lang="en-US" dirty="0">
                <a:cs typeface="Arial"/>
              </a:rPr>
              <a:t> case</a:t>
            </a: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5BC71A37-3E91-3548-B54A-7455E5C87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CDC8ECA-0841-199F-33B7-38DD48C7106D}"/>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A7563847-3CA8-677F-8CCE-013B6C44E7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7" name="Picture 6">
            <a:extLst>
              <a:ext uri="{FF2B5EF4-FFF2-40B4-BE49-F238E27FC236}">
                <a16:creationId xmlns:a16="http://schemas.microsoft.com/office/drawing/2014/main" id="{BD50333D-E0EE-81E9-D457-A1B79827E3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0666" y="1355775"/>
            <a:ext cx="7215971" cy="5075382"/>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7">
            <a:extLst>
              <a:ext uri="{FF2B5EF4-FFF2-40B4-BE49-F238E27FC236}">
                <a16:creationId xmlns:a16="http://schemas.microsoft.com/office/drawing/2014/main" id="{79F6F165-3804-F211-DD2F-C4309514D108}"/>
              </a:ext>
            </a:extLst>
          </p:cNvPr>
          <p:cNvSpPr txBox="1"/>
          <p:nvPr/>
        </p:nvSpPr>
        <p:spPr>
          <a:xfrm>
            <a:off x="1666870" y="1414037"/>
            <a:ext cx="885825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F497D"/>
                </a:solidFill>
                <a:effectLst/>
                <a:uLnTx/>
                <a:uFillTx/>
                <a:latin typeface="Arial"/>
                <a:ea typeface="+mn-ea"/>
                <a:cs typeface="+mn-cs"/>
              </a:rPr>
              <a:t>Social Network for Utility Infrastructure</a:t>
            </a:r>
          </a:p>
        </p:txBody>
      </p:sp>
      <p:pic>
        <p:nvPicPr>
          <p:cNvPr id="123" name="Picture 122">
            <a:extLst>
              <a:ext uri="{FF2B5EF4-FFF2-40B4-BE49-F238E27FC236}">
                <a16:creationId xmlns:a16="http://schemas.microsoft.com/office/drawing/2014/main" id="{82CE81F0-157A-56CA-DF80-354112CFFA71}"/>
              </a:ext>
            </a:extLst>
          </p:cNvPr>
          <p:cNvPicPr>
            <a:picLocks noChangeAspect="1"/>
          </p:cNvPicPr>
          <p:nvPr/>
        </p:nvPicPr>
        <p:blipFill>
          <a:blip r:embed="rId7"/>
          <a:stretch>
            <a:fillRect/>
          </a:stretch>
        </p:blipFill>
        <p:spPr>
          <a:xfrm>
            <a:off x="3687081" y="298104"/>
            <a:ext cx="1076567" cy="527475"/>
          </a:xfrm>
          <a:prstGeom prst="rect">
            <a:avLst/>
          </a:prstGeom>
        </p:spPr>
      </p:pic>
    </p:spTree>
    <p:extLst>
      <p:ext uri="{BB962C8B-B14F-4D97-AF65-F5344CB8AC3E}">
        <p14:creationId xmlns:p14="http://schemas.microsoft.com/office/powerpoint/2010/main" val="13901416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B1835-B4DB-6A1F-4F07-4D8C354234E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05C1942-5CC8-B4C7-6F40-22A758F10B0D}"/>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BBCD3F6A-674D-4157-1A53-CC6F1DA390C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D22D1010-5E98-7963-31FD-BA078CB65F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66D189B5-80B6-9D06-D1D4-8FACD3E79014}"/>
              </a:ext>
            </a:extLst>
          </p:cNvPr>
          <p:cNvSpPr>
            <a:spLocks noGrp="1"/>
          </p:cNvSpPr>
          <p:nvPr>
            <p:ph type="title"/>
          </p:nvPr>
        </p:nvSpPr>
        <p:spPr/>
        <p:txBody>
          <a:bodyPr/>
          <a:lstStyle/>
          <a:p>
            <a:r>
              <a:rPr lang="en-US" dirty="0" err="1">
                <a:cs typeface="Arial"/>
              </a:rPr>
              <a:t>UtilityTwin</a:t>
            </a:r>
            <a:r>
              <a:rPr lang="en-US" dirty="0">
                <a:cs typeface="Arial"/>
              </a:rPr>
              <a:t> case</a:t>
            </a:r>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545DB110-B258-6BBB-2B74-D85C56B9B9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E3E0419-3218-2DF1-000C-B98E0B2A7E4D}"/>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20DA5896-5FFA-0347-895A-20058C8C39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pic>
        <p:nvPicPr>
          <p:cNvPr id="7" name="Grafik 5" descr="Ein Bild, das Screenshot enthält.&#10;&#10;Automatisch generierte Beschreibung">
            <a:extLst>
              <a:ext uri="{FF2B5EF4-FFF2-40B4-BE49-F238E27FC236}">
                <a16:creationId xmlns:a16="http://schemas.microsoft.com/office/drawing/2014/main" id="{5E151D63-187C-4543-FB97-BF40F5B1E5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53244" y="1103455"/>
            <a:ext cx="7685512" cy="5365166"/>
          </a:xfrm>
          <a:prstGeom prst="rect">
            <a:avLst/>
          </a:prstGeom>
        </p:spPr>
      </p:pic>
      <p:pic>
        <p:nvPicPr>
          <p:cNvPr id="10" name="Picture 9">
            <a:extLst>
              <a:ext uri="{FF2B5EF4-FFF2-40B4-BE49-F238E27FC236}">
                <a16:creationId xmlns:a16="http://schemas.microsoft.com/office/drawing/2014/main" id="{7E290EE9-9AD5-97D3-CA6C-C63DAF52AD02}"/>
              </a:ext>
            </a:extLst>
          </p:cNvPr>
          <p:cNvPicPr>
            <a:picLocks noChangeAspect="1"/>
          </p:cNvPicPr>
          <p:nvPr/>
        </p:nvPicPr>
        <p:blipFill>
          <a:blip r:embed="rId7"/>
          <a:stretch>
            <a:fillRect/>
          </a:stretch>
        </p:blipFill>
        <p:spPr>
          <a:xfrm>
            <a:off x="3687081" y="298104"/>
            <a:ext cx="1076567" cy="527475"/>
          </a:xfrm>
          <a:prstGeom prst="rect">
            <a:avLst/>
          </a:prstGeom>
        </p:spPr>
      </p:pic>
    </p:spTree>
    <p:extLst>
      <p:ext uri="{BB962C8B-B14F-4D97-AF65-F5344CB8AC3E}">
        <p14:creationId xmlns:p14="http://schemas.microsoft.com/office/powerpoint/2010/main" val="7540477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7DB8E-AD37-F296-81C2-24D6446A5E1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06D4C06-A180-5D3E-2B41-63E0E80E56A4}"/>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7AD852C5-FA4C-1F47-D3DF-2A46A21C752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AF45492A-D3BD-3E7D-2564-1D2DDA7223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2A6DE18F-9DD5-2A84-F2C5-4A79A2DF3553}"/>
              </a:ext>
            </a:extLst>
          </p:cNvPr>
          <p:cNvSpPr>
            <a:spLocks noGrp="1"/>
          </p:cNvSpPr>
          <p:nvPr>
            <p:ph type="title"/>
          </p:nvPr>
        </p:nvSpPr>
        <p:spPr>
          <a:xfrm>
            <a:off x="518318" y="301185"/>
            <a:ext cx="4360830" cy="332399"/>
          </a:xfrm>
        </p:spPr>
        <p:txBody>
          <a:bodyPr/>
          <a:lstStyle/>
          <a:p>
            <a:r>
              <a:rPr lang="en-US" dirty="0">
                <a:ea typeface="+mj-lt"/>
                <a:cs typeface="+mj-lt"/>
              </a:rPr>
              <a:t>Why go beyond CGMES?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B026DC25-FD89-FA46-2B27-1D21F306F3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B446E2CE-2641-F681-A260-38F679C57C96}"/>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AAF4F64E-D8F1-23D9-B70F-8B164CE8E2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6" name="TextBox 5">
            <a:extLst>
              <a:ext uri="{FF2B5EF4-FFF2-40B4-BE49-F238E27FC236}">
                <a16:creationId xmlns:a16="http://schemas.microsoft.com/office/drawing/2014/main" id="{CEC00A04-5077-7E4B-1F9B-3AD10B7B8161}"/>
              </a:ext>
            </a:extLst>
          </p:cNvPr>
          <p:cNvSpPr txBox="1"/>
          <p:nvPr/>
        </p:nvSpPr>
        <p:spPr>
          <a:xfrm>
            <a:off x="614109" y="1379111"/>
            <a:ext cx="10963781"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1️⃣ </a:t>
            </a:r>
            <a:r>
              <a:rPr kumimoji="0" lang="en-US" sz="1800" b="1" i="0" u="none" strike="noStrike" kern="1200" cap="none" spc="0" normalizeH="0" baseline="0" noProof="0" dirty="0">
                <a:ln>
                  <a:noFill/>
                </a:ln>
                <a:solidFill>
                  <a:srgbClr val="000000"/>
                </a:solidFill>
                <a:effectLst/>
                <a:uLnTx/>
                <a:uFillTx/>
                <a:latin typeface="Arial"/>
                <a:ea typeface="+mn-ea"/>
                <a:cs typeface="+mn-cs"/>
              </a:rPr>
              <a:t>CGMES (the blueprint)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Snapshot of the network (buses, lines, transformers, switch states, parameters).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Use:</a:t>
            </a:r>
            <a:r>
              <a:rPr kumimoji="0" lang="en-US" sz="1800" b="0" i="0" u="none" strike="noStrike" kern="1200" cap="none" spc="0" normalizeH="0" baseline="0" noProof="0" dirty="0">
                <a:ln>
                  <a:noFill/>
                </a:ln>
                <a:solidFill>
                  <a:srgbClr val="000000"/>
                </a:solidFill>
                <a:effectLst/>
                <a:uLnTx/>
                <a:uFillTx/>
                <a:latin typeface="Arial"/>
                <a:ea typeface="+mn-ea"/>
                <a:cs typeface="+mn-cs"/>
              </a:rPr>
              <a:t> Power-flow/contingency studies.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Limit:</a:t>
            </a:r>
            <a:r>
              <a:rPr kumimoji="0" lang="en-US" sz="1800" b="0" i="0" u="none" strike="noStrike" kern="1200" cap="none" spc="0" normalizeH="0" baseline="0" noProof="0" dirty="0">
                <a:ln>
                  <a:noFill/>
                </a:ln>
                <a:solidFill>
                  <a:srgbClr val="000000"/>
                </a:solidFill>
                <a:effectLst/>
                <a:uLnTx/>
                <a:uFillTx/>
                <a:latin typeface="Arial"/>
                <a:ea typeface="+mn-ea"/>
                <a:cs typeface="+mn-cs"/>
              </a:rPr>
              <a:t> No map, no live status, no customer view.</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2️⃣ </a:t>
            </a:r>
            <a:r>
              <a:rPr kumimoji="0" lang="en-US" sz="1800" b="1" i="0" u="none" strike="noStrike" kern="1200" cap="none" spc="0" normalizeH="0" baseline="0" noProof="0" dirty="0">
                <a:ln>
                  <a:noFill/>
                </a:ln>
                <a:solidFill>
                  <a:srgbClr val="000000"/>
                </a:solidFill>
                <a:effectLst/>
                <a:uLnTx/>
                <a:uFillTx/>
                <a:latin typeface="Arial"/>
                <a:ea typeface="+mn-ea"/>
                <a:cs typeface="+mn-cs"/>
              </a:rPr>
              <a:t>GIS (the map)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Locations of substations, poles/towers, underground routes.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Arial"/>
                <a:ea typeface="+mn-ea"/>
                <a:cs typeface="+mn-cs"/>
              </a:rPr>
              <a:t> Shows </a:t>
            </a:r>
            <a:r>
              <a:rPr kumimoji="0" lang="en-US" sz="1800" b="0" i="1" u="none" strike="noStrike" kern="1200" cap="none" spc="0" normalizeH="0" baseline="0" noProof="0" dirty="0">
                <a:ln>
                  <a:noFill/>
                </a:ln>
                <a:solidFill>
                  <a:srgbClr val="000000"/>
                </a:solidFill>
                <a:effectLst/>
                <a:uLnTx/>
                <a:uFillTx/>
                <a:latin typeface="Arial"/>
                <a:ea typeface="+mn-ea"/>
                <a:cs typeface="+mn-cs"/>
              </a:rPr>
              <a:t>where</a:t>
            </a:r>
            <a:r>
              <a:rPr kumimoji="0" lang="en-US" sz="1800" b="0" i="0" u="none" strike="noStrike" kern="1200" cap="none" spc="0" normalizeH="0" baseline="0" noProof="0" dirty="0">
                <a:ln>
                  <a:noFill/>
                </a:ln>
                <a:solidFill>
                  <a:srgbClr val="000000"/>
                </a:solidFill>
                <a:effectLst/>
                <a:uLnTx/>
                <a:uFillTx/>
                <a:latin typeface="Arial"/>
                <a:ea typeface="+mn-ea"/>
                <a:cs typeface="+mn-cs"/>
              </a:rPr>
              <a:t> the issue is and the exact switch/pole to operate.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“Why is Feeder F-17 islanded?” → Map highlights the open switch to close.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3️⃣ </a:t>
            </a:r>
            <a:r>
              <a:rPr kumimoji="0" lang="en-US" sz="1800" b="1" i="0" u="none" strike="noStrike" kern="1200" cap="none" spc="0" normalizeH="0" baseline="0" noProof="0" dirty="0">
                <a:ln>
                  <a:noFill/>
                </a:ln>
                <a:solidFill>
                  <a:srgbClr val="000000"/>
                </a:solidFill>
                <a:effectLst/>
                <a:uLnTx/>
                <a:uFillTx/>
                <a:latin typeface="Arial"/>
                <a:ea typeface="+mn-ea"/>
                <a:cs typeface="+mn-cs"/>
              </a:rPr>
              <a:t>SCADA &amp; EMS (live sensors &amp; control-room apps)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Real-time measurements and alarms; apps that analyze them.</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Arial"/>
                <a:ea typeface="+mn-ea"/>
                <a:cs typeface="+mn-cs"/>
              </a:rPr>
              <a:t> Confirms what’s happening </a:t>
            </a:r>
            <a:r>
              <a:rPr kumimoji="0" lang="en-US" sz="1800" b="0" i="1" u="none" strike="noStrike" kern="1200" cap="none" spc="0" normalizeH="0" baseline="0" noProof="0" dirty="0">
                <a:ln>
                  <a:noFill/>
                </a:ln>
                <a:solidFill>
                  <a:srgbClr val="000000"/>
                </a:solidFill>
                <a:effectLst/>
                <a:uLnTx/>
                <a:uFillTx/>
                <a:latin typeface="Arial"/>
                <a:ea typeface="+mn-ea"/>
                <a:cs typeface="+mn-cs"/>
              </a:rPr>
              <a:t>now</a:t>
            </a:r>
            <a:r>
              <a:rPr kumimoji="0" lang="en-US" sz="1800" b="0" i="0" u="none" strike="noStrike" kern="1200" cap="none" spc="0" normalizeH="0" baseline="0" noProof="0" dirty="0">
                <a:ln>
                  <a:noFill/>
                </a:ln>
                <a:solidFill>
                  <a:srgbClr val="000000"/>
                </a:solidFill>
                <a:effectLst/>
                <a:uLnTx/>
                <a:uFillTx/>
                <a:latin typeface="Arial"/>
                <a:ea typeface="+mn-ea"/>
                <a:cs typeface="+mn-cs"/>
              </a:rPr>
              <a:t> and why.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Bus voltage looks low → SCADA confirms it and shows a nearby line is heavily loaded.</a:t>
            </a:r>
          </a:p>
        </p:txBody>
      </p:sp>
    </p:spTree>
    <p:extLst>
      <p:ext uri="{BB962C8B-B14F-4D97-AF65-F5344CB8AC3E}">
        <p14:creationId xmlns:p14="http://schemas.microsoft.com/office/powerpoint/2010/main" val="3492862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E682-6817-CDBD-2E5B-EFF0276CD3E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41701CA-0864-91E4-21A7-7C5CC2EB453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099508F5-6266-79EF-E176-EC6CF4F5D09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30159ADB-F075-4388-5076-A03E84EDF6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663D1648-3E76-2FFF-CB68-65EBF0AC483E}"/>
              </a:ext>
            </a:extLst>
          </p:cNvPr>
          <p:cNvSpPr>
            <a:spLocks noGrp="1"/>
          </p:cNvSpPr>
          <p:nvPr>
            <p:ph type="title"/>
          </p:nvPr>
        </p:nvSpPr>
        <p:spPr>
          <a:xfrm>
            <a:off x="518318" y="301185"/>
            <a:ext cx="4360830" cy="332399"/>
          </a:xfrm>
        </p:spPr>
        <p:txBody>
          <a:bodyPr/>
          <a:lstStyle/>
          <a:p>
            <a:r>
              <a:rPr lang="en-US" dirty="0">
                <a:ea typeface="+mj-lt"/>
                <a:cs typeface="+mj-lt"/>
              </a:rPr>
              <a:t>Why go beyond CGMES?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E289BFBC-9715-7945-3794-65C38401A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5ECB767A-ADBC-84AA-560E-03DF4BF2DDD4}"/>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F78C8CA4-5B71-C3AC-47AC-A30DAD2C9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6" name="TextBox 5">
            <a:extLst>
              <a:ext uri="{FF2B5EF4-FFF2-40B4-BE49-F238E27FC236}">
                <a16:creationId xmlns:a16="http://schemas.microsoft.com/office/drawing/2014/main" id="{5773D22E-B91F-EAA3-6EA7-AA7739766E2F}"/>
              </a:ext>
            </a:extLst>
          </p:cNvPr>
          <p:cNvSpPr txBox="1"/>
          <p:nvPr/>
        </p:nvSpPr>
        <p:spPr>
          <a:xfrm>
            <a:off x="614109" y="1379111"/>
            <a:ext cx="10963781"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4️⃣ </a:t>
            </a:r>
            <a:r>
              <a:rPr kumimoji="0" lang="en-US" sz="1800" b="1" i="0" u="none" strike="noStrike" kern="1200" cap="none" spc="0" normalizeH="0" baseline="0" noProof="0" dirty="0">
                <a:ln>
                  <a:noFill/>
                </a:ln>
                <a:solidFill>
                  <a:srgbClr val="000000"/>
                </a:solidFill>
                <a:effectLst/>
                <a:uLnTx/>
                <a:uFillTx/>
                <a:latin typeface="Arial"/>
                <a:ea typeface="+mn-ea"/>
                <a:cs typeface="+mn-cs"/>
              </a:rPr>
              <a:t>AMI / MDMS (smart meters at customers)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Home/factory meters that report voltage and “I’m out/back” pings.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Arial"/>
                <a:ea typeface="+mn-ea"/>
                <a:cs typeface="+mn-cs"/>
              </a:rPr>
              <a:t> Verifies restoration at street level; monitors low-voltage quality.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After switching, meters under a transformer start reporting “back online” → restoration confirmed.</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5️⃣ </a:t>
            </a:r>
            <a:r>
              <a:rPr kumimoji="0" lang="en-US" sz="1800" b="1" i="0" u="none" strike="noStrike" kern="1200" cap="none" spc="0" normalizeH="0" baseline="0" noProof="0" dirty="0">
                <a:ln>
                  <a:noFill/>
                </a:ln>
                <a:solidFill>
                  <a:srgbClr val="000000"/>
                </a:solidFill>
                <a:effectLst/>
                <a:uLnTx/>
                <a:uFillTx/>
                <a:latin typeface="Arial"/>
                <a:ea typeface="+mn-ea"/>
                <a:cs typeface="+mn-cs"/>
              </a:rPr>
              <a:t>Vendor / OMS / CMMS (protection &amp; maintenance)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Relay settings, outage tickets/crew work, maintenance status.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Arial"/>
                <a:ea typeface="+mn-ea"/>
                <a:cs typeface="+mn-cs"/>
              </a:rPr>
              <a:t> Prevents unsafe recommendations; respects work in progress.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Tie switch looks good electrically, but the bay is under maintenance → action is blocked; alternate path proposed.</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6️⃣ </a:t>
            </a:r>
            <a:r>
              <a:rPr kumimoji="0" lang="en-US" sz="1800" b="1" i="0" u="none" strike="noStrike" kern="1200" cap="none" spc="0" normalizeH="0" baseline="0" noProof="0" dirty="0">
                <a:ln>
                  <a:noFill/>
                </a:ln>
                <a:solidFill>
                  <a:srgbClr val="000000"/>
                </a:solidFill>
                <a:effectLst/>
                <a:uLnTx/>
                <a:uFillTx/>
                <a:latin typeface="Arial"/>
                <a:ea typeface="+mn-ea"/>
                <a:cs typeface="+mn-cs"/>
              </a:rPr>
              <a:t>PMU (phasor measurement units)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Arial"/>
                <a:ea typeface="+mn-ea"/>
                <a:cs typeface="+mn-cs"/>
              </a:rPr>
              <a:t> High-speed, GPS-timed measurements of grid angles and frequency.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Arial"/>
                <a:ea typeface="+mn-ea"/>
                <a:cs typeface="+mn-cs"/>
              </a:rPr>
              <a:t> Safe re-closing and stability checks.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Arial"/>
                <a:ea typeface="+mn-ea"/>
                <a:cs typeface="+mn-cs"/>
              </a:rPr>
              <a:t> Angle difference is small and frequency aligned → safe to re-close an intertie.</a:t>
            </a:r>
          </a:p>
        </p:txBody>
      </p:sp>
    </p:spTree>
    <p:extLst>
      <p:ext uri="{BB962C8B-B14F-4D97-AF65-F5344CB8AC3E}">
        <p14:creationId xmlns:p14="http://schemas.microsoft.com/office/powerpoint/2010/main" val="36574340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CACD1-818F-A521-32F5-569E951AFD2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D7FB63D-31B2-AF93-27EA-946E7D1C98FB}"/>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DBB6EB7E-B3CF-CE21-DB53-D320086271E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A0B49A89-B754-87D4-AD80-F0837306C5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13AE97AE-0089-0606-65F3-7B8E0E233F44}"/>
              </a:ext>
            </a:extLst>
          </p:cNvPr>
          <p:cNvSpPr>
            <a:spLocks noGrp="1"/>
          </p:cNvSpPr>
          <p:nvPr>
            <p:ph type="title"/>
          </p:nvPr>
        </p:nvSpPr>
        <p:spPr>
          <a:xfrm>
            <a:off x="518318" y="301185"/>
            <a:ext cx="4360830" cy="332399"/>
          </a:xfrm>
        </p:spPr>
        <p:txBody>
          <a:bodyPr/>
          <a:lstStyle/>
          <a:p>
            <a:r>
              <a:rPr lang="en-US" dirty="0">
                <a:ea typeface="+mj-lt"/>
                <a:cs typeface="+mj-lt"/>
              </a:rPr>
              <a:t>Why go beyond CGMES?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F2EC9618-A439-07DE-8089-AC90E0FF0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C43AFF8E-41C5-9387-76B3-473F01CB2763}"/>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E57AD7A3-AE91-EF2B-1228-7176861C23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6" name="TextBox 5">
            <a:extLst>
              <a:ext uri="{FF2B5EF4-FFF2-40B4-BE49-F238E27FC236}">
                <a16:creationId xmlns:a16="http://schemas.microsoft.com/office/drawing/2014/main" id="{E1718DC0-0620-B14C-9F58-16D50CF694A0}"/>
              </a:ext>
            </a:extLst>
          </p:cNvPr>
          <p:cNvSpPr txBox="1"/>
          <p:nvPr/>
        </p:nvSpPr>
        <p:spPr>
          <a:xfrm>
            <a:off x="614109" y="1379111"/>
            <a:ext cx="10963781" cy="36933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7️⃣ </a:t>
            </a:r>
            <a:r>
              <a:rPr kumimoji="0" lang="en-US" sz="1800" b="1" i="0" u="none" strike="noStrike" kern="1200" cap="none" spc="0" normalizeH="0" baseline="0" noProof="0" dirty="0">
                <a:ln>
                  <a:noFill/>
                </a:ln>
                <a:solidFill>
                  <a:srgbClr val="000000"/>
                </a:solidFill>
                <a:effectLst/>
                <a:uLnTx/>
                <a:uFillTx/>
                <a:latin typeface="Arial"/>
                <a:ea typeface="+mn-ea"/>
                <a:cs typeface="+mn-cs"/>
              </a:rPr>
              <a:t>Weather / Nowcast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What:</a:t>
            </a:r>
            <a:r>
              <a:rPr kumimoji="0" lang="en-US" sz="1800" b="0" i="0" u="none" strike="noStrike" kern="1200" cap="none" spc="0" normalizeH="0" baseline="0" noProof="0" dirty="0">
                <a:ln>
                  <a:noFill/>
                </a:ln>
                <a:solidFill>
                  <a:prstClr val="black"/>
                </a:solidFill>
                <a:effectLst/>
                <a:uLnTx/>
                <a:uFillTx/>
                <a:latin typeface="Arial"/>
                <a:ea typeface="+mn-ea"/>
                <a:cs typeface="+mn-cs"/>
              </a:rPr>
              <a:t> Live/forecast wind, lightning, temperature, storms.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Why it helps:</a:t>
            </a:r>
            <a:r>
              <a:rPr kumimoji="0" lang="en-US" sz="1800" b="0" i="0" u="none" strike="noStrike" kern="1200" cap="none" spc="0" normalizeH="0" baseline="0" noProof="0" dirty="0">
                <a:ln>
                  <a:noFill/>
                </a:ln>
                <a:solidFill>
                  <a:prstClr val="black"/>
                </a:solidFill>
                <a:effectLst/>
                <a:uLnTx/>
                <a:uFillTx/>
                <a:latin typeface="Arial"/>
                <a:ea typeface="+mn-ea"/>
                <a:cs typeface="+mn-cs"/>
              </a:rPr>
              <a:t> Explains faults and flags risks ahead of time.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Example:</a:t>
            </a:r>
            <a:r>
              <a:rPr kumimoji="0" lang="en-US" sz="1800" b="0" i="0" u="none" strike="noStrike" kern="1200" cap="none" spc="0" normalizeH="0" baseline="0" noProof="0" dirty="0">
                <a:ln>
                  <a:noFill/>
                </a:ln>
                <a:solidFill>
                  <a:prstClr val="black"/>
                </a:solidFill>
                <a:effectLst/>
                <a:uLnTx/>
                <a:uFillTx/>
                <a:latin typeface="Arial"/>
                <a:ea typeface="+mn-ea"/>
                <a:cs typeface="+mn-cs"/>
              </a:rPr>
              <a:t> Lightning cell over Line L-233 → fault risk alert; if a trip occurs, ticket links to that storm.</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8️⃣ </a:t>
            </a:r>
            <a:r>
              <a:rPr kumimoji="0" lang="en-US" sz="1800" b="1" i="0" u="none" strike="noStrike" kern="1200" cap="none" spc="0" normalizeH="0" baseline="0" noProof="0" dirty="0">
                <a:ln>
                  <a:noFill/>
                </a:ln>
                <a:solidFill>
                  <a:srgbClr val="000000"/>
                </a:solidFill>
                <a:effectLst/>
                <a:uLnTx/>
                <a:uFillTx/>
                <a:latin typeface="Arial"/>
                <a:ea typeface="+mn-ea"/>
                <a:cs typeface="+mn-cs"/>
              </a:rPr>
              <a:t>Documents (CGMES profiles description, Standard Operating Procedures, operator reports)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What:</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 Detailed CGMES field/profile docs, standard operating procedures &amp; one-line diagrams, and operator reports (blackout, contingency, congestion), plus protection/SCADA tag lists.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Why it helps:</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 Removes ambiguity on data fields, grounds actions in official procedures, speeds root-cause with prior cases, and makes decisions auditable.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Example:</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 Before reclosing tie SW-T-19, the agent surfaces the SOP sync-check steps and confirms interlocks/maintenance status; or when asked “What is </a:t>
            </a:r>
            <a:r>
              <a:rPr kumimoji="0" lang="en-US" sz="1800" b="0" i="0" u="none" strike="noStrike" kern="1200" cap="none" spc="0" normalizeH="0" baseline="0" noProof="0" dirty="0" err="1">
                <a:ln>
                  <a:noFill/>
                </a:ln>
                <a:solidFill>
                  <a:prstClr val="black"/>
                </a:solidFill>
                <a:effectLst/>
                <a:uLnTx/>
                <a:uFillTx/>
                <a:latin typeface="Arial"/>
                <a:ea typeface="+mn-ea"/>
                <a:cs typeface="+mn-cs"/>
              </a:rPr>
              <a:t>tapPosition</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 it shows the CGMES definition with units and valid ranges.</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1454384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EA035-EEE8-C694-4507-D804BEEABB8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14ED8F0-024E-1294-8D00-2BCEC97C5BE8}"/>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89F959-AAFA-471A-B8FB-4CD12773E51D}" type="datetime4">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 Juli 2026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3" name="Fußzeilenplatzhalter 2">
            <a:extLst>
              <a:ext uri="{FF2B5EF4-FFF2-40B4-BE49-F238E27FC236}">
                <a16:creationId xmlns:a16="http://schemas.microsoft.com/office/drawing/2014/main" id="{211C6C6B-6090-CE20-E35A-2756716FF24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Arial"/>
                <a:ea typeface="+mn-ea"/>
                <a:cs typeface="+mn-cs"/>
              </a:rPr>
              <a:t>Technische Fakultät</a:t>
            </a:r>
          </a:p>
        </p:txBody>
      </p:sp>
      <p:sp>
        <p:nvSpPr>
          <p:cNvPr id="4" name="Foliennummernplatzhalter 3">
            <a:extLst>
              <a:ext uri="{FF2B5EF4-FFF2-40B4-BE49-F238E27FC236}">
                <a16:creationId xmlns:a16="http://schemas.microsoft.com/office/drawing/2014/main" id="{53D6A3C7-5926-01B9-EA47-F6D76989D3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49F9DF-37BD-4CD6-BF49-65BA579E1D7A}" type="slidenum">
              <a:rPr kumimoji="0" lang="de-DE" sz="8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de-DE" sz="800" b="0" i="0" u="none" strike="noStrike" kern="1200" cap="none" spc="0" normalizeH="0" baseline="0" noProof="0">
              <a:ln>
                <a:noFill/>
              </a:ln>
              <a:solidFill>
                <a:prstClr val="black"/>
              </a:solidFill>
              <a:effectLst/>
              <a:uLnTx/>
              <a:uFillTx/>
              <a:latin typeface="Arial"/>
              <a:ea typeface="+mn-ea"/>
              <a:cs typeface="+mn-cs"/>
            </a:endParaRPr>
          </a:p>
        </p:txBody>
      </p:sp>
      <p:sp>
        <p:nvSpPr>
          <p:cNvPr id="27" name="Titel 26">
            <a:extLst>
              <a:ext uri="{FF2B5EF4-FFF2-40B4-BE49-F238E27FC236}">
                <a16:creationId xmlns:a16="http://schemas.microsoft.com/office/drawing/2014/main" id="{462BA42A-D061-AC26-3B3E-5693DE89D984}"/>
              </a:ext>
            </a:extLst>
          </p:cNvPr>
          <p:cNvSpPr>
            <a:spLocks noGrp="1"/>
          </p:cNvSpPr>
          <p:nvPr>
            <p:ph type="title"/>
          </p:nvPr>
        </p:nvSpPr>
        <p:spPr>
          <a:xfrm>
            <a:off x="518318" y="301185"/>
            <a:ext cx="4360830" cy="332399"/>
          </a:xfrm>
        </p:spPr>
        <p:txBody>
          <a:bodyPr/>
          <a:lstStyle/>
          <a:p>
            <a:r>
              <a:rPr lang="en-US" dirty="0">
                <a:ea typeface="+mj-lt"/>
                <a:cs typeface="+mj-lt"/>
              </a:rPr>
              <a:t>Why go beyond CGMES?</a:t>
            </a:r>
            <a:endParaRPr lang="en-US" dirty="0"/>
          </a:p>
        </p:txBody>
      </p:sp>
      <p:pic>
        <p:nvPicPr>
          <p:cNvPr id="17" name="Picture 16" descr="OPAL-RT and SCALABLE Network Technologies Provide Real-time Cyber-Physical  Solution to New York Power Authority - OPAL-RT">
            <a:extLst>
              <a:ext uri="{FF2B5EF4-FFF2-40B4-BE49-F238E27FC236}">
                <a16:creationId xmlns:a16="http://schemas.microsoft.com/office/drawing/2014/main" id="{982A47D2-EDDA-6A66-5437-C6D22F1CE5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3945" y="383634"/>
            <a:ext cx="1509702" cy="28012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D3489E5-8E3F-1919-38A0-86DC2ADF306B}"/>
              </a:ext>
            </a:extLst>
          </p:cNvPr>
          <p:cNvPicPr>
            <a:picLocks noChangeAspect="1"/>
          </p:cNvPicPr>
          <p:nvPr/>
        </p:nvPicPr>
        <p:blipFill>
          <a:blip r:embed="rId4"/>
          <a:stretch>
            <a:fillRect/>
          </a:stretch>
        </p:blipFill>
        <p:spPr>
          <a:xfrm>
            <a:off x="7850254" y="383634"/>
            <a:ext cx="1279737" cy="249949"/>
          </a:xfrm>
          <a:prstGeom prst="rect">
            <a:avLst/>
          </a:prstGeom>
        </p:spPr>
      </p:pic>
      <p:pic>
        <p:nvPicPr>
          <p:cNvPr id="19" name="Picture 18" descr="A logo with blue text&#10;&#10;AI-generated content may be incorrect.">
            <a:extLst>
              <a:ext uri="{FF2B5EF4-FFF2-40B4-BE49-F238E27FC236}">
                <a16:creationId xmlns:a16="http://schemas.microsoft.com/office/drawing/2014/main" id="{F215EB72-29EA-E782-EF7E-1572479E45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6309" y="171972"/>
            <a:ext cx="1855234" cy="703443"/>
          </a:xfrm>
          <a:prstGeom prst="rect">
            <a:avLst/>
          </a:prstGeom>
        </p:spPr>
      </p:pic>
      <p:sp>
        <p:nvSpPr>
          <p:cNvPr id="8" name="TextBox 7">
            <a:extLst>
              <a:ext uri="{FF2B5EF4-FFF2-40B4-BE49-F238E27FC236}">
                <a16:creationId xmlns:a16="http://schemas.microsoft.com/office/drawing/2014/main" id="{B5B3A4C8-DB07-E353-42F3-3FCFD63F3806}"/>
              </a:ext>
            </a:extLst>
          </p:cNvPr>
          <p:cNvSpPr txBox="1"/>
          <p:nvPr/>
        </p:nvSpPr>
        <p:spPr>
          <a:xfrm>
            <a:off x="359718" y="1397675"/>
            <a:ext cx="12223649" cy="2031325"/>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1️⃣ </a:t>
            </a:r>
            <a:r>
              <a:rPr kumimoji="0" lang="en-US" sz="1800" b="1" i="0" u="none" strike="noStrike" kern="1200" cap="none" spc="0" normalizeH="0" baseline="0" noProof="0" dirty="0">
                <a:ln>
                  <a:noFill/>
                </a:ln>
                <a:solidFill>
                  <a:srgbClr val="000000"/>
                </a:solidFill>
                <a:effectLst/>
                <a:uLnTx/>
                <a:uFillTx/>
                <a:latin typeface="Arial"/>
                <a:ea typeface="+mn-ea"/>
                <a:cs typeface="+mn-cs"/>
              </a:rPr>
              <a:t>CGMES (the blueprint) </a:t>
            </a:r>
            <a:r>
              <a:rPr kumimoji="0" lang="en-US" sz="1800" b="1" i="0" u="none" strike="noStrike" kern="1200" cap="none" spc="0" normalizeH="0" baseline="0" noProof="0" dirty="0">
                <a:ln>
                  <a:noFill/>
                </a:ln>
                <a:solidFill>
                  <a:srgbClr val="000000"/>
                </a:solidFill>
                <a:effectLst/>
                <a:uLnTx/>
                <a:uFillTx/>
                <a:latin typeface="Arial"/>
                <a:ea typeface="+mn-ea"/>
                <a:cs typeface="+mn-cs"/>
                <a:sym typeface="Wingdings" pitchFamily="2" charset="2"/>
              </a:rPr>
              <a:t>: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Snapshot of the network (buses, lines, transformers, switch states, parameters).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2️⃣ </a:t>
            </a:r>
            <a:r>
              <a:rPr kumimoji="0" lang="en-US" sz="1800" b="1" i="0" u="none" strike="noStrike" kern="1200" cap="none" spc="0" normalizeH="0" baseline="0" noProof="0" dirty="0">
                <a:ln>
                  <a:noFill/>
                </a:ln>
                <a:solidFill>
                  <a:srgbClr val="000000"/>
                </a:solidFill>
                <a:effectLst/>
                <a:uLnTx/>
                <a:uFillTx/>
                <a:latin typeface="Arial"/>
                <a:ea typeface="+mn-ea"/>
                <a:cs typeface="+mn-cs"/>
              </a:rPr>
              <a:t>GIS (the map) </a:t>
            </a:r>
            <a:r>
              <a:rPr kumimoji="0" lang="en-US" sz="1800" b="1" i="0" u="none" strike="noStrike" kern="1200" cap="none" spc="0" normalizeH="0" baseline="0" noProof="0" dirty="0">
                <a:ln>
                  <a:noFill/>
                </a:ln>
                <a:solidFill>
                  <a:srgbClr val="000000"/>
                </a:solidFill>
                <a:effectLst/>
                <a:uLnTx/>
                <a:uFillTx/>
                <a:latin typeface="Arial"/>
                <a:ea typeface="+mn-ea"/>
                <a:cs typeface="+mn-cs"/>
                <a:sym typeface="Wingdings" pitchFamily="2" charset="2"/>
              </a:rPr>
              <a:t>: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Locations of substations, poles/towers, underground routes.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lt"/>
                <a:cs typeface="Arial"/>
              </a:rPr>
              <a:t>3️⃣ </a:t>
            </a:r>
            <a:r>
              <a:rPr kumimoji="0" lang="en-US" sz="1800" b="1" i="0" u="none" strike="noStrike" kern="1200" cap="none" spc="0" normalizeH="0" baseline="0" noProof="0" dirty="0">
                <a:ln>
                  <a:noFill/>
                </a:ln>
                <a:solidFill>
                  <a:srgbClr val="000000"/>
                </a:solidFill>
                <a:effectLst/>
                <a:uLnTx/>
                <a:uFillTx/>
                <a:latin typeface="Arial"/>
                <a:ea typeface="+mn-ea"/>
                <a:cs typeface="+mn-cs"/>
              </a:rPr>
              <a:t>SCADA / EMS (live sensors &amp; control-room apps) :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Real-time measurements</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4️⃣ </a:t>
            </a:r>
            <a:r>
              <a:rPr kumimoji="0" lang="en-US" sz="1800" b="1" i="0" u="none" strike="noStrike" kern="1200" cap="none" spc="0" normalizeH="0" baseline="0" noProof="0" dirty="0">
                <a:ln>
                  <a:noFill/>
                </a:ln>
                <a:solidFill>
                  <a:srgbClr val="000000"/>
                </a:solidFill>
                <a:effectLst/>
                <a:uLnTx/>
                <a:uFillTx/>
                <a:latin typeface="Arial"/>
                <a:ea typeface="+mn-ea"/>
                <a:cs typeface="+mn-cs"/>
              </a:rPr>
              <a:t>AMI / MDMS (smart meters at customers) :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Home/factory meters that report voltage and “I’m out/back” pings.</a:t>
            </a:r>
            <a:endParaRPr kumimoji="0" lang="en-US" sz="1800" b="0" i="0" u="none" strike="noStrike" kern="1200" cap="none" spc="0" normalizeH="0" baseline="0" noProof="0" dirty="0">
              <a:ln>
                <a:noFill/>
              </a:ln>
              <a:solidFill>
                <a:prstClr val="black"/>
              </a:solidFill>
              <a:effectLst/>
              <a:uLnTx/>
              <a:uFillTx/>
              <a:latin typeface="Arial"/>
              <a:ea typeface="+mn-lt"/>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5️⃣ </a:t>
            </a:r>
            <a:r>
              <a:rPr kumimoji="0" lang="en-US" sz="1800" b="1" i="0" u="none" strike="noStrike" kern="1200" cap="none" spc="0" normalizeH="0" baseline="0" noProof="0" dirty="0">
                <a:ln>
                  <a:noFill/>
                </a:ln>
                <a:solidFill>
                  <a:srgbClr val="000000"/>
                </a:solidFill>
                <a:effectLst/>
                <a:uLnTx/>
                <a:uFillTx/>
                <a:latin typeface="Arial"/>
                <a:ea typeface="+mn-ea"/>
                <a:cs typeface="+mn-cs"/>
              </a:rPr>
              <a:t>Vendor / OMS / CMMS (protection &amp; maintenance) :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Relay settings, outage tickets/crew work, maintenance status.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6️⃣ </a:t>
            </a:r>
            <a:r>
              <a:rPr kumimoji="0" lang="en-US" sz="1800" b="1" i="0" u="none" strike="noStrike" kern="1200" cap="none" spc="0" normalizeH="0" baseline="0" noProof="0" dirty="0">
                <a:ln>
                  <a:noFill/>
                </a:ln>
                <a:solidFill>
                  <a:srgbClr val="000000"/>
                </a:solidFill>
                <a:effectLst/>
                <a:uLnTx/>
                <a:uFillTx/>
                <a:latin typeface="Arial"/>
                <a:ea typeface="+mn-ea"/>
                <a:cs typeface="+mn-cs"/>
              </a:rPr>
              <a:t>PMU (phasor measurement units) :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High-speed, GPS-timed measurements of grid angles and frequency.</a:t>
            </a: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7️⃣ </a:t>
            </a:r>
            <a:r>
              <a:rPr kumimoji="0" lang="en-US" sz="1800" b="1" i="0" u="none" strike="noStrike" kern="1200" cap="none" spc="0" normalizeH="0" baseline="0" noProof="0" dirty="0">
                <a:ln>
                  <a:noFill/>
                </a:ln>
                <a:solidFill>
                  <a:srgbClr val="000000"/>
                </a:solidFill>
                <a:effectLst/>
                <a:uLnTx/>
                <a:uFillTx/>
                <a:latin typeface="Arial"/>
                <a:ea typeface="+mn-ea"/>
                <a:cs typeface="+mn-cs"/>
              </a:rPr>
              <a:t>Weather / nowcast (wind, lightning) : </a:t>
            </a:r>
            <a:r>
              <a:rPr kumimoji="0" lang="en-US" sz="1800" b="0" i="0" u="none" strike="noStrike" kern="1200" cap="none" spc="0" normalizeH="0" baseline="0" noProof="0" dirty="0">
                <a:ln>
                  <a:noFill/>
                </a:ln>
                <a:solidFill>
                  <a:srgbClr val="000000"/>
                </a:solidFill>
                <a:effectLst/>
                <a:uLnTx/>
                <a:uFillTx/>
                <a:latin typeface="-webkit-standard"/>
                <a:ea typeface="+mn-ea"/>
                <a:cs typeface="+mn-cs"/>
              </a:rPr>
              <a:t>Live/forecast wind, lightning, temperature, storms.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Box 6">
            <a:extLst>
              <a:ext uri="{FF2B5EF4-FFF2-40B4-BE49-F238E27FC236}">
                <a16:creationId xmlns:a16="http://schemas.microsoft.com/office/drawing/2014/main" id="{B4FE0E88-C35A-A3B5-D79B-213BEEDC0CC8}"/>
              </a:ext>
            </a:extLst>
          </p:cNvPr>
          <p:cNvSpPr txBox="1"/>
          <p:nvPr/>
        </p:nvSpPr>
        <p:spPr>
          <a:xfrm>
            <a:off x="1625988" y="3839249"/>
            <a:ext cx="9640956"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Faster root-cause:</a:t>
            </a:r>
            <a:r>
              <a:rPr kumimoji="0" lang="en-US" sz="1800" b="0" i="0" u="none" strike="noStrike" kern="1200" cap="none" spc="0" normalizeH="0" baseline="0" noProof="0" dirty="0">
                <a:ln>
                  <a:noFill/>
                </a:ln>
                <a:solidFill>
                  <a:prstClr val="black"/>
                </a:solidFill>
                <a:effectLst/>
                <a:uLnTx/>
                <a:uFillTx/>
                <a:latin typeface="Arial"/>
                <a:ea typeface="+mn-ea"/>
                <a:cs typeface="+mn-cs"/>
              </a:rPr>
              <a:t> Map + sensors pinpoint the exact open switch or overloaded span.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Trustworthy actions:</a:t>
            </a:r>
            <a:r>
              <a:rPr kumimoji="0" lang="en-US" sz="1800" b="0" i="0" u="none" strike="noStrike" kern="1200" cap="none" spc="0" normalizeH="0" baseline="0" noProof="0" dirty="0">
                <a:ln>
                  <a:noFill/>
                </a:ln>
                <a:solidFill>
                  <a:prstClr val="black"/>
                </a:solidFill>
                <a:effectLst/>
                <a:uLnTx/>
                <a:uFillTx/>
                <a:latin typeface="Arial"/>
                <a:ea typeface="+mn-ea"/>
                <a:cs typeface="+mn-cs"/>
              </a:rPr>
              <a:t> Smart meters &amp; SCADA confirm reality before executing a plan.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Safer operations:</a:t>
            </a:r>
            <a:r>
              <a:rPr kumimoji="0" lang="en-US" sz="1800" b="0" i="0" u="none" strike="noStrike" kern="1200" cap="none" spc="0" normalizeH="0" baseline="0" noProof="0" dirty="0">
                <a:ln>
                  <a:noFill/>
                </a:ln>
                <a:solidFill>
                  <a:prstClr val="black"/>
                </a:solidFill>
                <a:effectLst/>
                <a:uLnTx/>
                <a:uFillTx/>
                <a:latin typeface="Arial"/>
                <a:ea typeface="+mn-ea"/>
                <a:cs typeface="+mn-cs"/>
              </a:rPr>
              <a:t> Protection/maintenance data avoids unsafe switching.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Quicker restoration:</a:t>
            </a:r>
            <a:r>
              <a:rPr kumimoji="0" lang="en-US" sz="1800" b="0" i="0" u="none" strike="noStrike" kern="1200" cap="none" spc="0" normalizeH="0" baseline="0" noProof="0" dirty="0">
                <a:ln>
                  <a:noFill/>
                </a:ln>
                <a:solidFill>
                  <a:prstClr val="black"/>
                </a:solidFill>
                <a:effectLst/>
                <a:uLnTx/>
                <a:uFillTx/>
                <a:latin typeface="Arial"/>
                <a:ea typeface="+mn-ea"/>
                <a:cs typeface="+mn-cs"/>
              </a:rPr>
              <a:t> AMI pings verify success instantly—no phone calls needed.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Proactive ops:</a:t>
            </a:r>
            <a:r>
              <a:rPr kumimoji="0" lang="en-US" sz="1800" b="0" i="0" u="none" strike="noStrike" kern="1200" cap="none" spc="0" normalizeH="0" baseline="0" noProof="0" dirty="0">
                <a:ln>
                  <a:noFill/>
                </a:ln>
                <a:solidFill>
                  <a:prstClr val="black"/>
                </a:solidFill>
                <a:effectLst/>
                <a:uLnTx/>
                <a:uFillTx/>
                <a:latin typeface="Arial"/>
                <a:ea typeface="+mn-ea"/>
                <a:cs typeface="+mn-cs"/>
              </a:rPr>
              <a:t> Weather &amp; PMU turn reactive fixes into early interventions.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Auditable decisions:</a:t>
            </a:r>
            <a:r>
              <a:rPr kumimoji="0" lang="en-US" sz="1800" b="0" i="0" u="none" strike="noStrike" kern="1200" cap="none" spc="0" normalizeH="0" baseline="0" noProof="0" dirty="0">
                <a:ln>
                  <a:noFill/>
                </a:ln>
                <a:solidFill>
                  <a:prstClr val="black"/>
                </a:solidFill>
                <a:effectLst/>
                <a:uLnTx/>
                <a:uFillTx/>
                <a:latin typeface="Arial"/>
                <a:ea typeface="+mn-ea"/>
                <a:cs typeface="+mn-cs"/>
              </a:rPr>
              <a:t> Every step is tied to data sources, tickets, and procedures.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0681472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dirty="0">
                <a:solidFill>
                  <a:srgbClr val="00833C"/>
                </a:solidFill>
                <a:latin typeface="Calibri"/>
                <a:ea typeface="Calibri"/>
                <a:cs typeface="Calibri"/>
              </a:rPr>
              <a:t>Demo </a:t>
            </a:r>
            <a:r>
              <a:rPr lang="en-US" altLang="ko-KR" sz="2400" b="1" dirty="0">
                <a:solidFill>
                  <a:srgbClr val="00833C"/>
                </a:solidFill>
                <a:latin typeface="Calibri"/>
                <a:ea typeface="Calibri"/>
                <a:cs typeface="Calibri"/>
              </a:rPr>
              <a:t>3</a:t>
            </a:r>
            <a:endParaRPr sz="2400" b="1" dirty="0">
              <a:solidFill>
                <a:srgbClr val="00833C"/>
              </a:solidFill>
              <a:latin typeface="Calibri"/>
              <a:ea typeface="Calibri"/>
              <a:cs typeface="Calibri"/>
            </a:endParaRP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Ask the grid basic operational questions</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38200" y="2000250"/>
            <a:ext cx="10515600" cy="590550"/>
          </a:xfrm>
        </p:spPr>
        <p:txBody>
          <a:bodyPr>
            <a:normAutofit fontScale="85000" lnSpcReduction="20000"/>
          </a:bodyPr>
          <a:lstStyle/>
          <a:p>
            <a:pPr>
              <a:defRPr sz="1575">
                <a:solidFill>
                  <a:srgbClr val="4A4A4A"/>
                </a:solidFill>
                <a:latin typeface="Calibri"/>
                <a:ea typeface="Calibri"/>
                <a:cs typeface="Calibri"/>
              </a:defRPr>
            </a:pPr>
            <a:r>
              <a:rPr sz="1575">
                <a:solidFill>
                  <a:srgbClr val="4A4A4A"/>
                </a:solidFill>
                <a:latin typeface="Calibri"/>
                <a:ea typeface="Calibri"/>
                <a:cs typeface="Calibri"/>
              </a:rPr>
              <a:t>Demo cue: natural-language query -&gt; Cypher -&gt; count/list result.</a:t>
            </a:r>
          </a:p>
          <a:p>
            <a:endParaRPr sz="1575">
              <a:solidFill>
                <a:srgbClr val="4A4A4A"/>
              </a:solidFill>
              <a:latin typeface="Calibri"/>
              <a:ea typeface="Calibri"/>
              <a:cs typeface="Calibri"/>
            </a:endParaRPr>
          </a:p>
          <a:p>
            <a:pPr>
              <a:defRPr sz="1575">
                <a:solidFill>
                  <a:srgbClr val="4A4A4A"/>
                </a:solidFill>
                <a:latin typeface="Calibri"/>
                <a:ea typeface="Calibri"/>
                <a:cs typeface="Calibri"/>
              </a:defRPr>
            </a:pPr>
            <a:r>
              <a:rPr sz="1575">
                <a:solidFill>
                  <a:srgbClr val="4A4A4A"/>
                </a:solidFill>
                <a:latin typeface="Calibri"/>
                <a:ea typeface="Calibri"/>
                <a:cs typeface="Calibri"/>
              </a:rPr>
              <a:t>Use this slide to play the short basic-query clip if time allows.</a:t>
            </a:r>
          </a:p>
        </p:txBody>
      </p:sp>
      <p:sp>
        <p:nvSpPr>
          <p:cNvPr id="5" name="box">
            <a:extLst>
              <a:ext uri="{FF2B5EF4-FFF2-40B4-BE49-F238E27FC236}">
                <a16:creationId xmlns:a16="http://schemas.microsoft.com/office/drawing/2014/main" id="{A062F0F9-0789-47AF-9105-6BB753F33B5F}"/>
              </a:ext>
            </a:extLst>
          </p:cNvPr>
          <p:cNvSpPr>
            <a:spLocks noGrp="1"/>
          </p:cNvSpPr>
          <p:nvPr/>
        </p:nvSpPr>
        <p:spPr>
          <a:xfrm>
            <a:off x="8667750" y="3000375"/>
            <a:ext cx="2095500" cy="323850"/>
          </a:xfrm>
          <a:prstGeom prst="roundRect">
            <a:avLst>
              <a:gd name="adj" fmla="val 50000"/>
            </a:avLst>
          </a:prstGeom>
          <a:solidFill>
            <a:srgbClr val="EAF6EC"/>
          </a:solidFill>
          <a:ln w="9525">
            <a:solidFill>
              <a:srgbClr val="B8D8BD"/>
            </a:solidFill>
            <a:prstDash val="solid"/>
          </a:ln>
        </p:spPr>
        <p:txBody>
          <a:bodyPr/>
          <a:lstStyle/>
          <a:p>
            <a:pPr algn="ctr">
              <a:defRPr sz="1275" b="1">
                <a:solidFill>
                  <a:srgbClr val="006341"/>
                </a:solidFill>
                <a:latin typeface="Calibri"/>
                <a:ea typeface="Calibri"/>
                <a:cs typeface="Calibri"/>
              </a:defRPr>
            </a:pPr>
            <a:r>
              <a:rPr sz="1275" b="1">
                <a:solidFill>
                  <a:srgbClr val="006341"/>
                </a:solidFill>
                <a:latin typeface="Calibri"/>
                <a:ea typeface="Calibri"/>
                <a:cs typeface="Calibri"/>
              </a:rPr>
              <a:t>Demo clip: basic query</a:t>
            </a:r>
          </a:p>
        </p:txBody>
      </p:sp>
      <p:sp>
        <p:nvSpPr>
          <p:cNvPr id="6" name="box">
            <a:extLst>
              <a:ext uri="{FF2B5EF4-FFF2-40B4-BE49-F238E27FC236}">
                <a16:creationId xmlns:a16="http://schemas.microsoft.com/office/drawing/2014/main" id="{FF16E8B6-11A7-4339-B9A8-2FD821165853}"/>
              </a:ext>
            </a:extLst>
          </p:cNvPr>
          <p:cNvSpPr>
            <a:spLocks noGrp="1"/>
          </p:cNvSpPr>
          <p:nvPr/>
        </p:nvSpPr>
        <p:spPr>
          <a:xfrm>
            <a:off x="8477250" y="3571875"/>
            <a:ext cx="2476500" cy="1619250"/>
          </a:xfrm>
          <a:prstGeom prst="roundRect">
            <a:avLst>
              <a:gd name="adj" fmla="val 4706"/>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text">
            <a:extLst>
              <a:ext uri="{FF2B5EF4-FFF2-40B4-BE49-F238E27FC236}">
                <a16:creationId xmlns:a16="http://schemas.microsoft.com/office/drawing/2014/main" id="{FCDC866E-9FCF-4542-A6A5-A586F0D39D0B}"/>
              </a:ext>
            </a:extLst>
          </p:cNvPr>
          <p:cNvSpPr>
            <a:spLocks noGrp="1"/>
          </p:cNvSpPr>
          <p:nvPr/>
        </p:nvSpPr>
        <p:spPr>
          <a:xfrm>
            <a:off x="8667750" y="3724275"/>
            <a:ext cx="2095500" cy="323850"/>
          </a:xfrm>
          <a:prstGeom prst="rect">
            <a:avLst/>
          </a:prstGeom>
          <a:noFill/>
          <a:ln w="0">
            <a:noFill/>
            <a:prstDash val="solid"/>
          </a:ln>
        </p:spPr>
        <p:txBody>
          <a:bodyPr/>
          <a:lstStyle/>
          <a:p>
            <a:pPr>
              <a:defRPr sz="1800" b="1">
                <a:solidFill>
                  <a:srgbClr val="00833C"/>
                </a:solidFill>
                <a:latin typeface="Calibri"/>
                <a:ea typeface="Calibri"/>
                <a:cs typeface="Calibri"/>
              </a:defRPr>
            </a:pPr>
            <a:r>
              <a:rPr sz="1800" b="1">
                <a:solidFill>
                  <a:srgbClr val="00833C"/>
                </a:solidFill>
                <a:latin typeface="Calibri"/>
                <a:ea typeface="Calibri"/>
                <a:cs typeface="Calibri"/>
              </a:rPr>
              <a:t>While playing</a:t>
            </a:r>
          </a:p>
        </p:txBody>
      </p:sp>
      <p:sp>
        <p:nvSpPr>
          <p:cNvPr id="8" name="text">
            <a:extLst>
              <a:ext uri="{FF2B5EF4-FFF2-40B4-BE49-F238E27FC236}">
                <a16:creationId xmlns:a16="http://schemas.microsoft.com/office/drawing/2014/main" id="{66E944E3-6E5D-4F62-A85B-73E660633F95}"/>
              </a:ext>
            </a:extLst>
          </p:cNvPr>
          <p:cNvSpPr>
            <a:spLocks noGrp="1"/>
          </p:cNvSpPr>
          <p:nvPr/>
        </p:nvSpPr>
        <p:spPr>
          <a:xfrm>
            <a:off x="8667750" y="4124325"/>
            <a:ext cx="2095500" cy="971550"/>
          </a:xfrm>
          <a:prstGeom prst="rect">
            <a:avLst/>
          </a:prstGeom>
          <a:noFill/>
          <a:ln w="0">
            <a:noFill/>
            <a:prstDash val="solid"/>
          </a:ln>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Show that the system produces a query, executes it, and exposes the evidence.</a:t>
            </a:r>
          </a:p>
        </p:txBody>
      </p:sp>
      <p:pic>
        <p:nvPicPr>
          <p:cNvPr id="17" name="Picture 16"/>
          <p:cNvPicPr>
            <a:picLocks noChangeAspect="1"/>
          </p:cNvPicPr>
          <p:nvPr/>
        </p:nvPicPr>
        <p:blipFill>
          <a:blip r:embed="rId3"/>
          <a:srcRect t="11871" b="11871"/>
          <a:stretch>
            <a:fillRect/>
          </a:stretch>
        </p:blipFill>
        <p:spPr>
          <a:xfrm>
            <a:off x="933450" y="2876550"/>
            <a:ext cx="7239000" cy="3105150"/>
          </a:xfrm>
          <a:prstGeom prst="roundRect">
            <a:avLst>
              <a:gd name="adj" fmla="val 1840"/>
            </a:avLst>
          </a:prstGeom>
        </p:spPr>
      </p:pic>
    </p:spTree>
    <p:extLst>
      <p:ext uri="{BB962C8B-B14F-4D97-AF65-F5344CB8AC3E}">
        <p14:creationId xmlns:p14="http://schemas.microsoft.com/office/powerpoint/2010/main" val="6251490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Demo 2</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a:solidFill>
                  <a:srgbClr val="111111"/>
                </a:solidFill>
                <a:latin typeface="Calibri"/>
                <a:ea typeface="Calibri"/>
                <a:cs typeface="Calibri"/>
              </a:rPr>
              <a:t>Graph queries become engineering computation</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38200" y="2000250"/>
            <a:ext cx="10515600" cy="590550"/>
          </a:xfrm>
        </p:spPr>
        <p:txBody>
          <a:bodyPr/>
          <a:lstStyle/>
          <a:p>
            <a:pPr>
              <a:defRPr sz="1575">
                <a:solidFill>
                  <a:srgbClr val="4A4A4A"/>
                </a:solidFill>
                <a:latin typeface="Calibri"/>
                <a:ea typeface="Calibri"/>
                <a:cs typeface="Calibri"/>
              </a:defRPr>
            </a:pPr>
            <a:r>
              <a:rPr sz="1575" dirty="0">
                <a:solidFill>
                  <a:srgbClr val="4A4A4A"/>
                </a:solidFill>
                <a:latin typeface="Calibri"/>
                <a:ea typeface="Calibri"/>
                <a:cs typeface="Calibri"/>
              </a:rPr>
              <a:t>Retrieve topology and line parameters from Neo4j, then hand computation to trusted code.</a:t>
            </a:r>
          </a:p>
        </p:txBody>
      </p:sp>
      <p:sp>
        <p:nvSpPr>
          <p:cNvPr id="5" name="box">
            <a:extLst>
              <a:ext uri="{FF2B5EF4-FFF2-40B4-BE49-F238E27FC236}">
                <a16:creationId xmlns:a16="http://schemas.microsoft.com/office/drawing/2014/main" id="{2DD84E42-E775-4686-B966-3FA0A74B5B72}"/>
              </a:ext>
            </a:extLst>
          </p:cNvPr>
          <p:cNvSpPr>
            <a:spLocks noGrp="1"/>
          </p:cNvSpPr>
          <p:nvPr/>
        </p:nvSpPr>
        <p:spPr>
          <a:xfrm>
            <a:off x="1047750" y="2857500"/>
            <a:ext cx="4810125" cy="2381250"/>
          </a:xfrm>
          <a:prstGeom prst="roundRect">
            <a:avLst>
              <a:gd name="adj" fmla="val 3200"/>
            </a:avLst>
          </a:prstGeom>
          <a:solidFill>
            <a:srgbClr val="F8FAF8"/>
          </a:solidFill>
          <a:ln w="9525">
            <a:solidFill>
              <a:srgbClr val="C9D8CB"/>
            </a:solidFill>
            <a:prstDash val="solid"/>
          </a:ln>
        </p:spPr>
        <p:txBody>
          <a:bodyPr/>
          <a:lstStyle/>
          <a:p>
            <a:endParaRPr lang="en-US"/>
          </a:p>
        </p:txBody>
      </p:sp>
      <p:sp>
        <p:nvSpPr>
          <p:cNvPr id="6" name="text">
            <a:extLst>
              <a:ext uri="{FF2B5EF4-FFF2-40B4-BE49-F238E27FC236}">
                <a16:creationId xmlns:a16="http://schemas.microsoft.com/office/drawing/2014/main" id="{4321D02D-5F38-4F30-B76E-C109E02401A9}"/>
              </a:ext>
            </a:extLst>
          </p:cNvPr>
          <p:cNvSpPr>
            <a:spLocks noGrp="1"/>
          </p:cNvSpPr>
          <p:nvPr/>
        </p:nvSpPr>
        <p:spPr>
          <a:xfrm>
            <a:off x="1257300" y="3067050"/>
            <a:ext cx="4400550" cy="1790700"/>
          </a:xfrm>
          <a:prstGeom prst="rect">
            <a:avLst/>
          </a:prstGeom>
          <a:noFill/>
          <a:ln w="0">
            <a:noFill/>
            <a:prstDash val="solid"/>
          </a:ln>
        </p:spPr>
        <p:txBody>
          <a:bodyPr/>
          <a:lstStyle/>
          <a:p>
            <a:pPr>
              <a:defRPr sz="1350">
                <a:solidFill>
                  <a:srgbClr val="111111"/>
                </a:solidFill>
                <a:latin typeface="Consolas"/>
                <a:ea typeface="Consolas"/>
                <a:cs typeface="Consolas"/>
              </a:defRPr>
            </a:pPr>
            <a:r>
              <a:rPr sz="1350" dirty="0">
                <a:solidFill>
                  <a:srgbClr val="111111"/>
                </a:solidFill>
                <a:latin typeface="Consolas"/>
                <a:ea typeface="Consolas"/>
                <a:cs typeface="Consolas"/>
              </a:rPr>
              <a:t>MATCH (bus1)&lt;-[:CONNECTED_TO_TOPO_NODE]-(:Terminal)</a:t>
            </a:r>
          </a:p>
          <a:p>
            <a:pPr>
              <a:defRPr sz="1350">
                <a:solidFill>
                  <a:srgbClr val="111111"/>
                </a:solidFill>
                <a:latin typeface="Consolas"/>
                <a:ea typeface="Consolas"/>
                <a:cs typeface="Consolas"/>
              </a:defRPr>
            </a:pPr>
            <a:r>
              <a:rPr sz="1350" dirty="0">
                <a:solidFill>
                  <a:srgbClr val="111111"/>
                </a:solidFill>
                <a:latin typeface="Consolas"/>
                <a:ea typeface="Consolas"/>
                <a:cs typeface="Consolas"/>
              </a:rPr>
              <a:t>      -[:PART_OF_EQUIPMENT]-&gt;(</a:t>
            </a:r>
            <a:r>
              <a:rPr sz="1350" dirty="0" err="1">
                <a:solidFill>
                  <a:srgbClr val="111111"/>
                </a:solidFill>
                <a:latin typeface="Consolas"/>
                <a:ea typeface="Consolas"/>
                <a:cs typeface="Consolas"/>
              </a:rPr>
              <a:t>line:ACLineSegment</a:t>
            </a:r>
            <a:r>
              <a:rPr sz="1350" dirty="0">
                <a:solidFill>
                  <a:srgbClr val="111111"/>
                </a:solidFill>
                <a:latin typeface="Consolas"/>
                <a:ea typeface="Consolas"/>
                <a:cs typeface="Consolas"/>
              </a:rPr>
              <a:t>),</a:t>
            </a:r>
          </a:p>
          <a:p>
            <a:pPr>
              <a:defRPr sz="1350">
                <a:solidFill>
                  <a:srgbClr val="111111"/>
                </a:solidFill>
                <a:latin typeface="Consolas"/>
                <a:ea typeface="Consolas"/>
                <a:cs typeface="Consolas"/>
              </a:defRPr>
            </a:pPr>
            <a:r>
              <a:rPr sz="1350" dirty="0">
                <a:solidFill>
                  <a:srgbClr val="111111"/>
                </a:solidFill>
                <a:latin typeface="Consolas"/>
                <a:ea typeface="Consolas"/>
                <a:cs typeface="Consolas"/>
              </a:rPr>
              <a:t>      (line)&lt;-[:PART_OF_EQUIPMENT]-(:Terminal)</a:t>
            </a:r>
          </a:p>
          <a:p>
            <a:pPr>
              <a:defRPr sz="1350">
                <a:solidFill>
                  <a:srgbClr val="111111"/>
                </a:solidFill>
                <a:latin typeface="Consolas"/>
                <a:ea typeface="Consolas"/>
                <a:cs typeface="Consolas"/>
              </a:defRPr>
            </a:pPr>
            <a:r>
              <a:rPr sz="1350" dirty="0">
                <a:solidFill>
                  <a:srgbClr val="111111"/>
                </a:solidFill>
                <a:latin typeface="Consolas"/>
                <a:ea typeface="Consolas"/>
                <a:cs typeface="Consolas"/>
              </a:rPr>
              <a:t>      -[:CONNECTED_TO_TOPO_NODE]-&gt;(bus2)</a:t>
            </a:r>
          </a:p>
          <a:p>
            <a:pPr>
              <a:defRPr sz="1350">
                <a:solidFill>
                  <a:srgbClr val="111111"/>
                </a:solidFill>
                <a:latin typeface="Consolas"/>
                <a:ea typeface="Consolas"/>
                <a:cs typeface="Consolas"/>
              </a:defRPr>
            </a:pPr>
            <a:r>
              <a:rPr sz="1350" dirty="0">
                <a:solidFill>
                  <a:srgbClr val="111111"/>
                </a:solidFill>
                <a:latin typeface="Consolas"/>
                <a:ea typeface="Consolas"/>
                <a:cs typeface="Consolas"/>
              </a:rPr>
              <a:t>RETURN bus1, bus2, </a:t>
            </a:r>
            <a:r>
              <a:rPr sz="1350" dirty="0" err="1">
                <a:solidFill>
                  <a:srgbClr val="111111"/>
                </a:solidFill>
                <a:latin typeface="Consolas"/>
                <a:ea typeface="Consolas"/>
                <a:cs typeface="Consolas"/>
              </a:rPr>
              <a:t>line.r</a:t>
            </a:r>
            <a:r>
              <a:rPr sz="1350" dirty="0">
                <a:solidFill>
                  <a:srgbClr val="111111"/>
                </a:solidFill>
                <a:latin typeface="Consolas"/>
                <a:ea typeface="Consolas"/>
                <a:cs typeface="Consolas"/>
              </a:rPr>
              <a:t>, </a:t>
            </a:r>
            <a:r>
              <a:rPr sz="1350" dirty="0" err="1">
                <a:solidFill>
                  <a:srgbClr val="111111"/>
                </a:solidFill>
                <a:latin typeface="Consolas"/>
                <a:ea typeface="Consolas"/>
                <a:cs typeface="Consolas"/>
              </a:rPr>
              <a:t>line.x</a:t>
            </a:r>
            <a:endParaRPr sz="1350" dirty="0">
              <a:solidFill>
                <a:srgbClr val="111111"/>
              </a:solidFill>
              <a:latin typeface="Consolas"/>
              <a:ea typeface="Consolas"/>
              <a:cs typeface="Consolas"/>
            </a:endParaRPr>
          </a:p>
        </p:txBody>
      </p:sp>
      <p:sp>
        <p:nvSpPr>
          <p:cNvPr id="7" name="box">
            <a:extLst>
              <a:ext uri="{FF2B5EF4-FFF2-40B4-BE49-F238E27FC236}">
                <a16:creationId xmlns:a16="http://schemas.microsoft.com/office/drawing/2014/main" id="{C0766A55-A61F-4F73-9FB4-CDED94DAED33}"/>
              </a:ext>
            </a:extLst>
          </p:cNvPr>
          <p:cNvSpPr>
            <a:spLocks noGrp="1"/>
          </p:cNvSpPr>
          <p:nvPr/>
        </p:nvSpPr>
        <p:spPr>
          <a:xfrm>
            <a:off x="6429375" y="3143250"/>
            <a:ext cx="1428750" cy="819150"/>
          </a:xfrm>
          <a:prstGeom prst="roundRect">
            <a:avLst>
              <a:gd name="adj" fmla="val 9302"/>
            </a:avLst>
          </a:prstGeom>
          <a:solidFill>
            <a:srgbClr val="EAF6EC"/>
          </a:solidFill>
          <a:ln w="19050">
            <a:solidFill>
              <a:srgbClr val="00833C"/>
            </a:solidFill>
            <a:prstDash val="solid"/>
          </a:ln>
        </p:spPr>
        <p:txBody>
          <a:bodyPr/>
          <a:lstStyle/>
          <a:p>
            <a:endParaRPr lang="en-US"/>
          </a:p>
        </p:txBody>
      </p:sp>
      <p:sp>
        <p:nvSpPr>
          <p:cNvPr id="8" name="text">
            <a:extLst>
              <a:ext uri="{FF2B5EF4-FFF2-40B4-BE49-F238E27FC236}">
                <a16:creationId xmlns:a16="http://schemas.microsoft.com/office/drawing/2014/main" id="{F3E86005-D29A-486E-8F47-F6104FBD3BD6}"/>
              </a:ext>
            </a:extLst>
          </p:cNvPr>
          <p:cNvSpPr>
            <a:spLocks noGrp="1"/>
          </p:cNvSpPr>
          <p:nvPr/>
        </p:nvSpPr>
        <p:spPr>
          <a:xfrm>
            <a:off x="6543675" y="3314700"/>
            <a:ext cx="1200150" cy="495300"/>
          </a:xfrm>
          <a:prstGeom prst="rect">
            <a:avLst/>
          </a:prstGeom>
          <a:noFill/>
          <a:ln w="0">
            <a:noFill/>
            <a:prstDash val="solid"/>
          </a:ln>
        </p:spPr>
        <p:txBody>
          <a:bodyPr/>
          <a:lstStyle/>
          <a:p>
            <a:pPr algn="ctr">
              <a:defRPr sz="1425" b="1">
                <a:solidFill>
                  <a:srgbClr val="006341"/>
                </a:solidFill>
                <a:latin typeface="Calibri"/>
                <a:ea typeface="Calibri"/>
                <a:cs typeface="Calibri"/>
              </a:defRPr>
            </a:pPr>
            <a:r>
              <a:rPr sz="1425" b="1">
                <a:solidFill>
                  <a:srgbClr val="006341"/>
                </a:solidFill>
                <a:latin typeface="Calibri"/>
                <a:ea typeface="Calibri"/>
                <a:cs typeface="Calibri"/>
              </a:rPr>
              <a:t>Graph edges</a:t>
            </a:r>
          </a:p>
        </p:txBody>
      </p:sp>
      <p:sp>
        <p:nvSpPr>
          <p:cNvPr id="9" name="text">
            <a:extLst>
              <a:ext uri="{FF2B5EF4-FFF2-40B4-BE49-F238E27FC236}">
                <a16:creationId xmlns:a16="http://schemas.microsoft.com/office/drawing/2014/main" id="{8E957319-4ACA-4493-ACBE-7E387DE7798E}"/>
              </a:ext>
            </a:extLst>
          </p:cNvPr>
          <p:cNvSpPr>
            <a:spLocks noGrp="1"/>
          </p:cNvSpPr>
          <p:nvPr/>
        </p:nvSpPr>
        <p:spPr>
          <a:xfrm>
            <a:off x="7877175" y="3390900"/>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10" name="box">
            <a:extLst>
              <a:ext uri="{FF2B5EF4-FFF2-40B4-BE49-F238E27FC236}">
                <a16:creationId xmlns:a16="http://schemas.microsoft.com/office/drawing/2014/main" id="{FDE91094-EDB2-497E-A284-185B45206A07}"/>
              </a:ext>
            </a:extLst>
          </p:cNvPr>
          <p:cNvSpPr>
            <a:spLocks noGrp="1"/>
          </p:cNvSpPr>
          <p:nvPr/>
        </p:nvSpPr>
        <p:spPr>
          <a:xfrm>
            <a:off x="8124825" y="3143250"/>
            <a:ext cx="14287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1" name="text">
            <a:extLst>
              <a:ext uri="{FF2B5EF4-FFF2-40B4-BE49-F238E27FC236}">
                <a16:creationId xmlns:a16="http://schemas.microsoft.com/office/drawing/2014/main" id="{99D7C294-DA78-4570-8139-79FD092065EA}"/>
              </a:ext>
            </a:extLst>
          </p:cNvPr>
          <p:cNvSpPr>
            <a:spLocks noGrp="1"/>
          </p:cNvSpPr>
          <p:nvPr/>
        </p:nvSpPr>
        <p:spPr>
          <a:xfrm>
            <a:off x="8239125" y="3314700"/>
            <a:ext cx="12001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Y-bus matrix</a:t>
            </a:r>
          </a:p>
        </p:txBody>
      </p:sp>
      <p:sp>
        <p:nvSpPr>
          <p:cNvPr id="12" name="text">
            <a:extLst>
              <a:ext uri="{FF2B5EF4-FFF2-40B4-BE49-F238E27FC236}">
                <a16:creationId xmlns:a16="http://schemas.microsoft.com/office/drawing/2014/main" id="{BE3E8D16-6984-4716-AF6C-095F472D672C}"/>
              </a:ext>
            </a:extLst>
          </p:cNvPr>
          <p:cNvSpPr>
            <a:spLocks noGrp="1"/>
          </p:cNvSpPr>
          <p:nvPr/>
        </p:nvSpPr>
        <p:spPr>
          <a:xfrm>
            <a:off x="9572625" y="3390900"/>
            <a:ext cx="22860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13" name="box">
            <a:extLst>
              <a:ext uri="{FF2B5EF4-FFF2-40B4-BE49-F238E27FC236}">
                <a16:creationId xmlns:a16="http://schemas.microsoft.com/office/drawing/2014/main" id="{C43F0BDC-3D06-4606-A549-193D997682B7}"/>
              </a:ext>
            </a:extLst>
          </p:cNvPr>
          <p:cNvSpPr>
            <a:spLocks noGrp="1"/>
          </p:cNvSpPr>
          <p:nvPr/>
        </p:nvSpPr>
        <p:spPr>
          <a:xfrm>
            <a:off x="9820275" y="3143250"/>
            <a:ext cx="14287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4" name="text">
            <a:extLst>
              <a:ext uri="{FF2B5EF4-FFF2-40B4-BE49-F238E27FC236}">
                <a16:creationId xmlns:a16="http://schemas.microsoft.com/office/drawing/2014/main" id="{2136B112-32BC-4E41-898D-03BBF859FAE7}"/>
              </a:ext>
            </a:extLst>
          </p:cNvPr>
          <p:cNvSpPr>
            <a:spLocks noGrp="1"/>
          </p:cNvSpPr>
          <p:nvPr/>
        </p:nvSpPr>
        <p:spPr>
          <a:xfrm>
            <a:off x="9934575" y="3314700"/>
            <a:ext cx="12001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Solver / analysis</a:t>
            </a:r>
          </a:p>
        </p:txBody>
      </p:sp>
      <p:sp>
        <p:nvSpPr>
          <p:cNvPr id="15" name="box">
            <a:extLst>
              <a:ext uri="{FF2B5EF4-FFF2-40B4-BE49-F238E27FC236}">
                <a16:creationId xmlns:a16="http://schemas.microsoft.com/office/drawing/2014/main" id="{BD9D4346-4EC6-43E4-AD14-2FD5CF3B142C}"/>
              </a:ext>
            </a:extLst>
          </p:cNvPr>
          <p:cNvSpPr>
            <a:spLocks noGrp="1"/>
          </p:cNvSpPr>
          <p:nvPr/>
        </p:nvSpPr>
        <p:spPr>
          <a:xfrm>
            <a:off x="6715125" y="4429125"/>
            <a:ext cx="3905250" cy="1047750"/>
          </a:xfrm>
          <a:prstGeom prst="roundRect">
            <a:avLst>
              <a:gd name="adj" fmla="val 7273"/>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text">
            <a:extLst>
              <a:ext uri="{FF2B5EF4-FFF2-40B4-BE49-F238E27FC236}">
                <a16:creationId xmlns:a16="http://schemas.microsoft.com/office/drawing/2014/main" id="{F3606C83-8A99-46A3-B585-091D2E91E561}"/>
              </a:ext>
            </a:extLst>
          </p:cNvPr>
          <p:cNvSpPr>
            <a:spLocks noGrp="1"/>
          </p:cNvSpPr>
          <p:nvPr/>
        </p:nvSpPr>
        <p:spPr>
          <a:xfrm>
            <a:off x="6905625" y="4581525"/>
            <a:ext cx="352425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Key principle</a:t>
            </a:r>
          </a:p>
        </p:txBody>
      </p:sp>
      <p:sp>
        <p:nvSpPr>
          <p:cNvPr id="17" name="text">
            <a:extLst>
              <a:ext uri="{FF2B5EF4-FFF2-40B4-BE49-F238E27FC236}">
                <a16:creationId xmlns:a16="http://schemas.microsoft.com/office/drawing/2014/main" id="{F0551CFE-58DF-473A-B7E9-20081D529FA5}"/>
              </a:ext>
            </a:extLst>
          </p:cNvPr>
          <p:cNvSpPr>
            <a:spLocks noGrp="1"/>
          </p:cNvSpPr>
          <p:nvPr/>
        </p:nvSpPr>
        <p:spPr>
          <a:xfrm>
            <a:off x="6905625" y="4981575"/>
            <a:ext cx="3524250" cy="400050"/>
          </a:xfrm>
          <a:prstGeom prst="rect">
            <a:avLst/>
          </a:prstGeom>
          <a:noFill/>
          <a:ln w="0">
            <a:noFill/>
            <a:prstDash val="solid"/>
          </a:ln>
        </p:spPr>
        <p:txBody>
          <a:bodyPr/>
          <a:lstStyle/>
          <a:p>
            <a:pPr>
              <a:defRPr sz="1500">
                <a:solidFill>
                  <a:srgbClr val="4A4A4A"/>
                </a:solidFill>
                <a:latin typeface="Calibri"/>
                <a:ea typeface="Calibri"/>
                <a:cs typeface="Calibri"/>
              </a:defRPr>
            </a:pPr>
            <a:r>
              <a:rPr sz="1500" dirty="0">
                <a:solidFill>
                  <a:srgbClr val="4A4A4A"/>
                </a:solidFill>
                <a:latin typeface="Calibri"/>
                <a:ea typeface="Calibri"/>
                <a:cs typeface="Calibri"/>
              </a:rPr>
              <a:t>Language specifies intent. Tools and code perform numerical analysis.</a:t>
            </a:r>
          </a:p>
        </p:txBody>
      </p:sp>
    </p:spTree>
    <p:extLst>
      <p:ext uri="{BB962C8B-B14F-4D97-AF65-F5344CB8AC3E}">
        <p14:creationId xmlns:p14="http://schemas.microsoft.com/office/powerpoint/2010/main" val="16299425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F9E6A-C73F-864B-BBAE-00B91F96E6C7}"/>
              </a:ext>
            </a:extLst>
          </p:cNvPr>
          <p:cNvSpPr>
            <a:spLocks noGrp="1"/>
          </p:cNvSpPr>
          <p:nvPr>
            <p:ph type="body" idx="10"/>
          </p:nvPr>
        </p:nvSpPr>
        <p:spPr>
          <a:xfrm>
            <a:off x="838200" y="457200"/>
            <a:ext cx="7524750" cy="495300"/>
          </a:xfrm>
        </p:spPr>
        <p:txBody>
          <a:bodyPr/>
          <a:lstStyle/>
          <a:p>
            <a:pPr>
              <a:defRPr sz="2400" b="1">
                <a:solidFill>
                  <a:srgbClr val="00833C"/>
                </a:solidFill>
                <a:latin typeface="Calibri"/>
                <a:ea typeface="Calibri"/>
                <a:cs typeface="Calibri"/>
              </a:defRPr>
            </a:pPr>
            <a:r>
              <a:rPr sz="2400" b="1">
                <a:solidFill>
                  <a:srgbClr val="00833C"/>
                </a:solidFill>
                <a:latin typeface="Calibri"/>
                <a:ea typeface="Calibri"/>
                <a:cs typeface="Calibri"/>
              </a:rPr>
              <a:t>Graph Model</a:t>
            </a:r>
          </a:p>
        </p:txBody>
      </p:sp>
      <p:sp>
        <p:nvSpPr>
          <p:cNvPr id="3" name="Text Placeholder 2">
            <a:extLst>
              <a:ext uri="{FF2B5EF4-FFF2-40B4-BE49-F238E27FC236}">
                <a16:creationId xmlns:a16="http://schemas.microsoft.com/office/drawing/2014/main" id="{F25AF1CF-A17E-1D4C-9B13-A2C3D498B034}"/>
              </a:ext>
            </a:extLst>
          </p:cNvPr>
          <p:cNvSpPr>
            <a:spLocks noGrp="1"/>
          </p:cNvSpPr>
          <p:nvPr>
            <p:ph type="body" idx="11"/>
          </p:nvPr>
        </p:nvSpPr>
        <p:spPr>
          <a:xfrm>
            <a:off x="838200" y="1066800"/>
            <a:ext cx="10572750" cy="876300"/>
          </a:xfrm>
        </p:spPr>
        <p:txBody>
          <a:bodyPr/>
          <a:lstStyle/>
          <a:p>
            <a:pPr>
              <a:defRPr sz="2925" b="1">
                <a:solidFill>
                  <a:srgbClr val="111111"/>
                </a:solidFill>
                <a:latin typeface="Calibri"/>
                <a:ea typeface="Calibri"/>
                <a:cs typeface="Calibri"/>
              </a:defRPr>
            </a:pPr>
            <a:r>
              <a:rPr sz="2925" b="1" dirty="0" err="1">
                <a:solidFill>
                  <a:srgbClr val="111111"/>
                </a:solidFill>
                <a:latin typeface="Calibri"/>
                <a:ea typeface="Calibri"/>
                <a:cs typeface="Calibri"/>
              </a:rPr>
              <a:t>GridSense</a:t>
            </a:r>
            <a:r>
              <a:rPr sz="2925" b="1" dirty="0">
                <a:solidFill>
                  <a:srgbClr val="111111"/>
                </a:solidFill>
                <a:latin typeface="Calibri"/>
                <a:ea typeface="Calibri"/>
                <a:cs typeface="Calibri"/>
              </a:rPr>
              <a:t>: ask the grid, verify the evidence</a:t>
            </a:r>
          </a:p>
        </p:txBody>
      </p:sp>
      <p:sp>
        <p:nvSpPr>
          <p:cNvPr id="4" name="Content Placeholder 3">
            <a:extLst>
              <a:ext uri="{FF2B5EF4-FFF2-40B4-BE49-F238E27FC236}">
                <a16:creationId xmlns:a16="http://schemas.microsoft.com/office/drawing/2014/main" id="{199022B1-0C2B-6C4F-A6E8-016A23465114}"/>
              </a:ext>
            </a:extLst>
          </p:cNvPr>
          <p:cNvSpPr>
            <a:spLocks noGrp="1"/>
          </p:cNvSpPr>
          <p:nvPr>
            <p:ph idx="13"/>
          </p:nvPr>
        </p:nvSpPr>
        <p:spPr>
          <a:xfrm>
            <a:off x="838200" y="2000250"/>
            <a:ext cx="10515600" cy="742950"/>
          </a:xfrm>
        </p:spPr>
        <p:txBody>
          <a:bodyPr>
            <a:normAutofit fontScale="85000" lnSpcReduction="20000"/>
          </a:bodyPr>
          <a:lstStyle/>
          <a:p>
            <a:pPr>
              <a:defRPr sz="1575">
                <a:solidFill>
                  <a:srgbClr val="4A4A4A"/>
                </a:solidFill>
                <a:latin typeface="Calibri"/>
                <a:ea typeface="Calibri"/>
                <a:cs typeface="Calibri"/>
              </a:defRPr>
            </a:pPr>
            <a:r>
              <a:rPr sz="1575" dirty="0" err="1">
                <a:solidFill>
                  <a:srgbClr val="4A4A4A"/>
                </a:solidFill>
                <a:latin typeface="Calibri"/>
                <a:ea typeface="Calibri"/>
                <a:cs typeface="Calibri"/>
              </a:rPr>
              <a:t>GridSense</a:t>
            </a:r>
            <a:r>
              <a:rPr sz="1575" dirty="0">
                <a:solidFill>
                  <a:srgbClr val="4A4A4A"/>
                </a:solidFill>
                <a:latin typeface="Calibri"/>
                <a:ea typeface="Calibri"/>
                <a:cs typeface="Calibri"/>
              </a:rPr>
              <a:t> lets users ask natural-language questions about the grid model, translates them into graph-based queries and analysis workflows, and returns answers grounded in retrieved grid evidence.</a:t>
            </a:r>
          </a:p>
          <a:p>
            <a:endParaRPr sz="1575" dirty="0">
              <a:solidFill>
                <a:srgbClr val="4A4A4A"/>
              </a:solidFill>
              <a:latin typeface="Calibri"/>
              <a:ea typeface="Calibri"/>
              <a:cs typeface="Calibri"/>
            </a:endParaRPr>
          </a:p>
          <a:p>
            <a:pPr>
              <a:defRPr sz="1575">
                <a:solidFill>
                  <a:srgbClr val="4A4A4A"/>
                </a:solidFill>
                <a:latin typeface="Calibri"/>
                <a:ea typeface="Calibri"/>
                <a:cs typeface="Calibri"/>
              </a:defRPr>
            </a:pPr>
            <a:r>
              <a:rPr sz="1575" dirty="0">
                <a:solidFill>
                  <a:srgbClr val="4A4A4A"/>
                </a:solidFill>
                <a:latin typeface="Calibri"/>
                <a:ea typeface="Calibri"/>
                <a:cs typeface="Calibri"/>
              </a:rPr>
              <a:t>It is not a chatbot for the grid. It is a human-centered interface to structured, verifiable grid intelligence.</a:t>
            </a:r>
          </a:p>
        </p:txBody>
      </p:sp>
      <p:sp>
        <p:nvSpPr>
          <p:cNvPr id="5" name="box">
            <a:extLst>
              <a:ext uri="{FF2B5EF4-FFF2-40B4-BE49-F238E27FC236}">
                <a16:creationId xmlns:a16="http://schemas.microsoft.com/office/drawing/2014/main" id="{C79ACA39-4A43-4F29-BA77-17B75E80775B}"/>
              </a:ext>
            </a:extLst>
          </p:cNvPr>
          <p:cNvSpPr>
            <a:spLocks noGrp="1"/>
          </p:cNvSpPr>
          <p:nvPr/>
        </p:nvSpPr>
        <p:spPr>
          <a:xfrm>
            <a:off x="952500" y="3048000"/>
            <a:ext cx="2000250" cy="819150"/>
          </a:xfrm>
          <a:prstGeom prst="roundRect">
            <a:avLst>
              <a:gd name="adj" fmla="val 9302"/>
            </a:avLst>
          </a:prstGeom>
          <a:solidFill>
            <a:srgbClr val="EAF6EC"/>
          </a:solidFill>
          <a:ln w="19050">
            <a:solidFill>
              <a:srgbClr val="00833C"/>
            </a:solidFill>
            <a:prstDash val="solid"/>
          </a:ln>
        </p:spPr>
        <p:txBody>
          <a:bodyPr/>
          <a:lstStyle/>
          <a:p>
            <a:endParaRPr lang="en-US"/>
          </a:p>
        </p:txBody>
      </p:sp>
      <p:sp>
        <p:nvSpPr>
          <p:cNvPr id="6" name="text">
            <a:extLst>
              <a:ext uri="{FF2B5EF4-FFF2-40B4-BE49-F238E27FC236}">
                <a16:creationId xmlns:a16="http://schemas.microsoft.com/office/drawing/2014/main" id="{D3B947BC-A2F7-46DB-AF78-A0BEF30F1953}"/>
              </a:ext>
            </a:extLst>
          </p:cNvPr>
          <p:cNvSpPr>
            <a:spLocks noGrp="1"/>
          </p:cNvSpPr>
          <p:nvPr/>
        </p:nvSpPr>
        <p:spPr>
          <a:xfrm>
            <a:off x="1066800" y="3219450"/>
            <a:ext cx="1771650" cy="495300"/>
          </a:xfrm>
          <a:prstGeom prst="rect">
            <a:avLst/>
          </a:prstGeom>
          <a:noFill/>
          <a:ln w="0">
            <a:noFill/>
            <a:prstDash val="solid"/>
          </a:ln>
        </p:spPr>
        <p:txBody>
          <a:bodyPr/>
          <a:lstStyle/>
          <a:p>
            <a:pPr algn="ctr">
              <a:defRPr sz="1425" b="1">
                <a:solidFill>
                  <a:srgbClr val="006341"/>
                </a:solidFill>
                <a:latin typeface="Calibri"/>
                <a:ea typeface="Calibri"/>
                <a:cs typeface="Calibri"/>
              </a:defRPr>
            </a:pPr>
            <a:r>
              <a:rPr sz="1425" b="1">
                <a:solidFill>
                  <a:srgbClr val="006341"/>
                </a:solidFill>
                <a:latin typeface="Calibri"/>
                <a:ea typeface="Calibri"/>
                <a:cs typeface="Calibri"/>
              </a:rPr>
              <a:t>Natural-language question</a:t>
            </a:r>
          </a:p>
        </p:txBody>
      </p:sp>
      <p:sp>
        <p:nvSpPr>
          <p:cNvPr id="7" name="text">
            <a:extLst>
              <a:ext uri="{FF2B5EF4-FFF2-40B4-BE49-F238E27FC236}">
                <a16:creationId xmlns:a16="http://schemas.microsoft.com/office/drawing/2014/main" id="{94EC5A6D-E448-449C-9A7E-56F79004A9A2}"/>
              </a:ext>
            </a:extLst>
          </p:cNvPr>
          <p:cNvSpPr>
            <a:spLocks noGrp="1"/>
          </p:cNvSpPr>
          <p:nvPr/>
        </p:nvSpPr>
        <p:spPr>
          <a:xfrm>
            <a:off x="2971800" y="3295650"/>
            <a:ext cx="28575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8" name="box">
            <a:extLst>
              <a:ext uri="{FF2B5EF4-FFF2-40B4-BE49-F238E27FC236}">
                <a16:creationId xmlns:a16="http://schemas.microsoft.com/office/drawing/2014/main" id="{F60A34FA-16CB-487A-AE39-391A719A9AC4}"/>
              </a:ext>
            </a:extLst>
          </p:cNvPr>
          <p:cNvSpPr>
            <a:spLocks noGrp="1"/>
          </p:cNvSpPr>
          <p:nvPr/>
        </p:nvSpPr>
        <p:spPr>
          <a:xfrm>
            <a:off x="3276600" y="3048000"/>
            <a:ext cx="20002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9" name="text">
            <a:extLst>
              <a:ext uri="{FF2B5EF4-FFF2-40B4-BE49-F238E27FC236}">
                <a16:creationId xmlns:a16="http://schemas.microsoft.com/office/drawing/2014/main" id="{A70DF3D8-9A18-4A5A-AD4E-14454CAC936E}"/>
              </a:ext>
            </a:extLst>
          </p:cNvPr>
          <p:cNvSpPr>
            <a:spLocks noGrp="1"/>
          </p:cNvSpPr>
          <p:nvPr/>
        </p:nvSpPr>
        <p:spPr>
          <a:xfrm>
            <a:off x="3390900" y="3219450"/>
            <a:ext cx="17716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Schema-aware graph query</a:t>
            </a:r>
          </a:p>
        </p:txBody>
      </p:sp>
      <p:sp>
        <p:nvSpPr>
          <p:cNvPr id="10" name="text">
            <a:extLst>
              <a:ext uri="{FF2B5EF4-FFF2-40B4-BE49-F238E27FC236}">
                <a16:creationId xmlns:a16="http://schemas.microsoft.com/office/drawing/2014/main" id="{8BD6B6FA-BB93-41EE-9981-A44DC1BB38FA}"/>
              </a:ext>
            </a:extLst>
          </p:cNvPr>
          <p:cNvSpPr>
            <a:spLocks noGrp="1"/>
          </p:cNvSpPr>
          <p:nvPr/>
        </p:nvSpPr>
        <p:spPr>
          <a:xfrm>
            <a:off x="5295900" y="3295650"/>
            <a:ext cx="28575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11" name="box">
            <a:extLst>
              <a:ext uri="{FF2B5EF4-FFF2-40B4-BE49-F238E27FC236}">
                <a16:creationId xmlns:a16="http://schemas.microsoft.com/office/drawing/2014/main" id="{5AFC4D70-FDDF-432F-A6B1-9D413833BF79}"/>
              </a:ext>
            </a:extLst>
          </p:cNvPr>
          <p:cNvSpPr>
            <a:spLocks noGrp="1"/>
          </p:cNvSpPr>
          <p:nvPr/>
        </p:nvSpPr>
        <p:spPr>
          <a:xfrm>
            <a:off x="5600700" y="3048000"/>
            <a:ext cx="20002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2" name="text">
            <a:extLst>
              <a:ext uri="{FF2B5EF4-FFF2-40B4-BE49-F238E27FC236}">
                <a16:creationId xmlns:a16="http://schemas.microsoft.com/office/drawing/2014/main" id="{D2B8770F-48AB-47F3-B55D-DF10160DC502}"/>
              </a:ext>
            </a:extLst>
          </p:cNvPr>
          <p:cNvSpPr>
            <a:spLocks noGrp="1"/>
          </p:cNvSpPr>
          <p:nvPr/>
        </p:nvSpPr>
        <p:spPr>
          <a:xfrm>
            <a:off x="5715000" y="3219450"/>
            <a:ext cx="17716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Retrieved grid evidence</a:t>
            </a:r>
          </a:p>
        </p:txBody>
      </p:sp>
      <p:sp>
        <p:nvSpPr>
          <p:cNvPr id="13" name="text">
            <a:extLst>
              <a:ext uri="{FF2B5EF4-FFF2-40B4-BE49-F238E27FC236}">
                <a16:creationId xmlns:a16="http://schemas.microsoft.com/office/drawing/2014/main" id="{EB478E28-C77E-452B-9392-46E0924524C8}"/>
              </a:ext>
            </a:extLst>
          </p:cNvPr>
          <p:cNvSpPr>
            <a:spLocks noGrp="1"/>
          </p:cNvSpPr>
          <p:nvPr/>
        </p:nvSpPr>
        <p:spPr>
          <a:xfrm>
            <a:off x="7620000" y="3295650"/>
            <a:ext cx="285750" cy="381000"/>
          </a:xfrm>
          <a:prstGeom prst="rect">
            <a:avLst/>
          </a:prstGeom>
          <a:noFill/>
          <a:ln w="0">
            <a:noFill/>
            <a:prstDash val="solid"/>
          </a:ln>
        </p:spPr>
        <p:txBody>
          <a:bodyPr/>
          <a:lstStyle/>
          <a:p>
            <a:pPr algn="ctr">
              <a:defRPr sz="1950" b="1">
                <a:solidFill>
                  <a:srgbClr val="00833C"/>
                </a:solidFill>
                <a:latin typeface="Calibri"/>
                <a:ea typeface="Calibri"/>
                <a:cs typeface="Calibri"/>
              </a:defRPr>
            </a:pPr>
            <a:r>
              <a:rPr sz="1950" b="1">
                <a:solidFill>
                  <a:srgbClr val="00833C"/>
                </a:solidFill>
                <a:latin typeface="Calibri"/>
                <a:ea typeface="Calibri"/>
                <a:cs typeface="Calibri"/>
              </a:rPr>
              <a:t>&gt;</a:t>
            </a:r>
          </a:p>
        </p:txBody>
      </p:sp>
      <p:sp>
        <p:nvSpPr>
          <p:cNvPr id="14" name="box">
            <a:extLst>
              <a:ext uri="{FF2B5EF4-FFF2-40B4-BE49-F238E27FC236}">
                <a16:creationId xmlns:a16="http://schemas.microsoft.com/office/drawing/2014/main" id="{B23FE3F7-08CF-4BD5-A013-6A934D012F7C}"/>
              </a:ext>
            </a:extLst>
          </p:cNvPr>
          <p:cNvSpPr>
            <a:spLocks noGrp="1"/>
          </p:cNvSpPr>
          <p:nvPr/>
        </p:nvSpPr>
        <p:spPr>
          <a:xfrm>
            <a:off x="7924800" y="3048000"/>
            <a:ext cx="2000250" cy="819150"/>
          </a:xfrm>
          <a:prstGeom prst="roundRect">
            <a:avLst>
              <a:gd name="adj" fmla="val 9302"/>
            </a:avLst>
          </a:prstGeom>
          <a:solidFill>
            <a:srgbClr val="FFFFFF"/>
          </a:solidFill>
          <a:ln w="19050">
            <a:solidFill>
              <a:srgbClr val="C9D8CB"/>
            </a:solidFill>
            <a:prstDash val="solid"/>
          </a:ln>
        </p:spPr>
        <p:txBody>
          <a:bodyPr/>
          <a:lstStyle/>
          <a:p>
            <a:endParaRPr lang="en-US"/>
          </a:p>
        </p:txBody>
      </p:sp>
      <p:sp>
        <p:nvSpPr>
          <p:cNvPr id="15" name="text">
            <a:extLst>
              <a:ext uri="{FF2B5EF4-FFF2-40B4-BE49-F238E27FC236}">
                <a16:creationId xmlns:a16="http://schemas.microsoft.com/office/drawing/2014/main" id="{35041413-90B2-42D0-A321-78F2E6B7E72D}"/>
              </a:ext>
            </a:extLst>
          </p:cNvPr>
          <p:cNvSpPr>
            <a:spLocks noGrp="1"/>
          </p:cNvSpPr>
          <p:nvPr/>
        </p:nvSpPr>
        <p:spPr>
          <a:xfrm>
            <a:off x="8039100" y="3219450"/>
            <a:ext cx="1771650" cy="495300"/>
          </a:xfrm>
          <a:prstGeom prst="rect">
            <a:avLst/>
          </a:prstGeom>
          <a:noFill/>
          <a:ln w="0">
            <a:noFill/>
            <a:prstDash val="solid"/>
          </a:ln>
        </p:spPr>
        <p:txBody>
          <a:bodyPr/>
          <a:lstStyle/>
          <a:p>
            <a:pPr algn="ctr">
              <a:defRPr sz="1425" b="1">
                <a:solidFill>
                  <a:srgbClr val="111111"/>
                </a:solidFill>
                <a:latin typeface="Calibri"/>
                <a:ea typeface="Calibri"/>
                <a:cs typeface="Calibri"/>
              </a:defRPr>
            </a:pPr>
            <a:r>
              <a:rPr sz="1425" b="1">
                <a:solidFill>
                  <a:srgbClr val="111111"/>
                </a:solidFill>
                <a:latin typeface="Calibri"/>
                <a:ea typeface="Calibri"/>
                <a:cs typeface="Calibri"/>
              </a:rPr>
              <a:t>Grounded answer</a:t>
            </a:r>
          </a:p>
        </p:txBody>
      </p:sp>
      <p:sp>
        <p:nvSpPr>
          <p:cNvPr id="16" name="box">
            <a:extLst>
              <a:ext uri="{FF2B5EF4-FFF2-40B4-BE49-F238E27FC236}">
                <a16:creationId xmlns:a16="http://schemas.microsoft.com/office/drawing/2014/main" id="{5C19B8D3-0136-4A28-85AA-56DD12C9D0BC}"/>
              </a:ext>
            </a:extLst>
          </p:cNvPr>
          <p:cNvSpPr>
            <a:spLocks noGrp="1"/>
          </p:cNvSpPr>
          <p:nvPr/>
        </p:nvSpPr>
        <p:spPr>
          <a:xfrm>
            <a:off x="1257300" y="4476750"/>
            <a:ext cx="4572000" cy="1352550"/>
          </a:xfrm>
          <a:prstGeom prst="roundRect">
            <a:avLst>
              <a:gd name="adj" fmla="val 5634"/>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text">
            <a:extLst>
              <a:ext uri="{FF2B5EF4-FFF2-40B4-BE49-F238E27FC236}">
                <a16:creationId xmlns:a16="http://schemas.microsoft.com/office/drawing/2014/main" id="{4E7965C7-5115-4329-9023-14F33A2EBFCB}"/>
              </a:ext>
            </a:extLst>
          </p:cNvPr>
          <p:cNvSpPr>
            <a:spLocks noGrp="1"/>
          </p:cNvSpPr>
          <p:nvPr/>
        </p:nvSpPr>
        <p:spPr>
          <a:xfrm>
            <a:off x="1447800" y="4629150"/>
            <a:ext cx="4191000" cy="476250"/>
          </a:xfrm>
          <a:prstGeom prst="rect">
            <a:avLst/>
          </a:prstGeom>
          <a:noFill/>
          <a:ln w="0">
            <a:noFill/>
            <a:prstDash val="solid"/>
          </a:ln>
        </p:spPr>
        <p:txBody>
          <a:bodyPr/>
          <a:lstStyle/>
          <a:p>
            <a:pPr>
              <a:defRPr sz="1650" b="1">
                <a:solidFill>
                  <a:srgbClr val="00833C"/>
                </a:solidFill>
                <a:latin typeface="Calibri"/>
                <a:ea typeface="Calibri"/>
                <a:cs typeface="Calibri"/>
              </a:defRPr>
            </a:pPr>
            <a:r>
              <a:rPr sz="1650" b="1" dirty="0">
                <a:solidFill>
                  <a:srgbClr val="00833C"/>
                </a:solidFill>
                <a:latin typeface="Calibri"/>
                <a:ea typeface="Calibri"/>
                <a:cs typeface="Calibri"/>
              </a:rPr>
              <a:t>Knowledge graph as evidence layer</a:t>
            </a:r>
          </a:p>
        </p:txBody>
      </p:sp>
      <p:sp>
        <p:nvSpPr>
          <p:cNvPr id="18" name="text">
            <a:extLst>
              <a:ext uri="{FF2B5EF4-FFF2-40B4-BE49-F238E27FC236}">
                <a16:creationId xmlns:a16="http://schemas.microsoft.com/office/drawing/2014/main" id="{1C87D3F9-FA67-4A14-95F6-1E4BCA18213A}"/>
              </a:ext>
            </a:extLst>
          </p:cNvPr>
          <p:cNvSpPr>
            <a:spLocks noGrp="1"/>
          </p:cNvSpPr>
          <p:nvPr/>
        </p:nvSpPr>
        <p:spPr>
          <a:xfrm>
            <a:off x="1447800" y="5181600"/>
            <a:ext cx="4191000" cy="552450"/>
          </a:xfrm>
          <a:prstGeom prst="rect">
            <a:avLst/>
          </a:prstGeom>
          <a:noFill/>
          <a:ln w="0">
            <a:noFill/>
            <a:prstDash val="solid"/>
          </a:ln>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Topology, assets, equipment, and operating snapshots stay queryable and traceable.</a:t>
            </a:r>
          </a:p>
        </p:txBody>
      </p:sp>
      <p:sp>
        <p:nvSpPr>
          <p:cNvPr id="19" name="box">
            <a:extLst>
              <a:ext uri="{FF2B5EF4-FFF2-40B4-BE49-F238E27FC236}">
                <a16:creationId xmlns:a16="http://schemas.microsoft.com/office/drawing/2014/main" id="{67F32CB2-F11F-46C5-80AD-F11D2823B58A}"/>
              </a:ext>
            </a:extLst>
          </p:cNvPr>
          <p:cNvSpPr>
            <a:spLocks noGrp="1"/>
          </p:cNvSpPr>
          <p:nvPr/>
        </p:nvSpPr>
        <p:spPr>
          <a:xfrm>
            <a:off x="6334125" y="4476750"/>
            <a:ext cx="4572000" cy="1238250"/>
          </a:xfrm>
          <a:prstGeom prst="roundRect">
            <a:avLst>
              <a:gd name="adj" fmla="val 6154"/>
            </a:avLst>
          </a:prstGeom>
          <a:solidFill>
            <a:srgbClr val="FFFFFF"/>
          </a:solidFill>
          <a:ln w="9525">
            <a:solidFill>
              <a:srgbClr val="DCE7DD"/>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0" name="text">
            <a:extLst>
              <a:ext uri="{FF2B5EF4-FFF2-40B4-BE49-F238E27FC236}">
                <a16:creationId xmlns:a16="http://schemas.microsoft.com/office/drawing/2014/main" id="{4CBB90E2-9308-49CD-9D94-845BC6998E77}"/>
              </a:ext>
            </a:extLst>
          </p:cNvPr>
          <p:cNvSpPr>
            <a:spLocks noGrp="1"/>
          </p:cNvSpPr>
          <p:nvPr/>
        </p:nvSpPr>
        <p:spPr>
          <a:xfrm>
            <a:off x="6524625" y="4629150"/>
            <a:ext cx="4191000" cy="323850"/>
          </a:xfrm>
          <a:prstGeom prst="rect">
            <a:avLst/>
          </a:prstGeom>
          <a:noFill/>
          <a:ln w="0">
            <a:noFill/>
            <a:prstDash val="solid"/>
          </a:ln>
        </p:spPr>
        <p:txBody>
          <a:bodyPr/>
          <a:lstStyle/>
          <a:p>
            <a:pPr>
              <a:defRPr sz="1800" b="1">
                <a:solidFill>
                  <a:srgbClr val="00619B"/>
                </a:solidFill>
                <a:latin typeface="Calibri"/>
                <a:ea typeface="Calibri"/>
                <a:cs typeface="Calibri"/>
              </a:defRPr>
            </a:pPr>
            <a:r>
              <a:rPr sz="1800" b="1">
                <a:solidFill>
                  <a:srgbClr val="00619B"/>
                </a:solidFill>
                <a:latin typeface="Calibri"/>
                <a:ea typeface="Calibri"/>
                <a:cs typeface="Calibri"/>
              </a:rPr>
              <a:t>Design stance</a:t>
            </a:r>
          </a:p>
        </p:txBody>
      </p:sp>
      <p:sp>
        <p:nvSpPr>
          <p:cNvPr id="21" name="text">
            <a:extLst>
              <a:ext uri="{FF2B5EF4-FFF2-40B4-BE49-F238E27FC236}">
                <a16:creationId xmlns:a16="http://schemas.microsoft.com/office/drawing/2014/main" id="{2D2E4DA9-1A41-439D-BB62-A075395B15E9}"/>
              </a:ext>
            </a:extLst>
          </p:cNvPr>
          <p:cNvSpPr>
            <a:spLocks noGrp="1"/>
          </p:cNvSpPr>
          <p:nvPr/>
        </p:nvSpPr>
        <p:spPr>
          <a:xfrm>
            <a:off x="6524625" y="5029200"/>
            <a:ext cx="4191000" cy="590550"/>
          </a:xfrm>
          <a:prstGeom prst="rect">
            <a:avLst/>
          </a:prstGeom>
          <a:noFill/>
          <a:ln w="0">
            <a:noFill/>
            <a:prstDash val="solid"/>
          </a:ln>
        </p:spPr>
        <p:txBody>
          <a:bodyPr/>
          <a:lstStyle/>
          <a:p>
            <a:pPr>
              <a:defRPr sz="1500">
                <a:solidFill>
                  <a:srgbClr val="4A4A4A"/>
                </a:solidFill>
                <a:latin typeface="Calibri"/>
                <a:ea typeface="Calibri"/>
                <a:cs typeface="Calibri"/>
              </a:defRPr>
            </a:pPr>
            <a:r>
              <a:rPr sz="1500">
                <a:solidFill>
                  <a:srgbClr val="4A4A4A"/>
                </a:solidFill>
                <a:latin typeface="Calibri"/>
                <a:ea typeface="Calibri"/>
                <a:cs typeface="Calibri"/>
              </a:rPr>
              <a:t>Natural language is the interface. The graph and tools decide what can be verified.</a:t>
            </a:r>
          </a:p>
        </p:txBody>
      </p:sp>
    </p:spTree>
    <p:extLst>
      <p:ext uri="{BB962C8B-B14F-4D97-AF65-F5344CB8AC3E}">
        <p14:creationId xmlns:p14="http://schemas.microsoft.com/office/powerpoint/2010/main" val="1618079890"/>
      </p:ext>
    </p:extLst>
  </p:cSld>
  <p:clrMapOvr>
    <a:masterClrMapping/>
  </p:clrMapOvr>
</p:sld>
</file>

<file path=ppt/theme/theme1.xml><?xml version="1.0" encoding="utf-8"?>
<a:theme xmlns:a="http://schemas.openxmlformats.org/drawingml/2006/main" name="Office Theme">
  <a:themeElements>
    <a:clrScheme name="IEEE PES">
      <a:dk1>
        <a:srgbClr val="000000"/>
      </a:dk1>
      <a:lt1>
        <a:srgbClr val="FFFFFF"/>
      </a:lt1>
      <a:dk2>
        <a:srgbClr val="006341"/>
      </a:dk2>
      <a:lt2>
        <a:srgbClr val="78BE20"/>
      </a:lt2>
      <a:accent1>
        <a:srgbClr val="00833C"/>
      </a:accent1>
      <a:accent2>
        <a:srgbClr val="658D1B"/>
      </a:accent2>
      <a:accent3>
        <a:srgbClr val="00619B"/>
      </a:accent3>
      <a:accent4>
        <a:srgbClr val="FFD1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EEE PE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GridAssistTP3_Progress" id="{9C48B1C2-F60B-7341-8751-507478356B89}" vid="{34C0A54A-C962-6042-9109-6F2F1CC5C2FC}"/>
    </a:ext>
  </a:extLst>
</a:theme>
</file>

<file path=ppt/theme/theme3.xml><?xml version="1.0" encoding="utf-8"?>
<a:theme xmlns:a="http://schemas.openxmlformats.org/drawingml/2006/main" name="Office Theme">
  <a:themeElements>
    <a:clrScheme name="IEEE PES">
      <a:dk1>
        <a:srgbClr val="000000"/>
      </a:dk1>
      <a:lt1>
        <a:srgbClr val="FFFFFF"/>
      </a:lt1>
      <a:dk2>
        <a:srgbClr val="006341"/>
      </a:dk2>
      <a:lt2>
        <a:srgbClr val="78BE20"/>
      </a:lt2>
      <a:accent1>
        <a:srgbClr val="00833C"/>
      </a:accent1>
      <a:accent2>
        <a:srgbClr val="658D1B"/>
      </a:accent2>
      <a:accent3>
        <a:srgbClr val="00619B"/>
      </a:accent3>
      <a:accent4>
        <a:srgbClr val="FFD1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EEE PE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6018</TotalTime>
  <Words>12633</Words>
  <Application>Microsoft Macintosh PowerPoint</Application>
  <DocSecurity>0</DocSecurity>
  <PresentationFormat>Widescreen</PresentationFormat>
  <Paragraphs>1248</Paragraphs>
  <Slides>79</Slides>
  <Notes>76</Notes>
  <HiddenSlides>0</HiddenSlides>
  <MMClips>5</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79</vt:i4>
      </vt:variant>
    </vt:vector>
  </HeadingPairs>
  <TitlesOfParts>
    <vt:vector size="95" baseType="lpstr">
      <vt:lpstr>-apple-system</vt:lpstr>
      <vt:lpstr>-webkit-standard</vt:lpstr>
      <vt:lpstr>Arial,Sans-Serif</vt:lpstr>
      <vt:lpstr>Courier New,monospace</vt:lpstr>
      <vt:lpstr>Google Sans Text</vt:lpstr>
      <vt:lpstr>Wingdings,Sans-Serif</vt:lpstr>
      <vt:lpstr>Arial</vt:lpstr>
      <vt:lpstr>Bahnschrift</vt:lpstr>
      <vt:lpstr>Calibri</vt:lpstr>
      <vt:lpstr>Consolas</vt:lpstr>
      <vt:lpstr>Courier New</vt:lpstr>
      <vt:lpstr>Helvetica</vt:lpstr>
      <vt:lpstr>Symbol</vt:lpstr>
      <vt:lpstr>Wingdings</vt:lpstr>
      <vt:lpstr>Office Theme</vt:lpstr>
      <vt:lpstr>FAU - Technische Fakultät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Emerging Agentic AI for  Power grid</vt:lpstr>
      <vt:lpstr>Gridsense.ai</vt:lpstr>
      <vt:lpstr>Gridsense.ai</vt:lpstr>
      <vt:lpstr>Gridsense.ai</vt:lpstr>
      <vt:lpstr>Graph-based restoration planner</vt:lpstr>
      <vt:lpstr>What is MCP (Model Context Protocol)</vt:lpstr>
      <vt:lpstr>Power Flow surrogate</vt:lpstr>
      <vt:lpstr>Weather Hazard Score</vt:lpstr>
      <vt:lpstr>Forecast horizon available</vt:lpstr>
      <vt:lpstr>Forecast horizon available</vt:lpstr>
      <vt:lpstr>Integration into TP6</vt:lpstr>
      <vt:lpstr>PowerPoint Presentation</vt:lpstr>
      <vt:lpstr>Additional Source</vt:lpstr>
      <vt:lpstr>GridOS – General Electric </vt:lpstr>
      <vt:lpstr>PowerPoint Presentation</vt:lpstr>
      <vt:lpstr>Cypher query example</vt:lpstr>
      <vt:lpstr>Build Y-bus matrix</vt:lpstr>
      <vt:lpstr>Validation results (basic parameter verification, result-consistency)</vt:lpstr>
      <vt:lpstr>Experimental setup </vt:lpstr>
      <vt:lpstr>Test sample</vt:lpstr>
      <vt:lpstr>Gridsense.ai - Validation (developed with LangChain) </vt:lpstr>
      <vt:lpstr>Gridsense.ai - Validation (developed with LangGraph) </vt:lpstr>
      <vt:lpstr>3 buses example</vt:lpstr>
      <vt:lpstr>What can be queried from CGMES?</vt:lpstr>
      <vt:lpstr>Advantages of Neo4j</vt:lpstr>
      <vt:lpstr>MCP for Pandapower</vt:lpstr>
      <vt:lpstr>PowerAgent</vt:lpstr>
      <vt:lpstr>TP5 milestone</vt:lpstr>
      <vt:lpstr>TP5 milestone</vt:lpstr>
      <vt:lpstr>TP5 milestone</vt:lpstr>
      <vt:lpstr>Next steps on reliability and scalability(MCP) </vt:lpstr>
      <vt:lpstr>Reason-Act-Reflect loop</vt:lpstr>
      <vt:lpstr>Preventing Hallucination and Ensuring Trustworthy Actions</vt:lpstr>
      <vt:lpstr>Preventing Hallucination and Ensuring Trustworthy Actions (Cont.)</vt:lpstr>
      <vt:lpstr>Current Status and  Future Goal</vt:lpstr>
      <vt:lpstr>Orchestration strategies</vt:lpstr>
      <vt:lpstr>What is MCP (Model Context Protocol)</vt:lpstr>
      <vt:lpstr>Grid Assist </vt:lpstr>
      <vt:lpstr>Grid Assist </vt:lpstr>
      <vt:lpstr>Grid Assist</vt:lpstr>
      <vt:lpstr>Grid Assist</vt:lpstr>
      <vt:lpstr>Literature and building blocks for agentic AI (PowerAgent, GridMind) (10 min) — Ragav, Changhun, All</vt:lpstr>
      <vt:lpstr>Agentic AI </vt:lpstr>
      <vt:lpstr>PowerAgent </vt:lpstr>
      <vt:lpstr>Data roadmap (beyond CGMES to include GIS/SCADA/AMI/Bendor data sources) (5 min) — EES, All</vt:lpstr>
      <vt:lpstr>UtilityTwin case</vt:lpstr>
      <vt:lpstr>UtilityTwin case</vt:lpstr>
      <vt:lpstr>UtilityTwin case</vt:lpstr>
      <vt:lpstr>Why go beyond CGMES?</vt:lpstr>
      <vt:lpstr>Why go beyond CGMES?</vt:lpstr>
      <vt:lpstr>Why go beyond CGMES?</vt:lpstr>
      <vt:lpstr>Why go beyond CGMES?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Changhun Kim</cp:lastModifiedBy>
  <cp:revision>27</cp:revision>
  <dcterms:created xsi:type="dcterms:W3CDTF">2026-07-09T06:58:38Z</dcterms:created>
  <dcterms:modified xsi:type="dcterms:W3CDTF">2026-07-15T07:23:19Z</dcterms:modified>
</cp:coreProperties>
</file>